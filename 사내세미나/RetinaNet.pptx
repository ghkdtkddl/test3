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68" r:id="rId3"/>
    <p:sldId id="257" r:id="rId4"/>
    <p:sldId id="271" r:id="rId5"/>
    <p:sldId id="274" r:id="rId6"/>
    <p:sldId id="273" r:id="rId7"/>
    <p:sldId id="270" r:id="rId8"/>
    <p:sldId id="272" r:id="rId9"/>
    <p:sldId id="269" r:id="rId10"/>
    <p:sldId id="275" r:id="rId11"/>
    <p:sldId id="258" r:id="rId12"/>
    <p:sldId id="261" r:id="rId13"/>
    <p:sldId id="267" r:id="rId14"/>
    <p:sldId id="276" r:id="rId15"/>
    <p:sldId id="262" r:id="rId16"/>
    <p:sldId id="281" r:id="rId17"/>
    <p:sldId id="280" r:id="rId18"/>
    <p:sldId id="260" r:id="rId19"/>
    <p:sldId id="277" r:id="rId20"/>
    <p:sldId id="278" r:id="rId21"/>
    <p:sldId id="263" r:id="rId22"/>
    <p:sldId id="264" r:id="rId23"/>
    <p:sldId id="265" r:id="rId24"/>
    <p:sldId id="279" r:id="rId25"/>
    <p:sldId id="266" r:id="rId26"/>
    <p:sldId id="259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C2E"/>
    <a:srgbClr val="3785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23" autoAdjust="0"/>
    <p:restoredTop sz="87294" autoAdjust="0"/>
  </p:normalViewPr>
  <p:slideViewPr>
    <p:cSldViewPr snapToGrid="0">
      <p:cViewPr varScale="1">
        <p:scale>
          <a:sx n="95" d="100"/>
          <a:sy n="95" d="100"/>
        </p:scale>
        <p:origin x="100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2607F-4896-4A28-B39C-C68418EA93C8}" type="datetimeFigureOut">
              <a:rPr lang="ko-KR" altLang="en-US" smtClean="0"/>
              <a:t>2024-09-21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24510-38E3-49AD-8941-101D30EDA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517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Retina</a:t>
            </a:r>
            <a:r>
              <a:rPr lang="ko-KR" altLang="en-US"/>
              <a:t>는 망막이라는 사전적의미를 가지고 있다</a:t>
            </a:r>
            <a:r>
              <a:rPr lang="en-US" altLang="ko-KR"/>
              <a:t>.</a:t>
            </a:r>
          </a:p>
          <a:p>
            <a:r>
              <a:rPr lang="en-US" altLang="ko-KR"/>
              <a:t>retinanet</a:t>
            </a:r>
            <a:r>
              <a:rPr lang="ko-KR" altLang="en-US"/>
              <a:t>에 대해 간단히 설명하면 </a:t>
            </a:r>
            <a:r>
              <a:rPr lang="en-US" altLang="ko-KR"/>
              <a:t>2017</a:t>
            </a:r>
            <a:r>
              <a:rPr lang="ko-KR" altLang="en-US"/>
              <a:t>년 </a:t>
            </a:r>
            <a:r>
              <a:rPr lang="en-US" altLang="ko-KR"/>
              <a:t>ICCV</a:t>
            </a:r>
            <a:r>
              <a:rPr lang="ko-KR" altLang="en-US"/>
              <a:t>에서 발표된 논문이며</a:t>
            </a:r>
            <a:r>
              <a:rPr lang="en-US" altLang="ko-KR"/>
              <a:t>, retinanet</a:t>
            </a:r>
            <a:r>
              <a:rPr lang="ko-KR" altLang="en-US"/>
              <a:t>이전에는 </a:t>
            </a:r>
            <a:r>
              <a:rPr lang="en-US" altLang="ko-KR"/>
              <a:t>1-Stage Detector</a:t>
            </a:r>
            <a:r>
              <a:rPr lang="ko-KR" altLang="en-US"/>
              <a:t>와 </a:t>
            </a:r>
            <a:r>
              <a:rPr lang="en-US" altLang="ko-KR"/>
              <a:t>2-Stage Detector</a:t>
            </a:r>
            <a:r>
              <a:rPr lang="ko-KR" altLang="en-US"/>
              <a:t>의 차이가 극명하게 나뉘어</a:t>
            </a:r>
            <a:endParaRPr lang="en-US" altLang="ko-KR"/>
          </a:p>
          <a:p>
            <a:r>
              <a:rPr lang="ko-KR" altLang="en-US"/>
              <a:t>속도를 선택하면 정확도가 낮아지고</a:t>
            </a:r>
            <a:r>
              <a:rPr lang="en-US" altLang="ko-KR"/>
              <a:t>, </a:t>
            </a:r>
            <a:r>
              <a:rPr lang="ko-KR" altLang="en-US"/>
              <a:t>정확도를 선택하면 속도가 낮아지는 </a:t>
            </a:r>
            <a:r>
              <a:rPr lang="en-US" altLang="ko-KR"/>
              <a:t>trade-off </a:t>
            </a:r>
            <a:r>
              <a:rPr lang="ko-KR" altLang="en-US"/>
              <a:t>할 수 밖에 없는 상황이였다</a:t>
            </a:r>
            <a:r>
              <a:rPr lang="en-US" altLang="ko-KR"/>
              <a:t>.</a:t>
            </a:r>
          </a:p>
          <a:p>
            <a:r>
              <a:rPr lang="ko-KR" altLang="en-US"/>
              <a:t>이를 해결하기 위해서는 </a:t>
            </a:r>
            <a:r>
              <a:rPr lang="en-US" altLang="ko-KR"/>
              <a:t>Focal loss</a:t>
            </a:r>
            <a:r>
              <a:rPr lang="ko-KR" altLang="en-US"/>
              <a:t>가 등장했는데 간단히 말하면 </a:t>
            </a:r>
            <a:r>
              <a:rPr lang="en-US" altLang="ko-KR"/>
              <a:t>background</a:t>
            </a:r>
            <a:r>
              <a:rPr lang="ko-KR" altLang="en-US"/>
              <a:t>와 </a:t>
            </a:r>
            <a:r>
              <a:rPr lang="en-US" altLang="ko-KR"/>
              <a:t>foreground class</a:t>
            </a:r>
            <a:r>
              <a:rPr lang="ko-KR" altLang="en-US"/>
              <a:t>간의 불균형이 존재 했기 떄문이다</a:t>
            </a:r>
            <a:r>
              <a:rPr lang="en-US" altLang="ko-KR"/>
              <a:t>.</a:t>
            </a:r>
          </a:p>
          <a:p>
            <a:r>
              <a:rPr lang="ko-KR" altLang="en-US"/>
              <a:t>자세한건 뒤에서 설명하겠다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6264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우선 </a:t>
            </a:r>
            <a:r>
              <a:rPr lang="en-US" altLang="ko-KR"/>
              <a:t>1-stage detecto</a:t>
            </a:r>
            <a:r>
              <a:rPr lang="ko-KR" altLang="en-US"/>
              <a:t>와 </a:t>
            </a:r>
            <a:r>
              <a:rPr lang="en-US" altLang="ko-KR"/>
              <a:t>2-stage detecto</a:t>
            </a:r>
            <a:r>
              <a:rPr lang="ko-KR" altLang="en-US"/>
              <a:t>에 대해 간단하게 설명해보겠습니다</a:t>
            </a:r>
            <a:r>
              <a:rPr lang="en-US" altLang="ko-KR"/>
              <a:t>.</a:t>
            </a:r>
          </a:p>
          <a:p>
            <a:r>
              <a:rPr lang="en-US" altLang="ko-KR"/>
              <a:t>1-stage detecto</a:t>
            </a:r>
            <a:r>
              <a:rPr lang="ko-KR" altLang="en-US"/>
              <a:t>는 </a:t>
            </a:r>
            <a:r>
              <a:rPr lang="en-US" altLang="ko-KR"/>
              <a:t>input image</a:t>
            </a:r>
            <a:r>
              <a:rPr lang="ko-KR" altLang="en-US"/>
              <a:t>로 부터 특징을 추출 및 맵을 만들어 분류하는 </a:t>
            </a:r>
            <a:r>
              <a:rPr lang="en-US" altLang="ko-KR"/>
              <a:t>detecto</a:t>
            </a:r>
            <a:r>
              <a:rPr lang="ko-KR" altLang="en-US"/>
              <a:t>이다</a:t>
            </a:r>
            <a:endParaRPr lang="en-US" altLang="ko-KR"/>
          </a:p>
          <a:p>
            <a:r>
              <a:rPr lang="en-US" altLang="ko-KR"/>
              <a:t>2- tage detecto</a:t>
            </a:r>
            <a:r>
              <a:rPr lang="ko-KR" altLang="en-US"/>
              <a:t>는 </a:t>
            </a:r>
            <a:r>
              <a:rPr lang="en-US" altLang="ko-KR"/>
              <a:t>input image</a:t>
            </a:r>
            <a:r>
              <a:rPr lang="ko-KR" altLang="en-US"/>
              <a:t>로 부터 </a:t>
            </a:r>
            <a:r>
              <a:rPr lang="en-US" altLang="ko-KR"/>
              <a:t>selective searc</a:t>
            </a:r>
            <a:r>
              <a:rPr lang="ko-KR" altLang="en-US"/>
              <a:t>나 </a:t>
            </a:r>
            <a:r>
              <a:rPr lang="en-US" altLang="ko-KR"/>
              <a:t>Region proposal network</a:t>
            </a:r>
            <a:r>
              <a:rPr lang="ko-KR" altLang="en-US"/>
              <a:t>등을 사용하여 물체가 있을법한 영역을 탐지후</a:t>
            </a:r>
            <a:endParaRPr lang="en-US" altLang="ko-KR"/>
          </a:p>
          <a:p>
            <a:r>
              <a:rPr lang="ko-KR" altLang="en-US"/>
              <a:t>분류하는 </a:t>
            </a:r>
            <a:r>
              <a:rPr lang="en-US" altLang="ko-KR"/>
              <a:t>detector</a:t>
            </a:r>
            <a:r>
              <a:rPr lang="ko-KR" altLang="en-US"/>
              <a:t>이다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위의 시퀀스만 보아도 </a:t>
            </a:r>
            <a:r>
              <a:rPr lang="en-US" altLang="ko-KR"/>
              <a:t>1-stage</a:t>
            </a:r>
            <a:r>
              <a:rPr lang="ko-KR" altLang="en-US"/>
              <a:t>는 후딱 끝나고 </a:t>
            </a:r>
            <a:r>
              <a:rPr lang="en-US" altLang="ko-KR"/>
              <a:t>2-stage</a:t>
            </a:r>
            <a:r>
              <a:rPr lang="ko-KR" altLang="en-US"/>
              <a:t>는 차례대로 진행되는것을 느낄 수 있었다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8725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9944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https://velog.io/@qtly_u/Object-Detection-Architecture-1-or-2-stage-detector-%EC%B0%A8%EC%9D%B4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88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https://better-tomorrow.tistory.com/entry/Selective-Search-%EA%B0%84%EB%8B%A8%ED%9E%88-%EC%A0%95%EB%A6%AC</a:t>
            </a:r>
          </a:p>
          <a:p>
            <a:r>
              <a:rPr lang="en-US" altLang="ko-KR"/>
              <a:t>https://developer-lionhong.tistory.com/31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022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585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1-Stage Detector</a:t>
            </a:r>
            <a:r>
              <a:rPr lang="ko-KR" altLang="en-US"/>
              <a:t>는 왜 </a:t>
            </a:r>
            <a:r>
              <a:rPr lang="en-US" altLang="ko-KR"/>
              <a:t>2-Stage </a:t>
            </a:r>
            <a:r>
              <a:rPr lang="ko-KR" altLang="en-US"/>
              <a:t>처럼 정확도가 높지않을까</a:t>
            </a:r>
            <a:endParaRPr lang="en-US" altLang="ko-KR"/>
          </a:p>
          <a:p>
            <a:r>
              <a:rPr lang="en-US" altLang="ko-KR"/>
              <a:t>2-stage</a:t>
            </a:r>
            <a:r>
              <a:rPr lang="ko-KR" altLang="en-US"/>
              <a:t>는 </a:t>
            </a:r>
            <a:r>
              <a:rPr lang="en-US" altLang="ko-KR"/>
              <a:t>input </a:t>
            </a:r>
            <a:r>
              <a:rPr lang="ko-KR" altLang="en-US"/>
              <a:t>이미지에 대해 예상되는 객체좌표를 찾은 후에 분류를 하지만 </a:t>
            </a:r>
            <a:endParaRPr lang="en-US" altLang="ko-KR"/>
          </a:p>
          <a:p>
            <a:r>
              <a:rPr lang="en-US" altLang="ko-KR"/>
              <a:t>1-stage</a:t>
            </a:r>
            <a:r>
              <a:rPr lang="ko-KR" altLang="en-US"/>
              <a:t>는 좌표와 </a:t>
            </a:r>
            <a:r>
              <a:rPr lang="en-US" altLang="ko-KR"/>
              <a:t>class</a:t>
            </a:r>
            <a:r>
              <a:rPr lang="ko-KR" altLang="en-US"/>
              <a:t>를 분류를 한번에 하기 때문에 </a:t>
            </a:r>
            <a:r>
              <a:rPr lang="en-US" altLang="ko-KR"/>
              <a:t>2stage</a:t>
            </a:r>
            <a:r>
              <a:rPr lang="ko-KR" altLang="en-US"/>
              <a:t>보다 </a:t>
            </a:r>
            <a:r>
              <a:rPr lang="en-US" altLang="ko-KR"/>
              <a:t>class imbalance</a:t>
            </a:r>
            <a:r>
              <a:rPr lang="ko-KR" altLang="en-US"/>
              <a:t>가 심하다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717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/>
              <a:t>빨간색 네모칸을 </a:t>
            </a:r>
            <a:r>
              <a:rPr lang="en-US" altLang="ko-KR"/>
              <a:t>Background Example, </a:t>
            </a:r>
            <a:r>
              <a:rPr lang="ko-KR" altLang="en-US"/>
              <a:t>배경부분을 탐지하는 </a:t>
            </a:r>
            <a:r>
              <a:rPr lang="en-US" altLang="ko-KR"/>
              <a:t>Anchor Box</a:t>
            </a:r>
            <a:r>
              <a:rPr lang="ko-KR" altLang="en-US"/>
              <a:t>들이며 탐지하기 쉽기에 </a:t>
            </a:r>
            <a:r>
              <a:rPr lang="en-US" altLang="ko-KR"/>
              <a:t>Easy Example</a:t>
            </a:r>
            <a:r>
              <a:rPr lang="ko-KR" altLang="en-US"/>
              <a:t>이라고 부르고 </a:t>
            </a:r>
            <a:r>
              <a:rPr lang="en-US" altLang="ko-KR"/>
              <a:t>Object</a:t>
            </a:r>
            <a:r>
              <a:rPr lang="ko-KR" altLang="en-US"/>
              <a:t>영역이 아니므로 </a:t>
            </a:r>
            <a:r>
              <a:rPr lang="en-US" altLang="ko-KR"/>
              <a:t>Negative Example</a:t>
            </a:r>
            <a:r>
              <a:rPr lang="ko-KR" altLang="en-US"/>
              <a:t>이라고도 불린다</a:t>
            </a:r>
            <a:r>
              <a:rPr lang="en-US" altLang="ko-KR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파란색 네모칸을 </a:t>
            </a:r>
            <a:r>
              <a:rPr lang="en-US" altLang="ko-KR"/>
              <a:t>Foreground Example, Detection </a:t>
            </a:r>
            <a:r>
              <a:rPr lang="ko-KR" altLang="en-US"/>
              <a:t>대상인 </a:t>
            </a:r>
            <a:r>
              <a:rPr lang="en-US" altLang="ko-KR"/>
              <a:t>Object</a:t>
            </a:r>
            <a:r>
              <a:rPr lang="ko-KR" altLang="en-US"/>
              <a:t>를 나타내기 때문에 탐지하기 어렵기에 </a:t>
            </a:r>
            <a:r>
              <a:rPr lang="en-US" altLang="ko-KR"/>
              <a:t>Hard Example</a:t>
            </a:r>
            <a:r>
              <a:rPr lang="ko-KR" altLang="en-US"/>
              <a:t>이라고 부르고 </a:t>
            </a:r>
            <a:r>
              <a:rPr lang="en-US" altLang="ko-KR"/>
              <a:t>Object</a:t>
            </a:r>
            <a:r>
              <a:rPr lang="ko-KR" altLang="en-US"/>
              <a:t>영역이기 때문에 </a:t>
            </a:r>
            <a:r>
              <a:rPr lang="en-US" altLang="ko-KR"/>
              <a:t>Positive Example</a:t>
            </a:r>
            <a:r>
              <a:rPr lang="ko-KR" altLang="en-US"/>
              <a:t>이라고 불린다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focal loss</a:t>
            </a:r>
            <a:r>
              <a:rPr lang="ko-KR" altLang="en-US"/>
              <a:t>는 간단히 말하면 </a:t>
            </a:r>
            <a:r>
              <a:rPr lang="en-US" altLang="ko-KR"/>
              <a:t>cross</a:t>
            </a:r>
            <a:r>
              <a:rPr lang="ko-KR" altLang="en-US"/>
              <a:t> </a:t>
            </a:r>
            <a:r>
              <a:rPr lang="en-US" altLang="ko-KR"/>
              <a:t>entropy</a:t>
            </a:r>
            <a:r>
              <a:rPr lang="ko-KR" altLang="en-US"/>
              <a:t>의 클래스 불균형 문제를 다루기위해 개선된 버전</a:t>
            </a:r>
            <a:endParaRPr lang="en-US" altLang="ko-KR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어렵거나 쉽게 오뷴류되는 케이스에 더 큰 가중치를 주고</a:t>
            </a:r>
            <a:r>
              <a:rPr lang="en-US" altLang="ko-KR"/>
              <a:t> </a:t>
            </a:r>
            <a:r>
              <a:rPr lang="ko-KR" altLang="en-US"/>
              <a:t>쉬운케이스의 경우 낮은 가중치를 반영하는거라 볼 수 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2846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https://gaussian37.github.io/dl-concept-focal_loss/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820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i="0">
                <a:solidFill>
                  <a:srgbClr val="212529"/>
                </a:solidFill>
                <a:effectLst/>
                <a:latin typeface="NanumGothicCoding" panose="020D0009000000000000" pitchFamily="49" charset="-127"/>
                <a:ea typeface="NanumGothicCoding" panose="020D0009000000000000" pitchFamily="49" charset="-127"/>
              </a:rPr>
              <a:t>위 식에서 </a:t>
            </a:r>
            <a:r>
              <a:rPr lang="en-US" altLang="ko-KR" b="0" i="0">
                <a:solidFill>
                  <a:srgbClr val="212529"/>
                </a:solidFill>
                <a:effectLst/>
                <a:latin typeface="NanumGothicCoding" panose="020D0009000000000000" pitchFamily="49" charset="-127"/>
                <a:ea typeface="NanumGothicCoding" panose="020D0009000000000000" pitchFamily="49" charset="-127"/>
              </a:rPr>
              <a:t>Foreground</a:t>
            </a:r>
            <a:r>
              <a:rPr lang="ko-KR" altLang="en-US" b="0" i="0">
                <a:solidFill>
                  <a:srgbClr val="212529"/>
                </a:solidFill>
                <a:effectLst/>
                <a:latin typeface="NanumGothicCoding" panose="020D0009000000000000" pitchFamily="49" charset="-127"/>
                <a:ea typeface="NanumGothicCoding" panose="020D0009000000000000" pitchFamily="49" charset="-127"/>
              </a:rPr>
              <a:t>에 대해서는 </a:t>
            </a:r>
            <a:r>
              <a:rPr lang="en-US" altLang="ko-KR" b="0" i="0">
                <a:solidFill>
                  <a:srgbClr val="212529"/>
                </a:solidFill>
                <a:effectLst/>
                <a:latin typeface="MJXc-TeX-math-I"/>
                <a:ea typeface="NanumGothicCoding" panose="020D0009000000000000" pitchFamily="49" charset="-127"/>
              </a:rPr>
              <a:t>α</a:t>
            </a:r>
            <a:r>
              <a:rPr lang="en-US" altLang="ko-KR" b="0" i="0">
                <a:solidFill>
                  <a:srgbClr val="212529"/>
                </a:solidFill>
                <a:effectLst/>
                <a:latin typeface="MJXc-TeX-main-R"/>
                <a:ea typeface="NanumGothicCoding" panose="020D0009000000000000" pitchFamily="49" charset="-127"/>
              </a:rPr>
              <a:t>=0.25</a:t>
            </a:r>
            <a:r>
              <a:rPr lang="ko-KR" altLang="en-US" b="0" i="0">
                <a:solidFill>
                  <a:srgbClr val="212529"/>
                </a:solidFill>
                <a:effectLst/>
                <a:latin typeface="NanumGothicCoding" panose="020D0009000000000000" pitchFamily="49" charset="-127"/>
                <a:ea typeface="NanumGothicCoding" panose="020D0009000000000000" pitchFamily="49" charset="-127"/>
              </a:rPr>
              <a:t>가 적용되면 </a:t>
            </a:r>
            <a:r>
              <a:rPr lang="en-US" altLang="ko-KR" b="0" i="0">
                <a:solidFill>
                  <a:srgbClr val="212529"/>
                </a:solidFill>
                <a:effectLst/>
                <a:latin typeface="NanumGothicCoding" panose="020D0009000000000000" pitchFamily="49" charset="-127"/>
                <a:ea typeface="NanumGothicCoding" panose="020D0009000000000000" pitchFamily="49" charset="-127"/>
              </a:rPr>
              <a:t>Background</a:t>
            </a:r>
            <a:r>
              <a:rPr lang="ko-KR" altLang="en-US" b="0" i="0">
                <a:solidFill>
                  <a:srgbClr val="212529"/>
                </a:solidFill>
                <a:effectLst/>
                <a:latin typeface="NanumGothicCoding" panose="020D0009000000000000" pitchFamily="49" charset="-127"/>
                <a:ea typeface="NanumGothicCoding" panose="020D0009000000000000" pitchFamily="49" charset="-127"/>
              </a:rPr>
              <a:t>에 대해서는 </a:t>
            </a:r>
            <a:r>
              <a:rPr lang="en-US" altLang="ko-KR" b="0" i="0">
                <a:solidFill>
                  <a:srgbClr val="212529"/>
                </a:solidFill>
                <a:effectLst/>
                <a:latin typeface="MJXc-TeX-math-I"/>
                <a:ea typeface="NanumGothicCoding" panose="020D0009000000000000" pitchFamily="49" charset="-127"/>
              </a:rPr>
              <a:t>α</a:t>
            </a:r>
            <a:r>
              <a:rPr lang="en-US" altLang="ko-KR" b="0" i="0">
                <a:solidFill>
                  <a:srgbClr val="212529"/>
                </a:solidFill>
                <a:effectLst/>
                <a:latin typeface="MJXc-TeX-main-R"/>
                <a:ea typeface="NanumGothicCoding" panose="020D0009000000000000" pitchFamily="49" charset="-127"/>
              </a:rPr>
              <a:t>=0.75</a:t>
            </a:r>
            <a:r>
              <a:rPr lang="ko-KR" altLang="en-US" b="0" i="0">
                <a:solidFill>
                  <a:srgbClr val="212529"/>
                </a:solidFill>
                <a:effectLst/>
                <a:latin typeface="NanumGothicCoding" panose="020D0009000000000000" pitchFamily="49" charset="-127"/>
                <a:ea typeface="NanumGothicCoding" panose="020D0009000000000000" pitchFamily="49" charset="-127"/>
              </a:rPr>
              <a:t>가 적용되도록 사용됩니다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634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https://techblog-history-younghunjo1.tistory.com/191</a:t>
            </a:r>
          </a:p>
          <a:p>
            <a:r>
              <a:rPr lang="ko-KR" altLang="en-US" b="0" i="0">
                <a:solidFill>
                  <a:srgbClr val="212529"/>
                </a:solidFill>
                <a:effectLst/>
                <a:latin typeface="NanumGothicCoding" panose="020D0009000000000000" pitchFamily="49" charset="-127"/>
                <a:ea typeface="NanumGothicCoding" panose="020D0009000000000000" pitchFamily="49" charset="-127"/>
              </a:rPr>
              <a:t>그래프에 적용된 </a:t>
            </a:r>
            <a:r>
              <a:rPr lang="en-US" altLang="ko-KR" b="0" i="0">
                <a:solidFill>
                  <a:srgbClr val="212529"/>
                </a:solidFill>
                <a:effectLst/>
                <a:latin typeface="MJXc-TeX-math-I"/>
                <a:ea typeface="NanumGothicCoding" panose="020D0009000000000000" pitchFamily="49" charset="-127"/>
              </a:rPr>
              <a:t>α</a:t>
            </a:r>
            <a:r>
              <a:rPr lang="en-US" altLang="ko-KR" b="0" i="0">
                <a:solidFill>
                  <a:srgbClr val="212529"/>
                </a:solidFill>
                <a:effectLst/>
                <a:latin typeface="MJXc-TeX-main-R"/>
                <a:ea typeface="NanumGothicCoding" panose="020D0009000000000000" pitchFamily="49" charset="-127"/>
              </a:rPr>
              <a:t>=1,</a:t>
            </a:r>
            <a:r>
              <a:rPr lang="en-US" altLang="ko-KR" b="0" i="0">
                <a:solidFill>
                  <a:srgbClr val="212529"/>
                </a:solidFill>
                <a:effectLst/>
                <a:latin typeface="MJXc-TeX-math-I"/>
                <a:ea typeface="NanumGothicCoding" panose="020D0009000000000000" pitchFamily="49" charset="-127"/>
              </a:rPr>
              <a:t>γ</a:t>
            </a:r>
            <a:r>
              <a:rPr lang="en-US" altLang="ko-KR" b="0" i="0">
                <a:solidFill>
                  <a:srgbClr val="212529"/>
                </a:solidFill>
                <a:effectLst/>
                <a:latin typeface="MJXc-TeX-main-R"/>
                <a:ea typeface="NanumGothicCoding" panose="020D0009000000000000" pitchFamily="49" charset="-127"/>
              </a:rPr>
              <a:t>=1</a:t>
            </a:r>
            <a:r>
              <a:rPr lang="en-US" altLang="ko-KR" b="0" i="0">
                <a:solidFill>
                  <a:srgbClr val="212529"/>
                </a:solidFill>
                <a:effectLst/>
                <a:latin typeface="NanumGothicCoding" panose="020D0009000000000000" pitchFamily="49" charset="-127"/>
                <a:ea typeface="NanumGothicCoding" panose="020D0009000000000000" pitchFamily="49" charset="-127"/>
              </a:rPr>
              <a:t> </a:t>
            </a:r>
            <a:r>
              <a:rPr lang="ko-KR" altLang="en-US" b="0" i="0">
                <a:solidFill>
                  <a:srgbClr val="212529"/>
                </a:solidFill>
                <a:effectLst/>
                <a:latin typeface="NanumGothicCoding" panose="020D0009000000000000" pitchFamily="49" charset="-127"/>
                <a:ea typeface="NanumGothicCoding" panose="020D0009000000000000" pitchFamily="49" charset="-127"/>
              </a:rPr>
              <a:t>입니다</a:t>
            </a:r>
            <a:r>
              <a:rPr lang="en-US" altLang="ko-KR" b="0" i="0">
                <a:solidFill>
                  <a:srgbClr val="212529"/>
                </a:solidFill>
                <a:effectLst/>
                <a:latin typeface="NanumGothicCoding" panose="020D0009000000000000" pitchFamily="49" charset="-127"/>
                <a:ea typeface="NanumGothicCoding" panose="020D0009000000000000" pitchFamily="49" charset="-127"/>
              </a:rPr>
              <a:t>.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812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https://techblog-history-younghunjo1.tistory.com/191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4564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https://techblog-history-younghunjo1.tistory.com/191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355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https://ropiens.tistory.com/83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369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/>
              <a:t>https://csm-kr.tistory.com/5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10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https://yhu0409.tistory.com/3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1269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https://techblog-history-younghunjo1.tistory.com/191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946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https://sanghyun014.tistory.com/m/entry/%EB%85%BC%EB%AC%B8%EB%A6%AC%EB%B7%B0-Focal-Loss-for-Dense-Object-Detection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24510-38E3-49AD-8941-101D30EDA09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097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D3255-E0E6-40EE-BF24-447D61DE2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CBB549-73D0-4ADD-8678-DCE10D963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02409-31F6-43B0-AB6D-645581369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DCE49-D70E-495E-A0B1-35F60C5C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27EF29-6844-49EC-8929-09E46ADE9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13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62D09-7092-4B46-B118-703DCD124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394A11-8580-4E81-8838-521373C34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781AF8-1942-4DD6-80EA-AE11AEB6A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DEBFC6-5D90-4D70-850C-382D5AC65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06C5E8-6255-4A90-AB85-A27F9DC6C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2828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FD0340-E51A-42B2-97A2-04F14B38E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1B47C-F8D9-47B1-BC22-C53E66A7F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E972C6-1A33-4B11-8082-A5ABEB0EA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BEAC6-C5F2-43B8-89E1-DDA5A0D62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6307DE-43DB-4B84-B682-AF5934630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79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C8F63-B8B3-413E-9229-45E9AE3F5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CE2FA7-8530-46E5-ABD7-494788321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B8D64E-AE51-4B7D-B00A-8E069A4028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025AE0-25B2-44EF-95AC-858C792B8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FCBFF-6739-41B3-90A4-A112B852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E376C1-11C5-42F7-93A8-BE729B9F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237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7BA704-E090-41D9-B5A3-4A815EAB5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C9EF5E-9E40-4666-904C-7004D840D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425B9E-17B7-4DEE-8D82-C120F2C4A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31A2954-4115-456A-A545-3B8BEF0182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51B7864-4CD5-409F-9DAA-9867591516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FD3D27-58E8-465E-BAE5-8BB8255C8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50D32EE-F4E9-4AAE-86C9-58B55EEAD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B259E6-D7BE-4CA9-B9A6-0F64B4D2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365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022F9-57F6-43E5-8AC5-E9A4F6562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C8B0D6-D50D-45AE-9BAC-16E2997D6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08C85E-4B05-4630-9048-0E186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5D292F-8929-4412-840A-CDAA3216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57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1A7BBB-1E52-4D05-9DA0-04A0A0BEC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2024-09-21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D3FFD5-86F8-4164-9DED-A281DFD87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398D5-A304-4E8C-919A-3E2C6B9F2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09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8011A-B4F0-453F-9425-61F0DA9FF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ADE14-090E-4686-AA7C-A7BDC79A2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773684-3252-49AA-8EA7-30621F206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A05227-64AE-41E9-B81C-0E732F4E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2B2E52-DC53-435D-BEE5-BEC5ACE34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8D953E-7974-48AE-84E3-82D7D39D9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183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846EE-5085-456C-9AE6-3A1E8C9A2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F1EBE81-3661-4AC1-80E8-08ECA7CCA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9B51EC-ED8E-4A07-83C1-EF3D6B5C9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62AB19-53ED-47F4-B683-68DDF7CA0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BCD5C7-028B-4A5F-96C7-D0E7A185E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8BF161-AED2-4CBA-938C-BFF14E307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711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7509D-5332-47ED-BC68-CEA2FE60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AB9720-01B8-45A6-8B6E-35B783AA8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A25122-4381-4027-BB27-9A51037BC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40D2A9-F609-4A25-9734-07BE4B28D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443B21-72B0-4D8B-A370-3D8D58DC3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19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674099B-1538-4403-9AA7-97FCD88AE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B528F7-4775-4FA5-A11B-AF30D4D26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D3FF51-C3A8-4410-8544-A6D5F36DF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9EB5D-3C67-432E-8C5C-D899E0449358}" type="datetimeFigureOut">
              <a:rPr lang="ko-KR" altLang="en-US" smtClean="0"/>
              <a:t>2024-09-21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30F5C7-2664-4FAF-B331-00B64F3F3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CF71DD-3ABF-41D6-BDF9-9DE35C547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231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8D2FD6-E551-4F1B-9E05-E45890557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2381CA-B8D7-49E2-80AC-F82821276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B2F968-15B9-4930-86A8-46E501046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9EB5D-3C67-432E-8C5C-D899E0449358}" type="datetimeFigureOut">
              <a:rPr lang="ko-KR" altLang="en-US" smtClean="0"/>
              <a:t>2024-09-21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705F38-A388-47BD-A62C-5B52C16F09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E1F6A7-5B08-419C-9A2B-BA17F76AC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D4788-BFD8-47D8-B917-646CA195AA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680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5582C-AF1B-41AB-BF49-CC864FF665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834" y="2041665"/>
            <a:ext cx="11067495" cy="2387600"/>
          </a:xfrm>
        </p:spPr>
        <p:txBody>
          <a:bodyPr>
            <a:normAutofit/>
          </a:bodyPr>
          <a:lstStyle/>
          <a:p>
            <a:r>
              <a:rPr lang="en-US" altLang="ko-KR" b="1"/>
              <a:t>RetinaNet</a:t>
            </a:r>
            <a:br>
              <a:rPr lang="en-US" altLang="ko-KR"/>
            </a:b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751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F303B-595C-4098-AA03-5AA93D195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RetinaNet</a:t>
            </a:r>
            <a:endParaRPr lang="ko-KR" altLang="en-US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A1C27-5539-4C28-A8FD-B3A02B804E6A}"/>
              </a:ext>
            </a:extLst>
          </p:cNvPr>
          <p:cNvSpPr txBox="1"/>
          <p:nvPr/>
        </p:nvSpPr>
        <p:spPr>
          <a:xfrm>
            <a:off x="8876" y="1535835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	- RetinaNet</a:t>
            </a:r>
            <a:r>
              <a:rPr lang="ko-KR" altLang="en-US"/>
              <a:t>은</a:t>
            </a:r>
            <a:r>
              <a:rPr lang="en-US" altLang="ko-KR"/>
              <a:t>2017</a:t>
            </a:r>
            <a:r>
              <a:rPr lang="ko-KR" altLang="en-US"/>
              <a:t>년 </a:t>
            </a:r>
            <a:r>
              <a:rPr lang="en-US" altLang="ko-KR"/>
              <a:t>ICCV</a:t>
            </a:r>
            <a:r>
              <a:rPr lang="ko-KR" altLang="en-US"/>
              <a:t>에서 발표된 논문</a:t>
            </a:r>
            <a:endParaRPr lang="en-US" altLang="ko-KR"/>
          </a:p>
          <a:p>
            <a:r>
              <a:rPr lang="en-US" altLang="ko-KR"/>
              <a:t>	- </a:t>
            </a:r>
            <a:r>
              <a:rPr lang="ko-KR" altLang="en-US"/>
              <a:t>성능이 좋은 </a:t>
            </a:r>
            <a:r>
              <a:rPr lang="en-US" altLang="ko-KR"/>
              <a:t>Object Detector</a:t>
            </a:r>
            <a:r>
              <a:rPr lang="ko-KR" altLang="en-US"/>
              <a:t>는 </a:t>
            </a:r>
            <a:r>
              <a:rPr lang="en-US" altLang="ko-KR"/>
              <a:t>2-Stage Detector</a:t>
            </a:r>
          </a:p>
          <a:p>
            <a:r>
              <a:rPr lang="en-US" altLang="ko-KR"/>
              <a:t>	- </a:t>
            </a:r>
            <a:r>
              <a:rPr lang="ko-KR" altLang="en-US"/>
              <a:t>속도 측면에서는 </a:t>
            </a:r>
            <a:r>
              <a:rPr lang="en-US" altLang="ko-KR"/>
              <a:t>1-Stage Detector</a:t>
            </a:r>
            <a:r>
              <a:rPr lang="ko-KR" altLang="en-US"/>
              <a:t>가 좋지만</a:t>
            </a:r>
            <a:r>
              <a:rPr lang="en-US" altLang="ko-KR"/>
              <a:t>, </a:t>
            </a:r>
            <a:r>
              <a:rPr lang="ko-KR" altLang="en-US"/>
              <a:t>정확도 성능 아쉬움</a:t>
            </a:r>
            <a:endParaRPr lang="en-US" altLang="ko-KR"/>
          </a:p>
          <a:p>
            <a:r>
              <a:rPr lang="en-US" altLang="ko-KR"/>
              <a:t>	- 1-Stage Detector</a:t>
            </a:r>
            <a:r>
              <a:rPr lang="ko-KR" altLang="en-US"/>
              <a:t>는 </a:t>
            </a:r>
            <a:r>
              <a:rPr lang="en-US" altLang="ko-KR"/>
              <a:t>Background</a:t>
            </a:r>
            <a:r>
              <a:rPr lang="ko-KR" altLang="en-US"/>
              <a:t>와 </a:t>
            </a:r>
            <a:r>
              <a:rPr lang="en-US" altLang="ko-KR"/>
              <a:t>Foreground class</a:t>
            </a:r>
            <a:r>
              <a:rPr lang="ko-KR" altLang="en-US"/>
              <a:t>간의 불균형 존재</a:t>
            </a:r>
            <a:endParaRPr lang="en-US" altLang="ko-KR"/>
          </a:p>
          <a:p>
            <a:r>
              <a:rPr lang="en-US" altLang="ko-KR"/>
              <a:t>	- Background </a:t>
            </a:r>
            <a:r>
              <a:rPr lang="ko-KR" altLang="en-US"/>
              <a:t>클래스에도 </a:t>
            </a:r>
            <a:r>
              <a:rPr lang="en-US" altLang="ko-KR"/>
              <a:t>Easy Example</a:t>
            </a:r>
            <a:r>
              <a:rPr lang="ko-KR" altLang="en-US"/>
              <a:t>과 </a:t>
            </a:r>
            <a:r>
              <a:rPr lang="en-US" altLang="ko-KR"/>
              <a:t>Hard Example</a:t>
            </a:r>
            <a:r>
              <a:rPr lang="ko-KR" altLang="en-US"/>
              <a:t>로 불균형 존재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	=&gt; Easy Example</a:t>
            </a:r>
            <a:r>
              <a:rPr lang="ko-KR" altLang="en-US"/>
              <a:t>은 가중치를 적게주고</a:t>
            </a:r>
            <a:r>
              <a:rPr lang="en-US" altLang="ko-KR"/>
              <a:t>, Hard Example</a:t>
            </a:r>
            <a:r>
              <a:rPr lang="ko-KR" altLang="en-US"/>
              <a:t>은 상대적으로 가중치를 더 주자</a:t>
            </a:r>
            <a:r>
              <a:rPr lang="en-US" altLang="ko-KR"/>
              <a:t>!</a:t>
            </a:r>
          </a:p>
          <a:p>
            <a:r>
              <a:rPr lang="en-US" altLang="ko-KR"/>
              <a:t>	= </a:t>
            </a:r>
            <a:r>
              <a:rPr lang="en-US" altLang="ko-KR" b="1">
                <a:solidFill>
                  <a:srgbClr val="FF0000"/>
                </a:solidFill>
              </a:rPr>
              <a:t>Focal Loss Function</a:t>
            </a:r>
          </a:p>
        </p:txBody>
      </p:sp>
      <p:pic>
        <p:nvPicPr>
          <p:cNvPr id="1026" name="Picture 2" descr="그림4. 1-Stage Detector vs 2-stage Detector 논문 흐름">
            <a:extLst>
              <a:ext uri="{FF2B5EF4-FFF2-40B4-BE49-F238E27FC236}">
                <a16:creationId xmlns:a16="http://schemas.microsoft.com/office/drawing/2014/main" id="{F30F22CF-C6CC-4474-90DD-CAF757EAC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633" y="3833668"/>
            <a:ext cx="7779798" cy="2518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81A9FB-6C9B-40CB-88F0-0FD10E73D311}"/>
              </a:ext>
            </a:extLst>
          </p:cNvPr>
          <p:cNvSpPr txBox="1"/>
          <p:nvPr/>
        </p:nvSpPr>
        <p:spPr>
          <a:xfrm>
            <a:off x="4610501" y="6351972"/>
            <a:ext cx="374338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i="0">
                <a:solidFill>
                  <a:srgbClr val="666666"/>
                </a:solidFill>
                <a:effectLst/>
                <a:latin typeface="Noto Sans" panose="020B0502040204020203" pitchFamily="34" charset="0"/>
              </a:rPr>
              <a:t>&lt;1-Stage Detector vs 2-stage Detector </a:t>
            </a:r>
            <a:r>
              <a:rPr lang="ko-KR" altLang="en-US" sz="1050" b="1" i="0">
                <a:solidFill>
                  <a:srgbClr val="666666"/>
                </a:solidFill>
                <a:effectLst/>
                <a:latin typeface="Noto Sans" panose="020B0502040204020203" pitchFamily="34" charset="0"/>
              </a:rPr>
              <a:t>논문 흐름 </a:t>
            </a:r>
            <a:r>
              <a:rPr lang="en-US" altLang="ko-KR" sz="1050" b="1" i="0">
                <a:solidFill>
                  <a:srgbClr val="666666"/>
                </a:solidFill>
                <a:effectLst/>
                <a:latin typeface="Noto Sans" panose="020B0502040204020203" pitchFamily="34" charset="0"/>
              </a:rPr>
              <a:t>&gt;</a:t>
            </a:r>
            <a:endParaRPr lang="ko-KR" altLang="en-US" sz="1050" b="1"/>
          </a:p>
        </p:txBody>
      </p:sp>
    </p:spTree>
    <p:extLst>
      <p:ext uri="{BB962C8B-B14F-4D97-AF65-F5344CB8AC3E}">
        <p14:creationId xmlns:p14="http://schemas.microsoft.com/office/powerpoint/2010/main" val="2633788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A8377D3-4C0F-4693-9C06-6DEDA94D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1-stage detector vs 2-stage detector</a:t>
            </a:r>
            <a:endParaRPr lang="ko-KR" altLang="en-US" b="1"/>
          </a:p>
        </p:txBody>
      </p:sp>
      <p:pic>
        <p:nvPicPr>
          <p:cNvPr id="3074" name="Picture 2" descr="그림5. 2-stage Detector의 전체적인 구조 (출처 :&amp;amp;nbsp;hoya012 .github.io)">
            <a:extLst>
              <a:ext uri="{FF2B5EF4-FFF2-40B4-BE49-F238E27FC236}">
                <a16:creationId xmlns:a16="http://schemas.microsoft.com/office/drawing/2014/main" id="{5D0EC1ED-805D-43D5-940C-7AD01F21E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90" y="4141672"/>
            <a:ext cx="11554437" cy="2849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그림6. 1-stage Detector의 전체적인 구조 (출처 : hoya012 .github.io)">
            <a:extLst>
              <a:ext uri="{FF2B5EF4-FFF2-40B4-BE49-F238E27FC236}">
                <a16:creationId xmlns:a16="http://schemas.microsoft.com/office/drawing/2014/main" id="{DF314B55-D837-4A2A-B5B6-BEB98D14D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5657"/>
            <a:ext cx="11873219" cy="250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C2388D-047F-467A-8953-CB6B17F4BA24}"/>
              </a:ext>
            </a:extLst>
          </p:cNvPr>
          <p:cNvSpPr txBox="1"/>
          <p:nvPr/>
        </p:nvSpPr>
        <p:spPr>
          <a:xfrm>
            <a:off x="0" y="1283103"/>
            <a:ext cx="212217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/>
              <a:t>1-stage detector</a:t>
            </a:r>
            <a:endParaRPr lang="ko-KR" altLang="en-US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0C35E9-80ED-49EB-BD6B-829976EFABC8}"/>
              </a:ext>
            </a:extLst>
          </p:cNvPr>
          <p:cNvSpPr txBox="1"/>
          <p:nvPr/>
        </p:nvSpPr>
        <p:spPr>
          <a:xfrm>
            <a:off x="-409" y="4212735"/>
            <a:ext cx="212217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/>
              <a:t>2-stage detector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1603091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그림5. 2-stage Detector의 전체적인 구조 (출처 :&amp;amp;nbsp;hoya012 .github.io)">
            <a:extLst>
              <a:ext uri="{FF2B5EF4-FFF2-40B4-BE49-F238E27FC236}">
                <a16:creationId xmlns:a16="http://schemas.microsoft.com/office/drawing/2014/main" id="{300544F5-9942-47A3-86BD-4778AAB11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390" y="1247548"/>
            <a:ext cx="11554437" cy="2849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3A8377D3-4C0F-4693-9C06-6DEDA94D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2-stage detector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2388D-047F-467A-8953-CB6B17F4BA24}"/>
              </a:ext>
            </a:extLst>
          </p:cNvPr>
          <p:cNvSpPr txBox="1"/>
          <p:nvPr/>
        </p:nvSpPr>
        <p:spPr>
          <a:xfrm>
            <a:off x="0" y="1283103"/>
            <a:ext cx="212217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/>
              <a:t>2-stage detector</a:t>
            </a:r>
            <a:endParaRPr lang="ko-KR" alt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3792A7-02C9-4257-99C7-C1C674A9E7FA}"/>
              </a:ext>
            </a:extLst>
          </p:cNvPr>
          <p:cNvSpPr txBox="1"/>
          <p:nvPr/>
        </p:nvSpPr>
        <p:spPr>
          <a:xfrm>
            <a:off x="8876" y="4314551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 2-Stage detector</a:t>
            </a:r>
            <a:r>
              <a:rPr lang="ko-KR" altLang="en-US"/>
              <a:t>는 </a:t>
            </a:r>
            <a:r>
              <a:rPr lang="en-US" altLang="ko-KR"/>
              <a:t>input image</a:t>
            </a:r>
            <a:r>
              <a:rPr lang="ko-KR" altLang="en-US"/>
              <a:t>에 대해 관심영역</a:t>
            </a:r>
            <a:r>
              <a:rPr lang="en-US" altLang="ko-KR"/>
              <a:t>(Region Of Interest)</a:t>
            </a:r>
            <a:r>
              <a:rPr lang="ko-KR" altLang="en-US"/>
              <a:t>의 후보</a:t>
            </a:r>
            <a:r>
              <a:rPr lang="en-US" altLang="ko-KR"/>
              <a:t>(Region Proposal) </a:t>
            </a:r>
            <a:r>
              <a:rPr lang="ko-KR" altLang="en-US"/>
              <a:t>세트 생성</a:t>
            </a:r>
            <a:br>
              <a:rPr lang="en-US" altLang="ko-KR"/>
            </a:br>
            <a:r>
              <a:rPr lang="en-US" altLang="ko-KR"/>
              <a:t>=&gt; </a:t>
            </a:r>
            <a:r>
              <a:rPr lang="ko-KR" altLang="en-US"/>
              <a:t>세트는 </a:t>
            </a:r>
            <a:r>
              <a:rPr lang="en-US" altLang="ko-KR"/>
              <a:t>input image</a:t>
            </a:r>
            <a:r>
              <a:rPr lang="ko-KR" altLang="en-US"/>
              <a:t>에서 주요한 객체가 있을것이라 예상되는 영역을 뜻함</a:t>
            </a:r>
            <a:r>
              <a:rPr lang="en-US" altLang="ko-KR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후보 영역에 대해 실제 객체의 경계 상자와 클래스 레이블 예측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1-Stage</a:t>
            </a:r>
            <a:r>
              <a:rPr lang="ko-KR" altLang="en-US"/>
              <a:t>보다는 정확한 객체 감지를 할 수 있지만 속도가 느림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대표적으로 </a:t>
            </a:r>
            <a:r>
              <a:rPr lang="en-US" altLang="ko-KR"/>
              <a:t>R-CNN(Region-based Convolutional Neural Network), Fast R-CNN</a:t>
            </a:r>
            <a:r>
              <a:rPr lang="ko-KR" altLang="en-US"/>
              <a:t>등이 있음</a:t>
            </a:r>
            <a:endParaRPr lang="en-US" altLang="ko-KR"/>
          </a:p>
          <a:p>
            <a:endParaRPr lang="en-US" altLang="ko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B97DF4-8BD2-4264-A552-2D632970CBE2}"/>
              </a:ext>
            </a:extLst>
          </p:cNvPr>
          <p:cNvSpPr txBox="1"/>
          <p:nvPr/>
        </p:nvSpPr>
        <p:spPr>
          <a:xfrm>
            <a:off x="9726328" y="6611779"/>
            <a:ext cx="25747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참고자료 </a:t>
            </a:r>
            <a:r>
              <a:rPr lang="en-US" altLang="ko-KR" sz="1000"/>
              <a:t>: https://atonlee.tistory.com/98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626809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EB5DA60-D315-430F-B7DB-3E3B89725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Sliding Window</a:t>
            </a:r>
            <a:endParaRPr lang="ko-KR" alt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0D560-D698-4BF3-B5B5-2F262286C371}"/>
              </a:ext>
            </a:extLst>
          </p:cNvPr>
          <p:cNvSpPr txBox="1"/>
          <p:nvPr/>
        </p:nvSpPr>
        <p:spPr>
          <a:xfrm>
            <a:off x="0" y="4806818"/>
            <a:ext cx="121919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2-Stage Detector</a:t>
            </a:r>
            <a:r>
              <a:rPr lang="ko-KR" altLang="en-US"/>
              <a:t>는 이미지에서 객체를 탐지하기 위해 </a:t>
            </a:r>
            <a:r>
              <a:rPr lang="en-US" altLang="ko-KR"/>
              <a:t>Sliding Window</a:t>
            </a:r>
            <a:r>
              <a:rPr lang="ko-KR" altLang="en-US"/>
              <a:t>방식을 이용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Sliding Window</a:t>
            </a:r>
            <a:r>
              <a:rPr lang="ko-KR" altLang="en-US"/>
              <a:t>방식은 검출하고자 하는 </a:t>
            </a:r>
            <a:r>
              <a:rPr lang="en-US" altLang="ko-KR"/>
              <a:t>input image</a:t>
            </a:r>
            <a:r>
              <a:rPr lang="ko-KR" altLang="en-US"/>
              <a:t>에 정해진 크기의 </a:t>
            </a:r>
            <a:r>
              <a:rPr lang="en-US" altLang="ko-KR"/>
              <a:t>Bounding Box</a:t>
            </a:r>
            <a:r>
              <a:rPr lang="ko-KR" altLang="en-US"/>
              <a:t>를 만들어</a:t>
            </a:r>
            <a:br>
              <a:rPr lang="en-US" altLang="ko-KR"/>
            </a:br>
            <a:r>
              <a:rPr lang="ko-KR" altLang="en-US"/>
              <a:t>이동하면서 물체가 있을법한 </a:t>
            </a:r>
            <a:r>
              <a:rPr lang="en-US" altLang="ko-KR"/>
              <a:t>box</a:t>
            </a:r>
            <a:r>
              <a:rPr lang="ko-KR" altLang="en-US"/>
              <a:t>나 영역 검출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하지만</a:t>
            </a:r>
            <a:r>
              <a:rPr lang="en-US" altLang="ko-KR"/>
              <a:t>, </a:t>
            </a:r>
            <a:r>
              <a:rPr lang="ko-KR" altLang="en-US"/>
              <a:t>모든 영역을 다 검출해야함으로 비효율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물체가 있을만한 영역을 빠르게 찾아내자 하는 </a:t>
            </a:r>
            <a:r>
              <a:rPr lang="en-US" altLang="ko-KR"/>
              <a:t>Region Proposal</a:t>
            </a:r>
            <a:r>
              <a:rPr lang="ko-KR" altLang="en-US"/>
              <a:t>방법이 나옴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대표적으로 </a:t>
            </a:r>
            <a:r>
              <a:rPr lang="en-US" altLang="ko-KR"/>
              <a:t>Selective Search</a:t>
            </a:r>
            <a:r>
              <a:rPr lang="ko-KR" altLang="en-US"/>
              <a:t>가 있음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D71B6EA-97B5-4AEB-AF1F-7D6C44715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648" y="1358685"/>
            <a:ext cx="4662430" cy="312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79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EB5DA60-D315-430F-B7DB-3E3B89725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Selective Search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93A03E-555F-4B82-90E5-177966EE5CF9}"/>
              </a:ext>
            </a:extLst>
          </p:cNvPr>
          <p:cNvSpPr txBox="1"/>
          <p:nvPr/>
        </p:nvSpPr>
        <p:spPr>
          <a:xfrm>
            <a:off x="-1" y="5376325"/>
            <a:ext cx="114877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Seletive Search</a:t>
            </a:r>
            <a:r>
              <a:rPr lang="ko-KR" altLang="en-US"/>
              <a:t>는 영역의 질감</a:t>
            </a:r>
            <a:r>
              <a:rPr lang="en-US" altLang="ko-KR"/>
              <a:t>, </a:t>
            </a:r>
            <a:r>
              <a:rPr lang="ko-KR" altLang="en-US"/>
              <a:t>색</a:t>
            </a:r>
            <a:r>
              <a:rPr lang="en-US" altLang="ko-KR"/>
              <a:t>, </a:t>
            </a:r>
            <a:r>
              <a:rPr lang="ko-KR" altLang="en-US"/>
              <a:t>강도 등을 갖고 인접 픽셀을 찾아서 물체가 있을 법한 </a:t>
            </a:r>
            <a:r>
              <a:rPr lang="en-US" altLang="ko-KR"/>
              <a:t>box</a:t>
            </a:r>
            <a:r>
              <a:rPr lang="ko-KR" altLang="en-US"/>
              <a:t>나 </a:t>
            </a:r>
            <a:br>
              <a:rPr lang="en-US" altLang="ko-KR"/>
            </a:br>
            <a:r>
              <a:rPr lang="ko-KR" altLang="en-US"/>
              <a:t>영역을 찾는것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입력이미지에 대해 </a:t>
            </a:r>
            <a:r>
              <a:rPr lang="en-US" altLang="ko-KR"/>
              <a:t>segmentation</a:t>
            </a:r>
            <a:r>
              <a:rPr lang="ko-KR" altLang="en-US"/>
              <a:t>을 실시하여 후보영역을 찾음</a:t>
            </a:r>
            <a:r>
              <a:rPr lang="en-US" altLang="ko-KR"/>
              <a:t>(</a:t>
            </a:r>
            <a:r>
              <a:rPr lang="ko-KR" altLang="en-US"/>
              <a:t>엄청많음</a:t>
            </a:r>
            <a:r>
              <a:rPr lang="en-US" altLang="ko-KR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반복횟수가 많아질 수록 유사도가 높은 영역들이 합쳐지면서 최종 후보 영역 생성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cnn</a:t>
            </a:r>
            <a:r>
              <a:rPr lang="ko-KR" altLang="en-US"/>
              <a:t>과 별도로 이루어지기 때문에 실시간 적용 못함</a:t>
            </a:r>
            <a:endParaRPr lang="en-US" altLang="ko-KR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B5725DE-1971-484C-90DE-68D9153F4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1981200"/>
            <a:ext cx="62865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935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A8377D3-4C0F-4693-9C06-6DEDA94D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1-stage detector</a:t>
            </a:r>
            <a:endParaRPr lang="ko-KR" altLang="en-US" b="1"/>
          </a:p>
        </p:txBody>
      </p:sp>
      <p:pic>
        <p:nvPicPr>
          <p:cNvPr id="3076" name="Picture 4" descr="그림6. 1-stage Detector의 전체적인 구조 (출처 : hoya012 .github.io)">
            <a:extLst>
              <a:ext uri="{FF2B5EF4-FFF2-40B4-BE49-F238E27FC236}">
                <a16:creationId xmlns:a16="http://schemas.microsoft.com/office/drawing/2014/main" id="{DF314B55-D837-4A2A-B5B6-BEB98D14D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55657"/>
            <a:ext cx="11873219" cy="250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C2388D-047F-467A-8953-CB6B17F4BA24}"/>
              </a:ext>
            </a:extLst>
          </p:cNvPr>
          <p:cNvSpPr txBox="1"/>
          <p:nvPr/>
        </p:nvSpPr>
        <p:spPr>
          <a:xfrm>
            <a:off x="0" y="1283103"/>
            <a:ext cx="2122171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/>
              <a:t>1-stage detector</a:t>
            </a:r>
            <a:endParaRPr lang="ko-KR" alt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3792A7-02C9-4257-99C7-C1C674A9E7FA}"/>
              </a:ext>
            </a:extLst>
          </p:cNvPr>
          <p:cNvSpPr txBox="1"/>
          <p:nvPr/>
        </p:nvSpPr>
        <p:spPr>
          <a:xfrm>
            <a:off x="8876" y="4438837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 </a:t>
            </a:r>
            <a:r>
              <a:rPr lang="ko-KR" altLang="en-US"/>
              <a:t>한 번의 단계로 객체의 경계 상자</a:t>
            </a:r>
            <a:r>
              <a:rPr lang="en-US" altLang="ko-KR"/>
              <a:t>(Bounding Box)</a:t>
            </a:r>
            <a:r>
              <a:rPr lang="ko-KR" altLang="en-US"/>
              <a:t>와 클래스 레이블을 직접 예측하는 모델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 </a:t>
            </a:r>
            <a:r>
              <a:rPr lang="ko-KR" altLang="en-US"/>
              <a:t>구현이 간단하고 추론속도 빠르지만 </a:t>
            </a:r>
            <a:r>
              <a:rPr lang="en-US" altLang="ko-KR"/>
              <a:t>2-Stage</a:t>
            </a:r>
            <a:r>
              <a:rPr lang="ko-KR" altLang="en-US"/>
              <a:t>에 비해 정확도 낮음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 </a:t>
            </a:r>
            <a:r>
              <a:rPr lang="ko-KR" altLang="en-US"/>
              <a:t>대표적으로 </a:t>
            </a:r>
            <a:r>
              <a:rPr lang="en-US" altLang="ko-KR"/>
              <a:t>YOLO(Yolo Only Look Once)</a:t>
            </a:r>
            <a:r>
              <a:rPr lang="ko-KR" altLang="en-US"/>
              <a:t>와 </a:t>
            </a:r>
            <a:r>
              <a:rPr lang="en-US" altLang="ko-KR"/>
              <a:t>SSD(Single Shot MultiBox Detector)</a:t>
            </a:r>
            <a:r>
              <a:rPr lang="ko-KR" altLang="en-US"/>
              <a:t>가 있음</a:t>
            </a:r>
            <a:endParaRPr lang="en-US" altLang="ko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6D0050-A7AB-4A85-9DB1-37138F242FBD}"/>
              </a:ext>
            </a:extLst>
          </p:cNvPr>
          <p:cNvSpPr txBox="1"/>
          <p:nvPr/>
        </p:nvSpPr>
        <p:spPr>
          <a:xfrm>
            <a:off x="9614992" y="6611779"/>
            <a:ext cx="25858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참고자료 </a:t>
            </a:r>
            <a:r>
              <a:rPr lang="en-US" altLang="ko-KR" sz="1000"/>
              <a:t>: https://atonlee.tistory.com/98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314256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EB5DA60-D315-430F-B7DB-3E3B89725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Anchor</a:t>
            </a:r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0A6C85-4A1A-4AA4-BDCA-494BC88FA3BF}"/>
              </a:ext>
            </a:extLst>
          </p:cNvPr>
          <p:cNvSpPr txBox="1"/>
          <p:nvPr/>
        </p:nvSpPr>
        <p:spPr>
          <a:xfrm>
            <a:off x="235258" y="4370916"/>
            <a:ext cx="119567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1-Stage Detector</a:t>
            </a:r>
            <a:r>
              <a:rPr lang="ko-KR" altLang="en-US"/>
              <a:t>는 </a:t>
            </a:r>
            <a:r>
              <a:rPr lang="en-US" altLang="ko-KR"/>
              <a:t>2-Stage </a:t>
            </a:r>
            <a:r>
              <a:rPr lang="ko-KR" altLang="en-US"/>
              <a:t>처럼 </a:t>
            </a:r>
            <a:r>
              <a:rPr lang="en-US" altLang="ko-KR"/>
              <a:t>ROI</a:t>
            </a:r>
            <a:r>
              <a:rPr lang="ko-KR" altLang="en-US"/>
              <a:t>영역을 추출하는 것이 아닌 </a:t>
            </a:r>
            <a:r>
              <a:rPr lang="en-US" altLang="ko-KR"/>
              <a:t>Anchor box </a:t>
            </a:r>
            <a:r>
              <a:rPr lang="ko-KR" altLang="en-US"/>
              <a:t>사용하고 </a:t>
            </a:r>
            <a:r>
              <a:rPr lang="en-US" altLang="ko-KR"/>
              <a:t>Anchor box</a:t>
            </a:r>
            <a:r>
              <a:rPr lang="ko-KR" altLang="en-US"/>
              <a:t>는 미리 개수가 정해져 있음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Anchor box</a:t>
            </a:r>
            <a:r>
              <a:rPr lang="ko-KR" altLang="en-US"/>
              <a:t>는 </a:t>
            </a:r>
            <a:r>
              <a:rPr lang="en-US" altLang="ko-KR"/>
              <a:t>K-means </a:t>
            </a:r>
            <a:r>
              <a:rPr lang="ko-KR" altLang="en-US"/>
              <a:t>알고리즘에 의해 데이터로부터 생성됨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Anchor box</a:t>
            </a:r>
            <a:r>
              <a:rPr lang="ko-KR" altLang="en-US"/>
              <a:t>는 사전에 크기와 비율이 결정되어 있으며 학습을 통해 박스의 위치나 크기를 세부조정함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2-Stage</a:t>
            </a:r>
            <a:r>
              <a:rPr lang="ko-KR" altLang="en-US"/>
              <a:t>에서 사용했던 슬라이딩 윈도우처럼 이미지를 스캔할 필요가 없음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Anchor</a:t>
            </a:r>
            <a:r>
              <a:rPr lang="ko-KR" altLang="en-US"/>
              <a:t>는 다른크기와 형태의 객체를 탐지하도록 설계되어 있으며 앵커박스와 유사한 크기의 객체를 탐지하여 이미지의 </a:t>
            </a:r>
            <a:r>
              <a:rPr lang="en-US" altLang="ko-KR"/>
              <a:t>feature map</a:t>
            </a:r>
            <a:r>
              <a:rPr lang="ko-KR" altLang="en-US"/>
              <a:t>에서 예측된 </a:t>
            </a:r>
            <a:r>
              <a:rPr lang="en-US" altLang="ko-KR"/>
              <a:t>bounding box</a:t>
            </a:r>
            <a:r>
              <a:rPr lang="ko-KR" altLang="en-US"/>
              <a:t>의 위치좌표를 최적화함</a:t>
            </a:r>
            <a:r>
              <a:rPr lang="en-US" altLang="ko-KR"/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FDC60EA-9CE0-4DAA-A73A-11925E95E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752" y="-78100"/>
            <a:ext cx="6017580" cy="399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2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3A8377D3-4C0F-4693-9C06-6DEDA94D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1-stage detector vs 2-stage detector</a:t>
            </a:r>
            <a:endParaRPr lang="ko-KR" altLang="en-US" b="1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80AB8DC5-FB88-43B4-A93E-4A9F5DCB5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966554"/>
              </p:ext>
            </p:extLst>
          </p:nvPr>
        </p:nvGraphicFramePr>
        <p:xfrm>
          <a:off x="846868" y="2467993"/>
          <a:ext cx="10498263" cy="2839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542">
                  <a:extLst>
                    <a:ext uri="{9D8B030D-6E8A-4147-A177-3AD203B41FA5}">
                      <a16:colId xmlns:a16="http://schemas.microsoft.com/office/drawing/2014/main" val="4004424676"/>
                    </a:ext>
                  </a:extLst>
                </a:gridCol>
                <a:gridCol w="4432018">
                  <a:extLst>
                    <a:ext uri="{9D8B030D-6E8A-4147-A177-3AD203B41FA5}">
                      <a16:colId xmlns:a16="http://schemas.microsoft.com/office/drawing/2014/main" val="1386172096"/>
                    </a:ext>
                  </a:extLst>
                </a:gridCol>
                <a:gridCol w="5246703">
                  <a:extLst>
                    <a:ext uri="{9D8B030D-6E8A-4147-A177-3AD203B41FA5}">
                      <a16:colId xmlns:a16="http://schemas.microsoft.com/office/drawing/2014/main" val="2427765931"/>
                    </a:ext>
                  </a:extLst>
                </a:gridCol>
              </a:tblGrid>
              <a:tr h="357167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/>
                        <a:t>1-stage detector</a:t>
                      </a:r>
                      <a:endParaRPr lang="ko-KR" altLang="en-US" b="1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/>
                        <a:t>2-stage detector</a:t>
                      </a:r>
                      <a:endParaRPr lang="ko-KR" altLang="en-US" b="1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075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b="1"/>
                        <a:t>정의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영역 추출에 대한 좌표와 이미지 특징을 </a:t>
                      </a:r>
                      <a:r>
                        <a:rPr lang="en-US" altLang="ko-KR"/>
                        <a:t>CNN</a:t>
                      </a:r>
                      <a:r>
                        <a:rPr lang="ko-KR" altLang="en-US"/>
                        <a:t>을 통해 한번에 학습하여 결과도출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Regional Proposal</a:t>
                      </a:r>
                      <a:r>
                        <a:rPr lang="ko-KR" altLang="en-US"/>
                        <a:t>과 </a:t>
                      </a:r>
                      <a:r>
                        <a:rPr lang="en-US" altLang="ko-KR"/>
                        <a:t>Classfication</a:t>
                      </a:r>
                      <a:r>
                        <a:rPr lang="ko-KR" altLang="en-US"/>
                        <a:t>을 순차적으로 진행하여 객체 검출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269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/>
                        <a:t>모델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YOLO, SDD</a:t>
                      </a:r>
                      <a:r>
                        <a:rPr lang="ko-KR" altLang="en-US"/>
                        <a:t>계열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R-CNN</a:t>
                      </a:r>
                      <a:r>
                        <a:rPr lang="ko-KR" altLang="en-US"/>
                        <a:t>계열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59032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pPr algn="ctr" latinLnBrk="1">
                        <a:lnSpc>
                          <a:spcPct val="300000"/>
                        </a:lnSpc>
                      </a:pPr>
                      <a:r>
                        <a:rPr lang="ko-KR" altLang="en-US" b="1"/>
                        <a:t>특징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2-stage</a:t>
                      </a:r>
                      <a:r>
                        <a:rPr lang="ko-KR" altLang="en-US"/>
                        <a:t>에 비해 낮은 검출 성능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2-stage</a:t>
                      </a:r>
                      <a:r>
                        <a:rPr lang="ko-KR" altLang="en-US"/>
                        <a:t>에 비해 속도가 빠름</a:t>
                      </a:r>
                      <a:endParaRPr lang="en-US" altLang="ko-KR"/>
                    </a:p>
                    <a:p>
                      <a:pPr latinLnBrk="1"/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=&gt; </a:t>
                      </a:r>
                      <a:r>
                        <a:rPr lang="ko-KR" altLang="en-US"/>
                        <a:t>실시간 객체 탐지 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1-stage</a:t>
                      </a:r>
                      <a:r>
                        <a:rPr lang="ko-KR" altLang="en-US"/>
                        <a:t>에 비해 높은 검출 성능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1-stage</a:t>
                      </a:r>
                      <a:r>
                        <a:rPr lang="ko-KR" altLang="en-US"/>
                        <a:t>에 비해 속도가 느림</a:t>
                      </a:r>
                      <a:endParaRPr lang="en-US" altLang="ko-KR"/>
                    </a:p>
                    <a:p>
                      <a:pPr latinLnBrk="1"/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=&gt; </a:t>
                      </a:r>
                      <a:r>
                        <a:rPr lang="ko-KR" altLang="en-US"/>
                        <a:t>정확성은 높으나 속도로 인해 실시간 객체탐지가 어려움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3004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84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A2413BC3-0374-4EFB-B8D2-A5D92E7B2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Class Imbalance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749E46-8FD3-4E48-8868-4604EEEBEBE8}"/>
              </a:ext>
            </a:extLst>
          </p:cNvPr>
          <p:cNvSpPr txBox="1"/>
          <p:nvPr/>
        </p:nvSpPr>
        <p:spPr>
          <a:xfrm>
            <a:off x="-1" y="5376325"/>
            <a:ext cx="114877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Class Imbalance</a:t>
            </a:r>
            <a:r>
              <a:rPr lang="ko-KR" altLang="en-US"/>
              <a:t>란</a:t>
            </a:r>
            <a:r>
              <a:rPr lang="en-US" altLang="ko-KR"/>
              <a:t>, </a:t>
            </a:r>
            <a:r>
              <a:rPr lang="ko-KR" altLang="en-US"/>
              <a:t>클래스의 개수가 특정한 클래스에 치우쳐있는 문제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위에 사진은 성능이 좋은 </a:t>
            </a:r>
            <a:r>
              <a:rPr lang="en-US" altLang="ko-KR"/>
              <a:t>detection</a:t>
            </a:r>
            <a:r>
              <a:rPr lang="ko-KR" altLang="en-US"/>
              <a:t>결과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하지만</a:t>
            </a:r>
            <a:r>
              <a:rPr lang="en-US" altLang="ko-KR"/>
              <a:t>, </a:t>
            </a:r>
            <a:r>
              <a:rPr lang="ko-KR" altLang="en-US"/>
              <a:t>픽셀단위로 생각한다면 현재 </a:t>
            </a:r>
            <a:r>
              <a:rPr lang="en-US" altLang="ko-KR"/>
              <a:t>detectio</a:t>
            </a:r>
            <a:r>
              <a:rPr lang="ko-KR" altLang="en-US"/>
              <a:t>된 작은 객체들을 나타내는 픽셀 개수에 비해 구름</a:t>
            </a:r>
            <a:r>
              <a:rPr lang="en-US" altLang="ko-KR"/>
              <a:t>,</a:t>
            </a:r>
            <a:r>
              <a:rPr lang="ko-KR" altLang="en-US"/>
              <a:t>나무</a:t>
            </a:r>
            <a:r>
              <a:rPr lang="en-US" altLang="ko-KR"/>
              <a:t>,</a:t>
            </a:r>
            <a:r>
              <a:rPr lang="ko-KR" altLang="en-US"/>
              <a:t>모래와 같은 배경을 나타내는 픽셀 개수가 압도적으로 많다</a:t>
            </a:r>
            <a:r>
              <a:rPr lang="en-US" altLang="ko-KR"/>
              <a:t>(foreground &lt; background)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9C8D9D-FEDE-4E61-8908-230A9C288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310" y="1122226"/>
            <a:ext cx="5443379" cy="36232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15AA8D-83BA-4779-BFFD-43D0094506B4}"/>
              </a:ext>
            </a:extLst>
          </p:cNvPr>
          <p:cNvSpPr txBox="1"/>
          <p:nvPr/>
        </p:nvSpPr>
        <p:spPr>
          <a:xfrm>
            <a:off x="8369132" y="6611779"/>
            <a:ext cx="42443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참고자료 </a:t>
            </a:r>
            <a:r>
              <a:rPr lang="en-US" altLang="ko-KR" sz="1000"/>
              <a:t>: https://techblog-history-younghunjo1.tistory.com/191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968900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A2413BC3-0374-4EFB-B8D2-A5D92E7B2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028"/>
            <a:ext cx="9471734" cy="483325"/>
          </a:xfrm>
        </p:spPr>
        <p:txBody>
          <a:bodyPr>
            <a:normAutofit fontScale="90000"/>
          </a:bodyPr>
          <a:lstStyle/>
          <a:p>
            <a:r>
              <a:rPr lang="en-US" altLang="ko-KR" b="1"/>
              <a:t>Class Imbalance</a:t>
            </a:r>
            <a:endParaRPr lang="ko-KR" alt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749E46-8FD3-4E48-8868-4604EEEBEBE8}"/>
              </a:ext>
            </a:extLst>
          </p:cNvPr>
          <p:cNvSpPr txBox="1"/>
          <p:nvPr/>
        </p:nvSpPr>
        <p:spPr>
          <a:xfrm>
            <a:off x="-1" y="4825912"/>
            <a:ext cx="114877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배경은 이미지에 대부분임으로 </a:t>
            </a:r>
            <a:r>
              <a:rPr lang="en-US" altLang="ko-KR"/>
              <a:t>Easy Example,</a:t>
            </a:r>
            <a:r>
              <a:rPr lang="ko-KR" altLang="en-US"/>
              <a:t> </a:t>
            </a:r>
            <a:r>
              <a:rPr lang="en-US" altLang="ko-KR"/>
              <a:t>Negative Example</a:t>
            </a:r>
            <a:r>
              <a:rPr lang="ko-KR" altLang="en-US"/>
              <a:t>이라고 불림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객체는 이미지에 일부분이고 작기 때문에 </a:t>
            </a:r>
            <a:r>
              <a:rPr lang="en-US" altLang="ko-KR"/>
              <a:t>Hard Example,</a:t>
            </a:r>
            <a:r>
              <a:rPr lang="ko-KR" altLang="en-US"/>
              <a:t> </a:t>
            </a:r>
            <a:r>
              <a:rPr lang="en-US" altLang="ko-KR"/>
              <a:t>Postive Example</a:t>
            </a:r>
            <a:r>
              <a:rPr lang="ko-KR" altLang="en-US"/>
              <a:t>이라 불림</a:t>
            </a:r>
            <a:endParaRPr lang="en-US" altLang="ko-KR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/>
              <a:t>대부분 이미지 데이터들이 </a:t>
            </a:r>
            <a:r>
              <a:rPr lang="ko-KR" altLang="en-US">
                <a:solidFill>
                  <a:srgbClr val="FF0000"/>
                </a:solidFill>
              </a:rPr>
              <a:t>배경 픽셀들이 </a:t>
            </a:r>
            <a:r>
              <a:rPr lang="ko-KR" altLang="en-US"/>
              <a:t>주를 이루고</a:t>
            </a:r>
            <a:r>
              <a:rPr lang="en-US" altLang="ko-KR"/>
              <a:t>,</a:t>
            </a:r>
            <a:r>
              <a:rPr lang="ko-KR" altLang="en-US"/>
              <a:t> 객체들을 나타내는 픽셀이 상대적으로 개수가 적음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Background Example</a:t>
            </a:r>
            <a:r>
              <a:rPr lang="ko-KR" altLang="en-US"/>
              <a:t>이 </a:t>
            </a:r>
            <a:r>
              <a:rPr lang="en-US" altLang="ko-KR"/>
              <a:t>Foreground Example</a:t>
            </a:r>
            <a:r>
              <a:rPr lang="ko-KR" altLang="en-US"/>
              <a:t>보다 개수가 훨씬 더 많아지며 </a:t>
            </a:r>
            <a:r>
              <a:rPr lang="en-US" altLang="ko-KR"/>
              <a:t>Negative</a:t>
            </a:r>
            <a:r>
              <a:rPr lang="ko-KR" altLang="en-US"/>
              <a:t>가 </a:t>
            </a:r>
            <a:r>
              <a:rPr lang="en-US" altLang="ko-KR"/>
              <a:t>Positive</a:t>
            </a:r>
            <a:r>
              <a:rPr lang="ko-KR" altLang="en-US"/>
              <a:t>보다 많은 </a:t>
            </a:r>
            <a:r>
              <a:rPr lang="en-US" altLang="ko-KR">
                <a:solidFill>
                  <a:srgbClr val="FF0000"/>
                </a:solidFill>
              </a:rPr>
              <a:t>class imbalance</a:t>
            </a:r>
            <a:r>
              <a:rPr lang="ko-KR" altLang="en-US">
                <a:solidFill>
                  <a:srgbClr val="FF0000"/>
                </a:solidFill>
              </a:rPr>
              <a:t>문제</a:t>
            </a:r>
            <a:r>
              <a:rPr lang="ko-KR" altLang="en-US"/>
              <a:t>가</a:t>
            </a:r>
            <a:r>
              <a:rPr lang="ko-KR" altLang="en-US">
                <a:solidFill>
                  <a:srgbClr val="FF0000"/>
                </a:solidFill>
              </a:rPr>
              <a:t> </a:t>
            </a:r>
            <a:r>
              <a:rPr lang="ko-KR" altLang="en-US"/>
              <a:t>발생 </a:t>
            </a:r>
            <a:r>
              <a:rPr lang="en-US" altLang="ko-KR"/>
              <a:t>-&gt; </a:t>
            </a:r>
            <a:r>
              <a:rPr lang="en-US" altLang="ko-KR" b="1">
                <a:solidFill>
                  <a:srgbClr val="FF0000"/>
                </a:solidFill>
              </a:rPr>
              <a:t>Focal loss</a:t>
            </a:r>
            <a:r>
              <a:rPr lang="ko-KR" altLang="en-US"/>
              <a:t>로 해결</a:t>
            </a:r>
            <a:endParaRPr lang="en-US" altLang="ko-KR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B31ECFB2-32F4-47BD-A0D8-85A635DDF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243" y="989354"/>
            <a:ext cx="9613301" cy="383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299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FD2E22-E371-4D69-A6DF-90E58D052574}"/>
              </a:ext>
            </a:extLst>
          </p:cNvPr>
          <p:cNvSpPr txBox="1"/>
          <p:nvPr/>
        </p:nvSpPr>
        <p:spPr>
          <a:xfrm>
            <a:off x="221942" y="239697"/>
            <a:ext cx="2817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Cross Entropy Loss </a:t>
            </a:r>
            <a:r>
              <a:rPr lang="ko-KR" altLang="en-US" b="1"/>
              <a:t>문제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99CEA3-90D2-403A-91C7-792347593336}"/>
                  </a:ext>
                </a:extLst>
              </p:cNvPr>
              <p:cNvSpPr txBox="1"/>
              <p:nvPr/>
            </p:nvSpPr>
            <p:spPr>
              <a:xfrm>
                <a:off x="328240" y="862242"/>
                <a:ext cx="11668451" cy="961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Cross Entropy Loss</a:t>
                </a:r>
                <a:r>
                  <a:rPr lang="ko-KR" altLang="en-US"/>
                  <a:t>의 경우 잘 분류한 경우 보다 잘못 예측한 경우에 대해 페널티를 부여하는 것에 초점을 둠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𝑎𝑐𝑡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실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제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en-US" altLang="ko-KR" b="0" i="1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𝑝𝑟𝑒𝑑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예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상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ko-KR" altLang="en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99CEA3-90D2-403A-91C7-792347593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40" y="862242"/>
                <a:ext cx="11668451" cy="961482"/>
              </a:xfrm>
              <a:prstGeom prst="rect">
                <a:avLst/>
              </a:prstGeom>
              <a:blipFill>
                <a:blip r:embed="rId3"/>
                <a:stretch>
                  <a:fillRect l="-366" t="-3165" b="-44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0F5D44A0-5FDB-401D-B191-7572421033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1364483"/>
                  </p:ext>
                </p:extLst>
              </p:nvPr>
            </p:nvGraphicFramePr>
            <p:xfrm>
              <a:off x="2098465" y="3973026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7033410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𝐵𝐶𝐸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+0=−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69479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/>
                            <a:t>p=1</a:t>
                          </a:r>
                          <a:r>
                            <a:rPr lang="ko-KR" altLang="en-US"/>
                            <a:t>일경우</a:t>
                          </a:r>
                          <a:r>
                            <a:rPr lang="en-US" altLang="ko-KR"/>
                            <a:t>,</a:t>
                          </a:r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𝐵𝐶𝐸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9967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/>
                            <a:t>p=0</a:t>
                          </a:r>
                          <a:r>
                            <a:rPr lang="ko-KR" altLang="en-US"/>
                            <a:t>일경우</a:t>
                          </a:r>
                          <a:r>
                            <a:rPr lang="en-US" altLang="ko-KR"/>
                            <a:t>,</a:t>
                          </a:r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𝐵𝐶𝐸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ko-KR" altLang="en-US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485766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0F5D44A0-5FDB-401D-B191-7572421033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31364483"/>
                  </p:ext>
                </p:extLst>
              </p:nvPr>
            </p:nvGraphicFramePr>
            <p:xfrm>
              <a:off x="2098465" y="3973026"/>
              <a:ext cx="8128000" cy="11125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17033410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r="-100000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000" b="-2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69479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/>
                            <a:t>p=1</a:t>
                          </a:r>
                          <a:r>
                            <a:rPr lang="ko-KR" altLang="en-US"/>
                            <a:t>일경우</a:t>
                          </a:r>
                          <a:r>
                            <a:rPr lang="en-US" altLang="ko-KR"/>
                            <a:t>,</a:t>
                          </a:r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98387" b="-1209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9967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 latinLnBrk="1"/>
                          <a:r>
                            <a:rPr lang="en-US" altLang="ko-KR"/>
                            <a:t>p=0</a:t>
                          </a:r>
                          <a:r>
                            <a:rPr lang="ko-KR" altLang="en-US"/>
                            <a:t>일경우</a:t>
                          </a:r>
                          <a:r>
                            <a:rPr lang="en-US" altLang="ko-KR"/>
                            <a:t>,</a:t>
                          </a:r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100000" t="-201639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485766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F05B67-40C2-445F-9343-F9C110C1C242}"/>
                  </a:ext>
                </a:extLst>
              </p:cNvPr>
              <p:cNvSpPr txBox="1"/>
              <p:nvPr/>
            </p:nvSpPr>
            <p:spPr>
              <a:xfrm>
                <a:off x="328240" y="3008719"/>
                <a:ext cx="588783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Y=1</a:t>
                </a:r>
                <a:r>
                  <a:rPr lang="ko-KR" altLang="en-US"/>
                  <a:t>인 케이스일 경우</a:t>
                </a:r>
                <a:r>
                  <a:rPr lang="en-US" altLang="ko-KR"/>
                  <a:t>(</a:t>
                </a:r>
                <a:r>
                  <a:rPr lang="ko-KR" altLang="en-US"/>
                  <a:t>잘 분류했을 경우</a:t>
                </a:r>
                <a:r>
                  <a:rPr lang="en-US" altLang="ko-KR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</a:t>
                </a:r>
                <a:r>
                  <a:rPr lang="ko-KR" altLang="en-US"/>
                  <a:t>의 값이 </a:t>
                </a:r>
                <a:r>
                  <a:rPr lang="en-US" altLang="ko-KR"/>
                  <a:t>1</a:t>
                </a:r>
                <a:r>
                  <a:rPr lang="ko-KR" altLang="en-US"/>
                  <a:t>이면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𝐵𝐶𝐸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=0, </m:t>
                    </m:r>
                  </m:oMath>
                </a14:m>
                <a:r>
                  <a:rPr lang="ko-KR" altLang="en-US"/>
                  <a:t> </a:t>
                </a:r>
                <a:r>
                  <a:rPr lang="en-US" altLang="ko-KR"/>
                  <a:t>0</a:t>
                </a:r>
                <a:r>
                  <a:rPr lang="ko-KR" altLang="en-US"/>
                  <a:t>이면</a:t>
                </a:r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𝐵𝐶𝐸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p</a:t>
                </a:r>
                <a:r>
                  <a:rPr lang="ko-KR" altLang="en-US"/>
                  <a:t>의 값이 </a:t>
                </a:r>
                <a:r>
                  <a:rPr lang="en-US" altLang="ko-KR"/>
                  <a:t>0</a:t>
                </a:r>
                <a:r>
                  <a:rPr lang="ko-KR" altLang="en-US"/>
                  <a:t>이면 패널티가 엄청 커짐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F05B67-40C2-445F-9343-F9C110C1C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40" y="3008719"/>
                <a:ext cx="5887830" cy="923330"/>
              </a:xfrm>
              <a:prstGeom prst="rect">
                <a:avLst/>
              </a:prstGeom>
              <a:blipFill>
                <a:blip r:embed="rId5"/>
                <a:stretch>
                  <a:fillRect l="-725" t="-3974" b="-99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FB30BD4A-9544-4786-8E79-EE2E428FED42}"/>
              </a:ext>
            </a:extLst>
          </p:cNvPr>
          <p:cNvSpPr txBox="1"/>
          <p:nvPr/>
        </p:nvSpPr>
        <p:spPr>
          <a:xfrm>
            <a:off x="337118" y="5342950"/>
            <a:ext cx="97032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BCE</a:t>
            </a:r>
            <a:r>
              <a:rPr lang="ko-KR" altLang="en-US"/>
              <a:t>는 모든 </a:t>
            </a:r>
            <a:r>
              <a:rPr lang="en-US" altLang="ko-KR"/>
              <a:t>sample</a:t>
            </a:r>
            <a:r>
              <a:rPr lang="ko-KR" altLang="en-US"/>
              <a:t>에 대한 예측 결과를 모두 동등하게 가중치를 부여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>
                <a:solidFill>
                  <a:srgbClr val="FF0000"/>
                </a:solidFill>
              </a:rPr>
              <a:t>많은 수의 </a:t>
            </a:r>
            <a:r>
              <a:rPr lang="en-US" altLang="ko-KR">
                <a:solidFill>
                  <a:srgbClr val="FF0000"/>
                </a:solidFill>
              </a:rPr>
              <a:t>easy example(</a:t>
            </a:r>
            <a:r>
              <a:rPr lang="ko-KR" altLang="en-US">
                <a:solidFill>
                  <a:srgbClr val="FF0000"/>
                </a:solidFill>
              </a:rPr>
              <a:t>배경</a:t>
            </a:r>
            <a:r>
              <a:rPr lang="en-US" altLang="ko-KR">
                <a:solidFill>
                  <a:srgbClr val="FF0000"/>
                </a:solidFill>
              </a:rPr>
              <a:t>)</a:t>
            </a:r>
            <a:r>
              <a:rPr lang="ko-KR" altLang="en-US">
                <a:solidFill>
                  <a:srgbClr val="FF0000"/>
                </a:solidFill>
              </a:rPr>
              <a:t>이 더해지면 </a:t>
            </a:r>
            <a:r>
              <a:rPr lang="en-US" altLang="ko-KR">
                <a:solidFill>
                  <a:srgbClr val="FF0000"/>
                </a:solidFill>
              </a:rPr>
              <a:t>hard example(</a:t>
            </a:r>
            <a:r>
              <a:rPr lang="ko-KR" altLang="en-US">
                <a:solidFill>
                  <a:srgbClr val="FF0000"/>
                </a:solidFill>
              </a:rPr>
              <a:t>객체</a:t>
            </a:r>
            <a:r>
              <a:rPr lang="en-US" altLang="ko-KR">
                <a:solidFill>
                  <a:srgbClr val="FF0000"/>
                </a:solidFill>
              </a:rPr>
              <a:t>)</a:t>
            </a:r>
            <a:r>
              <a:rPr lang="ko-KR" altLang="en-US">
                <a:solidFill>
                  <a:srgbClr val="FF0000"/>
                </a:solidFill>
              </a:rPr>
              <a:t>를 압도해버리는 문제 발생</a:t>
            </a:r>
            <a:endParaRPr lang="en-US" altLang="ko-KR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02864733-27AC-46AA-9712-B5D3DC2304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1358671"/>
                  </p:ext>
                </p:extLst>
              </p:nvPr>
            </p:nvGraphicFramePr>
            <p:xfrm>
              <a:off x="1369618" y="1677047"/>
              <a:ext cx="9585694" cy="78079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792847">
                      <a:extLst>
                        <a:ext uri="{9D8B030D-6E8A-4147-A177-3AD203B41FA5}">
                          <a16:colId xmlns:a16="http://schemas.microsoft.com/office/drawing/2014/main" val="3940714398"/>
                        </a:ext>
                      </a:extLst>
                    </a:gridCol>
                    <a:gridCol w="4792847">
                      <a:extLst>
                        <a:ext uri="{9D8B030D-6E8A-4147-A177-3AD203B41FA5}">
                          <a16:colId xmlns:a16="http://schemas.microsoft.com/office/drawing/2014/main" val="23190709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𝑩𝒊𝒏𝒂𝒓𝒚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𝑪𝒓𝒐𝒔𝒔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𝑬𝒏𝒕𝒓𝒐𝒑𝒚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𝑳𝒐𝒔𝒔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 =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𝒂𝒄𝒕</m:t>
                                    </m:r>
                                  </m:sub>
                                </m:sSub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1" smtClean="0">
                                            <a:latin typeface="Cambria Math" panose="02040503050406030204" pitchFamily="18" charset="0"/>
                                          </a:rPr>
                                          <m:t>𝒀</m:t>
                                        </m:r>
                                      </m:e>
                                      <m:sub>
                                        <m:r>
                                          <a:rPr lang="en-US" altLang="ko-KR" b="1" smtClean="0">
                                            <a:latin typeface="Cambria Math" panose="02040503050406030204" pitchFamily="18" charset="0"/>
                                          </a:rPr>
                                          <m:t>𝒑𝒓𝒆𝒅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1" smtClean="0">
                                            <a:latin typeface="Cambria Math" panose="02040503050406030204" pitchFamily="18" charset="0"/>
                                          </a:rPr>
                                          <m:t>𝒀</m:t>
                                        </m:r>
                                      </m:e>
                                      <m:sub>
                                        <m:r>
                                          <a:rPr lang="en-US" altLang="ko-KR" b="1" smtClean="0">
                                            <a:latin typeface="Cambria Math" panose="02040503050406030204" pitchFamily="18" charset="0"/>
                                          </a:rPr>
                                          <m:t>𝒂𝒄𝒕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1" smtClean="0">
                                            <a:latin typeface="Cambria Math" panose="02040503050406030204" pitchFamily="18" charset="0"/>
                                          </a:rPr>
                                          <m:t>𝒀</m:t>
                                        </m:r>
                                      </m:e>
                                      <m:sub>
                                        <m:r>
                                          <a:rPr lang="en-US" altLang="ko-KR" b="1" smtClean="0">
                                            <a:latin typeface="Cambria Math" panose="02040503050406030204" pitchFamily="18" charset="0"/>
                                          </a:rPr>
                                          <m:t>𝒑𝒓𝒆𝒅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777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just" latinLnBrk="1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𝒀𝒍𝒐𝒈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ko-KR" b="1" smtClean="0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</m:d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US" altLang="ko-KR" b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altLang="ko-KR" b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10482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10">
                <a:extLst>
                  <a:ext uri="{FF2B5EF4-FFF2-40B4-BE49-F238E27FC236}">
                    <a16:creationId xmlns:a16="http://schemas.microsoft.com/office/drawing/2014/main" id="{02864733-27AC-46AA-9712-B5D3DC2304D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1358671"/>
                  </p:ext>
                </p:extLst>
              </p:nvPr>
            </p:nvGraphicFramePr>
            <p:xfrm>
              <a:off x="1369618" y="1677047"/>
              <a:ext cx="9585694" cy="780796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792847">
                      <a:extLst>
                        <a:ext uri="{9D8B030D-6E8A-4147-A177-3AD203B41FA5}">
                          <a16:colId xmlns:a16="http://schemas.microsoft.com/office/drawing/2014/main" val="3940714398"/>
                        </a:ext>
                      </a:extLst>
                    </a:gridCol>
                    <a:gridCol w="4792847">
                      <a:extLst>
                        <a:ext uri="{9D8B030D-6E8A-4147-A177-3AD203B41FA5}">
                          <a16:colId xmlns:a16="http://schemas.microsoft.com/office/drawing/2014/main" val="231907094"/>
                        </a:ext>
                      </a:extLst>
                    </a:gridCol>
                  </a:tblGrid>
                  <a:tr h="40995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r="-100000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100000" b="-1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7773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11475" r="-100000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l="-100000" t="-111475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104827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0503C69D-91E0-4396-B2FA-05E9C01B5D8A}"/>
              </a:ext>
            </a:extLst>
          </p:cNvPr>
          <p:cNvSpPr txBox="1"/>
          <p:nvPr/>
        </p:nvSpPr>
        <p:spPr>
          <a:xfrm>
            <a:off x="221942" y="2539341"/>
            <a:ext cx="4517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잘못 예측한 경우 페널티를 부여하는 예시</a:t>
            </a:r>
            <a:endParaRPr lang="en-US" altLang="ko-KR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B5EF51-30DC-4F99-BF1B-BD1BBF9D9CD8}"/>
              </a:ext>
            </a:extLst>
          </p:cNvPr>
          <p:cNvSpPr txBox="1"/>
          <p:nvPr/>
        </p:nvSpPr>
        <p:spPr>
          <a:xfrm>
            <a:off x="8407168" y="6581435"/>
            <a:ext cx="37861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참고자료 </a:t>
            </a:r>
            <a:r>
              <a:rPr lang="en-US" altLang="ko-KR" sz="1000"/>
              <a:t>: https://gaussian37.github.io/dl-concept-focal_loss/</a:t>
            </a:r>
          </a:p>
        </p:txBody>
      </p:sp>
    </p:spTree>
    <p:extLst>
      <p:ext uri="{BB962C8B-B14F-4D97-AF65-F5344CB8AC3E}">
        <p14:creationId xmlns:p14="http://schemas.microsoft.com/office/powerpoint/2010/main" val="1210438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FD2E22-E371-4D69-A6DF-90E58D052574}"/>
              </a:ext>
            </a:extLst>
          </p:cNvPr>
          <p:cNvSpPr txBox="1"/>
          <p:nvPr/>
        </p:nvSpPr>
        <p:spPr>
          <a:xfrm>
            <a:off x="221942" y="239697"/>
            <a:ext cx="2784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Balanced Cross Entropy</a:t>
            </a:r>
            <a:endParaRPr lang="ko-KR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99CEA3-90D2-403A-91C7-792347593336}"/>
                  </a:ext>
                </a:extLst>
              </p:cNvPr>
              <p:cNvSpPr txBox="1"/>
              <p:nvPr/>
            </p:nvSpPr>
            <p:spPr>
              <a:xfrm>
                <a:off x="328240" y="862242"/>
                <a:ext cx="894783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Foreground</a:t>
                </a:r>
                <a:r>
                  <a:rPr lang="ko-KR" altLang="en-US"/>
                  <a:t>와 </a:t>
                </a:r>
                <a:r>
                  <a:rPr lang="en-US" altLang="ko-KR"/>
                  <a:t>Background </a:t>
                </a:r>
                <a:r>
                  <a:rPr lang="ko-KR" altLang="en-US"/>
                  <a:t>케이스의 비율이 다른점 개선 하기 위한 </a:t>
                </a:r>
                <a:r>
                  <a:rPr lang="en-US" altLang="ko-KR"/>
                  <a:t>Cross Entropy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>
                    <a:solidFill>
                      <a:srgbClr val="FF0000"/>
                    </a:solidFill>
                  </a:rPr>
                  <a:t>BCE</a:t>
                </a:r>
                <a:r>
                  <a:rPr lang="ko-KR" altLang="en-US">
                    <a:solidFill>
                      <a:srgbClr val="FF0000"/>
                    </a:solidFill>
                  </a:rPr>
                  <a:t>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ko-KR" altLang="en-US">
                    <a:solidFill>
                      <a:srgbClr val="FF0000"/>
                    </a:solidFill>
                  </a:rPr>
                  <a:t>를 </a:t>
                </a:r>
                <a:r>
                  <a:rPr lang="ko-KR" altLang="en-US"/>
                  <a:t>곱해줌으로 </a:t>
                </a:r>
                <a:r>
                  <a:rPr lang="en-US" altLang="ko-KR"/>
                  <a:t>Balanced Cross Entropy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/>
                  <a:t> 0~1</a:t>
                </a:r>
                <a:r>
                  <a:rPr lang="ko-KR" altLang="en-US"/>
                  <a:t>의 값을 사용</a:t>
                </a:r>
                <a:endParaRPr lang="en-US" altLang="ko-KR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99CEA3-90D2-403A-91C7-792347593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40" y="862242"/>
                <a:ext cx="8947834" cy="923330"/>
              </a:xfrm>
              <a:prstGeom prst="rect">
                <a:avLst/>
              </a:prstGeom>
              <a:blipFill>
                <a:blip r:embed="rId2"/>
                <a:stretch>
                  <a:fillRect l="-477" t="-3289" b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19B674A9-85A0-4C15-95FE-809191DA9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7654537"/>
                  </p:ext>
                </p:extLst>
              </p:nvPr>
            </p:nvGraphicFramePr>
            <p:xfrm>
              <a:off x="1858746" y="1853365"/>
              <a:ext cx="8128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𝐵𝐶𝐸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αlog</m:t>
                                </m:r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215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6">
                <a:extLst>
                  <a:ext uri="{FF2B5EF4-FFF2-40B4-BE49-F238E27FC236}">
                    <a16:creationId xmlns:a16="http://schemas.microsoft.com/office/drawing/2014/main" id="{19B674A9-85A0-4C15-95FE-809191DA9A2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47654537"/>
                  </p:ext>
                </p:extLst>
              </p:nvPr>
            </p:nvGraphicFramePr>
            <p:xfrm>
              <a:off x="1858746" y="1853365"/>
              <a:ext cx="8128000" cy="370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b="-163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2158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7E21227-5AFC-4A9D-BDB4-7CA3B88E8F5C}"/>
              </a:ext>
            </a:extLst>
          </p:cNvPr>
          <p:cNvSpPr txBox="1"/>
          <p:nvPr/>
        </p:nvSpPr>
        <p:spPr>
          <a:xfrm>
            <a:off x="328239" y="4526419"/>
            <a:ext cx="91718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위와 같이 </a:t>
            </a:r>
            <a:r>
              <a:rPr lang="en-US" altLang="ko-KR"/>
              <a:t>Foreground</a:t>
            </a:r>
            <a:r>
              <a:rPr lang="ko-KR" altLang="en-US"/>
              <a:t>에 더 많은 가중치를</a:t>
            </a:r>
            <a:r>
              <a:rPr lang="en-US" altLang="ko-KR"/>
              <a:t>, Background</a:t>
            </a:r>
            <a:r>
              <a:rPr lang="ko-KR" altLang="en-US"/>
              <a:t>에 적은 가중치를 반영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하지만</a:t>
            </a:r>
            <a:r>
              <a:rPr lang="en-US" altLang="ko-KR"/>
              <a:t>, </a:t>
            </a:r>
            <a:r>
              <a:rPr lang="ko-KR" altLang="en-US"/>
              <a:t>식을 살펴보면 </a:t>
            </a:r>
            <a:r>
              <a:rPr lang="en-US" altLang="ko-KR"/>
              <a:t>Easy/Hard Example</a:t>
            </a:r>
            <a:r>
              <a:rPr lang="ko-KR" altLang="en-US"/>
              <a:t>에 대한 반영은 없는것을 파악하여 균형을 잡지는 못함</a:t>
            </a:r>
            <a:endParaRPr lang="en-US" altLang="ko-K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86BF96-BE95-4E6F-995A-99645261C4FE}"/>
                  </a:ext>
                </a:extLst>
              </p:cNvPr>
              <p:cNvSpPr txBox="1"/>
              <p:nvPr/>
            </p:nvSpPr>
            <p:spPr>
              <a:xfrm>
                <a:off x="328240" y="2820939"/>
                <a:ext cx="520597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Foreground </a:t>
                </a:r>
                <a:r>
                  <a:rPr lang="ko-KR" altLang="en-US"/>
                  <a:t>케이스</a:t>
                </a:r>
                <a:r>
                  <a:rPr lang="en-US" altLang="ko-KR"/>
                  <a:t>, Y=1,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=0.95,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Background </a:t>
                </a:r>
                <a:r>
                  <a:rPr lang="ko-KR" altLang="en-US"/>
                  <a:t>케이스</a:t>
                </a:r>
                <a:r>
                  <a:rPr lang="en-US" altLang="ko-KR"/>
                  <a:t>, Y=0,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=0.05,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endParaRPr lang="en-US" altLang="ko-KR"/>
              </a:p>
              <a:p>
                <a:pPr lvl="1"/>
                <a:endParaRPr lang="ko-KR" altLang="en-US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86BF96-BE95-4E6F-995A-99645261C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40" y="2820939"/>
                <a:ext cx="5205977" cy="923330"/>
              </a:xfrm>
              <a:prstGeom prst="rect">
                <a:avLst/>
              </a:prstGeom>
              <a:blipFill>
                <a:blip r:embed="rId4"/>
                <a:stretch>
                  <a:fillRect l="-820" t="-39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2402040-F0DE-4D42-95B9-977BF359E20A}"/>
              </a:ext>
            </a:extLst>
          </p:cNvPr>
          <p:cNvSpPr txBox="1"/>
          <p:nvPr/>
        </p:nvSpPr>
        <p:spPr>
          <a:xfrm>
            <a:off x="221942" y="2383058"/>
            <a:ext cx="3875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Balanced Cross Entropy(example)</a:t>
            </a:r>
            <a:endParaRPr lang="ko-KR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표 6">
                <a:extLst>
                  <a:ext uri="{FF2B5EF4-FFF2-40B4-BE49-F238E27FC236}">
                    <a16:creationId xmlns:a16="http://schemas.microsoft.com/office/drawing/2014/main" id="{1E963261-B72A-4638-825E-CCC6A0C5FB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977783"/>
                  </p:ext>
                </p:extLst>
              </p:nvPr>
            </p:nvGraphicFramePr>
            <p:xfrm>
              <a:off x="1858746" y="3516862"/>
              <a:ext cx="8128000" cy="640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𝐵𝐶𝐸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𝐹𝐺</m:t>
                                    </m:r>
                                  </m:e>
                                </m:d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0.75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0.95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=0.038</m:t>
                                </m:r>
                              </m:oMath>
                            </m:oMathPara>
                          </a14:m>
                          <a:endParaRPr lang="en-US" altLang="ko-KR"/>
                        </a:p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𝐵𝐶𝐸</m:t>
                                </m:r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𝐵𝐺</m:t>
                                    </m:r>
                                  </m:e>
                                </m:d>
                                <m:r>
                                  <a:rPr lang="en-US" altLang="ko-KR" b="0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0.25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0.05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=0.0128</m:t>
                                </m:r>
                              </m:oMath>
                            </m:oMathPara>
                          </a14:m>
                          <a:endParaRPr lang="en-US" altLang="ko-KR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2158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표 6">
                <a:extLst>
                  <a:ext uri="{FF2B5EF4-FFF2-40B4-BE49-F238E27FC236}">
                    <a16:creationId xmlns:a16="http://schemas.microsoft.com/office/drawing/2014/main" id="{1E963261-B72A-4638-825E-CCC6A0C5FBB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977783"/>
                  </p:ext>
                </p:extLst>
              </p:nvPr>
            </p:nvGraphicFramePr>
            <p:xfrm>
              <a:off x="1858746" y="3516862"/>
              <a:ext cx="8128000" cy="6400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128000">
                      <a:extLst>
                        <a:ext uri="{9D8B030D-6E8A-4147-A177-3AD203B41FA5}">
                          <a16:colId xmlns:a16="http://schemas.microsoft.com/office/drawing/2014/main" val="186634986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b="-94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2158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8223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CBCC97C2-AF73-4572-8CB1-47A9C9B7F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45" b="96941" l="882" r="98866">
                        <a14:foregroundMark x1="9320" y1="9560" x2="2897" y2="45124"/>
                        <a14:foregroundMark x1="8690" y1="6883" x2="1511" y2="14723"/>
                        <a14:foregroundMark x1="7431" y1="5927" x2="882" y2="6310"/>
                        <a14:foregroundMark x1="9572" y1="10899" x2="8690" y2="44551"/>
                        <a14:foregroundMark x1="13224" y1="24857" x2="9068" y2="52772"/>
                        <a14:foregroundMark x1="14484" y1="37476" x2="23552" y2="55449"/>
                        <a14:foregroundMark x1="23552" y1="55449" x2="51008" y2="78394"/>
                        <a14:foregroundMark x1="51008" y1="78394" x2="53652" y2="78967"/>
                        <a14:foregroundMark x1="2141" y1="49522" x2="3401" y2="91013"/>
                        <a14:foregroundMark x1="12343" y1="71702" x2="72166" y2="95029"/>
                        <a14:foregroundMark x1="81234" y1="74570" x2="68514" y2="87954"/>
                        <a14:foregroundMark x1="68514" y1="87954" x2="62972" y2="63480"/>
                        <a14:foregroundMark x1="62972" y1="63480" x2="68640" y2="87380"/>
                        <a14:foregroundMark x1="68640" y1="87380" x2="62469" y2="86616"/>
                        <a14:foregroundMark x1="84509" y1="56788" x2="88287" y2="79541"/>
                        <a14:foregroundMark x1="88287" y1="79541" x2="86398" y2="96941"/>
                        <a14:foregroundMark x1="30856" y1="96750" x2="42569" y2="96750"/>
                        <a14:foregroundMark x1="42569" y1="96750" x2="57557" y2="95985"/>
                        <a14:foregroundMark x1="89295" y1="92925" x2="98866" y2="89484"/>
                        <a14:foregroundMark x1="96851" y1="61377" x2="90302" y2="85086"/>
                        <a14:foregroundMark x1="64610" y1="61377" x2="53904" y2="78203"/>
                        <a14:foregroundMark x1="30479" y1="53728" x2="86398" y2="53728"/>
                        <a14:foregroundMark x1="71411" y1="55258" x2="95592" y2="79924"/>
                        <a14:foregroundMark x1="3401" y1="40535" x2="3526" y2="56405"/>
                        <a14:foregroundMark x1="3904" y1="43403" x2="3149" y2="73040"/>
                        <a14:foregroundMark x1="3149" y1="73040" x2="5038" y2="73040"/>
                        <a14:foregroundMark x1="7683" y1="54493" x2="2141" y2="45507"/>
                        <a14:foregroundMark x1="34761" y1="95793" x2="41562" y2="96367"/>
                        <a14:foregroundMark x1="77960" y1="10516" x2="85768" y2="37094"/>
                        <a14:backgroundMark x1="53275" y1="34226" x2="40176" y2="31166"/>
                        <a14:backgroundMark x1="40176" y1="31166" x2="22418" y2="18547"/>
                        <a14:backgroundMark x1="22418" y1="18547" x2="31738" y2="9369"/>
                        <a14:backgroundMark x1="18766" y1="12811" x2="19773" y2="25621"/>
                        <a14:backgroundMark x1="24559" y1="30019" x2="18388" y2="193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00794" y="2200763"/>
            <a:ext cx="4684517" cy="308564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166288-9691-48C9-BD1C-34B7884A6923}"/>
              </a:ext>
            </a:extLst>
          </p:cNvPr>
          <p:cNvSpPr txBox="1"/>
          <p:nvPr/>
        </p:nvSpPr>
        <p:spPr>
          <a:xfrm>
            <a:off x="221942" y="287057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Focal Loss</a:t>
            </a:r>
            <a:endParaRPr lang="ko-KR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B78D18-7E0A-4988-9D59-EEE24E5EBC17}"/>
                  </a:ext>
                </a:extLst>
              </p:cNvPr>
              <p:cNvSpPr txBox="1"/>
              <p:nvPr/>
            </p:nvSpPr>
            <p:spPr>
              <a:xfrm>
                <a:off x="328240" y="5417933"/>
                <a:ext cx="11317394" cy="9285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>
                    <a:highlight>
                      <a:srgbClr val="FFFF00"/>
                    </a:highlight>
                  </a:rPr>
                  <a:t> </a:t>
                </a:r>
                <a:r>
                  <a:rPr lang="en-US" altLang="ko-KR">
                    <a:highlight>
                      <a:srgbClr val="FFFF00"/>
                    </a:highlight>
                  </a:rPr>
                  <a:t>0</a:t>
                </a:r>
                <a:r>
                  <a:rPr lang="ko-KR" altLang="en-US">
                    <a:highlight>
                      <a:srgbClr val="FFFF00"/>
                    </a:highlight>
                  </a:rPr>
                  <a:t>일 때</a:t>
                </a:r>
                <a:r>
                  <a:rPr lang="en-US" altLang="ko-KR">
                    <a:highlight>
                      <a:srgbClr val="FFFF00"/>
                    </a:highlight>
                  </a:rPr>
                  <a:t>, Cross Entropy</a:t>
                </a:r>
                <a:r>
                  <a:rPr lang="ko-KR" altLang="en-US">
                    <a:highlight>
                      <a:srgbClr val="FFFF00"/>
                    </a:highlight>
                  </a:rPr>
                  <a:t>와 같고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>
                    <a:highlight>
                      <a:srgbClr val="FFFF00"/>
                    </a:highlight>
                  </a:rPr>
                  <a:t> 커질수록 </a:t>
                </a:r>
                <a:r>
                  <a:rPr lang="en-US" altLang="ko-KR">
                    <a:highlight>
                      <a:srgbClr val="FFFF00"/>
                    </a:highlight>
                  </a:rPr>
                  <a:t>Easy Example</a:t>
                </a:r>
                <a:r>
                  <a:rPr lang="ko-KR" altLang="en-US">
                    <a:highlight>
                      <a:srgbClr val="FFFF00"/>
                    </a:highlight>
                  </a:rPr>
                  <a:t>에 대한 </a:t>
                </a:r>
                <a:r>
                  <a:rPr lang="en-US" altLang="ko-KR">
                    <a:highlight>
                      <a:srgbClr val="FFFF00"/>
                    </a:highlight>
                  </a:rPr>
                  <a:t>Loss</a:t>
                </a:r>
                <a:r>
                  <a:rPr lang="ko-KR" altLang="en-US">
                    <a:highlight>
                      <a:srgbClr val="FFFF00"/>
                    </a:highlight>
                  </a:rPr>
                  <a:t>가 크게 줄어</a:t>
                </a:r>
                <a:r>
                  <a:rPr lang="en-US" altLang="ko-KR">
                    <a:highlight>
                      <a:srgbClr val="FFFF00"/>
                    </a:highlight>
                  </a:rPr>
                  <a:t>, Easy Example</a:t>
                </a:r>
                <a:r>
                  <a:rPr lang="ko-KR" altLang="en-US">
                    <a:highlight>
                      <a:srgbClr val="FFFF00"/>
                    </a:highlight>
                  </a:rPr>
                  <a:t>에 </a:t>
                </a:r>
                <a:br>
                  <a:rPr lang="en-US" altLang="ko-KR">
                    <a:highlight>
                      <a:srgbClr val="FFFF00"/>
                    </a:highlight>
                  </a:rPr>
                </a:br>
                <a:r>
                  <a:rPr lang="ko-KR" altLang="en-US">
                    <a:highlight>
                      <a:srgbClr val="FFFF00"/>
                    </a:highlight>
                  </a:rPr>
                  <a:t>대한 범위도 커짐</a:t>
                </a:r>
                <a:endParaRPr lang="en-US" altLang="ko-KR">
                  <a:highlight>
                    <a:srgbClr val="FFFF00"/>
                  </a:highlight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ko-KR" altLang="en-US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BB78D18-7E0A-4988-9D59-EEE24E5EB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40" y="5417933"/>
                <a:ext cx="11317394" cy="928524"/>
              </a:xfrm>
              <a:prstGeom prst="rect">
                <a:avLst/>
              </a:prstGeom>
              <a:blipFill>
                <a:blip r:embed="rId5"/>
                <a:stretch>
                  <a:fillRect l="-377" t="-32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표 8">
                <a:extLst>
                  <a:ext uri="{FF2B5EF4-FFF2-40B4-BE49-F238E27FC236}">
                    <a16:creationId xmlns:a16="http://schemas.microsoft.com/office/drawing/2014/main" id="{F811B699-6EE6-4CC7-87FC-939E839396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581927"/>
                  </p:ext>
                </p:extLst>
              </p:nvPr>
            </p:nvGraphicFramePr>
            <p:xfrm>
              <a:off x="3500794" y="2524370"/>
              <a:ext cx="4328232" cy="741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328232">
                      <a:extLst>
                        <a:ext uri="{9D8B030D-6E8A-4147-A177-3AD203B41FA5}">
                          <a16:colId xmlns:a16="http://schemas.microsoft.com/office/drawing/2014/main" val="22993219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</a:rPr>
                                  <m:t>𝑩𝑪𝑬</m:t>
                                </m:r>
                                <m:d>
                                  <m:d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  <m:t>𝒑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sz="1400" b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  <m:t>𝒑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altLang="ko-KR" sz="1400" b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0862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</a:rPr>
                                  <m:t>𝑭𝒐𝒄𝒂𝒍</m:t>
                                </m:r>
                                <m:r>
                                  <a:rPr lang="en-US" altLang="ko-KR" sz="14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</a:rPr>
                                  <m:t>𝑳𝒐𝒔𝒔</m:t>
                                </m:r>
                                <m:r>
                                  <a:rPr lang="en-US" altLang="ko-KR" sz="1400" b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</a:rPr>
                                  <m:t>𝜶</m:t>
                                </m:r>
                                <m:sSup>
                                  <m:sSup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altLang="ko-KR" sz="1400" b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ko-KR" altLang="en-US" sz="1400" b="1" i="1" smtClean="0">
                                        <a:latin typeface="Cambria Math" panose="02040503050406030204" pitchFamily="18" charset="0"/>
                                      </a:rPr>
                                      <m:t>𝜸</m:t>
                                    </m:r>
                                  </m:sup>
                                </m:sSup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r>
                                  <a:rPr lang="en-US" altLang="ko-KR" sz="1400" b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US" altLang="ko-KR" sz="1400" b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400" b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7201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표 8">
                <a:extLst>
                  <a:ext uri="{FF2B5EF4-FFF2-40B4-BE49-F238E27FC236}">
                    <a16:creationId xmlns:a16="http://schemas.microsoft.com/office/drawing/2014/main" id="{F811B699-6EE6-4CC7-87FC-939E839396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581927"/>
                  </p:ext>
                </p:extLst>
              </p:nvPr>
            </p:nvGraphicFramePr>
            <p:xfrm>
              <a:off x="3500794" y="2524370"/>
              <a:ext cx="4328232" cy="741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328232">
                      <a:extLst>
                        <a:ext uri="{9D8B030D-6E8A-4147-A177-3AD203B41FA5}">
                          <a16:colId xmlns:a16="http://schemas.microsoft.com/office/drawing/2014/main" val="22993219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62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7201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FFFFC3-87C0-4DE8-BD8A-81AE7F2A46DA}"/>
                  </a:ext>
                </a:extLst>
              </p:cNvPr>
              <p:cNvSpPr txBox="1"/>
              <p:nvPr/>
            </p:nvSpPr>
            <p:spPr>
              <a:xfrm>
                <a:off x="328240" y="862242"/>
                <a:ext cx="10747301" cy="1206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Focal Loss</a:t>
                </a:r>
                <a:r>
                  <a:rPr lang="ko-KR" altLang="en-US"/>
                  <a:t>는 </a:t>
                </a:r>
                <a:r>
                  <a:rPr lang="en-US" altLang="ko-KR"/>
                  <a:t>easy example</a:t>
                </a:r>
                <a:r>
                  <a:rPr lang="ko-KR" altLang="en-US"/>
                  <a:t>의 </a:t>
                </a:r>
                <a:r>
                  <a:rPr lang="en-US" altLang="ko-KR"/>
                  <a:t>weight</a:t>
                </a:r>
                <a:r>
                  <a:rPr lang="ko-KR" altLang="en-US"/>
                  <a:t>를 줄이고</a:t>
                </a:r>
                <a:r>
                  <a:rPr lang="en-US" altLang="ko-KR"/>
                  <a:t>, Hard Negative Example</a:t>
                </a:r>
                <a:r>
                  <a:rPr lang="ko-KR" altLang="en-US"/>
                  <a:t>에 대한 학습에 초점을 두는</a:t>
                </a:r>
                <a:br>
                  <a:rPr lang="en-US" altLang="ko-KR"/>
                </a:br>
                <a:r>
                  <a:rPr lang="en-US" altLang="ko-KR"/>
                  <a:t>Cross Entropy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/>
                  <a:t>Balance Cross Entropy</a:t>
                </a:r>
                <a:r>
                  <a:rPr lang="ko-KR" altLang="en-US"/>
                  <a:t>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p>
                    </m:sSup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곱함</a:t>
                </a:r>
                <a:r>
                  <a:rPr lang="en-US" altLang="ko-KR"/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ko-KR" altLang="en-US"/>
                  <a:t>의 값을 잘 조절해야 좋은 성능을 얻음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논문에서는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값을 조절하여 어떤 값이 좋은 성능을 가지는지 테스트 진행</a:t>
                </a:r>
                <a:r>
                  <a:rPr lang="en-US" altLang="ko-KR"/>
                  <a:t>(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≤5</m:t>
                    </m:r>
                  </m:oMath>
                </a14:m>
                <a:r>
                  <a:rPr lang="en-US" altLang="ko-KR"/>
                  <a:t>)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FFFFC3-87C0-4DE8-BD8A-81AE7F2A4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40" y="862242"/>
                <a:ext cx="10747301" cy="1206997"/>
              </a:xfrm>
              <a:prstGeom prst="rect">
                <a:avLst/>
              </a:prstGeom>
              <a:blipFill>
                <a:blip r:embed="rId7"/>
                <a:stretch>
                  <a:fillRect l="-397" t="-2525" b="-70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2100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그룹 19">
            <a:extLst>
              <a:ext uri="{FF2B5EF4-FFF2-40B4-BE49-F238E27FC236}">
                <a16:creationId xmlns:a16="http://schemas.microsoft.com/office/drawing/2014/main" id="{28D48E9A-854C-422C-8E4D-063531AF5A6D}"/>
              </a:ext>
            </a:extLst>
          </p:cNvPr>
          <p:cNvGrpSpPr/>
          <p:nvPr/>
        </p:nvGrpSpPr>
        <p:grpSpPr>
          <a:xfrm>
            <a:off x="6224638" y="419733"/>
            <a:ext cx="5520085" cy="4182176"/>
            <a:chOff x="3557638" y="413352"/>
            <a:chExt cx="5520085" cy="4182176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6CF85A93-9257-4F47-9D82-854001700E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882" b="96348" l="1527" r="97710">
                          <a14:foregroundMark x1="1908" y1="2645" x2="7538" y2="80730"/>
                          <a14:foregroundMark x1="7538" y1="80730" x2="28053" y2="96348"/>
                          <a14:foregroundMark x1="28053" y1="96348" x2="88931" y2="91814"/>
                          <a14:foregroundMark x1="88931" y1="91814" x2="96374" y2="79975"/>
                          <a14:foregroundMark x1="97024" y1="5793" x2="97042" y2="3778"/>
                          <a14:foregroundMark x1="96946" y1="14693" x2="97010" y2="7431"/>
                          <a14:foregroundMark x1="96374" y1="79975" x2="96934" y2="16127"/>
                          <a14:foregroundMark x1="68296" y1="4859" x2="6584" y2="7179"/>
                          <a14:foregroundMark x1="93970" y1="3893" x2="90730" y2="4015"/>
                          <a14:foregroundMark x1="95075" y1="3852" x2="94302" y2="3881"/>
                          <a14:foregroundMark x1="97042" y1="3778" x2="95104" y2="3851"/>
                          <a14:foregroundMark x1="6584" y1="7179" x2="2290" y2="4030"/>
                          <a14:foregroundMark x1="12977" y1="882" x2="93798" y2="1385"/>
                          <a14:foregroundMark x1="97710" y1="3526" x2="97233" y2="69647"/>
                          <a14:foregroundMark x1="96469" y1="94332" x2="30725" y2="89547"/>
                          <a14:foregroundMark x1="5153" y1="90932" x2="21660" y2="96348"/>
                          <a14:foregroundMark x1="45229" y1="96348" x2="17939" y2="95214"/>
                          <a14:foregroundMark x1="8492" y1="6801" x2="9065" y2="84131"/>
                          <a14:foregroundMark x1="14027" y1="15239" x2="2290" y2="28715"/>
                          <a14:foregroundMark x1="13645" y1="27456" x2="1527" y2="48237"/>
                          <a14:foregroundMark x1="11164" y1="64358" x2="4389" y2="71285"/>
                          <a14:foregroundMark x1="13263" y1="44458" x2="3149" y2="54030"/>
                          <a14:foregroundMark x1="11927" y1="66751" x2="2481" y2="87909"/>
                          <a14:foregroundMark x1="97424" y1="6045" x2="97137" y2="7179"/>
                          <a14:foregroundMark x1="96851" y1="2519" x2="83397" y2="2393"/>
                          <a14:foregroundMark x1="91508" y1="2771" x2="66508" y2="2771"/>
                          <a14:backgroundMark x1="37023" y1="31990" x2="22710" y2="28212"/>
                          <a14:backgroundMark x1="22710" y1="28212" x2="42366" y2="16751"/>
                          <a14:backgroundMark x1="42366" y1="16751" x2="32634" y2="27330"/>
                          <a14:backgroundMark x1="32634" y1="27330" x2="24141" y2="28212"/>
                          <a14:backgroundMark x1="74714" y1="56423" x2="80439" y2="70907"/>
                          <a14:backgroundMark x1="80439" y1="70907" x2="72805" y2="60831"/>
                          <a14:backgroundMark x1="85115" y1="60705" x2="78721" y2="65113"/>
                          <a14:backgroundMark x1="75000" y1="10831" x2="78435" y2="14610"/>
                          <a14:backgroundMark x1="85687" y1="10076" x2="84637" y2="11461"/>
                          <a14:backgroundMark x1="93702" y1="7053" x2="76813" y2="14861"/>
                          <a14:backgroundMark x1="69275" y1="6549" x2="70038" y2="16625"/>
                          <a14:backgroundMark x1="69943" y1="4786" x2="69752" y2="6549"/>
                          <a14:backgroundMark x1="77481" y1="14610" x2="84351" y2="15491"/>
                          <a14:backgroundMark x1="84924" y1="14736" x2="94466" y2="15113"/>
                          <a14:backgroundMark x1="94466" y1="15113" x2="95611" y2="10579"/>
                          <a14:backgroundMark x1="93607" y1="15365" x2="94943" y2="7053"/>
                          <a14:backgroundMark x1="94847" y1="14736" x2="94943" y2="16751"/>
                          <a14:backgroundMark x1="95706" y1="14987" x2="95897" y2="16373"/>
                          <a14:backgroundMark x1="94561" y1="7431" x2="94378" y2="4297"/>
                          <a14:backgroundMark x1="96088" y1="8312" x2="95515" y2="5416"/>
                          <a14:backgroundMark x1="95753" y1="5335" x2="95420" y2="4408"/>
                          <a14:backgroundMark x1="95229" y1="7935" x2="95515" y2="5919"/>
                          <a14:backgroundMark x1="92176" y1="7935" x2="90666" y2="4578"/>
                          <a14:backgroundMark x1="74905" y1="8060" x2="83015" y2="7683"/>
                          <a14:backgroundMark x1="77863" y1="6549" x2="86450" y2="6549"/>
                          <a14:backgroundMark x1="70229" y1="6927" x2="78626" y2="6297"/>
                          <a14:backgroundMark x1="69466" y1="5542" x2="70038" y2="5164"/>
                          <a14:backgroundMark x1="86164" y1="6423" x2="91889" y2="6423"/>
                          <a14:backgroundMark x1="88454" y1="5793" x2="92271" y2="6171"/>
                          <a14:backgroundMark x1="94951" y1="6250" x2="94561" y2="6297"/>
                          <a14:backgroundMark x1="90744" y1="6549" x2="88454" y2="7431"/>
                          <a14:backgroundMark x1="87786" y1="6549" x2="85401" y2="6801"/>
                          <a14:backgroundMark x1="94084" y1="6171" x2="94084" y2="8564"/>
                          <a14:backgroundMark x1="95897" y1="6652" x2="95897" y2="7431"/>
                          <a14:backgroundMark x1="73569" y1="4578" x2="89027" y2="516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7638" y="413352"/>
              <a:ext cx="5520085" cy="4182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1CDD5FE-927C-449F-90C4-DBEEC1632BD5}"/>
                </a:ext>
              </a:extLst>
            </p:cNvPr>
            <p:cNvSpPr/>
            <p:nvPr/>
          </p:nvSpPr>
          <p:spPr>
            <a:xfrm>
              <a:off x="4431778" y="1006328"/>
              <a:ext cx="1484671" cy="8988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FF0000"/>
                  </a:solidFill>
                </a:rPr>
                <a:t>BCE = 2.3</a:t>
              </a:r>
            </a:p>
            <a:p>
              <a:pPr algn="ctr"/>
              <a:r>
                <a:rPr lang="en-US" altLang="ko-KR">
                  <a:solidFill>
                    <a:srgbClr val="FF0000"/>
                  </a:solidFill>
                </a:rPr>
                <a:t>FL = 2.1</a:t>
              </a:r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A95D8B7-A153-489E-B5EC-FBDD19A474C0}"/>
                </a:ext>
              </a:extLst>
            </p:cNvPr>
            <p:cNvSpPr/>
            <p:nvPr/>
          </p:nvSpPr>
          <p:spPr>
            <a:xfrm>
              <a:off x="7253636" y="2615596"/>
              <a:ext cx="1484671" cy="8988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00B050"/>
                  </a:solidFill>
                </a:rPr>
                <a:t>BCE = 0.1</a:t>
              </a:r>
            </a:p>
            <a:p>
              <a:pPr algn="ctr"/>
              <a:r>
                <a:rPr lang="en-US" altLang="ko-KR">
                  <a:solidFill>
                    <a:srgbClr val="00B050"/>
                  </a:solidFill>
                </a:rPr>
                <a:t>FL = 0.01</a:t>
              </a:r>
              <a:endParaRPr lang="ko-KR" altLang="en-US">
                <a:solidFill>
                  <a:srgbClr val="00B050"/>
                </a:solidFill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979C794-3F98-44CC-A083-28A75CD6E0C2}"/>
                </a:ext>
              </a:extLst>
            </p:cNvPr>
            <p:cNvGrpSpPr/>
            <p:nvPr/>
          </p:nvGrpSpPr>
          <p:grpSpPr>
            <a:xfrm>
              <a:off x="7672242" y="611578"/>
              <a:ext cx="1337705" cy="487940"/>
              <a:chOff x="7420782" y="588090"/>
              <a:chExt cx="1337705" cy="487940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1065DA38-EA02-4185-994C-AB1DFCC49904}"/>
                  </a:ext>
                </a:extLst>
              </p:cNvPr>
              <p:cNvSpPr/>
              <p:nvPr/>
            </p:nvSpPr>
            <p:spPr>
              <a:xfrm>
                <a:off x="7420782" y="588090"/>
                <a:ext cx="1166958" cy="4879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EF61F0B8-3353-415B-8E95-3C3BB58726EE}"/>
                  </a:ext>
                </a:extLst>
              </p:cNvPr>
              <p:cNvCxnSpPr/>
              <p:nvPr/>
            </p:nvCxnSpPr>
            <p:spPr>
              <a:xfrm>
                <a:off x="7478517" y="730250"/>
                <a:ext cx="657742" cy="0"/>
              </a:xfrm>
              <a:prstGeom prst="line">
                <a:avLst/>
              </a:prstGeom>
              <a:ln w="19050">
                <a:solidFill>
                  <a:srgbClr val="3785BC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63715946-DBB0-4043-95E9-2E96282AFB20}"/>
                  </a:ext>
                </a:extLst>
              </p:cNvPr>
              <p:cNvCxnSpPr/>
              <p:nvPr/>
            </p:nvCxnSpPr>
            <p:spPr>
              <a:xfrm>
                <a:off x="7478517" y="961027"/>
                <a:ext cx="657742" cy="0"/>
              </a:xfrm>
              <a:prstGeom prst="line">
                <a:avLst/>
              </a:prstGeom>
              <a:ln w="19050">
                <a:solidFill>
                  <a:srgbClr val="FF8C2E"/>
                </a:solidFill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5A85BF0-C47B-4115-B9C5-6B91FACCCC7D}"/>
                  </a:ext>
                </a:extLst>
              </p:cNvPr>
              <p:cNvSpPr txBox="1"/>
              <p:nvPr/>
            </p:nvSpPr>
            <p:spPr>
              <a:xfrm>
                <a:off x="8192103" y="591761"/>
                <a:ext cx="51054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/>
                  <a:t>BCE</a:t>
                </a:r>
                <a:endParaRPr lang="ko-KR" altLang="en-US" sz="1000" b="1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A9C662-616E-43A0-8C47-1F6F7FA259BB}"/>
                  </a:ext>
                </a:extLst>
              </p:cNvPr>
              <p:cNvSpPr txBox="1"/>
              <p:nvPr/>
            </p:nvSpPr>
            <p:spPr>
              <a:xfrm>
                <a:off x="8247947" y="829809"/>
                <a:ext cx="51054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/>
                  <a:t>FL</a:t>
                </a:r>
                <a:endParaRPr lang="ko-KR" altLang="en-US" sz="1000" b="1"/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987805D-A85B-4139-BDE9-1BDF325D396D}"/>
              </a:ext>
            </a:extLst>
          </p:cNvPr>
          <p:cNvSpPr txBox="1"/>
          <p:nvPr/>
        </p:nvSpPr>
        <p:spPr>
          <a:xfrm>
            <a:off x="221942" y="239697"/>
            <a:ext cx="24833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Focal Loss(example)</a:t>
            </a:r>
          </a:p>
          <a:p>
            <a:endParaRPr lang="ko-KR" altLang="en-US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40F267-7683-4268-BD12-48746F023A68}"/>
              </a:ext>
            </a:extLst>
          </p:cNvPr>
          <p:cNvSpPr txBox="1"/>
          <p:nvPr/>
        </p:nvSpPr>
        <p:spPr>
          <a:xfrm>
            <a:off x="-31431" y="4387498"/>
            <a:ext cx="1220077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Easy Example</a:t>
            </a:r>
            <a:r>
              <a:rPr lang="ko-KR" altLang="en-US"/>
              <a:t>에서는 </a:t>
            </a:r>
            <a:r>
              <a:rPr lang="en-US" altLang="ko-KR"/>
              <a:t>0.1 -&gt; 0.01</a:t>
            </a:r>
            <a:r>
              <a:rPr lang="ko-KR" altLang="en-US"/>
              <a:t>로 내려갔으며 </a:t>
            </a:r>
            <a:r>
              <a:rPr lang="en-US" altLang="ko-KR"/>
              <a:t>Hard Example</a:t>
            </a:r>
            <a:r>
              <a:rPr lang="ko-KR" altLang="en-US"/>
              <a:t>은 </a:t>
            </a:r>
            <a:r>
              <a:rPr lang="en-US" altLang="ko-KR"/>
              <a:t>2.3-&gt;2.1</a:t>
            </a:r>
            <a:r>
              <a:rPr lang="ko-KR" altLang="en-US"/>
              <a:t>로 내려갔음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수치상 </a:t>
            </a:r>
            <a:r>
              <a:rPr lang="en-US" altLang="ko-KR"/>
              <a:t>Hard Example</a:t>
            </a:r>
            <a:r>
              <a:rPr lang="ko-KR" altLang="en-US"/>
              <a:t>의 차이가 크지만 </a:t>
            </a:r>
            <a:r>
              <a:rPr lang="en-US" altLang="ko-KR"/>
              <a:t>Easy Example</a:t>
            </a:r>
            <a:r>
              <a:rPr lang="ko-KR" altLang="en-US"/>
              <a:t>이 훨씬 더 많이 감소된것을 알 수 있다</a:t>
            </a:r>
            <a:r>
              <a:rPr lang="en-US" altLang="ko-KR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Easy Example</a:t>
            </a:r>
            <a:r>
              <a:rPr lang="ko-KR" altLang="en-US"/>
              <a:t>은 기존 </a:t>
            </a:r>
            <a:r>
              <a:rPr lang="en-US" altLang="ko-KR"/>
              <a:t>90%</a:t>
            </a:r>
            <a:r>
              <a:rPr lang="ko-KR" altLang="en-US"/>
              <a:t>를 예측했다고 가정하면 </a:t>
            </a:r>
            <a:r>
              <a:rPr lang="en-US" altLang="ko-KR"/>
              <a:t>Focal Loss</a:t>
            </a:r>
            <a:r>
              <a:rPr lang="ko-KR" altLang="en-US"/>
              <a:t>를 통해 </a:t>
            </a:r>
            <a:r>
              <a:rPr lang="en-US" altLang="ko-KR"/>
              <a:t>99%</a:t>
            </a:r>
            <a:r>
              <a:rPr lang="ko-KR" altLang="en-US"/>
              <a:t>확률로 예측한 것이 되어 모델이 학습을</a:t>
            </a:r>
            <a:br>
              <a:rPr lang="en-US" altLang="ko-KR"/>
            </a:br>
            <a:r>
              <a:rPr lang="ko-KR" altLang="en-US"/>
              <a:t>더 하지 않아도 잘 맞출것이라 인지한다</a:t>
            </a:r>
            <a:r>
              <a:rPr lang="en-US" altLang="ko-KR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Hard Example</a:t>
            </a:r>
            <a:r>
              <a:rPr lang="ko-KR" altLang="en-US"/>
              <a:t>은 </a:t>
            </a:r>
            <a:r>
              <a:rPr lang="en-US" altLang="ko-KR"/>
              <a:t>2.3</a:t>
            </a:r>
            <a:r>
              <a:rPr lang="ko-KR" altLang="en-US"/>
              <a:t>에서 </a:t>
            </a:r>
            <a:r>
              <a:rPr lang="en-US" altLang="ko-KR"/>
              <a:t>2.1</a:t>
            </a:r>
            <a:r>
              <a:rPr lang="ko-KR" altLang="en-US"/>
              <a:t>로 밖에 떨어지지않으므로 해당 데이터에 대해 </a:t>
            </a:r>
            <a:r>
              <a:rPr lang="en-US" altLang="ko-KR"/>
              <a:t>loss</a:t>
            </a:r>
            <a:r>
              <a:rPr lang="ko-KR" altLang="en-US"/>
              <a:t>값이 여전히 높으므로 </a:t>
            </a:r>
            <a:r>
              <a:rPr lang="en-US" altLang="ko-KR"/>
              <a:t>Hard</a:t>
            </a:r>
            <a:br>
              <a:rPr lang="en-US" altLang="ko-KR"/>
            </a:br>
            <a:r>
              <a:rPr lang="en-US" altLang="ko-KR"/>
              <a:t>Example</a:t>
            </a:r>
            <a:r>
              <a:rPr lang="ko-KR" altLang="en-US"/>
              <a:t>에 학습을 더 집중하는 것이 좋겠다라고 인지하는 것이다</a:t>
            </a:r>
            <a:r>
              <a:rPr lang="en-US" altLang="ko-KR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이로인해</a:t>
            </a:r>
            <a:r>
              <a:rPr lang="en-US" altLang="ko-KR"/>
              <a:t>, Focal loss</a:t>
            </a:r>
            <a:r>
              <a:rPr lang="ko-KR" altLang="en-US"/>
              <a:t>를 이용한다면 모델이 학습할 때 오분류하는 데이터에 더 집중해서 학습할 수 있다</a:t>
            </a:r>
            <a:r>
              <a:rPr lang="en-US" altLang="ko-KR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8">
                <a:extLst>
                  <a:ext uri="{FF2B5EF4-FFF2-40B4-BE49-F238E27FC236}">
                    <a16:creationId xmlns:a16="http://schemas.microsoft.com/office/drawing/2014/main" id="{F8AB45C7-72F4-404C-93CA-6974881AEC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3514595"/>
                  </p:ext>
                </p:extLst>
              </p:nvPr>
            </p:nvGraphicFramePr>
            <p:xfrm>
              <a:off x="7841113" y="1380785"/>
              <a:ext cx="4328232" cy="78631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328232">
                      <a:extLst>
                        <a:ext uri="{9D8B030D-6E8A-4147-A177-3AD203B41FA5}">
                          <a16:colId xmlns:a16="http://schemas.microsoft.com/office/drawing/2014/main" val="2299321944"/>
                        </a:ext>
                      </a:extLst>
                    </a:gridCol>
                  </a:tblGrid>
                  <a:tr h="415475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</a:rPr>
                                  <m:t>𝑩𝑪𝑬</m:t>
                                </m:r>
                                <m:d>
                                  <m:d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  <m:t>𝒑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ko-KR" sz="1400" b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d>
                                  <m:d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  <m:t>𝒑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en-US" altLang="ko-KR" sz="1400" b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30862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</a:rPr>
                                  <m:t>𝑭𝒐𝒄𝒂𝒍</m:t>
                                </m:r>
                                <m:r>
                                  <a:rPr lang="en-US" altLang="ko-KR" sz="1400" b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</a:rPr>
                                  <m:t>𝑳𝒐𝒔𝒔</m:t>
                                </m:r>
                                <m:r>
                                  <a:rPr lang="en-US" altLang="ko-KR" sz="1400" b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sSup>
                                  <m:sSup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400" b="1" i="1" smtClean="0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  <m:r>
                                          <a:rPr lang="en-US" altLang="ko-KR" sz="1400" b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1" i="1" smtClean="0">
                                                <a:latin typeface="Cambria Math" panose="02040503050406030204" pitchFamily="18" charset="0"/>
                                              </a:rPr>
                                              <m:t>𝒕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ko-KR" altLang="en-US" sz="1400" b="1" i="1" smtClean="0">
                                        <a:latin typeface="Cambria Math" panose="02040503050406030204" pitchFamily="18" charset="0"/>
                                      </a:rPr>
                                      <m:t>𝜸</m:t>
                                    </m:r>
                                  </m:sup>
                                </m:sSup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r>
                                  <a:rPr lang="en-US" altLang="ko-KR" sz="1400" b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US" altLang="ko-KR" sz="1400" b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400" b="1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272017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8">
                <a:extLst>
                  <a:ext uri="{FF2B5EF4-FFF2-40B4-BE49-F238E27FC236}">
                    <a16:creationId xmlns:a16="http://schemas.microsoft.com/office/drawing/2014/main" id="{F8AB45C7-72F4-404C-93CA-6974881AEC7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3514595"/>
                  </p:ext>
                </p:extLst>
              </p:nvPr>
            </p:nvGraphicFramePr>
            <p:xfrm>
              <a:off x="7841113" y="1380785"/>
              <a:ext cx="4328232" cy="78631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4328232">
                      <a:extLst>
                        <a:ext uri="{9D8B030D-6E8A-4147-A177-3AD203B41FA5}">
                          <a16:colId xmlns:a16="http://schemas.microsoft.com/office/drawing/2014/main" val="2299321944"/>
                        </a:ext>
                      </a:extLst>
                    </a:gridCol>
                  </a:tblGrid>
                  <a:tr h="41547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b="-884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308625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t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72017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66CE37-EE35-4EBE-99DC-7C31400F4495}"/>
                  </a:ext>
                </a:extLst>
              </p:cNvPr>
              <p:cNvSpPr txBox="1"/>
              <p:nvPr/>
            </p:nvSpPr>
            <p:spPr>
              <a:xfrm>
                <a:off x="12079" y="982788"/>
                <a:ext cx="6119812" cy="14877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/>
                  <a:t>빨간색은 </a:t>
                </a:r>
                <a:r>
                  <a:rPr lang="en-US" altLang="ko-KR">
                    <a:solidFill>
                      <a:srgbClr val="FF0000"/>
                    </a:solidFill>
                  </a:rPr>
                  <a:t>Hard Example</a:t>
                </a:r>
                <a:r>
                  <a:rPr lang="en-US" altLang="ko-KR"/>
                  <a:t>,</a:t>
                </a:r>
                <a:r>
                  <a:rPr lang="ko-KR" altLang="en-US"/>
                  <a:t> 초록색은 </a:t>
                </a:r>
                <a:r>
                  <a:rPr lang="en-US" altLang="ko-KR">
                    <a:solidFill>
                      <a:srgbClr val="00B050"/>
                    </a:solidFill>
                  </a:rPr>
                  <a:t>Easy Example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=0.1</m:t>
                    </m:r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일</m:t>
                    </m:r>
                  </m:oMath>
                </a14:m>
                <a:r>
                  <a:rPr lang="ko-KR" altLang="en-US"/>
                  <a:t>때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CE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0.1</m:t>
                            </m:r>
                          </m:e>
                        </m:d>
                      </m:e>
                    </m:func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=2.3,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FL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1−0.1</m:t>
                        </m:r>
                      </m:e>
                    </m:d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0.1</m:t>
                            </m:r>
                          </m:e>
                        </m:d>
                      </m:e>
                    </m:func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=2.1</m:t>
                    </m:r>
                  </m:oMath>
                </a14:m>
                <a:endParaRPr lang="en-US" altLang="ko-KR" b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=0.9</m:t>
                    </m:r>
                    <m:r>
                      <a:rPr lang="ko-KR" altLang="en-US" i="0" smtClean="0">
                        <a:latin typeface="Cambria Math" panose="02040503050406030204" pitchFamily="18" charset="0"/>
                      </a:rPr>
                      <m:t>일</m:t>
                    </m:r>
                  </m:oMath>
                </a14:m>
                <a:r>
                  <a:rPr lang="ko-KR" altLang="en-US"/>
                  <a:t>때</a:t>
                </a:r>
                <a:endParaRPr lang="en-US" altLang="ko-KR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BCE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0.9</m:t>
                            </m:r>
                          </m:e>
                        </m:d>
                      </m:e>
                    </m:func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=0.1, 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FL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1−0.9</m:t>
                        </m:r>
                      </m:e>
                    </m:d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0.9</m:t>
                            </m:r>
                          </m:e>
                        </m:d>
                      </m:e>
                    </m:func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endParaRPr lang="en-US" altLang="ko-KR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366CE37-EE35-4EBE-99DC-7C31400F4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9" y="982788"/>
                <a:ext cx="6119812" cy="1487715"/>
              </a:xfrm>
              <a:prstGeom prst="rect">
                <a:avLst/>
              </a:prstGeom>
              <a:blipFill>
                <a:blip r:embed="rId6"/>
                <a:stretch>
                  <a:fillRect l="-697" t="-2049" b="-45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656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57C5E22-700B-45A7-83D9-6800D046F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252" y="609029"/>
            <a:ext cx="8982075" cy="458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89AFA3-1364-4E16-8CE0-7DCCD20A1A44}"/>
              </a:ext>
            </a:extLst>
          </p:cNvPr>
          <p:cNvSpPr txBox="1"/>
          <p:nvPr/>
        </p:nvSpPr>
        <p:spPr>
          <a:xfrm>
            <a:off x="221942" y="239697"/>
            <a:ext cx="2300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RetinaNet Detector</a:t>
            </a:r>
            <a:endParaRPr lang="ko-KR" altLang="en-US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406E38-55A5-452D-BD6E-B240B380DD0F}"/>
              </a:ext>
            </a:extLst>
          </p:cNvPr>
          <p:cNvSpPr txBox="1"/>
          <p:nvPr/>
        </p:nvSpPr>
        <p:spPr>
          <a:xfrm>
            <a:off x="-31431" y="4997098"/>
            <a:ext cx="124234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RetinaNet</a:t>
            </a:r>
            <a:r>
              <a:rPr lang="ko-KR" altLang="en-US"/>
              <a:t>은 </a:t>
            </a:r>
            <a:r>
              <a:rPr lang="en-US" altLang="ko-KR"/>
              <a:t>Focal Loss</a:t>
            </a:r>
            <a:r>
              <a:rPr lang="ko-KR" altLang="en-US"/>
              <a:t>와 </a:t>
            </a:r>
            <a:r>
              <a:rPr lang="en-US" altLang="ko-KR"/>
              <a:t>FPN</a:t>
            </a:r>
            <a:r>
              <a:rPr lang="ko-KR" altLang="en-US"/>
              <a:t>으로 구성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FPN</a:t>
            </a:r>
            <a:r>
              <a:rPr lang="ko-KR" altLang="en-US"/>
              <a:t>은 서로 다른 크기의 객체들을 효과적으로 탐지하기 위해 </a:t>
            </a:r>
            <a:r>
              <a:rPr lang="en-US" altLang="ko-KR"/>
              <a:t>Bottom-up &amp; Top-Down </a:t>
            </a:r>
            <a:r>
              <a:rPr lang="ko-KR" altLang="en-US"/>
              <a:t>방식으로 추출된 </a:t>
            </a:r>
            <a:r>
              <a:rPr lang="en-US" altLang="ko-KR"/>
              <a:t>feature map</a:t>
            </a:r>
            <a:r>
              <a:rPr lang="ko-KR" altLang="en-US"/>
              <a:t>들을</a:t>
            </a:r>
            <a:r>
              <a:rPr lang="en-US" altLang="ko-KR"/>
              <a:t> Lateral connection</a:t>
            </a:r>
            <a:r>
              <a:rPr lang="ko-KR" altLang="en-US"/>
              <a:t>하는 방식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Top-Down </a:t>
            </a:r>
            <a:r>
              <a:rPr lang="ko-KR" altLang="en-US"/>
              <a:t>시 </a:t>
            </a:r>
            <a:r>
              <a:rPr lang="en-US" altLang="ko-KR"/>
              <a:t>lateral connection</a:t>
            </a:r>
            <a:r>
              <a:rPr lang="ko-KR" altLang="en-US"/>
              <a:t>을 수행</a:t>
            </a:r>
            <a:r>
              <a:rPr lang="en-US" altLang="ko-KR"/>
              <a:t>, feature map </a:t>
            </a:r>
            <a:r>
              <a:rPr lang="ko-KR" altLang="en-US"/>
              <a:t>사이즈를 유지하기위해 </a:t>
            </a:r>
            <a:r>
              <a:rPr lang="en-US" altLang="ko-KR"/>
              <a:t>2</a:t>
            </a:r>
            <a:r>
              <a:rPr lang="ko-KR" altLang="en-US"/>
              <a:t>배 </a:t>
            </a:r>
            <a:r>
              <a:rPr lang="en-US" altLang="ko-KR"/>
              <a:t>up-sampling</a:t>
            </a:r>
            <a:r>
              <a:rPr lang="ko-KR" altLang="en-US"/>
              <a:t>을 함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또한</a:t>
            </a:r>
            <a:r>
              <a:rPr lang="en-US" altLang="ko-KR"/>
              <a:t>, </a:t>
            </a:r>
            <a:r>
              <a:rPr lang="ko-KR" altLang="en-US"/>
              <a:t>각 </a:t>
            </a:r>
            <a:r>
              <a:rPr lang="en-US" altLang="ko-KR"/>
              <a:t>feature map</a:t>
            </a:r>
            <a:r>
              <a:rPr lang="ko-KR" altLang="en-US"/>
              <a:t>마다 </a:t>
            </a:r>
            <a:r>
              <a:rPr lang="en-US" altLang="ko-KR"/>
              <a:t>object detection</a:t>
            </a:r>
            <a:r>
              <a:rPr lang="ko-KR" altLang="en-US"/>
              <a:t>을 수행하여 예측하고 여러 개의 </a:t>
            </a:r>
            <a:r>
              <a:rPr lang="en-US" altLang="ko-KR"/>
              <a:t>bounding box</a:t>
            </a:r>
            <a:r>
              <a:rPr lang="ko-KR" altLang="en-US"/>
              <a:t>가 생김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GT</a:t>
            </a:r>
            <a:r>
              <a:rPr lang="ko-KR" altLang="en-US"/>
              <a:t>와 </a:t>
            </a:r>
            <a:r>
              <a:rPr lang="en-US" altLang="ko-KR"/>
              <a:t>IoU</a:t>
            </a:r>
            <a:r>
              <a:rPr lang="ko-KR" altLang="en-US"/>
              <a:t>를 비교하면서 최적의 </a:t>
            </a:r>
            <a:r>
              <a:rPr lang="en-US" altLang="ko-KR"/>
              <a:t>Bounding box</a:t>
            </a:r>
            <a:r>
              <a:rPr lang="ko-KR" altLang="en-US"/>
              <a:t>만을 남기기 위해 </a:t>
            </a:r>
            <a:r>
              <a:rPr lang="en-US" altLang="ko-KR"/>
              <a:t>NMS</a:t>
            </a:r>
            <a:r>
              <a:rPr lang="ko-KR" altLang="en-US"/>
              <a:t>를 수행하여 최종의 </a:t>
            </a:r>
            <a:r>
              <a:rPr lang="en-US" altLang="ko-KR"/>
              <a:t>Object detection</a:t>
            </a:r>
            <a:r>
              <a:rPr lang="ko-KR" altLang="en-US"/>
              <a:t>을 수행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37754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54B9EE1-6FED-4888-A9DA-3772E03BA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104775"/>
            <a:ext cx="11449050" cy="664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235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57C5E22-700B-45A7-83D9-6800D046F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252" y="609029"/>
            <a:ext cx="8982075" cy="4588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89AFA3-1364-4E16-8CE0-7DCCD20A1A44}"/>
              </a:ext>
            </a:extLst>
          </p:cNvPr>
          <p:cNvSpPr txBox="1"/>
          <p:nvPr/>
        </p:nvSpPr>
        <p:spPr>
          <a:xfrm>
            <a:off x="221942" y="239697"/>
            <a:ext cx="2300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RetinaNet Detector</a:t>
            </a:r>
            <a:endParaRPr lang="ko-KR" altLang="en-US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406E38-55A5-452D-BD6E-B240B380DD0F}"/>
              </a:ext>
            </a:extLst>
          </p:cNvPr>
          <p:cNvSpPr txBox="1"/>
          <p:nvPr/>
        </p:nvSpPr>
        <p:spPr>
          <a:xfrm>
            <a:off x="-31431" y="4387498"/>
            <a:ext cx="124234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RetinaNet</a:t>
            </a:r>
            <a:r>
              <a:rPr lang="ko-KR" altLang="en-US"/>
              <a:t>은 </a:t>
            </a:r>
            <a:r>
              <a:rPr lang="en-US" altLang="ko-KR"/>
              <a:t>backbone network</a:t>
            </a:r>
            <a:r>
              <a:rPr lang="ko-KR" altLang="en-US"/>
              <a:t>와 두가지 </a:t>
            </a:r>
            <a:r>
              <a:rPr lang="en-US" altLang="ko-KR"/>
              <a:t>task</a:t>
            </a:r>
            <a:r>
              <a:rPr lang="ko-KR" altLang="en-US"/>
              <a:t>를 가진 </a:t>
            </a:r>
            <a:r>
              <a:rPr lang="en-US" altLang="ko-KR"/>
              <a:t>subnetwork</a:t>
            </a:r>
            <a:r>
              <a:rPr lang="ko-KR" altLang="en-US"/>
              <a:t>가 존재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backbone</a:t>
            </a:r>
            <a:r>
              <a:rPr lang="ko-KR" altLang="en-US"/>
              <a:t>은 전체 </a:t>
            </a:r>
            <a:r>
              <a:rPr lang="en-US" altLang="ko-KR"/>
              <a:t>input image</a:t>
            </a:r>
            <a:r>
              <a:rPr lang="ko-KR" altLang="en-US"/>
              <a:t>에 대한 </a:t>
            </a:r>
            <a:r>
              <a:rPr lang="en-US" altLang="ko-KR"/>
              <a:t>feature map</a:t>
            </a:r>
            <a:r>
              <a:rPr lang="ko-KR" altLang="en-US"/>
              <a:t>을 추출하고 </a:t>
            </a:r>
            <a:r>
              <a:rPr lang="en-US" altLang="ko-KR"/>
              <a:t>ResNet</a:t>
            </a:r>
            <a:r>
              <a:rPr lang="ko-KR" altLang="en-US"/>
              <a:t>을 사용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ResNet </a:t>
            </a:r>
            <a:r>
              <a:rPr lang="ko-KR" altLang="en-US"/>
              <a:t>상단에서 </a:t>
            </a:r>
            <a:r>
              <a:rPr lang="en-US" altLang="ko-KR"/>
              <a:t>FPN</a:t>
            </a:r>
            <a:r>
              <a:rPr lang="ko-KR" altLang="en-US"/>
              <a:t>을 사용했으며 여러 </a:t>
            </a:r>
            <a:r>
              <a:rPr lang="en-US" altLang="ko-KR"/>
              <a:t>scale</a:t>
            </a:r>
            <a:r>
              <a:rPr lang="ko-KR" altLang="en-US"/>
              <a:t>의 </a:t>
            </a:r>
            <a:r>
              <a:rPr lang="en-US" altLang="ko-KR"/>
              <a:t>feature map</a:t>
            </a:r>
            <a:r>
              <a:rPr lang="ko-KR" altLang="en-US"/>
              <a:t>을 추출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추출하는 과정에서 </a:t>
            </a:r>
            <a:r>
              <a:rPr lang="en-US" altLang="ko-KR"/>
              <a:t>anchor box</a:t>
            </a:r>
            <a:r>
              <a:rPr lang="ko-KR" altLang="en-US"/>
              <a:t>를 생성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class subnet</a:t>
            </a:r>
            <a:r>
              <a:rPr lang="ko-KR" altLang="en-US"/>
              <a:t>에서 </a:t>
            </a:r>
            <a:r>
              <a:rPr lang="en-US" altLang="ko-KR"/>
              <a:t>backbon</a:t>
            </a:r>
            <a:r>
              <a:rPr lang="ko-KR" altLang="en-US"/>
              <a:t>의 </a:t>
            </a:r>
            <a:r>
              <a:rPr lang="en-US" altLang="ko-KR"/>
              <a:t>output(anchor box)</a:t>
            </a:r>
            <a:r>
              <a:rPr lang="ko-KR" altLang="en-US"/>
              <a:t>에 대한 </a:t>
            </a:r>
            <a:r>
              <a:rPr lang="en-US" altLang="ko-KR"/>
              <a:t>objec</a:t>
            </a:r>
            <a:r>
              <a:rPr lang="ko-KR" altLang="en-US"/>
              <a:t>를 분류하는 역할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box subnet</a:t>
            </a:r>
            <a:r>
              <a:rPr lang="ko-KR" altLang="en-US"/>
              <a:t>은 </a:t>
            </a:r>
            <a:r>
              <a:rPr lang="en-US" altLang="ko-KR"/>
              <a:t>anchor box</a:t>
            </a:r>
            <a:r>
              <a:rPr lang="ko-KR" altLang="en-US"/>
              <a:t>와 </a:t>
            </a:r>
            <a:r>
              <a:rPr lang="en-US" altLang="ko-KR"/>
              <a:t>GT box</a:t>
            </a:r>
            <a:r>
              <a:rPr lang="ko-KR" altLang="en-US"/>
              <a:t>를 비교하는 </a:t>
            </a:r>
            <a:r>
              <a:rPr lang="en-US" altLang="ko-KR"/>
              <a:t>regression</a:t>
            </a:r>
            <a:r>
              <a:rPr lang="ko-KR" altLang="en-US"/>
              <a:t>의 연산을 수행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6929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89AFA3-1364-4E16-8CE0-7DCCD20A1A44}"/>
              </a:ext>
            </a:extLst>
          </p:cNvPr>
          <p:cNvSpPr txBox="1"/>
          <p:nvPr/>
        </p:nvSpPr>
        <p:spPr>
          <a:xfrm>
            <a:off x="221942" y="239697"/>
            <a:ext cx="3630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FPN(Feature Pyramid Network)</a:t>
            </a:r>
            <a:endParaRPr lang="ko-KR" altLang="en-US" b="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E7D3E95-A707-482F-8229-F316645EB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150" y="776070"/>
            <a:ext cx="7630725" cy="29252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127F75-566A-49F2-ADDB-3412AE2DCAB3}"/>
              </a:ext>
            </a:extLst>
          </p:cNvPr>
          <p:cNvSpPr txBox="1"/>
          <p:nvPr/>
        </p:nvSpPr>
        <p:spPr>
          <a:xfrm>
            <a:off x="-31431" y="4387498"/>
            <a:ext cx="12423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/>
              <a:t>FPN</a:t>
            </a:r>
            <a:r>
              <a:rPr lang="ko-KR" altLang="en-US"/>
              <a:t>은 하나의 </a:t>
            </a:r>
            <a:r>
              <a:rPr lang="en-US" altLang="ko-KR"/>
              <a:t>input image</a:t>
            </a:r>
            <a:r>
              <a:rPr lang="ko-KR" altLang="en-US"/>
              <a:t>에 대해 </a:t>
            </a:r>
            <a:r>
              <a:rPr lang="en-US" altLang="ko-KR"/>
              <a:t>multi-scale feature pyrami</a:t>
            </a:r>
            <a:r>
              <a:rPr lang="ko-KR" altLang="en-US"/>
              <a:t>를 생성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각 레벨의 </a:t>
            </a:r>
            <a:r>
              <a:rPr lang="en-US" altLang="ko-KR"/>
              <a:t>pyrami</a:t>
            </a:r>
            <a:r>
              <a:rPr lang="ko-KR" altLang="en-US"/>
              <a:t>는 다른 </a:t>
            </a:r>
            <a:r>
              <a:rPr lang="en-US" altLang="ko-KR"/>
              <a:t>scale</a:t>
            </a:r>
            <a:r>
              <a:rPr lang="ko-KR" altLang="en-US"/>
              <a:t>에서 </a:t>
            </a:r>
            <a:r>
              <a:rPr lang="en-US" altLang="ko-KR"/>
              <a:t>object detect</a:t>
            </a:r>
            <a:r>
              <a:rPr lang="ko-KR" altLang="en-US"/>
              <a:t>하는데 사용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다양한 </a:t>
            </a:r>
            <a:r>
              <a:rPr lang="en-US" altLang="ko-KR"/>
              <a:t>scale</a:t>
            </a:r>
            <a:r>
              <a:rPr lang="ko-KR" altLang="en-US"/>
              <a:t>의 </a:t>
            </a:r>
            <a:r>
              <a:rPr lang="en-US" altLang="ko-KR"/>
              <a:t>feature map</a:t>
            </a:r>
            <a:r>
              <a:rPr lang="ko-KR" altLang="en-US"/>
              <a:t>을 추출하여 </a:t>
            </a:r>
            <a:r>
              <a:rPr lang="en-US" altLang="ko-KR"/>
              <a:t>object detect</a:t>
            </a:r>
            <a:r>
              <a:rPr lang="ko-KR" altLang="en-US"/>
              <a:t>능력 향상</a:t>
            </a:r>
            <a:endParaRPr lang="en-US" altLang="ko-KR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376908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89AFA3-1364-4E16-8CE0-7DCCD20A1A44}"/>
              </a:ext>
            </a:extLst>
          </p:cNvPr>
          <p:cNvSpPr txBox="1"/>
          <p:nvPr/>
        </p:nvSpPr>
        <p:spPr>
          <a:xfrm>
            <a:off x="221942" y="239697"/>
            <a:ext cx="1566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Class subnet</a:t>
            </a:r>
            <a:endParaRPr lang="ko-KR" altLang="en-US" b="1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14E4A7B-E0E9-404B-A16C-286C9940A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4" y="1040717"/>
            <a:ext cx="5699125" cy="415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5789D2-8D6B-4080-BC31-D455404C2437}"/>
              </a:ext>
            </a:extLst>
          </p:cNvPr>
          <p:cNvSpPr txBox="1"/>
          <p:nvPr/>
        </p:nvSpPr>
        <p:spPr>
          <a:xfrm>
            <a:off x="221942" y="3552825"/>
            <a:ext cx="3539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각 </a:t>
            </a:r>
            <a:r>
              <a:rPr lang="en-US" altLang="ko-KR"/>
              <a:t>FPN level</a:t>
            </a:r>
            <a:r>
              <a:rPr lang="ko-KR" altLang="en-US"/>
              <a:t>에 작은 </a:t>
            </a:r>
            <a:r>
              <a:rPr lang="en-US" altLang="ko-KR"/>
              <a:t>FCN</a:t>
            </a:r>
            <a:r>
              <a:rPr lang="ko-KR" altLang="en-US"/>
              <a:t>을 붙임</a:t>
            </a:r>
            <a:endParaRPr lang="en-US" altLang="ko-KR"/>
          </a:p>
          <a:p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AD6C5C-3210-4A09-A6C6-38BCCA58A368}"/>
              </a:ext>
            </a:extLst>
          </p:cNvPr>
          <p:cNvSpPr txBox="1"/>
          <p:nvPr/>
        </p:nvSpPr>
        <p:spPr>
          <a:xfrm>
            <a:off x="8432492" y="1343709"/>
            <a:ext cx="48047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각 </a:t>
            </a:r>
            <a:r>
              <a:rPr lang="en-US" altLang="ko-KR"/>
              <a:t>anchor box </a:t>
            </a:r>
            <a:r>
              <a:rPr lang="ko-KR" altLang="en-US"/>
              <a:t>내의 </a:t>
            </a:r>
            <a:r>
              <a:rPr lang="en-US" altLang="ko-KR"/>
              <a:t>object </a:t>
            </a:r>
            <a:r>
              <a:rPr lang="ko-KR" altLang="en-US"/>
              <a:t>존재할 확률 예측</a:t>
            </a:r>
            <a:endParaRPr lang="en-US" altLang="ko-KR"/>
          </a:p>
          <a:p>
            <a:r>
              <a:rPr lang="ko-KR" altLang="en-US"/>
              <a:t>각 </a:t>
            </a:r>
            <a:r>
              <a:rPr lang="en-US" altLang="ko-KR"/>
              <a:t>FPN level</a:t>
            </a:r>
            <a:r>
              <a:rPr lang="ko-KR" altLang="en-US"/>
              <a:t>에 붙여져있는 작은 </a:t>
            </a:r>
            <a:r>
              <a:rPr lang="en-US" altLang="ko-KR"/>
              <a:t>FCN(Fully </a:t>
            </a:r>
            <a:br>
              <a:rPr lang="en-US" altLang="ko-KR"/>
            </a:br>
            <a:r>
              <a:rPr lang="en-US" altLang="ko-KR"/>
              <a:t>Convolution Network)</a:t>
            </a:r>
          </a:p>
          <a:p>
            <a:r>
              <a:rPr lang="en-US" altLang="ko-KR"/>
              <a:t>3*3 conv layers, ReLU activation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44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8DF6C4-C776-4BC8-B191-D029A32D0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494" y="2366814"/>
            <a:ext cx="7783011" cy="21243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8AB04A-5306-4818-B3E5-34E322766429}"/>
              </a:ext>
            </a:extLst>
          </p:cNvPr>
          <p:cNvSpPr txBox="1"/>
          <p:nvPr/>
        </p:nvSpPr>
        <p:spPr>
          <a:xfrm>
            <a:off x="221942" y="239697"/>
            <a:ext cx="2300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/>
              <a:t>RetinaNet Detector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1064391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AA88C96-6106-415A-8413-BCAC722AB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60" y="371048"/>
            <a:ext cx="11498280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igure 9. RetinaNet Architecture ( C의 헤드 이미지 출처 : Focal loss for Dense obeject Detection [1])">
            <a:extLst>
              <a:ext uri="{FF2B5EF4-FFF2-40B4-BE49-F238E27FC236}">
                <a16:creationId xmlns:a16="http://schemas.microsoft.com/office/drawing/2014/main" id="{1387321B-59B0-44D9-B871-92735E7CC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86" y="341100"/>
            <a:ext cx="11848952" cy="4063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1942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54B9EE1-6FED-4888-A9DA-3772E03BA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104775"/>
            <a:ext cx="11449050" cy="664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48203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30E5B9B1-7F1C-486B-A195-8B6C0286F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088" y="949910"/>
            <a:ext cx="8236493" cy="4207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8356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E82327-C9E4-4C94-A7DA-CAB2C1D0DB16}"/>
              </a:ext>
            </a:extLst>
          </p:cNvPr>
          <p:cNvSpPr txBox="1"/>
          <p:nvPr/>
        </p:nvSpPr>
        <p:spPr>
          <a:xfrm>
            <a:off x="285226" y="570451"/>
            <a:ext cx="50849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class imabalance </a:t>
            </a:r>
            <a:r>
              <a:rPr lang="ko-KR" altLang="en-US"/>
              <a:t>해결하기 위해 </a:t>
            </a:r>
            <a:r>
              <a:rPr lang="en-US" altLang="ko-KR"/>
              <a:t>focal-loss </a:t>
            </a:r>
            <a:r>
              <a:rPr lang="ko-KR" altLang="en-US"/>
              <a:t>제안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5F3605-2860-43A3-B4A8-3C97AB958F0F}"/>
              </a:ext>
            </a:extLst>
          </p:cNvPr>
          <p:cNvSpPr txBox="1"/>
          <p:nvPr/>
        </p:nvSpPr>
        <p:spPr>
          <a:xfrm>
            <a:off x="1109444" y="1216782"/>
            <a:ext cx="60946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>
                <a:solidFill>
                  <a:srgbClr val="555555"/>
                </a:solidFill>
                <a:effectLst/>
                <a:latin typeface="Noto Sans DemiLight"/>
              </a:rPr>
              <a:t>class imbalance</a:t>
            </a:r>
            <a:r>
              <a:rPr lang="ko-KR" altLang="en-US" b="0" i="0">
                <a:solidFill>
                  <a:srgbClr val="555555"/>
                </a:solidFill>
                <a:effectLst/>
                <a:latin typeface="Noto Sans DemiLight"/>
              </a:rPr>
              <a:t>는 </a:t>
            </a:r>
            <a:r>
              <a:rPr lang="en-US" altLang="ko-KR" b="0" i="0">
                <a:solidFill>
                  <a:srgbClr val="555555"/>
                </a:solidFill>
                <a:effectLst/>
                <a:latin typeface="Noto Sans DemiLight"/>
              </a:rPr>
              <a:t>2</a:t>
            </a:r>
            <a:r>
              <a:rPr lang="ko-KR" altLang="en-US" b="0" i="0">
                <a:solidFill>
                  <a:srgbClr val="555555"/>
                </a:solidFill>
                <a:effectLst/>
                <a:latin typeface="Noto Sans DemiLight"/>
              </a:rPr>
              <a:t>가지의 문제를 야기한다</a:t>
            </a:r>
            <a:r>
              <a:rPr lang="en-US" altLang="ko-KR" b="0" i="0">
                <a:solidFill>
                  <a:srgbClr val="555555"/>
                </a:solidFill>
                <a:effectLst/>
                <a:latin typeface="Noto Sans DemiLight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555555"/>
                </a:solidFill>
                <a:effectLst/>
                <a:latin typeface="Noto Sans DemiLight"/>
              </a:rPr>
              <a:t>대부분 </a:t>
            </a:r>
            <a:r>
              <a:rPr lang="en-US" altLang="ko-KR" b="0" i="0">
                <a:solidFill>
                  <a:srgbClr val="555555"/>
                </a:solidFill>
                <a:effectLst/>
                <a:latin typeface="Noto Sans DemiLight"/>
              </a:rPr>
              <a:t>location</a:t>
            </a:r>
            <a:r>
              <a:rPr lang="ko-KR" altLang="en-US" b="0" i="0">
                <a:solidFill>
                  <a:srgbClr val="555555"/>
                </a:solidFill>
                <a:effectLst/>
                <a:latin typeface="Noto Sans DemiLight"/>
              </a:rPr>
              <a:t>들이 </a:t>
            </a:r>
            <a:r>
              <a:rPr lang="en-US" altLang="ko-KR" b="0" i="0">
                <a:solidFill>
                  <a:srgbClr val="555555"/>
                </a:solidFill>
                <a:effectLst/>
                <a:latin typeface="Noto Sans DemiLight"/>
              </a:rPr>
              <a:t>training</a:t>
            </a:r>
            <a:r>
              <a:rPr lang="ko-KR" altLang="en-US" b="0" i="0">
                <a:solidFill>
                  <a:srgbClr val="555555"/>
                </a:solidFill>
                <a:effectLst/>
                <a:latin typeface="Noto Sans DemiLight"/>
              </a:rPr>
              <a:t>에 있어 쓸모 없는 배경으로 비효율적이다</a:t>
            </a:r>
            <a:r>
              <a:rPr lang="en-US" altLang="ko-KR" b="0" i="0">
                <a:solidFill>
                  <a:srgbClr val="555555"/>
                </a:solidFill>
                <a:effectLst/>
                <a:latin typeface="Noto Sans DemiLight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b="0" i="0">
                <a:solidFill>
                  <a:srgbClr val="555555"/>
                </a:solidFill>
                <a:effectLst/>
                <a:latin typeface="Noto Sans DemiLight"/>
              </a:rPr>
              <a:t>배경이 학습에 영향을 주어</a:t>
            </a:r>
            <a:r>
              <a:rPr lang="en-US" altLang="ko-KR" b="0" i="0">
                <a:solidFill>
                  <a:srgbClr val="555555"/>
                </a:solidFill>
                <a:effectLst/>
                <a:latin typeface="Noto Sans DemiLight"/>
              </a:rPr>
              <a:t>, object</a:t>
            </a:r>
            <a:r>
              <a:rPr lang="ko-KR" altLang="en-US" b="0" i="0">
                <a:solidFill>
                  <a:srgbClr val="555555"/>
                </a:solidFill>
                <a:effectLst/>
                <a:latin typeface="Noto Sans DemiLight"/>
              </a:rPr>
              <a:t>를 제대로 </a:t>
            </a:r>
            <a:r>
              <a:rPr lang="en-US" altLang="ko-KR" b="0" i="0">
                <a:solidFill>
                  <a:srgbClr val="555555"/>
                </a:solidFill>
                <a:effectLst/>
                <a:latin typeface="Noto Sans DemiLight"/>
              </a:rPr>
              <a:t>detection</a:t>
            </a:r>
            <a:r>
              <a:rPr lang="ko-KR" altLang="en-US" b="0" i="0">
                <a:solidFill>
                  <a:srgbClr val="555555"/>
                </a:solidFill>
                <a:effectLst/>
                <a:latin typeface="Noto Sans DemiLight"/>
              </a:rPr>
              <a:t>하지 못하거나 배경을 </a:t>
            </a:r>
            <a:r>
              <a:rPr lang="en-US" altLang="ko-KR" b="0" i="0">
                <a:solidFill>
                  <a:srgbClr val="555555"/>
                </a:solidFill>
                <a:effectLst/>
                <a:latin typeface="Noto Sans DemiLight"/>
              </a:rPr>
              <a:t>detection</a:t>
            </a:r>
            <a:r>
              <a:rPr lang="ko-KR" altLang="en-US" b="0" i="0">
                <a:solidFill>
                  <a:srgbClr val="555555"/>
                </a:solidFill>
                <a:effectLst/>
                <a:latin typeface="Noto Sans DemiLight"/>
              </a:rPr>
              <a:t>한다</a:t>
            </a:r>
            <a:r>
              <a:rPr lang="en-US" altLang="ko-KR" b="0" i="0">
                <a:solidFill>
                  <a:srgbClr val="555555"/>
                </a:solidFill>
                <a:effectLst/>
                <a:latin typeface="Noto Sans DemiLight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DC7C2-9499-47C8-87CE-4B0C4D1CABF7}"/>
              </a:ext>
            </a:extLst>
          </p:cNvPr>
          <p:cNvSpPr txBox="1"/>
          <p:nvPr/>
        </p:nvSpPr>
        <p:spPr>
          <a:xfrm>
            <a:off x="3047260" y="324655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https://gaussian37.github.io/dl-concept-focal_loss/</a:t>
            </a:r>
          </a:p>
        </p:txBody>
      </p:sp>
    </p:spTree>
    <p:extLst>
      <p:ext uri="{BB962C8B-B14F-4D97-AF65-F5344CB8AC3E}">
        <p14:creationId xmlns:p14="http://schemas.microsoft.com/office/powerpoint/2010/main" val="634418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13439</TotalTime>
  <Words>1973</Words>
  <Application>Microsoft Office PowerPoint</Application>
  <PresentationFormat>와이드스크린</PresentationFormat>
  <Paragraphs>212</Paragraphs>
  <Slides>26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MJXc-TeX-main-R</vt:lpstr>
      <vt:lpstr>MJXc-TeX-math-I</vt:lpstr>
      <vt:lpstr>NanumGothicCoding</vt:lpstr>
      <vt:lpstr>Noto Sans DemiLight</vt:lpstr>
      <vt:lpstr>맑은 고딕</vt:lpstr>
      <vt:lpstr>Arial</vt:lpstr>
      <vt:lpstr>Cambria Math</vt:lpstr>
      <vt:lpstr>Noto Sans</vt:lpstr>
      <vt:lpstr>Office 테마</vt:lpstr>
      <vt:lpstr>RetinaNet </vt:lpstr>
      <vt:lpstr>RetinaNet</vt:lpstr>
      <vt:lpstr>1-stage detector vs 2-stage detector</vt:lpstr>
      <vt:lpstr>2-stage detector</vt:lpstr>
      <vt:lpstr>Sliding Window</vt:lpstr>
      <vt:lpstr>Selective Search</vt:lpstr>
      <vt:lpstr>1-stage detector</vt:lpstr>
      <vt:lpstr>Anchor</vt:lpstr>
      <vt:lpstr>1-stage detector vs 2-stage detector</vt:lpstr>
      <vt:lpstr>Class Imbalance</vt:lpstr>
      <vt:lpstr>Class Imbalance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RetinaNet</dc:title>
  <dc:creator>지훈 김</dc:creator>
  <cp:lastModifiedBy>지훈 김</cp:lastModifiedBy>
  <cp:revision>64</cp:revision>
  <dcterms:created xsi:type="dcterms:W3CDTF">2024-01-12T05:22:21Z</dcterms:created>
  <dcterms:modified xsi:type="dcterms:W3CDTF">2024-09-21T14:22:09Z</dcterms:modified>
</cp:coreProperties>
</file>