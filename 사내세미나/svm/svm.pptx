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7"/>
  </p:notesMasterIdLst>
  <p:handoutMasterIdLst>
    <p:handoutMasterId r:id="rId28"/>
  </p:handoutMasterIdLst>
  <p:sldIdLst>
    <p:sldId id="256" r:id="rId2"/>
    <p:sldId id="408" r:id="rId3"/>
    <p:sldId id="433" r:id="rId4"/>
    <p:sldId id="434" r:id="rId5"/>
    <p:sldId id="415" r:id="rId6"/>
    <p:sldId id="420" r:id="rId7"/>
    <p:sldId id="422" r:id="rId8"/>
    <p:sldId id="418" r:id="rId9"/>
    <p:sldId id="423" r:id="rId10"/>
    <p:sldId id="428" r:id="rId11"/>
    <p:sldId id="424" r:id="rId12"/>
    <p:sldId id="427" r:id="rId13"/>
    <p:sldId id="429" r:id="rId14"/>
    <p:sldId id="430" r:id="rId15"/>
    <p:sldId id="413" r:id="rId16"/>
    <p:sldId id="306" r:id="rId17"/>
    <p:sldId id="414" r:id="rId18"/>
    <p:sldId id="409" r:id="rId19"/>
    <p:sldId id="421" r:id="rId20"/>
    <p:sldId id="410" r:id="rId21"/>
    <p:sldId id="417" r:id="rId22"/>
    <p:sldId id="416" r:id="rId23"/>
    <p:sldId id="411" r:id="rId24"/>
    <p:sldId id="431" r:id="rId25"/>
    <p:sldId id="432" r:id="rId26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>
    <p:extLst>
      <p:ext uri="{19B8F6BF-5375-455C-9EA6-DF929625EA0E}">
        <p15:presenceInfo xmlns:p15="http://schemas.microsoft.com/office/powerpoint/2012/main" userId="j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2C6FAD"/>
    <a:srgbClr val="BBD5ED"/>
    <a:srgbClr val="FFABAB"/>
    <a:srgbClr val="FFD03B"/>
    <a:srgbClr val="FFCCCC"/>
    <a:srgbClr val="FDD7D7"/>
    <a:srgbClr val="F6D55C"/>
    <a:srgbClr val="666699"/>
    <a:srgbClr val="FBC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6" autoAdjust="0"/>
    <p:restoredTop sz="93857" autoAdjust="0"/>
  </p:normalViewPr>
  <p:slideViewPr>
    <p:cSldViewPr snapToGrid="0" snapToObjects="1">
      <p:cViewPr varScale="1">
        <p:scale>
          <a:sx n="114" d="100"/>
          <a:sy n="114" d="100"/>
        </p:scale>
        <p:origin x="1098" y="150"/>
      </p:cViewPr>
      <p:guideLst>
        <p:guide orient="horz" pos="2157"/>
        <p:guide pos="287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4008" y="120"/>
      </p:cViewPr>
      <p:guideLst>
        <p:guide orient="horz" pos="2157"/>
        <p:guide pos="28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r">
              <a:defRPr sz="1200"/>
            </a:lvl1pPr>
          </a:lstStyle>
          <a:p>
            <a:fld id="{86BECE3D-28DF-44F2-BBF4-A1F550C97DF1}" type="datetimeFigureOut">
              <a:rPr lang="ko-KR" altLang="en-US" smtClean="0"/>
              <a:t>2023-02-01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r">
              <a:defRPr sz="1200"/>
            </a:lvl1pPr>
          </a:lstStyle>
          <a:p>
            <a:fld id="{9CCD6CBE-4E81-4091-B594-FAD27E600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614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r">
              <a:defRPr sz="1200"/>
            </a:lvl1pPr>
          </a:lstStyle>
          <a:p>
            <a:fld id="{3A58FB49-0BA5-40AA-BFC7-FBD141E0550C}" type="datetimeFigureOut">
              <a:rPr lang="ko-KR" altLang="en-US" smtClean="0"/>
              <a:t>2023-02-01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8" rIns="94475" bIns="472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8" rIns="94475" bIns="472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r">
              <a:defRPr sz="1200"/>
            </a:lvl1pPr>
          </a:lstStyle>
          <a:p>
            <a:fld id="{81BAB70A-F45A-47C3-B1C3-08DF0F4D1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0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24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313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274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02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640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33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340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7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92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07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777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706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4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072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273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52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826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389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1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3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29" r:id="rId7"/>
    <p:sldLayoutId id="2147483735" r:id="rId8"/>
    <p:sldLayoutId id="2147483730" r:id="rId9"/>
    <p:sldLayoutId id="214748373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velog.io/@shlee0125/%EB%A8%B8%EC%8B%A0%EB%9F%AC%EB%8B%9D-%EC%A0%95%EB%A6%AC-Support-Vector-Machine-05.-Why-does-SVM-maximize-margin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13" Type="http://schemas.openxmlformats.org/officeDocument/2006/relationships/image" Target="../media/image62.png"/><Relationship Id="rId3" Type="http://schemas.openxmlformats.org/officeDocument/2006/relationships/image" Target="../media/image520.png"/><Relationship Id="rId7" Type="http://schemas.openxmlformats.org/officeDocument/2006/relationships/image" Target="../media/image560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0.png"/><Relationship Id="rId11" Type="http://schemas.openxmlformats.org/officeDocument/2006/relationships/image" Target="../media/image60.png"/><Relationship Id="rId5" Type="http://schemas.openxmlformats.org/officeDocument/2006/relationships/image" Target="../media/image540.png"/><Relationship Id="rId15" Type="http://schemas.openxmlformats.org/officeDocument/2006/relationships/image" Target="../media/image64.png"/><Relationship Id="rId10" Type="http://schemas.openxmlformats.org/officeDocument/2006/relationships/image" Target="../media/image590.png"/><Relationship Id="rId4" Type="http://schemas.openxmlformats.org/officeDocument/2006/relationships/image" Target="../media/image530.png"/><Relationship Id="rId9" Type="http://schemas.openxmlformats.org/officeDocument/2006/relationships/image" Target="../media/image580.png"/><Relationship Id="rId1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6000">
                <a:solidFill>
                  <a:schemeClr val="tx1"/>
                </a:solidFill>
              </a:rPr>
              <a:t>Linear </a:t>
            </a:r>
            <a:r>
              <a:rPr lang="en-US" altLang="ko-KR" sz="6000" b="0">
                <a:solidFill>
                  <a:schemeClr val="tx1"/>
                </a:solidFill>
              </a:rPr>
              <a:t>SVM</a:t>
            </a:r>
            <a:endParaRPr lang="ko-KR" altLang="en-US" sz="6000" b="0">
              <a:solidFill>
                <a:schemeClr val="tx1"/>
              </a:solidFill>
            </a:endParaRPr>
          </a:p>
          <a:p>
            <a:pPr marL="0" indent="0" algn="ctr" latinLnBrk="0">
              <a:buFontTx/>
              <a:buNone/>
            </a:pPr>
            <a:r>
              <a:rPr lang="en-US" altLang="ko-KR" sz="6000" b="0">
                <a:solidFill>
                  <a:schemeClr val="tx1"/>
                </a:solidFill>
              </a:rPr>
              <a:t>(Support Vector Machine)</a:t>
            </a:r>
            <a:endParaRPr lang="ko-KR" altLang="en-US" sz="6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5" y="2102801"/>
            <a:ext cx="3721100" cy="370205"/>
          </a:xfrm>
        </p:spPr>
        <p:txBody>
          <a:bodyPr/>
          <a:lstStyle/>
          <a:p>
            <a:r>
              <a:rPr lang="en-US" altLang="ko-KR" sz="2400"/>
              <a:t>SVM</a:t>
            </a:r>
            <a:endParaRPr lang="ko-KR" altLang="en-US" sz="2400"/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055F7001-F83D-4CFE-A15C-2A9E1C8B702D}"/>
              </a:ext>
            </a:extLst>
          </p:cNvPr>
          <p:cNvSpPr txBox="1">
            <a:spLocks/>
          </p:cNvSpPr>
          <p:nvPr/>
        </p:nvSpPr>
        <p:spPr>
          <a:xfrm>
            <a:off x="3890645" y="299434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Hard Margin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Soft Margin</a:t>
            </a:r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824DE98-FD2E-476C-A225-9B48EC87AD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 b="1"/>
              <a:t>알맞은 형태는 무엇일까</a:t>
            </a:r>
          </a:p>
          <a:p>
            <a:pPr>
              <a:buNone/>
            </a:pPr>
            <a:endParaRPr lang="ko-KR" altLang="en-US" sz="1600" b="0">
              <a:solidFill>
                <a:schemeClr val="tx1"/>
              </a:solidFill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8AFD3E6C-C216-4FBF-AC4F-241919A18904}"/>
              </a:ext>
            </a:extLst>
          </p:cNvPr>
          <p:cNvGrpSpPr/>
          <p:nvPr/>
        </p:nvGrpSpPr>
        <p:grpSpPr>
          <a:xfrm>
            <a:off x="2122170" y="1690669"/>
            <a:ext cx="4461310" cy="3760017"/>
            <a:chOff x="3209545" y="1946231"/>
            <a:chExt cx="2705195" cy="2309146"/>
          </a:xfrm>
        </p:grpSpPr>
        <p:sp>
          <p:nvSpPr>
            <p:cNvPr id="28" name="이등변 삼각형 27">
              <a:extLst>
                <a:ext uri="{FF2B5EF4-FFF2-40B4-BE49-F238E27FC236}">
                  <a16:creationId xmlns:a16="http://schemas.microsoft.com/office/drawing/2014/main" id="{87731B53-F884-4525-8073-747DA700CB58}"/>
                </a:ext>
              </a:extLst>
            </p:cNvPr>
            <p:cNvSpPr/>
            <p:nvPr/>
          </p:nvSpPr>
          <p:spPr>
            <a:xfrm>
              <a:off x="4484270" y="2517660"/>
              <a:ext cx="112796" cy="117511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BC06C463-AAED-4A57-9B81-51C3FCAD1539}"/>
                </a:ext>
              </a:extLst>
            </p:cNvPr>
            <p:cNvSpPr/>
            <p:nvPr/>
          </p:nvSpPr>
          <p:spPr>
            <a:xfrm>
              <a:off x="4640088" y="2888141"/>
              <a:ext cx="112796" cy="117511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34B7FF45-CD18-4D9F-851C-7C8C4C6706F3}"/>
                </a:ext>
              </a:extLst>
            </p:cNvPr>
            <p:cNvSpPr/>
            <p:nvPr/>
          </p:nvSpPr>
          <p:spPr>
            <a:xfrm>
              <a:off x="4958619" y="3014396"/>
              <a:ext cx="112796" cy="117511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26ADA9B8-FE9E-4ABC-B84F-866C1948B1D5}"/>
                </a:ext>
              </a:extLst>
            </p:cNvPr>
            <p:cNvSpPr/>
            <p:nvPr/>
          </p:nvSpPr>
          <p:spPr>
            <a:xfrm>
              <a:off x="5284868" y="3078921"/>
              <a:ext cx="112796" cy="117511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99E81962-B8E9-4542-A57E-E73E95EB9AAA}"/>
                </a:ext>
              </a:extLst>
            </p:cNvPr>
            <p:cNvSpPr/>
            <p:nvPr/>
          </p:nvSpPr>
          <p:spPr>
            <a:xfrm>
              <a:off x="4945568" y="2643972"/>
              <a:ext cx="112796" cy="117511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FAA306E-7F04-4793-94F7-2ECDD9BB9E5F}"/>
                </a:ext>
              </a:extLst>
            </p:cNvPr>
            <p:cNvGrpSpPr/>
            <p:nvPr/>
          </p:nvGrpSpPr>
          <p:grpSpPr>
            <a:xfrm>
              <a:off x="3254082" y="1994007"/>
              <a:ext cx="2660658" cy="2261370"/>
              <a:chOff x="3431097" y="1987172"/>
              <a:chExt cx="3482605" cy="2744220"/>
            </a:xfrm>
          </p:grpSpPr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4177FD04-22DD-4377-AA15-F02601BD2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1A46220E-6F57-4E50-A227-F79FDFFA42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17F17DD7-8B13-4F6D-B175-F556EF887EFB}"/>
                </a:ext>
              </a:extLst>
            </p:cNvPr>
            <p:cNvCxnSpPr>
              <a:cxnSpLocks/>
            </p:cNvCxnSpPr>
            <p:nvPr/>
          </p:nvCxnSpPr>
          <p:spPr>
            <a:xfrm>
              <a:off x="3743758" y="2385429"/>
              <a:ext cx="1518890" cy="169366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4046A54-D1CF-47EA-9607-FDC44E84B152}"/>
                </a:ext>
              </a:extLst>
            </p:cNvPr>
            <p:cNvSpPr/>
            <p:nvPr/>
          </p:nvSpPr>
          <p:spPr>
            <a:xfrm>
              <a:off x="3695692" y="3166168"/>
              <a:ext cx="96133" cy="10541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FED39B9-121C-49A8-93AB-712767B2EDD9}"/>
                </a:ext>
              </a:extLst>
            </p:cNvPr>
            <p:cNvSpPr/>
            <p:nvPr/>
          </p:nvSpPr>
          <p:spPr>
            <a:xfrm>
              <a:off x="3797163" y="3499983"/>
              <a:ext cx="96133" cy="10541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E5257A1-C33B-4FA0-8A92-17CE7653F871}"/>
                </a:ext>
              </a:extLst>
            </p:cNvPr>
            <p:cNvSpPr/>
            <p:nvPr/>
          </p:nvSpPr>
          <p:spPr>
            <a:xfrm>
              <a:off x="3877903" y="3848221"/>
              <a:ext cx="96133" cy="10541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3705084-25D6-4BDD-8CF4-E990B92D8129}"/>
                </a:ext>
              </a:extLst>
            </p:cNvPr>
            <p:cNvSpPr/>
            <p:nvPr/>
          </p:nvSpPr>
          <p:spPr>
            <a:xfrm>
              <a:off x="4264428" y="3593258"/>
              <a:ext cx="96133" cy="10541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A4C84DE-E1A0-4224-8687-68E9946CA69F}"/>
                </a:ext>
              </a:extLst>
            </p:cNvPr>
            <p:cNvSpPr/>
            <p:nvPr/>
          </p:nvSpPr>
          <p:spPr>
            <a:xfrm>
              <a:off x="3985672" y="3152291"/>
              <a:ext cx="96133" cy="10541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D313A19F-6A8B-40A6-A726-9C6C08EBD566}"/>
                </a:ext>
              </a:extLst>
            </p:cNvPr>
            <p:cNvCxnSpPr>
              <a:cxnSpLocks/>
            </p:cNvCxnSpPr>
            <p:nvPr/>
          </p:nvCxnSpPr>
          <p:spPr>
            <a:xfrm>
              <a:off x="4154510" y="2205805"/>
              <a:ext cx="533645" cy="19575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9C036D1-7006-4DCF-BE49-69BA818CCD0E}"/>
                </a:ext>
              </a:extLst>
            </p:cNvPr>
            <p:cNvCxnSpPr>
              <a:cxnSpLocks/>
            </p:cNvCxnSpPr>
            <p:nvPr/>
          </p:nvCxnSpPr>
          <p:spPr>
            <a:xfrm>
              <a:off x="3426716" y="2785350"/>
              <a:ext cx="2227903" cy="78380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08DE1EF-BA01-4C5A-A3D6-C0CF61FDC907}"/>
                </a:ext>
              </a:extLst>
            </p:cNvPr>
            <p:cNvSpPr txBox="1"/>
            <p:nvPr/>
          </p:nvSpPr>
          <p:spPr>
            <a:xfrm>
              <a:off x="3209545" y="2594821"/>
              <a:ext cx="1640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1</a:t>
              </a:r>
              <a:endParaRPr lang="ko-KR" altLang="en-US" sz="11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1E53F3F-8EEE-4C7B-B1E2-2E1B8B7531F8}"/>
                </a:ext>
              </a:extLst>
            </p:cNvPr>
            <p:cNvSpPr txBox="1"/>
            <p:nvPr/>
          </p:nvSpPr>
          <p:spPr>
            <a:xfrm>
              <a:off x="3531603" y="2180628"/>
              <a:ext cx="1640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2</a:t>
              </a:r>
              <a:endParaRPr lang="ko-KR" altLang="en-US" sz="11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1E0EAB8-48CF-4BE4-A6EE-5EA0777BE309}"/>
                </a:ext>
              </a:extLst>
            </p:cNvPr>
            <p:cNvSpPr txBox="1"/>
            <p:nvPr/>
          </p:nvSpPr>
          <p:spPr>
            <a:xfrm>
              <a:off x="3963635" y="1946231"/>
              <a:ext cx="1640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3</a:t>
              </a:r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298834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87731B53-F884-4525-8073-747DA700CB58}"/>
              </a:ext>
            </a:extLst>
          </p:cNvPr>
          <p:cNvSpPr/>
          <p:nvPr/>
        </p:nvSpPr>
        <p:spPr>
          <a:xfrm>
            <a:off x="4224400" y="2621135"/>
            <a:ext cx="186019" cy="191345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BC06C463-AAED-4A57-9B81-51C3FCAD1539}"/>
              </a:ext>
            </a:extLst>
          </p:cNvPr>
          <p:cNvSpPr/>
          <p:nvPr/>
        </p:nvSpPr>
        <p:spPr>
          <a:xfrm>
            <a:off x="4481370" y="3224395"/>
            <a:ext cx="186019" cy="191345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34B7FF45-CD18-4D9F-851C-7C8C4C6706F3}"/>
              </a:ext>
            </a:extLst>
          </p:cNvPr>
          <p:cNvSpPr/>
          <p:nvPr/>
        </p:nvSpPr>
        <p:spPr>
          <a:xfrm>
            <a:off x="5006680" y="3429978"/>
            <a:ext cx="186019" cy="191345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26ADA9B8-FE9E-4ABC-B84F-866C1948B1D5}"/>
              </a:ext>
            </a:extLst>
          </p:cNvPr>
          <p:cNvSpPr/>
          <p:nvPr/>
        </p:nvSpPr>
        <p:spPr>
          <a:xfrm>
            <a:off x="5544718" y="3535045"/>
            <a:ext cx="186019" cy="191345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99E81962-B8E9-4542-A57E-E73E95EB9AAA}"/>
              </a:ext>
            </a:extLst>
          </p:cNvPr>
          <p:cNvSpPr/>
          <p:nvPr/>
        </p:nvSpPr>
        <p:spPr>
          <a:xfrm>
            <a:off x="4985157" y="2826811"/>
            <a:ext cx="186019" cy="191345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FAA306E-7F04-4793-94F7-2ECDD9BB9E5F}"/>
              </a:ext>
            </a:extLst>
          </p:cNvPr>
          <p:cNvGrpSpPr/>
          <p:nvPr/>
        </p:nvGrpSpPr>
        <p:grpSpPr>
          <a:xfrm>
            <a:off x="2195619" y="1768463"/>
            <a:ext cx="4387861" cy="3682223"/>
            <a:chOff x="3431097" y="1987172"/>
            <a:chExt cx="3482605" cy="2744220"/>
          </a:xfrm>
        </p:grpSpPr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4177FD04-22DD-4377-AA15-F02601BD2862}"/>
                </a:ext>
              </a:extLst>
            </p:cNvPr>
            <p:cNvCxnSpPr>
              <a:cxnSpLocks/>
            </p:cNvCxnSpPr>
            <p:nvPr/>
          </p:nvCxnSpPr>
          <p:spPr>
            <a:xfrm>
              <a:off x="3431097" y="4731391"/>
              <a:ext cx="34826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1A46220E-6F57-4E50-A227-F79FDFFA4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6689" y="1987172"/>
              <a:ext cx="0" cy="2744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17DD7-8B13-4F6D-B175-F556EF887EFB}"/>
              </a:ext>
            </a:extLst>
          </p:cNvPr>
          <p:cNvCxnSpPr>
            <a:cxnSpLocks/>
          </p:cNvCxnSpPr>
          <p:nvPr/>
        </p:nvCxnSpPr>
        <p:spPr>
          <a:xfrm>
            <a:off x="3003175" y="2405822"/>
            <a:ext cx="2504899" cy="27578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046A54-D1CF-47EA-9607-FDC44E84B152}"/>
              </a:ext>
            </a:extLst>
          </p:cNvPr>
          <p:cNvSpPr/>
          <p:nvPr/>
        </p:nvSpPr>
        <p:spPr>
          <a:xfrm>
            <a:off x="2923906" y="3677111"/>
            <a:ext cx="158539" cy="171649"/>
          </a:xfrm>
          <a:prstGeom prst="rect">
            <a:avLst/>
          </a:prstGeom>
          <a:solidFill>
            <a:srgbClr val="2C6F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FED39B9-121C-49A8-93AB-712767B2EDD9}"/>
              </a:ext>
            </a:extLst>
          </p:cNvPr>
          <p:cNvSpPr/>
          <p:nvPr/>
        </p:nvSpPr>
        <p:spPr>
          <a:xfrm>
            <a:off x="3091248" y="4220667"/>
            <a:ext cx="158539" cy="171649"/>
          </a:xfrm>
          <a:prstGeom prst="rect">
            <a:avLst/>
          </a:prstGeom>
          <a:solidFill>
            <a:srgbClr val="2C6F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E5257A1-C33B-4FA0-8A92-17CE7653F871}"/>
              </a:ext>
            </a:extLst>
          </p:cNvPr>
          <p:cNvSpPr/>
          <p:nvPr/>
        </p:nvSpPr>
        <p:spPr>
          <a:xfrm>
            <a:off x="3224402" y="4787708"/>
            <a:ext cx="158539" cy="171649"/>
          </a:xfrm>
          <a:prstGeom prst="rect">
            <a:avLst/>
          </a:prstGeom>
          <a:solidFill>
            <a:srgbClr val="2C6F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3705084-25D6-4BDD-8CF4-E990B92D8129}"/>
              </a:ext>
            </a:extLst>
          </p:cNvPr>
          <p:cNvSpPr/>
          <p:nvPr/>
        </p:nvSpPr>
        <p:spPr>
          <a:xfrm>
            <a:off x="3861845" y="4372548"/>
            <a:ext cx="158539" cy="171649"/>
          </a:xfrm>
          <a:prstGeom prst="rect">
            <a:avLst/>
          </a:prstGeom>
          <a:solidFill>
            <a:srgbClr val="2C6F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A4C84DE-E1A0-4224-8687-68E9946CA69F}"/>
              </a:ext>
            </a:extLst>
          </p:cNvPr>
          <p:cNvSpPr/>
          <p:nvPr/>
        </p:nvSpPr>
        <p:spPr>
          <a:xfrm>
            <a:off x="3402131" y="3654515"/>
            <a:ext cx="158539" cy="171649"/>
          </a:xfrm>
          <a:prstGeom prst="rect">
            <a:avLst/>
          </a:prstGeom>
          <a:solidFill>
            <a:srgbClr val="2C6F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E53F3F-8EEE-4C7B-B1E2-2E1B8B7531F8}"/>
              </a:ext>
            </a:extLst>
          </p:cNvPr>
          <p:cNvSpPr txBox="1"/>
          <p:nvPr/>
        </p:nvSpPr>
        <p:spPr>
          <a:xfrm>
            <a:off x="2653296" y="2072341"/>
            <a:ext cx="270610" cy="425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2</a:t>
            </a:r>
            <a:endParaRPr lang="ko-KR" altLang="en-US" sz="110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A8647E0-25B4-42A2-89C9-37BFA1EC8A2A}"/>
              </a:ext>
            </a:extLst>
          </p:cNvPr>
          <p:cNvCxnSpPr>
            <a:cxnSpLocks/>
          </p:cNvCxnSpPr>
          <p:nvPr/>
        </p:nvCxnSpPr>
        <p:spPr>
          <a:xfrm flipV="1">
            <a:off x="3552624" y="3354225"/>
            <a:ext cx="324675" cy="3109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5F70127-E4EE-4516-BF90-76D6A48948D4}"/>
              </a:ext>
            </a:extLst>
          </p:cNvPr>
          <p:cNvCxnSpPr>
            <a:cxnSpLocks/>
          </p:cNvCxnSpPr>
          <p:nvPr/>
        </p:nvCxnSpPr>
        <p:spPr>
          <a:xfrm flipV="1">
            <a:off x="4188619" y="3415740"/>
            <a:ext cx="292751" cy="2870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ED2E010-F5E0-4D66-B76D-8DEBF5D273B8}"/>
              </a:ext>
            </a:extLst>
          </p:cNvPr>
          <p:cNvSpPr txBox="1"/>
          <p:nvPr/>
        </p:nvSpPr>
        <p:spPr>
          <a:xfrm>
            <a:off x="3183517" y="3335155"/>
            <a:ext cx="6347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E0FE65-E7D0-4C54-9571-5E9543618DCE}"/>
              </a:ext>
            </a:extLst>
          </p:cNvPr>
          <p:cNvSpPr txBox="1"/>
          <p:nvPr/>
        </p:nvSpPr>
        <p:spPr>
          <a:xfrm>
            <a:off x="4301388" y="3550228"/>
            <a:ext cx="6347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D2724B42-A1F3-4C8E-BCE6-F09EFDEFB2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/>
              <a:t>알맞은 형태는 무엇일까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10FB32-2146-4E40-A872-8175AE73E8B0}"/>
              </a:ext>
            </a:extLst>
          </p:cNvPr>
          <p:cNvSpPr txBox="1"/>
          <p:nvPr/>
        </p:nvSpPr>
        <p:spPr>
          <a:xfrm>
            <a:off x="5607050" y="4959357"/>
            <a:ext cx="21843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 Optimal Hyperplane</a:t>
            </a:r>
            <a:endParaRPr lang="ko-KR" altLang="en-US" sz="1100"/>
          </a:p>
          <a:p>
            <a:pPr algn="l"/>
            <a:r>
              <a:rPr lang="en-US" altLang="ko-KR" sz="1100"/>
              <a:t>/Decision Boundary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530916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그림 54">
            <a:extLst>
              <a:ext uri="{FF2B5EF4-FFF2-40B4-BE49-F238E27FC236}">
                <a16:creationId xmlns:a16="http://schemas.microsoft.com/office/drawing/2014/main" id="{4CAF8C00-DCC2-4F59-921A-F0F03069A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64" y="1717553"/>
            <a:ext cx="3828983" cy="1441655"/>
          </a:xfrm>
          <a:prstGeom prst="rect">
            <a:avLst/>
          </a:prstGeom>
        </p:spPr>
      </p:pic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SVM</a:t>
            </a:r>
            <a:r>
              <a:rPr lang="en-US" altLang="ko-KR" sz="1600" b="0">
                <a:solidFill>
                  <a:schemeClr val="tx1"/>
                </a:solidFill>
              </a:rPr>
              <a:t>(Support Vector Machine)</a:t>
            </a:r>
            <a:endParaRPr lang="ko-KR" altLang="en-US" sz="1600" b="0">
              <a:solidFill>
                <a:schemeClr val="tx1"/>
              </a:solidFill>
            </a:endParaRPr>
          </a:p>
          <a:p>
            <a:pPr marL="0" indent="0" rtl="0" latinLnBrk="0">
              <a:buFontTx/>
              <a:buNone/>
            </a:pPr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33A71A-D0AD-4694-9544-5F3769C146AD}"/>
              </a:ext>
            </a:extLst>
          </p:cNvPr>
          <p:cNvSpPr txBox="1"/>
          <p:nvPr/>
        </p:nvSpPr>
        <p:spPr>
          <a:xfrm>
            <a:off x="223555" y="3759596"/>
            <a:ext cx="8215770" cy="2833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두 클래스로부터 최대한 멀리 떨어져 있는 </a:t>
            </a:r>
            <a:r>
              <a:rPr lang="en-US" altLang="ko-KR" sz="1200"/>
              <a:t>Decision Boundary</a:t>
            </a:r>
            <a:r>
              <a:rPr lang="ko-KR" altLang="en-US" sz="1200"/>
              <a:t>를 찾는 분류기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특정 조건을 만족하는 동시에 클래스를 분류하는것을 목표</a:t>
            </a:r>
            <a:r>
              <a:rPr lang="en-US" altLang="ko-KR" sz="1200"/>
              <a:t>(ex) </a:t>
            </a:r>
            <a:r>
              <a:rPr lang="ko-KR" altLang="en-US" sz="1200"/>
              <a:t>짜장</a:t>
            </a:r>
            <a:r>
              <a:rPr lang="en-US" altLang="ko-KR" sz="1200"/>
              <a:t>, </a:t>
            </a:r>
            <a:r>
              <a:rPr lang="ko-KR" altLang="en-US" sz="1200"/>
              <a:t>짬뽕 </a:t>
            </a:r>
            <a:r>
              <a:rPr lang="en-US" altLang="ko-KR" sz="1200"/>
              <a:t>- &gt; </a:t>
            </a:r>
            <a:r>
              <a:rPr lang="ko-KR" altLang="en-US" sz="1200"/>
              <a:t>고춧가루양</a:t>
            </a:r>
            <a:r>
              <a:rPr lang="en-US" altLang="ko-KR" sz="1200"/>
              <a:t>, </a:t>
            </a:r>
            <a:r>
              <a:rPr lang="ko-KR" altLang="en-US" sz="1200"/>
              <a:t>국물의양</a:t>
            </a:r>
            <a:r>
              <a:rPr lang="en-US" altLang="ko-KR" sz="1200"/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Hyperplane</a:t>
            </a:r>
            <a:r>
              <a:rPr lang="ko-KR" altLang="en-US" sz="1200"/>
              <a:t>이란 어떤 </a:t>
            </a:r>
            <a:r>
              <a:rPr lang="en-US" altLang="ko-KR" sz="1200"/>
              <a:t>N</a:t>
            </a:r>
            <a:r>
              <a:rPr lang="ko-KR" altLang="en-US" sz="1200"/>
              <a:t>차원 공간에서 한 차원이 낮은 </a:t>
            </a:r>
            <a:r>
              <a:rPr lang="en-US" altLang="ko-KR" sz="1200"/>
              <a:t>N-1</a:t>
            </a:r>
            <a:r>
              <a:rPr lang="ko-KR" altLang="en-US" sz="1200"/>
              <a:t>차원의 </a:t>
            </a:r>
            <a:r>
              <a:rPr lang="en-US" altLang="ko-KR" sz="1200"/>
              <a:t>subspace</a:t>
            </a:r>
            <a:r>
              <a:rPr lang="ko-KR" altLang="en-US" sz="1200"/>
              <a:t>를 말함</a:t>
            </a:r>
            <a:r>
              <a:rPr lang="en-US" altLang="ko-KR" sz="1200"/>
              <a:t>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200"/>
              <a:t>     (ex. 2</a:t>
            </a:r>
            <a:r>
              <a:rPr lang="ko-KR" altLang="en-US" sz="1200"/>
              <a:t>차원인 경우 선</a:t>
            </a:r>
            <a:r>
              <a:rPr lang="en-US" altLang="ko-KR" sz="1200"/>
              <a:t>,</a:t>
            </a:r>
            <a:r>
              <a:rPr lang="ko-KR" altLang="en-US" sz="1200"/>
              <a:t> </a:t>
            </a:r>
            <a:r>
              <a:rPr lang="en-US" altLang="ko-KR" sz="1200"/>
              <a:t>3</a:t>
            </a:r>
            <a:r>
              <a:rPr lang="ko-KR" altLang="en-US" sz="1200"/>
              <a:t>차원의 경우 면을 뜻함</a:t>
            </a:r>
            <a:r>
              <a:rPr lang="en-US" altLang="ko-KR" sz="1200"/>
              <a:t>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를 통해 어느 쪽에 속하는지 판단</a:t>
            </a:r>
            <a:r>
              <a:rPr lang="en-US" altLang="ko-KR" sz="1200"/>
              <a:t>, </a:t>
            </a:r>
            <a:r>
              <a:rPr lang="ko-KR" altLang="en-US" sz="1200"/>
              <a:t>선형이나비선형 분류</a:t>
            </a:r>
            <a:r>
              <a:rPr lang="en-US" altLang="ko-KR" sz="1200"/>
              <a:t>, </a:t>
            </a:r>
            <a:r>
              <a:rPr lang="ko-KR" altLang="en-US" sz="1200"/>
              <a:t>회귀</a:t>
            </a:r>
            <a:r>
              <a:rPr lang="en-US" altLang="ko-KR" sz="1200"/>
              <a:t>, </a:t>
            </a:r>
            <a:r>
              <a:rPr lang="ko-KR" altLang="en-US" sz="1200"/>
              <a:t>이상치 탐색에도 사용가능한 지도 학습 모델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와 가장 가까이 있는 데이터들이 </a:t>
            </a:r>
            <a:r>
              <a:rPr lang="en-US" altLang="ko-KR" sz="1200"/>
              <a:t>margin</a:t>
            </a:r>
            <a:r>
              <a:rPr lang="ko-KR" altLang="en-US" sz="1200"/>
              <a:t>을 결정하고 이를 </a:t>
            </a:r>
            <a:r>
              <a:rPr lang="en-US" altLang="ko-KR" sz="1200"/>
              <a:t>Support Vector</a:t>
            </a:r>
            <a:r>
              <a:rPr lang="ko-KR" altLang="en-US" sz="1200"/>
              <a:t>라고 함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Hyperplane </a:t>
            </a:r>
            <a:r>
              <a:rPr lang="ko-KR" altLang="en-US" sz="1200"/>
              <a:t>밖에 데이터가 추가되면 </a:t>
            </a:r>
            <a:r>
              <a:rPr lang="en-US" altLang="ko-KR" sz="1200"/>
              <a:t>Decision Boundary</a:t>
            </a:r>
            <a:r>
              <a:rPr lang="ko-KR" altLang="en-US" sz="1200"/>
              <a:t>에</a:t>
            </a:r>
            <a:r>
              <a:rPr lang="en-US" altLang="ko-KR" sz="1200"/>
              <a:t> </a:t>
            </a:r>
            <a:r>
              <a:rPr lang="ko-KR" altLang="en-US" sz="1200"/>
              <a:t>영향을 미치지 않지만 데이터가 </a:t>
            </a:r>
            <a:r>
              <a:rPr lang="en-US" altLang="ko-KR" sz="1200"/>
              <a:t>Hyper plane </a:t>
            </a:r>
            <a:r>
              <a:rPr lang="ko-KR" altLang="en-US" sz="1200"/>
              <a:t>범위 안에 들어온다면 영향을 미치게 되어 </a:t>
            </a:r>
            <a:r>
              <a:rPr lang="en-US" altLang="ko-KR" sz="1200"/>
              <a:t>Margin</a:t>
            </a:r>
            <a:r>
              <a:rPr lang="ko-KR" altLang="en-US" sz="1200"/>
              <a:t>이 달라질 수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FEE90-43AD-4044-BB3C-2398977C4800}"/>
              </a:ext>
            </a:extLst>
          </p:cNvPr>
          <p:cNvSpPr txBox="1"/>
          <p:nvPr/>
        </p:nvSpPr>
        <p:spPr>
          <a:xfrm>
            <a:off x="1468422" y="3415979"/>
            <a:ext cx="221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&lt; SVM</a:t>
            </a:r>
            <a:r>
              <a:rPr lang="en-US" altLang="ko-KR" sz="1100" b="0">
                <a:solidFill>
                  <a:schemeClr val="tx1"/>
                </a:solidFill>
              </a:rPr>
              <a:t>(Support Vector Machine) &gt;</a:t>
            </a:r>
            <a:endParaRPr lang="ko-KR" altLang="en-US" sz="1100" b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5F4690-2C95-4D62-8057-A982FE2EAA59}"/>
              </a:ext>
            </a:extLst>
          </p:cNvPr>
          <p:cNvSpPr txBox="1"/>
          <p:nvPr/>
        </p:nvSpPr>
        <p:spPr>
          <a:xfrm>
            <a:off x="6294253" y="3417032"/>
            <a:ext cx="221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&lt; HyperPlane</a:t>
            </a:r>
            <a:r>
              <a:rPr lang="en-US" altLang="ko-KR" sz="1100" b="0">
                <a:solidFill>
                  <a:schemeClr val="tx1"/>
                </a:solidFill>
              </a:rPr>
              <a:t> &gt;</a:t>
            </a:r>
            <a:endParaRPr lang="ko-KR" altLang="en-US" sz="1100" b="0">
              <a:solidFill>
                <a:schemeClr val="tx1"/>
              </a:solidFill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C5148B2-010A-4B81-A7F7-F0F5EC687FE8}"/>
              </a:ext>
            </a:extLst>
          </p:cNvPr>
          <p:cNvGrpSpPr/>
          <p:nvPr/>
        </p:nvGrpSpPr>
        <p:grpSpPr>
          <a:xfrm>
            <a:off x="223555" y="1040322"/>
            <a:ext cx="3780704" cy="2317762"/>
            <a:chOff x="4346891" y="1126960"/>
            <a:chExt cx="3780704" cy="2317762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03958524-AA06-4917-A650-2FCD297F4715}"/>
                </a:ext>
              </a:extLst>
            </p:cNvPr>
            <p:cNvGrpSpPr/>
            <p:nvPr/>
          </p:nvGrpSpPr>
          <p:grpSpPr>
            <a:xfrm>
              <a:off x="6600696" y="1552199"/>
              <a:ext cx="873554" cy="645957"/>
              <a:chOff x="4837649" y="3782504"/>
              <a:chExt cx="1143417" cy="783882"/>
            </a:xfrm>
            <a:solidFill>
              <a:srgbClr val="FF0000"/>
            </a:solidFill>
          </p:grpSpPr>
          <p:sp>
            <p:nvSpPr>
              <p:cNvPr id="66" name="이등변 삼각형 65">
                <a:extLst>
                  <a:ext uri="{FF2B5EF4-FFF2-40B4-BE49-F238E27FC236}">
                    <a16:creationId xmlns:a16="http://schemas.microsoft.com/office/drawing/2014/main" id="{47583E2B-1031-49BB-9B53-48E3706871D6}"/>
                  </a:ext>
                </a:extLst>
              </p:cNvPr>
              <p:cNvSpPr/>
              <p:nvPr/>
            </p:nvSpPr>
            <p:spPr>
              <a:xfrm>
                <a:off x="5019988" y="384681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이등변 삼각형 66">
                <a:extLst>
                  <a:ext uri="{FF2B5EF4-FFF2-40B4-BE49-F238E27FC236}">
                    <a16:creationId xmlns:a16="http://schemas.microsoft.com/office/drawing/2014/main" id="{741C89BA-3AEF-408F-8DA2-BB2713B418C7}"/>
                  </a:ext>
                </a:extLst>
              </p:cNvPr>
              <p:cNvSpPr/>
              <p:nvPr/>
            </p:nvSpPr>
            <p:spPr>
              <a:xfrm>
                <a:off x="4837649" y="442378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이등변 삼각형 67">
                <a:extLst>
                  <a:ext uri="{FF2B5EF4-FFF2-40B4-BE49-F238E27FC236}">
                    <a16:creationId xmlns:a16="http://schemas.microsoft.com/office/drawing/2014/main" id="{173719F8-3BF9-4C98-BBA0-2AE37B371BBA}"/>
                  </a:ext>
                </a:extLst>
              </p:cNvPr>
              <p:cNvSpPr/>
              <p:nvPr/>
            </p:nvSpPr>
            <p:spPr>
              <a:xfrm>
                <a:off x="5398595" y="4099675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이등변 삼각형 68">
                <a:extLst>
                  <a:ext uri="{FF2B5EF4-FFF2-40B4-BE49-F238E27FC236}">
                    <a16:creationId xmlns:a16="http://schemas.microsoft.com/office/drawing/2014/main" id="{CF2F0991-BC7E-4837-9D82-86463D43FB01}"/>
                  </a:ext>
                </a:extLst>
              </p:cNvPr>
              <p:cNvSpPr/>
              <p:nvPr/>
            </p:nvSpPr>
            <p:spPr>
              <a:xfrm>
                <a:off x="5833424" y="4342919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이등변 삼각형 69">
                <a:extLst>
                  <a:ext uri="{FF2B5EF4-FFF2-40B4-BE49-F238E27FC236}">
                    <a16:creationId xmlns:a16="http://schemas.microsoft.com/office/drawing/2014/main" id="{90411FB3-8684-4E1E-A15D-EF1138ECA1F2}"/>
                  </a:ext>
                </a:extLst>
              </p:cNvPr>
              <p:cNvSpPr/>
              <p:nvPr/>
            </p:nvSpPr>
            <p:spPr>
              <a:xfrm>
                <a:off x="5833424" y="378250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5D2E1718-1DD8-4850-AF1B-1DF23A4CCAB0}"/>
                </a:ext>
              </a:extLst>
            </p:cNvPr>
            <p:cNvGrpSpPr/>
            <p:nvPr/>
          </p:nvGrpSpPr>
          <p:grpSpPr>
            <a:xfrm>
              <a:off x="5248902" y="1126960"/>
              <a:ext cx="2660658" cy="2261370"/>
              <a:chOff x="3431097" y="1987172"/>
              <a:chExt cx="3482605" cy="2744220"/>
            </a:xfrm>
          </p:grpSpPr>
          <p:cxnSp>
            <p:nvCxnSpPr>
              <p:cNvPr id="64" name="직선 화살표 연결선 63">
                <a:extLst>
                  <a:ext uri="{FF2B5EF4-FFF2-40B4-BE49-F238E27FC236}">
                    <a16:creationId xmlns:a16="http://schemas.microsoft.com/office/drawing/2014/main" id="{9C5014CB-D43E-4E49-9F53-2B73709BD9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직선 화살표 연결선 64">
                <a:extLst>
                  <a:ext uri="{FF2B5EF4-FFF2-40B4-BE49-F238E27FC236}">
                    <a16:creationId xmlns:a16="http://schemas.microsoft.com/office/drawing/2014/main" id="{4053977E-A5AE-4D7E-BF83-EC3AEAD84C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6AA6252D-D78A-4012-B8D3-B41E9E9E9C74}"/>
                </a:ext>
              </a:extLst>
            </p:cNvPr>
            <p:cNvCxnSpPr>
              <a:cxnSpLocks/>
            </p:cNvCxnSpPr>
            <p:nvPr/>
          </p:nvCxnSpPr>
          <p:spPr>
            <a:xfrm>
              <a:off x="5604435" y="1552199"/>
              <a:ext cx="1566956" cy="169366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7D61243B-CEC7-4FB1-8650-6D7447D5059C}"/>
                </a:ext>
              </a:extLst>
            </p:cNvPr>
            <p:cNvCxnSpPr>
              <a:cxnSpLocks/>
            </p:cNvCxnSpPr>
            <p:nvPr/>
          </p:nvCxnSpPr>
          <p:spPr>
            <a:xfrm>
              <a:off x="5875208" y="1366856"/>
              <a:ext cx="1566956" cy="169366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C1C0ED11-B5F5-4AA3-ABAA-45BCB5A7EA2B}"/>
                </a:ext>
              </a:extLst>
            </p:cNvPr>
            <p:cNvGrpSpPr/>
            <p:nvPr/>
          </p:nvGrpSpPr>
          <p:grpSpPr>
            <a:xfrm>
              <a:off x="5416754" y="2400752"/>
              <a:ext cx="583218" cy="881414"/>
              <a:chOff x="3665996" y="2686332"/>
              <a:chExt cx="763389" cy="1069614"/>
            </a:xfrm>
            <a:solidFill>
              <a:srgbClr val="2C6FAD"/>
            </a:solidFill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EA1A1119-7731-4365-AB7F-A8D369D220EC}"/>
                  </a:ext>
                </a:extLst>
              </p:cNvPr>
              <p:cNvSpPr/>
              <p:nvPr/>
            </p:nvSpPr>
            <p:spPr>
              <a:xfrm>
                <a:off x="3758272" y="304531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A18799D7-0A3B-46C8-94F5-B74EAE1E426C}"/>
                  </a:ext>
                </a:extLst>
              </p:cNvPr>
              <p:cNvSpPr/>
              <p:nvPr/>
            </p:nvSpPr>
            <p:spPr>
              <a:xfrm>
                <a:off x="3665996" y="3628023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2B5AC2BD-C538-43E1-A348-3031D498437C}"/>
                  </a:ext>
                </a:extLst>
              </p:cNvPr>
              <p:cNvSpPr/>
              <p:nvPr/>
            </p:nvSpPr>
            <p:spPr>
              <a:xfrm>
                <a:off x="4177723" y="3482638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4896A143-F225-49C8-8DC7-B90DE5115F55}"/>
                  </a:ext>
                </a:extLst>
              </p:cNvPr>
              <p:cNvSpPr/>
              <p:nvPr/>
            </p:nvSpPr>
            <p:spPr>
              <a:xfrm>
                <a:off x="4211277" y="3119517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F4F8B009-6E0F-4601-9ACC-D55246101F2C}"/>
                  </a:ext>
                </a:extLst>
              </p:cNvPr>
              <p:cNvSpPr/>
              <p:nvPr/>
            </p:nvSpPr>
            <p:spPr>
              <a:xfrm>
                <a:off x="4303554" y="268633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11619681-E8A6-4CF9-85AF-57B170C0C0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4142" y="3055776"/>
              <a:ext cx="498512" cy="38894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B55FA048-9400-4690-B9D2-7AA49D726E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8383" y="2076079"/>
              <a:ext cx="822041" cy="226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3EE710E-2AE5-44B2-999B-A92913810DF8}"/>
                </a:ext>
              </a:extLst>
            </p:cNvPr>
            <p:cNvSpPr txBox="1"/>
            <p:nvPr/>
          </p:nvSpPr>
          <p:spPr>
            <a:xfrm>
              <a:off x="4522210" y="1926574"/>
              <a:ext cx="923017" cy="215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margin</a:t>
              </a:r>
              <a:endParaRPr lang="ko-KR" altLang="en-US" sz="1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ECACA61-5D47-45FE-B603-07C778484256}"/>
                    </a:ext>
                  </a:extLst>
                </p:cNvPr>
                <p:cNvSpPr txBox="1"/>
                <p:nvPr/>
              </p:nvSpPr>
              <p:spPr>
                <a:xfrm>
                  <a:off x="7292636" y="3136190"/>
                  <a:ext cx="209288" cy="2477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ko-KR" altLang="en-US" sz="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ECACA61-5D47-45FE-B603-07C7784842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636" y="3136190"/>
                  <a:ext cx="209288" cy="247760"/>
                </a:xfrm>
                <a:prstGeom prst="rect">
                  <a:avLst/>
                </a:prstGeom>
                <a:blipFill>
                  <a:blip r:embed="rId4"/>
                  <a:stretch>
                    <a:fillRect t="-2439" b="-24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8ECF55F6-3064-4962-BB69-CE8BE110AF7B}"/>
                </a:ext>
              </a:extLst>
            </p:cNvPr>
            <p:cNvCxnSpPr>
              <a:cxnSpLocks/>
            </p:cNvCxnSpPr>
            <p:nvPr/>
          </p:nvCxnSpPr>
          <p:spPr>
            <a:xfrm>
              <a:off x="5317911" y="1725463"/>
              <a:ext cx="1566956" cy="169366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81380374-697E-47F2-97CB-6F1EE89B2A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7154" y="1833506"/>
              <a:ext cx="498512" cy="38894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4C71CB3-0980-4EA9-9DCF-9CBB62093A8A}"/>
                </a:ext>
              </a:extLst>
            </p:cNvPr>
            <p:cNvSpPr txBox="1"/>
            <p:nvPr/>
          </p:nvSpPr>
          <p:spPr>
            <a:xfrm>
              <a:off x="4346891" y="1183488"/>
              <a:ext cx="21285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Optimal Hyperplane</a:t>
              </a:r>
            </a:p>
            <a:p>
              <a:pPr algn="l"/>
              <a:r>
                <a:rPr lang="en-US" altLang="ko-KR" sz="1100"/>
                <a:t>/Decision Boundary</a:t>
              </a:r>
              <a:endParaRPr lang="ko-KR" altLang="en-US" sz="1100"/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C8A81E8D-360F-459D-BB9A-49E766E3E1CD}"/>
                </a:ext>
              </a:extLst>
            </p:cNvPr>
            <p:cNvCxnSpPr>
              <a:cxnSpLocks/>
            </p:cNvCxnSpPr>
            <p:nvPr/>
          </p:nvCxnSpPr>
          <p:spPr>
            <a:xfrm>
              <a:off x="6659538" y="2187352"/>
              <a:ext cx="576589" cy="19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C4689A4C-C87E-4FF3-961E-8FAC3783A4DA}"/>
                </a:ext>
              </a:extLst>
            </p:cNvPr>
            <p:cNvCxnSpPr>
              <a:cxnSpLocks/>
            </p:cNvCxnSpPr>
            <p:nvPr/>
          </p:nvCxnSpPr>
          <p:spPr>
            <a:xfrm>
              <a:off x="5950526" y="2452558"/>
              <a:ext cx="1267552" cy="50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2F1E5E4-1243-4AC7-9E17-9E160BA72F1D}"/>
                </a:ext>
              </a:extLst>
            </p:cNvPr>
            <p:cNvSpPr txBox="1"/>
            <p:nvPr/>
          </p:nvSpPr>
          <p:spPr>
            <a:xfrm>
              <a:off x="7256395" y="2275317"/>
              <a:ext cx="871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Support</a:t>
              </a:r>
            </a:p>
            <a:p>
              <a:pPr algn="l"/>
              <a:r>
                <a:rPr lang="en-US" altLang="ko-KR" sz="1100"/>
                <a:t>Vector</a:t>
              </a:r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368320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554223" y="3442072"/>
                <a:ext cx="7887076" cy="3614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j-ea"/>
                    <a:ea typeface="+mj-ea"/>
                  </a:rPr>
                  <a:t>중앙선에 수직인 임의의 벡타 </a:t>
                </a:r>
                <a:r>
                  <a:rPr lang="en-US" altLang="ko-KR" sz="1100">
                    <a:latin typeface="+mj-ea"/>
                    <a:ea typeface="+mj-ea"/>
                  </a:rPr>
                  <a:t>w </a:t>
                </a:r>
                <a:r>
                  <a:rPr lang="ko-KR" altLang="en-US" sz="1100">
                    <a:latin typeface="+mj-ea"/>
                    <a:ea typeface="+mj-ea"/>
                  </a:rPr>
                  <a:t>와 임의의 점</a:t>
                </a:r>
                <a:r>
                  <a:rPr lang="en-US" altLang="ko-KR" sz="1100">
                    <a:latin typeface="+mj-ea"/>
                    <a:ea typeface="+mj-ea"/>
                  </a:rPr>
                  <a:t>(</a:t>
                </a:r>
                <a:r>
                  <a:rPr lang="ko-KR" altLang="en-US" sz="1100">
                    <a:latin typeface="+mj-ea"/>
                    <a:ea typeface="+mj-ea"/>
                  </a:rPr>
                  <a:t>데이터</a:t>
                </a:r>
                <a:r>
                  <a:rPr lang="en-US" altLang="ko-KR" sz="1100">
                    <a:latin typeface="+mj-ea"/>
                    <a:ea typeface="+mj-ea"/>
                  </a:rPr>
                  <a:t>)</a:t>
                </a:r>
                <a:r>
                  <a:rPr lang="ko-KR" altLang="en-US" sz="1100">
                    <a:latin typeface="+mj-ea"/>
                    <a:ea typeface="+mj-ea"/>
                  </a:rPr>
                  <a:t>을 향해가는 임의의 벡타 </a:t>
                </a:r>
                <a:r>
                  <a:rPr lang="en-US" altLang="ko-KR" sz="1100">
                    <a:latin typeface="+mj-ea"/>
                    <a:ea typeface="+mj-ea"/>
                  </a:rPr>
                  <a:t>u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𝑢</m:t>
                        </m:r>
                      </m:e>
                    </m:acc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하게되면 선이 생기는데 짧으면 </a:t>
                </a:r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-, </a:t>
                </a: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크면 </a:t>
                </a:r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+</a:t>
                </a: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로 설정</a:t>
                </a:r>
                <a:endParaRPr lang="en-US" altLang="ko-KR" sz="110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𝑢</m:t>
                        </m:r>
                      </m:e>
                    </m:acc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하여 일정한 </a:t>
                </a:r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contstant</a:t>
                </a: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값보다 크면 </a:t>
                </a:r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+</a:t>
                </a: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영역</a:t>
                </a:r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+</m:t>
                        </m:r>
                      </m:sub>
                    </m:sSub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)</a:t>
                </a: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으로 설정 </a:t>
                </a:r>
                <a:r>
                  <a:rPr lang="en-US" altLang="ko-KR" sz="1100">
                    <a:latin typeface="+mj-ea"/>
                    <a:ea typeface="+mj-ea"/>
                  </a:rPr>
                  <a:t>=&gt;</a:t>
                </a: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𝑢</m:t>
                        </m:r>
                      </m:e>
                    </m:acc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 ≥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𝑐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en-US" altLang="ko-KR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작으면 </a:t>
                </a:r>
                <a:r>
                  <a:rPr lang="en-US" altLang="ko-KR" sz="1100">
                    <a:latin typeface="+mj-ea"/>
                    <a:ea typeface="+mj-ea"/>
                  </a:rPr>
                  <a:t>–</a:t>
                </a:r>
                <a:r>
                  <a:rPr lang="ko-KR" altLang="en-US" sz="1100">
                    <a:latin typeface="+mj-ea"/>
                    <a:ea typeface="+mj-ea"/>
                  </a:rPr>
                  <a:t>영역</a:t>
                </a:r>
                <a:r>
                  <a:rPr lang="en-US" altLang="ko-KR" sz="1100">
                    <a:latin typeface="+mj-ea"/>
                    <a:ea typeface="+mj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  <m:t>−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en-US" altLang="ko-KR" sz="1100">
                    <a:latin typeface="+mj-ea"/>
                    <a:ea typeface="+mj-ea"/>
                  </a:rPr>
                  <a:t>)</a:t>
                </a:r>
                <a:r>
                  <a:rPr lang="ko-KR" altLang="en-US" sz="1100">
                    <a:latin typeface="+mj-ea"/>
                    <a:ea typeface="+mj-ea"/>
                  </a:rPr>
                  <a:t>으로 설정 </a:t>
                </a:r>
                <a:r>
                  <a:rPr lang="en-US" altLang="ko-KR" sz="1100">
                    <a:latin typeface="+mj-ea"/>
                    <a:ea typeface="+mj-ea"/>
                  </a:rPr>
                  <a:t>=&gt;</a:t>
                </a:r>
                <a:r>
                  <a:rPr lang="ko-KR" altLang="en-US" sz="1100">
                    <a:latin typeface="+mj-ea"/>
                    <a:ea typeface="+mj-ea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1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>
                            <a:latin typeface="Cambria Math" panose="02040503050406030204" pitchFamily="18" charset="0"/>
                            <a:ea typeface="+mj-ea"/>
                          </a:rPr>
                          <m:t>𝑢</m:t>
                        </m:r>
                      </m:e>
                    </m:acc>
                    <m:r>
                      <a:rPr lang="en-US" altLang="ko-KR" sz="1100" i="1">
                        <a:latin typeface="Cambria Math" panose="02040503050406030204" pitchFamily="18" charset="0"/>
                        <a:ea typeface="+mj-ea"/>
                      </a:rPr>
                      <m:t> ≤</m:t>
                    </m:r>
                    <m:r>
                      <a:rPr lang="en-US" altLang="ko-KR" sz="1100" i="1">
                        <a:latin typeface="Cambria Math" panose="02040503050406030204" pitchFamily="18" charset="0"/>
                        <a:ea typeface="+mj-ea"/>
                      </a:rPr>
                      <m:t>𝑐</m:t>
                    </m:r>
                  </m:oMath>
                </a14:m>
                <a:endParaRPr lang="en-US" altLang="ko-KR" sz="1100" b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c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를 보통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b(bias)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로  표기하는데 계산하기 편하기 위해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c = -b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로 표시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,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일반화시켜서 표현하면</a:t>
                </a:r>
                <a:endParaRPr lang="en-US" altLang="ko-KR" sz="1100" b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𝑢</m:t>
                        </m:r>
                      </m:e>
                    </m:acc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𝑏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 ≥0, 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𝑡h𝑒𝑛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+mj-ea"/>
                          </a:rPr>
                          <m:t> 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ko-KR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	(1)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위의 식을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Decision Rule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이며 </a:t>
                </a:r>
                <a:r>
                  <a:rPr lang="en-US" altLang="ko-KR" sz="1100">
                    <a:latin typeface="+mj-ea"/>
                    <a:ea typeface="+mj-ea"/>
                  </a:rPr>
                  <a:t>Decision Boundary</a:t>
                </a:r>
                <a:r>
                  <a:rPr lang="ko-KR" altLang="en-US" sz="1100">
                    <a:latin typeface="+mj-ea"/>
                    <a:ea typeface="+mj-ea"/>
                  </a:rPr>
                  <a:t>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solidFill>
                          <a:srgbClr val="836967"/>
                        </a:solidFill>
                        <a:latin typeface="Cambria Math" panose="02040503050406030204" pitchFamily="18" charset="0"/>
                        <a:ea typeface="+mj-ea"/>
                      </a:rPr>
                      <m:t>∙</m:t>
                    </m:r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+mj-ea"/>
                          </a:rPr>
                          <m:t>𝑢</m:t>
                        </m:r>
                      </m:e>
                    </m:acc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+mj-ea"/>
                      </a:rPr>
                      <m:t>𝑏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+mj-ea"/>
                      </a:rPr>
                      <m:t>=0</m:t>
                    </m:r>
                  </m:oMath>
                </a14:m>
                <a:r>
                  <a:rPr lang="ko-KR" altLang="en-US" sz="1100">
                    <a:latin typeface="+mj-ea"/>
                    <a:ea typeface="+mj-ea"/>
                  </a:rPr>
                  <a:t>의 식이됨</a:t>
                </a:r>
                <a:endParaRPr lang="en-US" altLang="ko-KR" sz="1100" b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Decision boundary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j-ea"/>
                    <a:ea typeface="+mj-ea"/>
                  </a:rPr>
                  <a:t>와 각 </a:t>
                </a:r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Support Vector</a:t>
                </a: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사이의 거리를 </a:t>
                </a:r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1</a:t>
                </a: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이라 가정</a:t>
                </a:r>
                <a:endParaRPr lang="en-US" altLang="ko-KR" sz="110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+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j-ea"/>
                        <a:ea typeface="+mj-ea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⇒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+</m:t>
                            </m:r>
                          </m:sub>
                        </m:sSub>
                      </m:e>
                    </m:acc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𝑏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 ≥1,</m:t>
                    </m:r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−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j-ea"/>
                        <a:ea typeface="+mj-ea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tx1"/>
                        </a:solidFill>
                        <a:latin typeface="+mj-ea"/>
                        <a:ea typeface="+mj-ea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j-ea"/>
                        <a:ea typeface="+mj-ea"/>
                      </a:rPr>
                      <m:t>&gt;</m:t>
                    </m:r>
                    <m:r>
                      <m:rPr>
                        <m:nor/>
                      </m:rPr>
                      <a:rPr lang="ko-KR" altLang="en-US" sz="1100" smtClean="0">
                        <a:solidFill>
                          <a:schemeClr val="tx1"/>
                        </a:solidFill>
                        <a:latin typeface="+mj-ea"/>
                        <a:ea typeface="+mj-ea"/>
                      </a:rPr>
                      <m:t> 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−</m:t>
                            </m:r>
                          </m:sub>
                        </m:sSub>
                      </m:e>
                    </m:acc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𝑏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 ≤1</m:t>
                    </m:r>
                  </m:oMath>
                </a14:m>
                <a:endParaRPr lang="en-US" altLang="ko-KR" sz="110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위의 두 식을 하나로 만들기 위해 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설정</a:t>
                </a:r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의값이 </a:t>
                </a:r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+1</a:t>
                </a: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+</m:t>
                        </m:r>
                      </m:sub>
                    </m:sSub>
                    <m:r>
                      <a:rPr lang="en-US" altLang="ko-KR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의값이 </a:t>
                </a:r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-1</a:t>
                </a: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j-ea"/>
                    <a:ea typeface="+mj-ea"/>
                  </a:rPr>
                  <a:t>)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+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j-ea"/>
                        <a:ea typeface="+mj-ea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tx1"/>
                        </a:solidFill>
                        <a:latin typeface="+mj-ea"/>
                        <a:ea typeface="+mj-ea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j-ea"/>
                        <a:ea typeface="+mj-ea"/>
                      </a:rPr>
                      <m:t>&gt;</m:t>
                    </m:r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+</m:t>
                            </m:r>
                          </m:sub>
                        </m:sSub>
                      </m:e>
                    </m:acc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𝑏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 ≥1⇒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+</m:t>
                            </m:r>
                          </m:sub>
                        </m:sSub>
                      </m:e>
                    </m:acc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𝑏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 ≥1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 </m:t>
                        </m:r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−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tx1"/>
                        </a:solidFill>
                        <a:latin typeface="+mj-ea"/>
                        <a:ea typeface="+mj-ea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j-ea"/>
                        <a:ea typeface="+mj-ea"/>
                      </a:rPr>
                      <m:t>&gt;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−</m:t>
                            </m:r>
                          </m:sub>
                        </m:sSub>
                      </m:e>
                    </m:acc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𝑏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 ≤1⇒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+</m:t>
                            </m:r>
                          </m:sub>
                        </m:sSub>
                      </m:e>
                    </m:acc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𝑏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) ≥1</m:t>
                    </m:r>
                  </m:oMath>
                </a14:m>
                <a:endParaRPr lang="en-US" altLang="ko-KR" sz="110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즉</a:t>
                </a:r>
                <a:r>
                  <a:rPr lang="en-US" altLang="ko-KR" sz="1100">
                    <a:latin typeface="+mj-ea"/>
                    <a:ea typeface="+mj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ko-KR" sz="1100">
                    <a:latin typeface="+mj-ea"/>
                    <a:ea typeface="+mj-ea"/>
                  </a:rPr>
                  <a:t> </a:t>
                </a:r>
                <a:r>
                  <a:rPr lang="ko-KR" altLang="en-US" sz="1100">
                    <a:latin typeface="+mj-ea"/>
                    <a:ea typeface="+mj-ea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+mj-ea"/>
                          </a:rPr>
                          <m:t>−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의 식을 하나의 식인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ko-KR" altLang="en-US" sz="1100" i="1"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latin typeface="Cambria Math" panose="02040503050406030204" pitchFamily="18" charset="0"/>
                        <a:ea typeface="+mj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+mj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+mj-ea"/>
                              </a:rPr>
                              <m:t>+</m:t>
                            </m:r>
                          </m:sub>
                        </m:sSub>
                      </m:e>
                    </m:acc>
                    <m:r>
                      <a:rPr lang="en-US" altLang="ko-KR" sz="1100" i="1"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ko-KR" sz="1100" i="1">
                        <a:latin typeface="Cambria Math" panose="02040503050406030204" pitchFamily="18" charset="0"/>
                        <a:ea typeface="+mj-ea"/>
                      </a:rPr>
                      <m:t>𝑏</m:t>
                    </m:r>
                    <m:r>
                      <a:rPr lang="en-US" altLang="ko-KR" sz="1100" i="1">
                        <a:latin typeface="Cambria Math" panose="02040503050406030204" pitchFamily="18" charset="0"/>
                        <a:ea typeface="+mj-ea"/>
                      </a:rPr>
                      <m:t>) ≥1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로 나타 낼 수 있음</a:t>
                </a:r>
                <a:endParaRPr lang="en-US" altLang="ko-KR" sz="110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또한 </a:t>
                </a:r>
                <a:r>
                  <a:rPr lang="en-US" altLang="ko-KR" sz="1100">
                    <a:latin typeface="+mj-ea"/>
                    <a:ea typeface="+mj-ea"/>
                  </a:rPr>
                  <a:t>Support Vector</a:t>
                </a:r>
                <a:r>
                  <a:rPr lang="ko-KR" altLang="en-US" sz="1100">
                    <a:latin typeface="+mj-ea"/>
                    <a:ea typeface="+mj-ea"/>
                  </a:rPr>
                  <a:t>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100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accPr>
                          <m:e>
                            <m:r>
                              <a:rPr lang="ko-KR" altLang="en-US" sz="1100" i="1">
                                <a:latin typeface="Cambria Math" panose="02040503050406030204" pitchFamily="18" charset="0"/>
                                <a:ea typeface="+mj-ea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100" i="1">
                            <a:latin typeface="Cambria Math" panose="02040503050406030204" pitchFamily="18" charset="0"/>
                            <a:ea typeface="+mj-ea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100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  <a:ea typeface="+mj-ea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  <a:ea typeface="+mj-ea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  <a:ea typeface="+mj-ea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+mj-ea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+mj-ea"/>
                      </a:rPr>
                      <m:t>−1=0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j-ea"/>
                    <a:ea typeface="+mj-ea"/>
                  </a:rPr>
                  <a:t>으로 냄</a:t>
                </a:r>
                <a:endParaRPr lang="en-US" altLang="ko-KR" sz="110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100">
                  <a:latin typeface="+mj-ea"/>
                  <a:ea typeface="+mj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10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23" y="3442072"/>
                <a:ext cx="7887076" cy="36144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0F16966E-DBF8-4237-A50B-792DAE18D672}"/>
              </a:ext>
            </a:extLst>
          </p:cNvPr>
          <p:cNvGrpSpPr/>
          <p:nvPr/>
        </p:nvGrpSpPr>
        <p:grpSpPr>
          <a:xfrm>
            <a:off x="216996" y="1061793"/>
            <a:ext cx="3759501" cy="2317762"/>
            <a:chOff x="216996" y="1061793"/>
            <a:chExt cx="3759501" cy="231776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1E0F467-4510-4764-BB0E-F49485A0969F}"/>
                </a:ext>
              </a:extLst>
            </p:cNvPr>
            <p:cNvSpPr txBox="1"/>
            <p:nvPr/>
          </p:nvSpPr>
          <p:spPr>
            <a:xfrm>
              <a:off x="1767578" y="3160605"/>
              <a:ext cx="1468585" cy="218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 SVM&gt;</a:t>
              </a:r>
              <a:endParaRPr lang="ko-KR" altLang="en-US" sz="1100"/>
            </a:p>
          </p:txBody>
        </p: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85772E36-85A5-468F-BBEA-9C74091A88E9}"/>
                </a:ext>
              </a:extLst>
            </p:cNvPr>
            <p:cNvGrpSpPr/>
            <p:nvPr/>
          </p:nvGrpSpPr>
          <p:grpSpPr>
            <a:xfrm>
              <a:off x="216996" y="1061793"/>
              <a:ext cx="3759501" cy="1939810"/>
              <a:chOff x="216996" y="1061793"/>
              <a:chExt cx="3759501" cy="1939810"/>
            </a:xfrm>
          </p:grpSpPr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EDC491E-B2EB-4176-AF03-54DF6027DEC3}"/>
                  </a:ext>
                </a:extLst>
              </p:cNvPr>
              <p:cNvSpPr txBox="1"/>
              <p:nvPr/>
            </p:nvSpPr>
            <p:spPr>
              <a:xfrm>
                <a:off x="216996" y="1096043"/>
                <a:ext cx="1808835" cy="360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Optimal Hyperplane</a:t>
                </a:r>
              </a:p>
              <a:p>
                <a:pPr algn="l"/>
                <a:r>
                  <a:rPr lang="en-US" altLang="ko-KR" sz="1100"/>
                  <a:t>/Decision Boundary</a:t>
                </a:r>
                <a:endParaRPr lang="ko-KR" altLang="en-US" sz="1100"/>
              </a:p>
            </p:txBody>
          </p:sp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0514C41C-99A5-4BF0-B7D0-8CF3FCAB6258}"/>
                  </a:ext>
                </a:extLst>
              </p:cNvPr>
              <p:cNvSpPr/>
              <p:nvPr/>
            </p:nvSpPr>
            <p:spPr>
              <a:xfrm>
                <a:off x="2320427" y="1859963"/>
                <a:ext cx="95855" cy="98349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EB8814C6-2B40-40AF-9D2F-8E9A0661493C}"/>
                  </a:ext>
                </a:extLst>
              </p:cNvPr>
              <p:cNvGrpSpPr/>
              <p:nvPr/>
            </p:nvGrpSpPr>
            <p:grpSpPr>
              <a:xfrm>
                <a:off x="1171658" y="1061793"/>
                <a:ext cx="2261055" cy="1892614"/>
                <a:chOff x="3431097" y="1987172"/>
                <a:chExt cx="3482605" cy="2744220"/>
              </a:xfrm>
            </p:grpSpPr>
            <p:cxnSp>
              <p:nvCxnSpPr>
                <p:cNvPr id="24" name="직선 화살표 연결선 23">
                  <a:extLst>
                    <a:ext uri="{FF2B5EF4-FFF2-40B4-BE49-F238E27FC236}">
                      <a16:creationId xmlns:a16="http://schemas.microsoft.com/office/drawing/2014/main" id="{E19BA2E3-5493-4004-9929-BF8B8C81E1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화살표 연결선 24">
                  <a:extLst>
                    <a:ext uri="{FF2B5EF4-FFF2-40B4-BE49-F238E27FC236}">
                      <a16:creationId xmlns:a16="http://schemas.microsoft.com/office/drawing/2014/main" id="{250F95FF-3226-4337-B885-D1963A4630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63C6221A-D106-4CB7-9179-AAC8E9AEBE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3794" y="1417689"/>
                <a:ext cx="1331616" cy="141748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76FAB278-2C37-4AE0-97E9-A292866322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3900" y="1262570"/>
                <a:ext cx="1331616" cy="1417486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E8564090-029A-4FB6-84FD-6BEF5D1051A3}"/>
                  </a:ext>
                </a:extLst>
              </p:cNvPr>
              <p:cNvSpPr/>
              <p:nvPr/>
            </p:nvSpPr>
            <p:spPr>
              <a:xfrm>
                <a:off x="1728231" y="2127871"/>
                <a:ext cx="81695" cy="88225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D8FC73B5-0772-475F-8DBA-9BB00EB508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95295" y="2676082"/>
                <a:ext cx="423641" cy="325521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직선 화살표 연결선 16">
                <a:extLst>
                  <a:ext uri="{FF2B5EF4-FFF2-40B4-BE49-F238E27FC236}">
                    <a16:creationId xmlns:a16="http://schemas.microsoft.com/office/drawing/2014/main" id="{12229F0A-0D66-45E7-BE2E-3C73DBF212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43746" y="1856141"/>
                <a:ext cx="698579" cy="189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9699EE5-F841-4552-94D1-3ABDB574CC93}"/>
                  </a:ext>
                </a:extLst>
              </p:cNvPr>
              <p:cNvSpPr txBox="1"/>
              <p:nvPr/>
            </p:nvSpPr>
            <p:spPr>
              <a:xfrm>
                <a:off x="554108" y="1731016"/>
                <a:ext cx="784390" cy="180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margin</a:t>
                </a:r>
                <a:endParaRPr lang="ko-KR" altLang="en-US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CB5E73EF-48A9-4F43-95BC-476047419D26}"/>
                      </a:ext>
                    </a:extLst>
                  </p:cNvPr>
                  <p:cNvSpPr txBox="1"/>
                  <p:nvPr/>
                </p:nvSpPr>
                <p:spPr>
                  <a:xfrm>
                    <a:off x="2908445" y="2743383"/>
                    <a:ext cx="209288" cy="24776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ko-KR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ko-KR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den>
                          </m:f>
                        </m:oMath>
                      </m:oMathPara>
                    </a14:m>
                    <a:endParaRPr lang="ko-KR" altLang="en-US" sz="8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CB5E73EF-48A9-4F43-95BC-476047419D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8445" y="2743383"/>
                    <a:ext cx="209288" cy="24776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2439" b="-243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C73A29AF-8985-4AC1-805D-79DD8F7F53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303" y="1562700"/>
                <a:ext cx="1331616" cy="1417486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6" name="직선 화살표 연결선 115">
                <a:extLst>
                  <a:ext uri="{FF2B5EF4-FFF2-40B4-BE49-F238E27FC236}">
                    <a16:creationId xmlns:a16="http://schemas.microsoft.com/office/drawing/2014/main" id="{1F9DDF25-86DD-43C0-8483-F52245EF6C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6067" y="1653124"/>
                <a:ext cx="423641" cy="325521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직선 화살표 연결선 104">
                <a:extLst>
                  <a:ext uri="{FF2B5EF4-FFF2-40B4-BE49-F238E27FC236}">
                    <a16:creationId xmlns:a16="http://schemas.microsoft.com/office/drawing/2014/main" id="{B9B6AF5A-E462-4C9B-A1F7-7A45368F0E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70432" y="1949269"/>
                <a:ext cx="489991" cy="1641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직선 화살표 연결선 105">
                <a:extLst>
                  <a:ext uri="{FF2B5EF4-FFF2-40B4-BE49-F238E27FC236}">
                    <a16:creationId xmlns:a16="http://schemas.microsoft.com/office/drawing/2014/main" id="{7832C2E1-9D4C-4565-8E20-AFE1A72A95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906" y="2171229"/>
                <a:ext cx="1077179" cy="421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00676D4-FDB4-4CC0-BE5F-2180CB09D180}"/>
                  </a:ext>
                </a:extLst>
              </p:cNvPr>
              <p:cNvSpPr txBox="1"/>
              <p:nvPr/>
            </p:nvSpPr>
            <p:spPr>
              <a:xfrm>
                <a:off x="2877647" y="2022890"/>
                <a:ext cx="740355" cy="360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Support</a:t>
                </a:r>
              </a:p>
              <a:p>
                <a:pPr algn="l"/>
                <a:r>
                  <a:rPr lang="en-US" altLang="ko-KR" sz="1100"/>
                  <a:t>Vector</a:t>
                </a:r>
                <a:endParaRPr lang="ko-KR" altLang="en-US" sz="1100"/>
              </a:p>
            </p:txBody>
          </p:sp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868C5CFB-6594-46A5-8F2A-B0450FFF40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73794" y="2632173"/>
                <a:ext cx="273139" cy="2030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60F8564D-6287-4B4F-A43D-925A184C734D}"/>
                  </a:ext>
                </a:extLst>
              </p:cNvPr>
              <p:cNvCxnSpPr>
                <a:endCxn id="23" idx="2"/>
              </p:cNvCxnSpPr>
              <p:nvPr/>
            </p:nvCxnSpPr>
            <p:spPr>
              <a:xfrm flipV="1">
                <a:off x="1473794" y="2216096"/>
                <a:ext cx="295284" cy="6190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9828B568-B99D-4028-92A1-355D70FAF344}"/>
                      </a:ext>
                    </a:extLst>
                  </p:cNvPr>
                  <p:cNvSpPr txBox="1"/>
                  <p:nvPr/>
                </p:nvSpPr>
                <p:spPr>
                  <a:xfrm>
                    <a:off x="1537112" y="2703884"/>
                    <a:ext cx="21790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9828B568-B99D-4028-92A1-355D70FAF3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7112" y="2703884"/>
                    <a:ext cx="217909" cy="2616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555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C98F6DA1-AB28-464A-A9AF-09B029AF74E5}"/>
                      </a:ext>
                    </a:extLst>
                  </p:cNvPr>
                  <p:cNvSpPr txBox="1"/>
                  <p:nvPr/>
                </p:nvSpPr>
                <p:spPr>
                  <a:xfrm>
                    <a:off x="1373455" y="2447376"/>
                    <a:ext cx="21790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 xmlns=""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C98F6DA1-AB28-464A-A9AF-09B029AF74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3455" y="2447376"/>
                    <a:ext cx="217909" cy="2616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53E60B2F-F7F8-4ACE-BD3C-20B2D43C3555}"/>
                  </a:ext>
                </a:extLst>
              </p:cNvPr>
              <p:cNvCxnSpPr/>
              <p:nvPr/>
            </p:nvCxnSpPr>
            <p:spPr>
              <a:xfrm>
                <a:off x="2561919" y="2525635"/>
                <a:ext cx="67424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45586196-B257-4D37-BE3A-D81CB243B389}"/>
                      </a:ext>
                    </a:extLst>
                  </p:cNvPr>
                  <p:cNvSpPr txBox="1"/>
                  <p:nvPr/>
                </p:nvSpPr>
                <p:spPr>
                  <a:xfrm>
                    <a:off x="3265621" y="2430565"/>
                    <a:ext cx="710876" cy="14167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acc>
                            <m:accPr>
                              <m:chr m:val="⃗"/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45586196-B257-4D37-BE3A-D81CB243B3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5621" y="2430565"/>
                    <a:ext cx="710876" cy="14167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172" r="-19828" b="-3043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DCAAF969-50A4-482C-B302-E2D3C2BDE6F0}"/>
                  </a:ext>
                </a:extLst>
              </p:cNvPr>
              <p:cNvGrpSpPr/>
              <p:nvPr/>
            </p:nvGrpSpPr>
            <p:grpSpPr>
              <a:xfrm>
                <a:off x="3018936" y="1290969"/>
                <a:ext cx="633878" cy="491364"/>
                <a:chOff x="5215256" y="1171736"/>
                <a:chExt cx="633878" cy="491364"/>
              </a:xfrm>
            </p:grpSpPr>
            <p:sp>
              <p:nvSpPr>
                <p:cNvPr id="109" name="직사각형 108">
                  <a:extLst>
                    <a:ext uri="{FF2B5EF4-FFF2-40B4-BE49-F238E27FC236}">
                      <a16:creationId xmlns:a16="http://schemas.microsoft.com/office/drawing/2014/main" id="{EFFCF7D6-32AA-47B2-9386-D34DD1016067}"/>
                    </a:ext>
                  </a:extLst>
                </p:cNvPr>
                <p:cNvSpPr/>
                <p:nvPr/>
              </p:nvSpPr>
              <p:spPr>
                <a:xfrm>
                  <a:off x="5386273" y="1302680"/>
                  <a:ext cx="67516" cy="72914"/>
                </a:xfrm>
                <a:prstGeom prst="rect">
                  <a:avLst/>
                </a:prstGeom>
                <a:solidFill>
                  <a:srgbClr val="2C6FAD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8" name="이등변 삼각형 107">
                  <a:extLst>
                    <a:ext uri="{FF2B5EF4-FFF2-40B4-BE49-F238E27FC236}">
                      <a16:creationId xmlns:a16="http://schemas.microsoft.com/office/drawing/2014/main" id="{8F5AB225-DABB-4EEE-8BB1-ABFA803285FB}"/>
                    </a:ext>
                  </a:extLst>
                </p:cNvPr>
                <p:cNvSpPr/>
                <p:nvPr/>
              </p:nvSpPr>
              <p:spPr>
                <a:xfrm>
                  <a:off x="5379758" y="1473476"/>
                  <a:ext cx="79219" cy="81280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0BEDB2C-BF15-4330-8B7B-0165AFEDA312}"/>
                    </a:ext>
                  </a:extLst>
                </p:cNvPr>
                <p:cNvSpPr txBox="1"/>
                <p:nvPr/>
              </p:nvSpPr>
              <p:spPr>
                <a:xfrm>
                  <a:off x="5507551" y="1176513"/>
                  <a:ext cx="27975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400"/>
                    <a:t>-</a:t>
                  </a:r>
                  <a:endParaRPr lang="ko-KR" altLang="en-US" sz="1400"/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B9B272F5-482A-4515-83F6-CFE7B6AAFC5F}"/>
                    </a:ext>
                  </a:extLst>
                </p:cNvPr>
                <p:cNvSpPr txBox="1"/>
                <p:nvPr/>
              </p:nvSpPr>
              <p:spPr>
                <a:xfrm>
                  <a:off x="5496753" y="1355323"/>
                  <a:ext cx="27975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400"/>
                    <a:t>+</a:t>
                  </a:r>
                  <a:endParaRPr lang="ko-KR" altLang="en-US" sz="1400"/>
                </a:p>
              </p:txBody>
            </p:sp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06541DED-702D-4B1F-BDED-57908D10D2E2}"/>
                    </a:ext>
                  </a:extLst>
                </p:cNvPr>
                <p:cNvSpPr/>
                <p:nvPr/>
              </p:nvSpPr>
              <p:spPr>
                <a:xfrm>
                  <a:off x="5215256" y="1171736"/>
                  <a:ext cx="633878" cy="4913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noFill/>
                  </a:endParaRPr>
                </a:p>
              </p:txBody>
            </p:sp>
          </p:grpSp>
        </p:grp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A9E3FD79-8512-4E64-9C88-09122E8C3A08}"/>
              </a:ext>
            </a:extLst>
          </p:cNvPr>
          <p:cNvSpPr txBox="1"/>
          <p:nvPr/>
        </p:nvSpPr>
        <p:spPr>
          <a:xfrm>
            <a:off x="4156173" y="1405846"/>
            <a:ext cx="7843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18B1BAE7-99F2-4374-B99D-477EE7D8E6E8}"/>
              </a:ext>
            </a:extLst>
          </p:cNvPr>
          <p:cNvGrpSpPr/>
          <p:nvPr/>
        </p:nvGrpSpPr>
        <p:grpSpPr>
          <a:xfrm>
            <a:off x="4709924" y="1098167"/>
            <a:ext cx="3659939" cy="2317762"/>
            <a:chOff x="4709924" y="1098167"/>
            <a:chExt cx="3659939" cy="2317762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C37BDDE-7A06-4DFC-AFC4-96C4D6A808AD}"/>
                </a:ext>
              </a:extLst>
            </p:cNvPr>
            <p:cNvSpPr txBox="1"/>
            <p:nvPr/>
          </p:nvSpPr>
          <p:spPr>
            <a:xfrm>
              <a:off x="5779317" y="3196979"/>
              <a:ext cx="1468585" cy="218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 SVM&gt;</a:t>
              </a:r>
              <a:endParaRPr lang="ko-KR" altLang="en-US" sz="110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ABAA890C-6149-40F6-8755-E123B5618E75}"/>
                </a:ext>
              </a:extLst>
            </p:cNvPr>
            <p:cNvGrpSpPr/>
            <p:nvPr/>
          </p:nvGrpSpPr>
          <p:grpSpPr>
            <a:xfrm>
              <a:off x="5183397" y="1098167"/>
              <a:ext cx="2261055" cy="1892614"/>
              <a:chOff x="3431097" y="1987172"/>
              <a:chExt cx="3482605" cy="2744220"/>
            </a:xfrm>
          </p:grpSpPr>
          <p:cxnSp>
            <p:nvCxnSpPr>
              <p:cNvPr id="144" name="직선 화살표 연결선 143">
                <a:extLst>
                  <a:ext uri="{FF2B5EF4-FFF2-40B4-BE49-F238E27FC236}">
                    <a16:creationId xmlns:a16="http://schemas.microsoft.com/office/drawing/2014/main" id="{F4E1DFC1-B255-4A82-80BE-6CCE32E13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화살표 연결선 144">
                <a:extLst>
                  <a:ext uri="{FF2B5EF4-FFF2-40B4-BE49-F238E27FC236}">
                    <a16:creationId xmlns:a16="http://schemas.microsoft.com/office/drawing/2014/main" id="{ECB06377-2D81-49F4-A156-E1B48FB58D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AE73CED-B888-423F-8BC6-1B56686CE79D}"/>
                </a:ext>
              </a:extLst>
            </p:cNvPr>
            <p:cNvCxnSpPr>
              <a:cxnSpLocks/>
            </p:cNvCxnSpPr>
            <p:nvPr/>
          </p:nvCxnSpPr>
          <p:spPr>
            <a:xfrm>
              <a:off x="5485533" y="1454063"/>
              <a:ext cx="1331616" cy="141748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132F5AE5-AFBC-4F7C-80A9-55C3104D1FEE}"/>
                </a:ext>
              </a:extLst>
            </p:cNvPr>
            <p:cNvCxnSpPr>
              <a:cxnSpLocks/>
            </p:cNvCxnSpPr>
            <p:nvPr/>
          </p:nvCxnSpPr>
          <p:spPr>
            <a:xfrm>
              <a:off x="5715639" y="1298944"/>
              <a:ext cx="1331616" cy="141748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" name="직선 화살표 연결선 123">
              <a:extLst>
                <a:ext uri="{FF2B5EF4-FFF2-40B4-BE49-F238E27FC236}">
                  <a16:creationId xmlns:a16="http://schemas.microsoft.com/office/drawing/2014/main" id="{8807ED95-5448-4D96-BCB6-BD1FEC533A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9924" y="1562700"/>
              <a:ext cx="716049" cy="91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83DFDB76-A7EC-4D3F-9577-C4F4B3718EC4}"/>
                </a:ext>
              </a:extLst>
            </p:cNvPr>
            <p:cNvCxnSpPr>
              <a:cxnSpLocks/>
            </p:cNvCxnSpPr>
            <p:nvPr/>
          </p:nvCxnSpPr>
          <p:spPr>
            <a:xfrm>
              <a:off x="5242042" y="1599074"/>
              <a:ext cx="1331616" cy="141748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FE0499E2-CAFC-4A24-8541-8C8CCD47B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7900" y="1348468"/>
              <a:ext cx="423641" cy="32552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화살표 연결선 135">
              <a:extLst>
                <a:ext uri="{FF2B5EF4-FFF2-40B4-BE49-F238E27FC236}">
                  <a16:creationId xmlns:a16="http://schemas.microsoft.com/office/drawing/2014/main" id="{D6FF6353-E0EC-4E38-8717-E99357F40340}"/>
                </a:ext>
              </a:extLst>
            </p:cNvPr>
            <p:cNvCxnSpPr>
              <a:cxnSpLocks/>
            </p:cNvCxnSpPr>
            <p:nvPr/>
          </p:nvCxnSpPr>
          <p:spPr>
            <a:xfrm>
              <a:off x="6662558" y="2650909"/>
              <a:ext cx="841336" cy="10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7075CF8-F4CC-420F-9A47-84559A40E64D}"/>
                    </a:ext>
                  </a:extLst>
                </p:cNvPr>
                <p:cNvSpPr txBox="1"/>
                <p:nvPr/>
              </p:nvSpPr>
              <p:spPr>
                <a:xfrm>
                  <a:off x="7533352" y="2570337"/>
                  <a:ext cx="836511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ko-KR" altLang="en-US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⃗"/>
                            <m:ctrlPr>
                              <a:rPr lang="ko-KR" altLang="en-US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7075CF8-F4CC-420F-9A47-84559A40E6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3352" y="2570337"/>
                  <a:ext cx="836511" cy="169277"/>
                </a:xfrm>
                <a:prstGeom prst="rect">
                  <a:avLst/>
                </a:prstGeom>
                <a:blipFill>
                  <a:blip r:embed="rId8"/>
                  <a:stretch>
                    <a:fillRect l="-2190" r="-3650" b="-111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62548654-48C6-45C1-B874-45A50D567F58}"/>
                </a:ext>
              </a:extLst>
            </p:cNvPr>
            <p:cNvCxnSpPr/>
            <p:nvPr/>
          </p:nvCxnSpPr>
          <p:spPr>
            <a:xfrm>
              <a:off x="6829650" y="2411807"/>
              <a:ext cx="6742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8B1E292-3FC7-4D84-8C8E-80A37AF4D785}"/>
                    </a:ext>
                  </a:extLst>
                </p:cNvPr>
                <p:cNvSpPr txBox="1"/>
                <p:nvPr/>
              </p:nvSpPr>
              <p:spPr>
                <a:xfrm>
                  <a:off x="7533352" y="2316737"/>
                  <a:ext cx="790922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ko-KR" altLang="en-US" sz="1100" i="1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ko-KR" altLang="en-US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altLang="ko-KR" sz="1100"/>
                    <a:t> 1</a:t>
                  </a:r>
                  <a:endParaRPr lang="ko-KR" altLang="en-US" sz="110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8B1E292-3FC7-4D84-8C8E-80A37AF4D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3352" y="2316737"/>
                  <a:ext cx="790922" cy="169277"/>
                </a:xfrm>
                <a:prstGeom prst="rect">
                  <a:avLst/>
                </a:prstGeom>
                <a:blipFill>
                  <a:blip r:embed="rId9"/>
                  <a:stretch>
                    <a:fillRect l="-4615" t="-25000" r="-10000" b="-535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8" name="직선 화살표 연결선 147">
              <a:extLst>
                <a:ext uri="{FF2B5EF4-FFF2-40B4-BE49-F238E27FC236}">
                  <a16:creationId xmlns:a16="http://schemas.microsoft.com/office/drawing/2014/main" id="{19B95C55-8E7C-42BB-9E5F-B428A1191DF4}"/>
                </a:ext>
              </a:extLst>
            </p:cNvPr>
            <p:cNvCxnSpPr>
              <a:cxnSpLocks/>
            </p:cNvCxnSpPr>
            <p:nvPr/>
          </p:nvCxnSpPr>
          <p:spPr>
            <a:xfrm>
              <a:off x="6507952" y="2884529"/>
              <a:ext cx="1014398" cy="144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FEC58E3-5E80-4B1A-8DD2-417FAE593044}"/>
                    </a:ext>
                  </a:extLst>
                </p:cNvPr>
                <p:cNvSpPr txBox="1"/>
                <p:nvPr/>
              </p:nvSpPr>
              <p:spPr>
                <a:xfrm>
                  <a:off x="7551808" y="2805330"/>
                  <a:ext cx="790922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ko-KR" altLang="en-US" sz="1100" i="1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ko-KR" altLang="en-US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altLang="ko-KR" sz="1100"/>
                    <a:t> 1</a:t>
                  </a:r>
                  <a:endParaRPr lang="ko-KR" altLang="en-US" sz="1100"/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FEC58E3-5E80-4B1A-8DD2-417FAE593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1808" y="2805330"/>
                  <a:ext cx="790922" cy="169277"/>
                </a:xfrm>
                <a:prstGeom prst="rect">
                  <a:avLst/>
                </a:prstGeom>
                <a:blipFill>
                  <a:blip r:embed="rId10"/>
                  <a:stretch>
                    <a:fillRect l="-4615" t="-25000" r="-10000" b="-535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BB1330E-FF20-4383-840F-E8C9E94CED1B}"/>
                </a:ext>
              </a:extLst>
            </p:cNvPr>
            <p:cNvGrpSpPr/>
            <p:nvPr/>
          </p:nvGrpSpPr>
          <p:grpSpPr>
            <a:xfrm>
              <a:off x="5739500" y="1786559"/>
              <a:ext cx="502347" cy="457335"/>
              <a:chOff x="5459368" y="1475837"/>
              <a:chExt cx="502347" cy="457335"/>
            </a:xfrm>
          </p:grpSpPr>
          <p:cxnSp>
            <p:nvCxnSpPr>
              <p:cNvPr id="166" name="직선 화살표 연결선 165">
                <a:extLst>
                  <a:ext uri="{FF2B5EF4-FFF2-40B4-BE49-F238E27FC236}">
                    <a16:creationId xmlns:a16="http://schemas.microsoft.com/office/drawing/2014/main" id="{9047934B-103A-4080-B15C-218A3D1326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8163" y="1475837"/>
                <a:ext cx="211821" cy="15861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화살표 연결선 167">
                <a:extLst>
                  <a:ext uri="{FF2B5EF4-FFF2-40B4-BE49-F238E27FC236}">
                    <a16:creationId xmlns:a16="http://schemas.microsoft.com/office/drawing/2014/main" id="{106A6387-DA96-4E7B-BA30-CDAE1BDEA0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59368" y="1640277"/>
                <a:ext cx="211821" cy="15861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96BAE14-0AAC-40B3-A2A2-F58E96B39A75}"/>
                  </a:ext>
                </a:extLst>
              </p:cNvPr>
              <p:cNvSpPr txBox="1"/>
              <p:nvPr/>
            </p:nvSpPr>
            <p:spPr>
              <a:xfrm>
                <a:off x="5718171" y="1498648"/>
                <a:ext cx="2435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7FD18CC-7275-41D2-A463-CFD2725554BA}"/>
                  </a:ext>
                </a:extLst>
              </p:cNvPr>
              <p:cNvSpPr txBox="1"/>
              <p:nvPr/>
            </p:nvSpPr>
            <p:spPr>
              <a:xfrm>
                <a:off x="5495956" y="1671562"/>
                <a:ext cx="2435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</p:grpSp>
        <p:grpSp>
          <p:nvGrpSpPr>
            <p:cNvPr id="201" name="그룹 200">
              <a:extLst>
                <a:ext uri="{FF2B5EF4-FFF2-40B4-BE49-F238E27FC236}">
                  <a16:creationId xmlns:a16="http://schemas.microsoft.com/office/drawing/2014/main" id="{35086EEA-6AD4-4703-9E8D-C540C54EE7F9}"/>
                </a:ext>
              </a:extLst>
            </p:cNvPr>
            <p:cNvGrpSpPr/>
            <p:nvPr/>
          </p:nvGrpSpPr>
          <p:grpSpPr>
            <a:xfrm>
              <a:off x="5763325" y="1806232"/>
              <a:ext cx="1887917" cy="498946"/>
              <a:chOff x="5744275" y="1799882"/>
              <a:chExt cx="1887917" cy="498946"/>
            </a:xfrm>
          </p:grpSpPr>
          <p:sp>
            <p:nvSpPr>
              <p:cNvPr id="190" name="이등변 삼각형 189">
                <a:extLst>
                  <a:ext uri="{FF2B5EF4-FFF2-40B4-BE49-F238E27FC236}">
                    <a16:creationId xmlns:a16="http://schemas.microsoft.com/office/drawing/2014/main" id="{133F8B83-66E9-4816-998E-5D8113A2B85E}"/>
                  </a:ext>
                </a:extLst>
              </p:cNvPr>
              <p:cNvSpPr/>
              <p:nvPr/>
            </p:nvSpPr>
            <p:spPr>
              <a:xfrm>
                <a:off x="6336471" y="1942695"/>
                <a:ext cx="95855" cy="98349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E8EEC359-C5B8-437D-975E-5F312D0A2F04}"/>
                  </a:ext>
                </a:extLst>
              </p:cNvPr>
              <p:cNvSpPr/>
              <p:nvPr/>
            </p:nvSpPr>
            <p:spPr>
              <a:xfrm>
                <a:off x="5744275" y="2210603"/>
                <a:ext cx="81695" cy="88225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2" name="직선 화살표 연결선 191">
                <a:extLst>
                  <a:ext uri="{FF2B5EF4-FFF2-40B4-BE49-F238E27FC236}">
                    <a16:creationId xmlns:a16="http://schemas.microsoft.com/office/drawing/2014/main" id="{E25AB05A-CFF9-4146-9583-A56B284DDED3}"/>
                  </a:ext>
                </a:extLst>
              </p:cNvPr>
              <p:cNvCxnSpPr>
                <a:cxnSpLocks/>
                <a:stCxn id="190" idx="5"/>
                <a:endCxn id="194" idx="1"/>
              </p:cNvCxnSpPr>
              <p:nvPr/>
            </p:nvCxnSpPr>
            <p:spPr>
              <a:xfrm flipV="1">
                <a:off x="6408362" y="1980194"/>
                <a:ext cx="483475" cy="116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3" name="직선 화살표 연결선 192">
                <a:extLst>
                  <a:ext uri="{FF2B5EF4-FFF2-40B4-BE49-F238E27FC236}">
                    <a16:creationId xmlns:a16="http://schemas.microsoft.com/office/drawing/2014/main" id="{F9492A09-7CFA-49B9-9789-F41A530E9DAF}"/>
                  </a:ext>
                </a:extLst>
              </p:cNvPr>
              <p:cNvCxnSpPr>
                <a:cxnSpLocks/>
                <a:endCxn id="194" idx="1"/>
              </p:cNvCxnSpPr>
              <p:nvPr/>
            </p:nvCxnSpPr>
            <p:spPr>
              <a:xfrm flipV="1">
                <a:off x="5783950" y="1980194"/>
                <a:ext cx="1107887" cy="2737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497E33F3-3F49-46C0-964F-CD37BF90232C}"/>
                  </a:ext>
                </a:extLst>
              </p:cNvPr>
              <p:cNvSpPr txBox="1"/>
              <p:nvPr/>
            </p:nvSpPr>
            <p:spPr>
              <a:xfrm>
                <a:off x="6891837" y="1799882"/>
                <a:ext cx="740355" cy="360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Support</a:t>
                </a:r>
              </a:p>
              <a:p>
                <a:pPr algn="l"/>
                <a:r>
                  <a:rPr lang="en-US" altLang="ko-KR" sz="1100"/>
                  <a:t>Vector</a:t>
                </a:r>
                <a:endParaRPr lang="ko-KR" altLang="en-US" sz="1100"/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547BDEE4-E66C-4DD2-8AA4-82682A12BACA}"/>
                </a:ext>
              </a:extLst>
            </p:cNvPr>
            <p:cNvGrpSpPr/>
            <p:nvPr/>
          </p:nvGrpSpPr>
          <p:grpSpPr>
            <a:xfrm>
              <a:off x="7313391" y="1268957"/>
              <a:ext cx="633878" cy="491364"/>
              <a:chOff x="5215256" y="1171736"/>
              <a:chExt cx="633878" cy="491364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D5649961-A93C-4D5D-9D92-880344FD2529}"/>
                  </a:ext>
                </a:extLst>
              </p:cNvPr>
              <p:cNvSpPr/>
              <p:nvPr/>
            </p:nvSpPr>
            <p:spPr>
              <a:xfrm>
                <a:off x="5386273" y="1302680"/>
                <a:ext cx="67516" cy="72914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이등변 삼각형 208">
                <a:extLst>
                  <a:ext uri="{FF2B5EF4-FFF2-40B4-BE49-F238E27FC236}">
                    <a16:creationId xmlns:a16="http://schemas.microsoft.com/office/drawing/2014/main" id="{D1BFB65C-5693-45B3-81E0-49D0CA0A6403}"/>
                  </a:ext>
                </a:extLst>
              </p:cNvPr>
              <p:cNvSpPr/>
              <p:nvPr/>
            </p:nvSpPr>
            <p:spPr>
              <a:xfrm>
                <a:off x="5379758" y="1473476"/>
                <a:ext cx="79219" cy="8128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4288E6F-9FD5-4E7E-84DB-9951118F4259}"/>
                  </a:ext>
                </a:extLst>
              </p:cNvPr>
              <p:cNvSpPr txBox="1"/>
              <p:nvPr/>
            </p:nvSpPr>
            <p:spPr>
              <a:xfrm>
                <a:off x="5507551" y="1176513"/>
                <a:ext cx="2797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400"/>
                  <a:t>-</a:t>
                </a:r>
                <a:endParaRPr lang="ko-KR" altLang="en-US" sz="1400"/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D08F10EF-5E20-4148-BA3E-66A3E685EEAE}"/>
                  </a:ext>
                </a:extLst>
              </p:cNvPr>
              <p:cNvSpPr txBox="1"/>
              <p:nvPr/>
            </p:nvSpPr>
            <p:spPr>
              <a:xfrm>
                <a:off x="5496753" y="1355323"/>
                <a:ext cx="2797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400"/>
                  <a:t>+</a:t>
                </a:r>
                <a:endParaRPr lang="ko-KR" altLang="en-US" sz="1400"/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C2AA854A-59F9-492B-B615-F61DE65C5E78}"/>
                  </a:ext>
                </a:extLst>
              </p:cNvPr>
              <p:cNvSpPr/>
              <p:nvPr/>
            </p:nvSpPr>
            <p:spPr>
              <a:xfrm>
                <a:off x="5215256" y="1171736"/>
                <a:ext cx="633878" cy="4913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noFill/>
                </a:endParaRPr>
              </a:p>
            </p:txBody>
          </p:sp>
        </p:grpSp>
      </p:grp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15A8F63A-5E26-48F2-A12A-A6485603FC82}"/>
              </a:ext>
            </a:extLst>
          </p:cNvPr>
          <p:cNvCxnSpPr>
            <a:cxnSpLocks/>
          </p:cNvCxnSpPr>
          <p:nvPr/>
        </p:nvCxnSpPr>
        <p:spPr>
          <a:xfrm flipV="1">
            <a:off x="1468374" y="2413867"/>
            <a:ext cx="571768" cy="413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4A6B7FB0-AA87-444B-B6A7-D98072827FCD}"/>
              </a:ext>
            </a:extLst>
          </p:cNvPr>
          <p:cNvCxnSpPr>
            <a:cxnSpLocks/>
          </p:cNvCxnSpPr>
          <p:nvPr/>
        </p:nvCxnSpPr>
        <p:spPr>
          <a:xfrm flipV="1">
            <a:off x="1467552" y="2094036"/>
            <a:ext cx="1012684" cy="742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924E7BB6-2F43-4A20-9CDB-519E5B823FE0}"/>
                  </a:ext>
                </a:extLst>
              </p:cNvPr>
              <p:cNvSpPr txBox="1"/>
              <p:nvPr/>
            </p:nvSpPr>
            <p:spPr>
              <a:xfrm>
                <a:off x="1835833" y="2574893"/>
                <a:ext cx="18723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924E7BB6-2F43-4A20-9CDB-519E5B823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833" y="2574893"/>
                <a:ext cx="187231" cy="169277"/>
              </a:xfrm>
              <a:prstGeom prst="rect">
                <a:avLst/>
              </a:prstGeom>
              <a:blipFill>
                <a:blip r:embed="rId11"/>
                <a:stretch>
                  <a:fillRect l="-9677"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8628FB0C-56ED-408C-ABEA-46C06E3A3B3D}"/>
                  </a:ext>
                </a:extLst>
              </p:cNvPr>
              <p:cNvSpPr txBox="1"/>
              <p:nvPr/>
            </p:nvSpPr>
            <p:spPr>
              <a:xfrm>
                <a:off x="2185985" y="2356108"/>
                <a:ext cx="18723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8628FB0C-56ED-408C-ABEA-46C06E3A3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985" y="2356108"/>
                <a:ext cx="187231" cy="169277"/>
              </a:xfrm>
              <a:prstGeom prst="rect">
                <a:avLst/>
              </a:prstGeom>
              <a:blipFill>
                <a:blip r:embed="rId12"/>
                <a:stretch>
                  <a:fillRect l="-10000" r="-6667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8643091B-F94D-4B29-8749-AE71567791EE}"/>
              </a:ext>
            </a:extLst>
          </p:cNvPr>
          <p:cNvSpPr/>
          <p:nvPr/>
        </p:nvSpPr>
        <p:spPr>
          <a:xfrm>
            <a:off x="6105111" y="-80566"/>
            <a:ext cx="2992125" cy="129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Decision Rule</a:t>
            </a:r>
            <a:r>
              <a:rPr lang="ko-KR" altLang="en-US" sz="1100"/>
              <a:t>이란 새로운 입력 벡터</a:t>
            </a:r>
            <a:r>
              <a:rPr lang="en-US" altLang="ko-KR" sz="1100"/>
              <a:t>u</a:t>
            </a:r>
            <a:r>
              <a:rPr lang="ko-KR" altLang="en-US" sz="1100"/>
              <a:t>에 대해서 이 입력의 </a:t>
            </a:r>
            <a:r>
              <a:rPr lang="en-US" altLang="ko-KR" sz="1100"/>
              <a:t>class</a:t>
            </a:r>
            <a:r>
              <a:rPr lang="ko-KR" altLang="en-US" sz="1100"/>
              <a:t>가 </a:t>
            </a:r>
            <a:r>
              <a:rPr lang="en-US" altLang="ko-KR" sz="1100"/>
              <a:t>+</a:t>
            </a:r>
            <a:r>
              <a:rPr lang="ko-KR" altLang="en-US" sz="1100"/>
              <a:t>인지 </a:t>
            </a:r>
            <a:r>
              <a:rPr lang="en-US" altLang="ko-KR" sz="1100"/>
              <a:t>–</a:t>
            </a:r>
            <a:r>
              <a:rPr lang="ko-KR" altLang="en-US" sz="1100"/>
              <a:t>인지 결정하는 방법에 대한것</a:t>
            </a:r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en-US" altLang="ko-KR" sz="1100"/>
              <a:t>Decision</a:t>
            </a:r>
            <a:r>
              <a:rPr lang="ko-KR" altLang="en-US" sz="1100"/>
              <a:t> </a:t>
            </a:r>
            <a:r>
              <a:rPr lang="en-US" altLang="ko-KR" sz="1100"/>
              <a:t>Rule</a:t>
            </a:r>
            <a:r>
              <a:rPr lang="ko-KR" altLang="en-US" sz="1100"/>
              <a:t>에 대한 내용 추가</a:t>
            </a:r>
          </a:p>
        </p:txBody>
      </p:sp>
      <p:pic>
        <p:nvPicPr>
          <p:cNvPr id="229" name="그림 228">
            <a:extLst>
              <a:ext uri="{FF2B5EF4-FFF2-40B4-BE49-F238E27FC236}">
                <a16:creationId xmlns:a16="http://schemas.microsoft.com/office/drawing/2014/main" id="{B381E497-F7D3-4560-9B12-D803EC39F7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64" y="161850"/>
            <a:ext cx="9144000" cy="58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29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572774" y="3808427"/>
                <a:ext cx="7887076" cy="2646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𝑆𝑢𝑝𝑝𝑜𝑟𝑡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𝑉𝑒𝑐𝑡𝑜𝑟</m:t>
                    </m:r>
                  </m:oMath>
                </a14:m>
                <a:endParaRPr lang="en-US" altLang="ko-KR" sz="1200" b="0">
                  <a:ea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Max Margin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= </a:t>
                </a:r>
                <a:r>
                  <a:rPr lang="ko-KR" altLang="en-US" sz="12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20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sz="1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2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20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sz="1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2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20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2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ko-KR" altLang="en-US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2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ko-KR" altLang="en-US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200"/>
                  <a:t>가 </a:t>
                </a:r>
                <a:r>
                  <a:rPr lang="en-US" altLang="ko-KR" sz="1200"/>
                  <a:t>+1</a:t>
                </a:r>
                <a:r>
                  <a:rPr lang="ko-KR" altLang="en-US" sz="1200"/>
                  <a:t>일 경우</a:t>
                </a:r>
                <a:r>
                  <a:rPr lang="en-US" altLang="ko-KR" sz="1200"/>
                  <a:t>,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200"/>
                  <a:t>이고 </a:t>
                </a:r>
                <a:r>
                  <a:rPr lang="en-US" altLang="ko-KR" sz="12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200"/>
                  <a:t>가 </a:t>
                </a:r>
                <a:r>
                  <a:rPr lang="en-US" altLang="ko-KR" sz="1200"/>
                  <a:t>-1</a:t>
                </a:r>
                <a:r>
                  <a:rPr lang="ko-KR" altLang="en-US" sz="1200"/>
                  <a:t>일 경우</a:t>
                </a:r>
                <a:r>
                  <a:rPr lang="en-US" altLang="ko-KR" sz="1200"/>
                  <a:t>,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sz="1200" b="0">
                  <a:ea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즉</a:t>
                </a:r>
                <a:r>
                  <a:rPr lang="en-US" altLang="ko-KR" sz="1200"/>
                  <a:t>,</a:t>
                </a:r>
                <a:r>
                  <a:rPr lang="ko-KR" altLang="en-US" sz="120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1200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1200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−(−1−</m:t>
                        </m:r>
                        <m:r>
                          <a:rPr lang="en-US" altLang="ko-KR" sz="1200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1200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en-US" sz="1200"/>
                  <a:t>이며 </a:t>
                </a:r>
                <a:r>
                  <a:rPr lang="en-US" altLang="ko-KR" sz="1200"/>
                  <a:t>Max Margrin = </a:t>
                </a:r>
                <a:r>
                  <a:rPr lang="ko-KR" altLang="en-US" sz="12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Max Margin</a:t>
                </a:r>
                <a:r>
                  <a:rPr lang="ko-KR" altLang="en-US" sz="1200"/>
                  <a:t>을 계산상의 편의를 위해 역수를 취하면 </a:t>
                </a:r>
                <a:r>
                  <a:rPr lang="en-US" altLang="ko-KR" sz="1200"/>
                  <a:t>Min Margin</a:t>
                </a:r>
                <a:r>
                  <a:rPr lang="ko-KR" altLang="en-US" sz="1200"/>
                  <a:t>이 되며  </a:t>
                </a:r>
                <a:r>
                  <a:rPr lang="en-US" altLang="ko-KR" sz="1200"/>
                  <a:t>Min Margin = </a:t>
                </a:r>
                <a:r>
                  <a:rPr lang="ko-KR" altLang="en-US" sz="12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p>
                        <m:r>
                          <a:rPr lang="en-US" altLang="ko-KR" sz="12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Margin</a:t>
                </a:r>
                <a:r>
                  <a:rPr lang="ko-KR" altLang="en-US" sz="1200"/>
                  <a:t>이 넓으면 좋은이유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>
                    <a:hlinkClick r:id="rId3"/>
                  </a:rPr>
                  <a:t>https://velog.io/@shlee0125/%EB%A8%B8%EC%8B%A0%EB%9F%AC%EB%8B%9D-%EC%A0%95%EB%A6%AC-Support-Vector-Machine-05.-Why-does-SVM-maximize-margin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4" y="3808427"/>
                <a:ext cx="7887076" cy="26466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DC37BDDE-7A06-4DFC-AFC4-96C4D6A808AD}"/>
              </a:ext>
            </a:extLst>
          </p:cNvPr>
          <p:cNvSpPr txBox="1"/>
          <p:nvPr/>
        </p:nvSpPr>
        <p:spPr>
          <a:xfrm>
            <a:off x="4386843" y="3216400"/>
            <a:ext cx="1468585" cy="21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ABAA890C-6149-40F6-8755-E123B5618E75}"/>
              </a:ext>
            </a:extLst>
          </p:cNvPr>
          <p:cNvGrpSpPr/>
          <p:nvPr/>
        </p:nvGrpSpPr>
        <p:grpSpPr>
          <a:xfrm>
            <a:off x="3790923" y="1117588"/>
            <a:ext cx="2261055" cy="1892614"/>
            <a:chOff x="3431097" y="1987172"/>
            <a:chExt cx="3482605" cy="2744220"/>
          </a:xfrm>
        </p:grpSpPr>
        <p:cxnSp>
          <p:nvCxnSpPr>
            <p:cNvPr id="144" name="직선 화살표 연결선 143">
              <a:extLst>
                <a:ext uri="{FF2B5EF4-FFF2-40B4-BE49-F238E27FC236}">
                  <a16:creationId xmlns:a16="http://schemas.microsoft.com/office/drawing/2014/main" id="{F4E1DFC1-B255-4A82-80BE-6CCE32E138A3}"/>
                </a:ext>
              </a:extLst>
            </p:cNvPr>
            <p:cNvCxnSpPr>
              <a:cxnSpLocks/>
            </p:cNvCxnSpPr>
            <p:nvPr/>
          </p:nvCxnSpPr>
          <p:spPr>
            <a:xfrm>
              <a:off x="3431097" y="4731391"/>
              <a:ext cx="34826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직선 화살표 연결선 144">
              <a:extLst>
                <a:ext uri="{FF2B5EF4-FFF2-40B4-BE49-F238E27FC236}">
                  <a16:creationId xmlns:a16="http://schemas.microsoft.com/office/drawing/2014/main" id="{ECB06377-2D81-49F4-A156-E1B48FB58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6689" y="1987172"/>
              <a:ext cx="0" cy="2744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AE73CED-B888-423F-8BC6-1B56686CE79D}"/>
              </a:ext>
            </a:extLst>
          </p:cNvPr>
          <p:cNvCxnSpPr>
            <a:cxnSpLocks/>
          </p:cNvCxnSpPr>
          <p:nvPr/>
        </p:nvCxnSpPr>
        <p:spPr>
          <a:xfrm>
            <a:off x="4093059" y="1473484"/>
            <a:ext cx="1331616" cy="14174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32F5AE5-AFBC-4F7C-80A9-55C3104D1FEE}"/>
              </a:ext>
            </a:extLst>
          </p:cNvPr>
          <p:cNvCxnSpPr>
            <a:cxnSpLocks/>
          </p:cNvCxnSpPr>
          <p:nvPr/>
        </p:nvCxnSpPr>
        <p:spPr>
          <a:xfrm>
            <a:off x="4323165" y="1318365"/>
            <a:ext cx="1331616" cy="141748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8807ED95-5448-4D96-BCB6-BD1FEC533A7F}"/>
              </a:ext>
            </a:extLst>
          </p:cNvPr>
          <p:cNvCxnSpPr>
            <a:cxnSpLocks/>
          </p:cNvCxnSpPr>
          <p:nvPr/>
        </p:nvCxnSpPr>
        <p:spPr>
          <a:xfrm flipH="1" flipV="1">
            <a:off x="3317450" y="1582121"/>
            <a:ext cx="716049" cy="9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A9E3FD79-8512-4E64-9C88-09122E8C3A08}"/>
              </a:ext>
            </a:extLst>
          </p:cNvPr>
          <p:cNvSpPr txBox="1"/>
          <p:nvPr/>
        </p:nvSpPr>
        <p:spPr>
          <a:xfrm>
            <a:off x="2774228" y="1310969"/>
            <a:ext cx="7843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A8E9BCB-74A8-4809-9484-5E0C6BD41D16}"/>
                  </a:ext>
                </a:extLst>
              </p:cNvPr>
              <p:cNvSpPr txBox="1"/>
              <p:nvPr/>
            </p:nvSpPr>
            <p:spPr>
              <a:xfrm>
                <a:off x="3020629" y="1534028"/>
                <a:ext cx="209288" cy="247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A8E9BCB-74A8-4809-9484-5E0C6BD41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629" y="1534028"/>
                <a:ext cx="209288" cy="247760"/>
              </a:xfrm>
              <a:prstGeom prst="rect">
                <a:avLst/>
              </a:prstGeom>
              <a:blipFill>
                <a:blip r:embed="rId5"/>
                <a:stretch>
                  <a:fillRect t="-5000" b="-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83DFDB76-A7EC-4D3F-9577-C4F4B3718EC4}"/>
              </a:ext>
            </a:extLst>
          </p:cNvPr>
          <p:cNvCxnSpPr>
            <a:cxnSpLocks/>
          </p:cNvCxnSpPr>
          <p:nvPr/>
        </p:nvCxnSpPr>
        <p:spPr>
          <a:xfrm>
            <a:off x="3849568" y="1618495"/>
            <a:ext cx="1331616" cy="141748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FE0499E2-CAFC-4A24-8541-8C8CCD47B5E5}"/>
              </a:ext>
            </a:extLst>
          </p:cNvPr>
          <p:cNvCxnSpPr>
            <a:cxnSpLocks/>
          </p:cNvCxnSpPr>
          <p:nvPr/>
        </p:nvCxnSpPr>
        <p:spPr>
          <a:xfrm flipV="1">
            <a:off x="3955426" y="1367889"/>
            <a:ext cx="423641" cy="32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5758BFBF-5ECF-4FE1-9AD0-30FCB94408A9}"/>
              </a:ext>
            </a:extLst>
          </p:cNvPr>
          <p:cNvCxnSpPr>
            <a:cxnSpLocks/>
          </p:cNvCxnSpPr>
          <p:nvPr/>
        </p:nvCxnSpPr>
        <p:spPr>
          <a:xfrm flipV="1">
            <a:off x="4028382" y="2065203"/>
            <a:ext cx="1004256" cy="745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E838B0E8-CE9D-4D90-924D-530408F90245}"/>
              </a:ext>
            </a:extLst>
          </p:cNvPr>
          <p:cNvCxnSpPr>
            <a:cxnSpLocks/>
          </p:cNvCxnSpPr>
          <p:nvPr/>
        </p:nvCxnSpPr>
        <p:spPr>
          <a:xfrm flipV="1">
            <a:off x="4028382" y="2085536"/>
            <a:ext cx="249942" cy="725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DB58CD8A-4432-4CB0-8C94-3CC7443A52A8}"/>
              </a:ext>
            </a:extLst>
          </p:cNvPr>
          <p:cNvCxnSpPr>
            <a:cxnSpLocks/>
          </p:cNvCxnSpPr>
          <p:nvPr/>
        </p:nvCxnSpPr>
        <p:spPr>
          <a:xfrm flipV="1">
            <a:off x="4278715" y="2065203"/>
            <a:ext cx="726562" cy="1571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726B2B8-5510-4329-89F1-8CF67ED468E8}"/>
                  </a:ext>
                </a:extLst>
              </p:cNvPr>
              <p:cNvSpPr txBox="1"/>
              <p:nvPr/>
            </p:nvSpPr>
            <p:spPr>
              <a:xfrm>
                <a:off x="3847719" y="2172244"/>
                <a:ext cx="466164" cy="267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726B2B8-5510-4329-89F1-8CF67ED46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719" y="2172244"/>
                <a:ext cx="466164" cy="2672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4F5C710-858B-4875-B5A5-814341F620F0}"/>
                  </a:ext>
                </a:extLst>
              </p:cNvPr>
              <p:cNvSpPr txBox="1"/>
              <p:nvPr/>
            </p:nvSpPr>
            <p:spPr>
              <a:xfrm>
                <a:off x="4292703" y="2451962"/>
                <a:ext cx="4661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4F5C710-858B-4875-B5A5-814341F62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703" y="2451962"/>
                <a:ext cx="466164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B0ED189-E98A-432E-A345-5C827FD27DDF}"/>
                  </a:ext>
                </a:extLst>
              </p:cNvPr>
              <p:cNvSpPr txBox="1"/>
              <p:nvPr/>
            </p:nvSpPr>
            <p:spPr>
              <a:xfrm>
                <a:off x="4191395" y="1987250"/>
                <a:ext cx="87955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B0ED189-E98A-432E-A345-5C827FD27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395" y="1987250"/>
                <a:ext cx="87955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6EB6E71C-5D17-4EAA-920E-C25A4F1F91F8}"/>
              </a:ext>
            </a:extLst>
          </p:cNvPr>
          <p:cNvCxnSpPr>
            <a:cxnSpLocks/>
          </p:cNvCxnSpPr>
          <p:nvPr/>
        </p:nvCxnSpPr>
        <p:spPr>
          <a:xfrm flipV="1">
            <a:off x="4292703" y="1966404"/>
            <a:ext cx="152659" cy="119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14F2F9A-F2AA-46B0-80D0-3480A4F3BB8D}"/>
              </a:ext>
            </a:extLst>
          </p:cNvPr>
          <p:cNvCxnSpPr>
            <a:cxnSpLocks/>
          </p:cNvCxnSpPr>
          <p:nvPr/>
        </p:nvCxnSpPr>
        <p:spPr>
          <a:xfrm flipV="1">
            <a:off x="4279355" y="1744928"/>
            <a:ext cx="442664" cy="347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D76DF9-A34D-46C3-B8D0-44FD1C0026B2}"/>
                  </a:ext>
                </a:extLst>
              </p:cNvPr>
              <p:cNvSpPr txBox="1"/>
              <p:nvPr/>
            </p:nvSpPr>
            <p:spPr>
              <a:xfrm>
                <a:off x="4192341" y="1793249"/>
                <a:ext cx="130824" cy="2264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D76DF9-A34D-46C3-B8D0-44FD1C002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341" y="1793249"/>
                <a:ext cx="130824" cy="226472"/>
              </a:xfrm>
              <a:prstGeom prst="rect">
                <a:avLst/>
              </a:prstGeom>
              <a:blipFill>
                <a:blip r:embed="rId9"/>
                <a:stretch>
                  <a:fillRect l="-4762" r="-42857" b="-54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F36941-4AB8-45E2-AF85-821DC17F111B}"/>
              </a:ext>
            </a:extLst>
          </p:cNvPr>
          <p:cNvSpPr/>
          <p:nvPr/>
        </p:nvSpPr>
        <p:spPr>
          <a:xfrm>
            <a:off x="449580" y="1572579"/>
            <a:ext cx="2310269" cy="12381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Minimize </a:t>
            </a:r>
            <a:r>
              <a:rPr lang="ko-KR" altLang="en-US" sz="900"/>
              <a:t>하는 이유</a:t>
            </a:r>
            <a:endParaRPr lang="en-US" altLang="ko-KR" sz="900"/>
          </a:p>
          <a:p>
            <a:pPr algn="ctr"/>
            <a:r>
              <a:rPr lang="ko-KR" altLang="en-US" sz="900"/>
              <a:t>계산상 편의를 위해</a:t>
            </a:r>
            <a:endParaRPr lang="en-US" altLang="ko-KR" sz="900"/>
          </a:p>
          <a:p>
            <a:pPr algn="ctr"/>
            <a:r>
              <a:rPr lang="ko-KR" altLang="en-US" sz="900"/>
              <a:t>문제의 본질은 변하지않음</a:t>
            </a:r>
            <a:endParaRPr lang="en-US" altLang="ko-KR" sz="900"/>
          </a:p>
          <a:p>
            <a:pPr algn="ctr"/>
            <a:r>
              <a:rPr lang="ko-KR" altLang="en-US" sz="900" b="0" i="0">
                <a:solidFill>
                  <a:srgbClr val="555555"/>
                </a:solidFill>
                <a:effectLst/>
                <a:latin typeface="AppleSDGothicNeo"/>
              </a:rPr>
              <a:t> 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MJXc-TeX-main-R"/>
              </a:rPr>
              <a:t>12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AppleSDGothicNeo"/>
              </a:rPr>
              <a:t>12</a:t>
            </a:r>
            <a:r>
              <a:rPr lang="ko-KR" altLang="en-US" sz="900" b="0" i="0">
                <a:solidFill>
                  <a:srgbClr val="555555"/>
                </a:solidFill>
                <a:effectLst/>
                <a:latin typeface="AppleSDGothicNeo"/>
              </a:rPr>
              <a:t>같은 경우는 미분해서 해를 찾다보니까 미분했을 때 앞에 숫자가 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AppleSDGothicNeo"/>
              </a:rPr>
              <a:t>1</a:t>
            </a:r>
            <a:r>
              <a:rPr lang="ko-KR" altLang="en-US" sz="900" b="0" i="0">
                <a:solidFill>
                  <a:srgbClr val="555555"/>
                </a:solidFill>
                <a:effectLst/>
                <a:latin typeface="AppleSDGothicNeo"/>
              </a:rPr>
              <a:t>이 되기 위해 관습적으로 쓰는 것이다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AppleSDGothicNeo"/>
              </a:rPr>
              <a:t>.</a:t>
            </a:r>
            <a:endParaRPr lang="ko-KR" altLang="en-US" sz="9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AEC2EE-4665-4870-B1B6-C2DFE0FCEC1B}"/>
              </a:ext>
            </a:extLst>
          </p:cNvPr>
          <p:cNvSpPr/>
          <p:nvPr/>
        </p:nvSpPr>
        <p:spPr>
          <a:xfrm>
            <a:off x="6312036" y="1698154"/>
            <a:ext cx="2261055" cy="10201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크기가 </a:t>
            </a:r>
            <a:r>
              <a:rPr lang="en-US" altLang="ko-KR"/>
              <a:t>1</a:t>
            </a:r>
            <a:r>
              <a:rPr lang="ko-KR" altLang="en-US"/>
              <a:t>인 </a:t>
            </a:r>
            <a:r>
              <a:rPr lang="en-US" altLang="ko-KR"/>
              <a:t>unit vector</a:t>
            </a:r>
            <a:r>
              <a:rPr lang="ko-KR" altLang="en-US"/>
              <a:t>사용 </a:t>
            </a:r>
            <a:endParaRPr lang="en-US" altLang="ko-KR"/>
          </a:p>
          <a:p>
            <a:pPr algn="ctr"/>
            <a:r>
              <a:rPr lang="ko-KR" altLang="en-US"/>
              <a:t>두 </a:t>
            </a:r>
            <a:r>
              <a:rPr lang="en-US" altLang="ko-KR"/>
              <a:t>sv</a:t>
            </a:r>
            <a:r>
              <a:rPr lang="ko-KR" altLang="en-US"/>
              <a:t>에 대한 값을 알기 위해</a:t>
            </a:r>
          </a:p>
        </p:txBody>
      </p:sp>
    </p:spTree>
    <p:extLst>
      <p:ext uri="{BB962C8B-B14F-4D97-AF65-F5344CB8AC3E}">
        <p14:creationId xmlns:p14="http://schemas.microsoft.com/office/powerpoint/2010/main" val="4139104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Lagrangian Multiplier Method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DA8C80-7D80-4B7B-B5FD-82E457F43846}"/>
                  </a:ext>
                </a:extLst>
              </p:cNvPr>
              <p:cNvSpPr txBox="1"/>
              <p:nvPr/>
            </p:nvSpPr>
            <p:spPr>
              <a:xfrm>
                <a:off x="259080" y="1291678"/>
                <a:ext cx="8884920" cy="4732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라그랑주 승수법이란 제약이 있는 최적화 문제를 푸는 방법 중 하나로</a:t>
                </a:r>
                <a:r>
                  <a:rPr lang="en-US" altLang="ko-KR" sz="1100"/>
                  <a:t>,  </a:t>
                </a:r>
                <a:r>
                  <a:rPr lang="ko-KR" altLang="en-US" sz="1100"/>
                  <a:t>모든 제약식에 라그랑주 승수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100"/>
                  <a:t>를 곱하고 등식 제약이 있는 문제를 제약 없는 문제로 바꾸어 해결하는 방법</a:t>
                </a:r>
                <a:endParaRPr lang="en-US" altLang="ko-KR" sz="1100"/>
              </a:p>
              <a:p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만약 부등식의 제약이 있는 문제면 </a:t>
                </a:r>
                <a:r>
                  <a:rPr lang="en-US" altLang="ko-KR" sz="1100"/>
                  <a:t>KKT(Karush-Kuhn-Tucker)</a:t>
                </a:r>
                <a:r>
                  <a:rPr lang="ko-KR" altLang="en-US" sz="1100"/>
                  <a:t>조건을 만족하는 문제일 때 라그랑주 승수법으로 문제를 해결 할 수 있음</a:t>
                </a:r>
                <a:endParaRPr lang="en-US" altLang="ko-KR" sz="1100"/>
              </a:p>
              <a:p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라그랑주 함수 식은 다음과 같다</a:t>
                </a:r>
                <a:r>
                  <a:rPr lang="en-US" altLang="ko-KR" sz="1100"/>
                  <a:t>.</a:t>
                </a:r>
                <a:endParaRPr lang="en-US" altLang="ko-KR" sz="1100" i="1">
                  <a:latin typeface="Cambria Math" panose="02040503050406030204" pitchFamily="18" charset="0"/>
                </a:endParaRPr>
              </a:p>
              <a:p>
                <a:endParaRPr lang="en-US" altLang="ko-KR" sz="1100"/>
              </a:p>
              <a:p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sz="1100" b="0"/>
                  <a:t>은 목적함수 이며</a:t>
                </a:r>
                <a:r>
                  <a:rPr lang="en-US" altLang="ko-KR" sz="1100" b="0"/>
                  <a:t>,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sz="1100" b="0"/>
                  <a:t>은 제약조건임</a:t>
                </a:r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예를 들어</a:t>
                </a:r>
                <a:r>
                  <a:rPr lang="en-US" altLang="ko-KR" sz="110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ko-KR" altLang="en-US" sz="1100"/>
                  <a:t> 이며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b="0"/>
              </a:p>
              <a:p>
                <a:pPr algn="ctr"/>
                <a:endParaRPr lang="en-US" altLang="ko-KR" sz="1100"/>
              </a:p>
              <a:p>
                <a:pPr algn="ctr"/>
                <a:endParaRPr lang="en-US" altLang="ko-KR" sz="1100"/>
              </a:p>
              <a:p>
                <a:pPr algn="ctr"/>
                <a:endParaRPr lang="en-US" altLang="ko-KR" sz="1100"/>
              </a:p>
              <a:p>
                <a:pPr algn="ctr"/>
                <a:endParaRPr lang="en-US" altLang="ko-KR" sz="1100"/>
              </a:p>
              <a:p>
                <a:pPr algn="ctr"/>
                <a:endParaRPr lang="en-US" altLang="ko-KR" sz="1100"/>
              </a:p>
              <a:p>
                <a:pPr algn="ctr"/>
                <a:endParaRPr lang="en-US" altLang="ko-KR" sz="1100"/>
              </a:p>
              <a:p>
                <a:pPr algn="ctr"/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위의 </a:t>
                </a:r>
                <a:r>
                  <a:rPr lang="en-US" altLang="ko-KR" sz="1100"/>
                  <a:t>3</a:t>
                </a:r>
                <a:r>
                  <a:rPr lang="ko-KR" altLang="en-US" sz="1100"/>
                  <a:t>가지 식을 연립하면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ko-KR" altLang="en-US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ko-KR" altLang="en-US" sz="11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DA8C80-7D80-4B7B-B5FD-82E457F43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1291678"/>
                <a:ext cx="8884920" cy="4732899"/>
              </a:xfrm>
              <a:prstGeom prst="rect">
                <a:avLst/>
              </a:prstGeom>
              <a:blipFill>
                <a:blip r:embed="rId3"/>
                <a:stretch>
                  <a:fillRect t="-1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6BBCD2E1-0183-4556-888F-2F0E16891F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7855265"/>
                  </p:ext>
                </p:extLst>
              </p:nvPr>
            </p:nvGraphicFramePr>
            <p:xfrm>
              <a:off x="3131820" y="2306320"/>
              <a:ext cx="2179320" cy="2806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79320">
                      <a:extLst>
                        <a:ext uri="{9D8B030D-6E8A-4147-A177-3AD203B41FA5}">
                          <a16:colId xmlns:a16="http://schemas.microsoft.com/office/drawing/2014/main" val="434076671"/>
                        </a:ext>
                      </a:extLst>
                    </a:gridCol>
                  </a:tblGrid>
                  <a:tr h="24130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00350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6BBCD2E1-0183-4556-888F-2F0E16891F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7855265"/>
                  </p:ext>
                </p:extLst>
              </p:nvPr>
            </p:nvGraphicFramePr>
            <p:xfrm>
              <a:off x="3131820" y="2306320"/>
              <a:ext cx="2179320" cy="2806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79320">
                      <a:extLst>
                        <a:ext uri="{9D8B030D-6E8A-4147-A177-3AD203B41FA5}">
                          <a16:colId xmlns:a16="http://schemas.microsoft.com/office/drawing/2014/main" val="434076671"/>
                        </a:ext>
                      </a:extLst>
                    </a:gridCol>
                  </a:tblGrid>
                  <a:tr h="28067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00350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3758F02B-2272-426E-8CEB-9A3542781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8152820"/>
                  </p:ext>
                </p:extLst>
              </p:nvPr>
            </p:nvGraphicFramePr>
            <p:xfrm>
              <a:off x="3131820" y="3571152"/>
              <a:ext cx="4549140" cy="14269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22291">
                      <a:extLst>
                        <a:ext uri="{9D8B030D-6E8A-4147-A177-3AD203B41FA5}">
                          <a16:colId xmlns:a16="http://schemas.microsoft.com/office/drawing/2014/main" val="2624930935"/>
                        </a:ext>
                      </a:extLst>
                    </a:gridCol>
                    <a:gridCol w="2926849">
                      <a:extLst>
                        <a:ext uri="{9D8B030D-6E8A-4147-A177-3AD203B41FA5}">
                          <a16:colId xmlns:a16="http://schemas.microsoft.com/office/drawing/2014/main" val="40417303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(1)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27907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2−2</m:t>
                                </m:r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(2)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72463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𝜕𝛼</m:t>
                                    </m:r>
                                  </m:den>
                                </m:f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−1=0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(3)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71721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3758F02B-2272-426E-8CEB-9A3542781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8152820"/>
                  </p:ext>
                </p:extLst>
              </p:nvPr>
            </p:nvGraphicFramePr>
            <p:xfrm>
              <a:off x="3131820" y="3571152"/>
              <a:ext cx="4549140" cy="14269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22291">
                      <a:extLst>
                        <a:ext uri="{9D8B030D-6E8A-4147-A177-3AD203B41FA5}">
                          <a16:colId xmlns:a16="http://schemas.microsoft.com/office/drawing/2014/main" val="2624930935"/>
                        </a:ext>
                      </a:extLst>
                    </a:gridCol>
                    <a:gridCol w="2926849">
                      <a:extLst>
                        <a:ext uri="{9D8B030D-6E8A-4147-A177-3AD203B41FA5}">
                          <a16:colId xmlns:a16="http://schemas.microsoft.com/office/drawing/2014/main" val="4041730334"/>
                        </a:ext>
                      </a:extLst>
                    </a:gridCol>
                  </a:tblGrid>
                  <a:tr h="4102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r="-180827" b="-245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(1)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2790739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4444" r="-180827" b="-131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(2)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7246344"/>
                      </a:ext>
                    </a:extLst>
                  </a:tr>
                  <a:tr h="57785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147368" r="-1808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(3)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71721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5DC7EAC5-5B0D-4DDA-8B72-69B8F6BED4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9861654"/>
                  </p:ext>
                </p:extLst>
              </p:nvPr>
            </p:nvGraphicFramePr>
            <p:xfrm>
              <a:off x="3131820" y="3194050"/>
              <a:ext cx="278892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88920">
                      <a:extLst>
                        <a:ext uri="{9D8B030D-6E8A-4147-A177-3AD203B41FA5}">
                          <a16:colId xmlns:a16="http://schemas.microsoft.com/office/drawing/2014/main" val="2238900808"/>
                        </a:ext>
                      </a:extLst>
                    </a:gridCol>
                  </a:tblGrid>
                  <a:tr h="25781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p>
                                  <m:sSup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ko-KR" altLang="en-US" sz="110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ko-KR" altLang="en-US" sz="11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ko-KR" altLang="en-US" sz="11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 sz="110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ko-KR" altLang="en-US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25203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5DC7EAC5-5B0D-4DDA-8B72-69B8F6BED4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9861654"/>
                  </p:ext>
                </p:extLst>
              </p:nvPr>
            </p:nvGraphicFramePr>
            <p:xfrm>
              <a:off x="3131820" y="3194050"/>
              <a:ext cx="2788920" cy="2628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88920">
                      <a:extLst>
                        <a:ext uri="{9D8B030D-6E8A-4147-A177-3AD203B41FA5}">
                          <a16:colId xmlns:a16="http://schemas.microsoft.com/office/drawing/2014/main" val="2238900808"/>
                        </a:ext>
                      </a:extLst>
                    </a:gridCol>
                  </a:tblGrid>
                  <a:tr h="26289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52039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0731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C83FD-A4BB-4786-812F-3B7065B7BA83}"/>
                  </a:ext>
                </a:extLst>
              </p:cNvPr>
              <p:cNvSpPr txBox="1"/>
              <p:nvPr/>
            </p:nvSpPr>
            <p:spPr>
              <a:xfrm>
                <a:off x="268605" y="1280160"/>
                <a:ext cx="8875395" cy="4662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SVM</a:t>
                </a:r>
                <a:r>
                  <a:rPr lang="ko-KR" altLang="en-US" sz="1100"/>
                  <a:t>을 라그랑주 승수법의 식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SVM</a:t>
                </a:r>
                <a:r>
                  <a:rPr lang="ko-KR" altLang="en-US" sz="1100"/>
                  <a:t>의 제약 조건이 부등식임으로 </a:t>
                </a:r>
                <a:r>
                  <a:rPr lang="en-US" altLang="ko-KR" sz="1100"/>
                  <a:t>KKT</a:t>
                </a:r>
                <a:r>
                  <a:rPr lang="ko-KR" altLang="en-US" sz="1100"/>
                  <a:t>조건에 만족해야 최적화 문제</a:t>
                </a:r>
                <a:r>
                  <a:rPr lang="en-US" altLang="ko-KR" sz="1100"/>
                  <a:t> </a:t>
                </a:r>
                <a:r>
                  <a:rPr lang="ko-KR" altLang="en-US" sz="1100"/>
                  <a:t>해결 가능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KKT</a:t>
                </a:r>
                <a:r>
                  <a:rPr lang="ko-KR" altLang="en-US" sz="1100"/>
                  <a:t>조건 </a:t>
                </a:r>
                <a:r>
                  <a:rPr lang="en-US" altLang="ko-KR" sz="1100"/>
                  <a:t>3</a:t>
                </a:r>
                <a:r>
                  <a:rPr lang="ko-KR" altLang="en-US" sz="1100"/>
                  <a:t>가지</a:t>
                </a:r>
                <a:endParaRPr lang="en-US" altLang="ko-KR" sz="1100"/>
              </a:p>
              <a:p>
                <a:endParaRPr lang="en-US" altLang="ko-KR" sz="1100"/>
              </a:p>
              <a:p>
                <a:r>
                  <a:rPr lang="en-US" altLang="ko-KR" sz="1100"/>
                  <a:t>	1. </a:t>
                </a:r>
                <a:r>
                  <a:rPr lang="ko-KR" altLang="en-US" sz="1100"/>
                  <a:t>라그랑제 함수 </a:t>
                </a:r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100"/>
                  <a:t>에서 라그랑제 승수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/>
                  <a:t>를 제외한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로 편미분한 식이 </a:t>
                </a:r>
                <a:r>
                  <a:rPr lang="en-US" altLang="ko-KR" sz="1100"/>
                  <a:t>0</a:t>
                </a:r>
                <a:r>
                  <a:rPr lang="ko-KR" altLang="en-US" sz="1100"/>
                  <a:t>이 되어야한다</a:t>
                </a:r>
                <a:r>
                  <a:rPr lang="en-US" altLang="ko-KR" sz="1100"/>
                  <a:t>.(stationarity)</a:t>
                </a:r>
              </a:p>
              <a:p>
                <a:endParaRPr lang="en-US" altLang="ko-KR" sz="1100"/>
              </a:p>
              <a:p>
                <a:endParaRPr lang="en-US" altLang="ko-KR" sz="1100"/>
              </a:p>
              <a:p>
                <a:r>
                  <a:rPr lang="en-US" altLang="ko-KR" sz="1100"/>
                  <a:t>	</a:t>
                </a:r>
              </a:p>
              <a:p>
                <a:r>
                  <a:rPr lang="en-US" altLang="ko-KR" sz="1100"/>
                  <a:t>	2.  </a:t>
                </a:r>
                <a:r>
                  <a:rPr lang="ko-KR" altLang="en-US" sz="1100"/>
                  <a:t>제약조건을 만족해야 한다</a:t>
                </a:r>
                <a:r>
                  <a:rPr lang="en-US" altLang="ko-KR" sz="1100"/>
                  <a:t>.(Primal feasibility)</a:t>
                </a:r>
              </a:p>
              <a:p>
                <a:endParaRPr lang="en-US" altLang="ko-KR" sz="1100"/>
              </a:p>
              <a:p>
                <a:endParaRPr lang="en-US" altLang="ko-KR" sz="1100"/>
              </a:p>
              <a:p>
                <a:r>
                  <a:rPr lang="en-US" altLang="ko-KR" sz="1100"/>
                  <a:t>	3. </a:t>
                </a:r>
                <a:r>
                  <a:rPr lang="ko-KR" altLang="en-US" sz="1100"/>
                  <a:t>모든 라그랑제 승수</a:t>
                </a:r>
                <a:r>
                  <a:rPr lang="en-US" altLang="ko-KR" sz="1100"/>
                  <a:t>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,…,…,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100"/>
                  <a:t>은 </a:t>
                </a:r>
                <a:r>
                  <a:rPr lang="en-US" altLang="ko-KR" sz="1100"/>
                  <a:t>0</a:t>
                </a:r>
                <a:r>
                  <a:rPr lang="ko-KR" altLang="en-US" sz="1100"/>
                  <a:t>보다 크거나 같아야 한다</a:t>
                </a:r>
                <a:r>
                  <a:rPr lang="en-US" altLang="ko-KR" sz="1100"/>
                  <a:t>.(dual feasibility)</a:t>
                </a:r>
              </a:p>
              <a:p>
                <a:pPr algn="ctr"/>
                <a:endParaRPr lang="en-US" altLang="ko-KR" sz="1100" i="1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1100" i="1">
                  <a:latin typeface="Cambria Math" panose="02040503050406030204" pitchFamily="18" charset="0"/>
                </a:endParaRPr>
              </a:p>
              <a:p>
                <a:r>
                  <a:rPr lang="en-US" altLang="ko-KR" sz="1100"/>
                  <a:t>	4. Primal feasibility</a:t>
                </a:r>
                <a:r>
                  <a:rPr lang="ko-KR" altLang="en-US" sz="1100"/>
                  <a:t>와 </a:t>
                </a:r>
                <a:r>
                  <a:rPr lang="en-US" altLang="ko-KR" sz="1100"/>
                  <a:t>dual feasibility</a:t>
                </a:r>
                <a:r>
                  <a:rPr lang="ko-KR" altLang="en-US" sz="1100"/>
                  <a:t>의 곱을 만족 시켜야 한다</a:t>
                </a:r>
                <a:r>
                  <a:rPr lang="en-US" altLang="ko-KR" sz="1100"/>
                  <a:t>.	(complementary slackness)</a:t>
                </a:r>
              </a:p>
              <a:p>
                <a:endParaRPr lang="en-US" altLang="ko-KR" sz="1100"/>
              </a:p>
              <a:p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위의 </a:t>
                </a:r>
                <a:r>
                  <a:rPr lang="en-US" altLang="ko-KR" sz="1100"/>
                  <a:t>4</a:t>
                </a:r>
                <a:r>
                  <a:rPr lang="ko-KR" altLang="en-US" sz="1100"/>
                  <a:t>가지 조건을 모두 만족해야 </a:t>
                </a:r>
                <a:r>
                  <a:rPr lang="en-US" altLang="ko-KR" sz="1100"/>
                  <a:t>SVM</a:t>
                </a:r>
                <a:r>
                  <a:rPr lang="ko-KR" altLang="en-US" sz="1100"/>
                  <a:t>의 최적화 문제를 해결</a:t>
                </a:r>
                <a:endParaRPr lang="en-US" altLang="ko-KR" sz="1100"/>
              </a:p>
              <a:p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ko-KR" altLang="en-US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ko-KR" altLang="en-US" sz="11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C83FD-A4BB-4786-812F-3B7065B7B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1280160"/>
                <a:ext cx="8875395" cy="46628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D5B2F83B-4471-41FD-BA20-200E49F06289}"/>
                  </a:ext>
                </a:extLst>
              </p:cNvPr>
              <p:cNvSpPr/>
              <p:nvPr/>
            </p:nvSpPr>
            <p:spPr>
              <a:xfrm>
                <a:off x="6858804" y="5913120"/>
                <a:ext cx="2285196" cy="70866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/>
                  <a:t>W,b</a:t>
                </a:r>
                <a:r>
                  <a:rPr lang="ko-KR" altLang="en-US" sz="1100"/>
                  <a:t>는 </a:t>
                </a:r>
                <a:r>
                  <a:rPr lang="en-US" altLang="ko-KR" sz="1100"/>
                  <a:t>primal variable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/>
                  <a:t>는</a:t>
                </a:r>
                <a:r>
                  <a:rPr lang="en-US" altLang="ko-KR" sz="1100"/>
                  <a:t> </a:t>
                </a:r>
                <a:r>
                  <a:rPr lang="ko-KR" altLang="en-US" sz="1100"/>
                  <a:t>라그랑지안 </a:t>
                </a:r>
                <a:r>
                  <a:rPr lang="en-US" altLang="ko-KR" sz="1100"/>
                  <a:t>variable</a:t>
                </a:r>
                <a:endParaRPr lang="ko-KR" altLang="en-US" sz="110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D5B2F83B-4471-41FD-BA20-200E49F062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804" y="5913120"/>
                <a:ext cx="2285196" cy="708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9DD581A1-33F6-422A-8C81-1CF441216C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1043231"/>
                  </p:ext>
                </p:extLst>
              </p:nvPr>
            </p:nvGraphicFramePr>
            <p:xfrm>
              <a:off x="3139440" y="1536829"/>
              <a:ext cx="311658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116580">
                      <a:extLst>
                        <a:ext uri="{9D8B030D-6E8A-4147-A177-3AD203B41FA5}">
                          <a16:colId xmlns:a16="http://schemas.microsoft.com/office/drawing/2014/main" val="25896290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i="1" smtClean="0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</m:acc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100" i="1" smtClean="0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⃗"/>
                                                <m:ctrlPr>
                                                  <a:rPr lang="en-US" altLang="ko-KR" sz="1100" i="1" smtClean="0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ko-KR" sz="110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ko-KR" sz="110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2801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9DD581A1-33F6-422A-8C81-1CF441216C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1043231"/>
                  </p:ext>
                </p:extLst>
              </p:nvPr>
            </p:nvGraphicFramePr>
            <p:xfrm>
              <a:off x="3139440" y="1536829"/>
              <a:ext cx="3116580" cy="49815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116580">
                      <a:extLst>
                        <a:ext uri="{9D8B030D-6E8A-4147-A177-3AD203B41FA5}">
                          <a16:colId xmlns:a16="http://schemas.microsoft.com/office/drawing/2014/main" val="2589629047"/>
                        </a:ext>
                      </a:extLst>
                    </a:gridCol>
                  </a:tblGrid>
                  <a:tr h="4981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115854" b="-16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28011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0EBB8204-590F-403C-B605-520FEA5157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0433775"/>
                  </p:ext>
                </p:extLst>
              </p:nvPr>
            </p:nvGraphicFramePr>
            <p:xfrm>
              <a:off x="3139440" y="3016840"/>
              <a:ext cx="1311910" cy="4102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11910">
                      <a:extLst>
                        <a:ext uri="{9D8B030D-6E8A-4147-A177-3AD203B41FA5}">
                          <a16:colId xmlns:a16="http://schemas.microsoft.com/office/drawing/2014/main" val="5293871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01711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0EBB8204-590F-403C-B605-520FEA5157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0433775"/>
                  </p:ext>
                </p:extLst>
              </p:nvPr>
            </p:nvGraphicFramePr>
            <p:xfrm>
              <a:off x="3139440" y="3016840"/>
              <a:ext cx="1311910" cy="4102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11910">
                      <a:extLst>
                        <a:ext uri="{9D8B030D-6E8A-4147-A177-3AD203B41FA5}">
                          <a16:colId xmlns:a16="http://schemas.microsoft.com/office/drawing/2014/main" val="529387134"/>
                        </a:ext>
                      </a:extLst>
                    </a:gridCol>
                  </a:tblGrid>
                  <a:tr h="4102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01711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9">
                <a:extLst>
                  <a:ext uri="{FF2B5EF4-FFF2-40B4-BE49-F238E27FC236}">
                    <a16:creationId xmlns:a16="http://schemas.microsoft.com/office/drawing/2014/main" id="{D903F97B-3EB9-4CCA-BEE7-3A3381EE0A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083474"/>
                  </p:ext>
                </p:extLst>
              </p:nvPr>
            </p:nvGraphicFramePr>
            <p:xfrm>
              <a:off x="3139440" y="3697560"/>
              <a:ext cx="224028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40280">
                      <a:extLst>
                        <a:ext uri="{9D8B030D-6E8A-4147-A177-3AD203B41FA5}">
                          <a16:colId xmlns:a16="http://schemas.microsoft.com/office/drawing/2014/main" val="17505175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≥1  , 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=1,2,…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3818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9">
                <a:extLst>
                  <a:ext uri="{FF2B5EF4-FFF2-40B4-BE49-F238E27FC236}">
                    <a16:creationId xmlns:a16="http://schemas.microsoft.com/office/drawing/2014/main" id="{D903F97B-3EB9-4CCA-BEE7-3A3381EE0A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083474"/>
                  </p:ext>
                </p:extLst>
              </p:nvPr>
            </p:nvGraphicFramePr>
            <p:xfrm>
              <a:off x="3139440" y="3697560"/>
              <a:ext cx="224028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40280">
                      <a:extLst>
                        <a:ext uri="{9D8B030D-6E8A-4147-A177-3AD203B41FA5}">
                          <a16:colId xmlns:a16="http://schemas.microsoft.com/office/drawing/2014/main" val="17505175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3818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854FAF83-DD1E-481E-AF36-697D9744BA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8342143"/>
                  </p:ext>
                </p:extLst>
              </p:nvPr>
            </p:nvGraphicFramePr>
            <p:xfrm>
              <a:off x="3139440" y="4222382"/>
              <a:ext cx="146304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7151652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=1,2,…,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66263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854FAF83-DD1E-481E-AF36-697D9744BA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8342143"/>
                  </p:ext>
                </p:extLst>
              </p:nvPr>
            </p:nvGraphicFramePr>
            <p:xfrm>
              <a:off x="3139440" y="4222382"/>
              <a:ext cx="146304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7151652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66263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1">
                <a:extLst>
                  <a:ext uri="{FF2B5EF4-FFF2-40B4-BE49-F238E27FC236}">
                    <a16:creationId xmlns:a16="http://schemas.microsoft.com/office/drawing/2014/main" id="{E2FCE98F-EBFE-48B1-B1B9-A00E71DE4F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372131"/>
                  </p:ext>
                </p:extLst>
              </p:nvPr>
            </p:nvGraphicFramePr>
            <p:xfrm>
              <a:off x="3139439" y="4686432"/>
              <a:ext cx="1732597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2597">
                      <a:extLst>
                        <a:ext uri="{9D8B030D-6E8A-4147-A177-3AD203B41FA5}">
                          <a16:colId xmlns:a16="http://schemas.microsoft.com/office/drawing/2014/main" val="30959492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41203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1">
                <a:extLst>
                  <a:ext uri="{FF2B5EF4-FFF2-40B4-BE49-F238E27FC236}">
                    <a16:creationId xmlns:a16="http://schemas.microsoft.com/office/drawing/2014/main" id="{E2FCE98F-EBFE-48B1-B1B9-A00E71DE4F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372131"/>
                  </p:ext>
                </p:extLst>
              </p:nvPr>
            </p:nvGraphicFramePr>
            <p:xfrm>
              <a:off x="3139439" y="4686432"/>
              <a:ext cx="1732597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2597">
                      <a:extLst>
                        <a:ext uri="{9D8B030D-6E8A-4147-A177-3AD203B41FA5}">
                          <a16:colId xmlns:a16="http://schemas.microsoft.com/office/drawing/2014/main" val="30959492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9"/>
                          <a:stretch>
                            <a:fillRect l="3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41203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86806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EB62F8-22C7-4A84-A4F6-0F9069ACE90E}"/>
                  </a:ext>
                </a:extLst>
              </p:cNvPr>
              <p:cNvSpPr txBox="1"/>
              <p:nvPr/>
            </p:nvSpPr>
            <p:spPr>
              <a:xfrm>
                <a:off x="251460" y="1295400"/>
                <a:ext cx="8823959" cy="5170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 b="0"/>
                  <a:t>SVM</a:t>
                </a:r>
                <a:r>
                  <a:rPr lang="ko-KR" altLang="en-US" sz="1100" b="0"/>
                  <a:t>에서의 목적함수와</a:t>
                </a:r>
                <a:r>
                  <a:rPr lang="en-US" altLang="ko-KR" sz="1100" b="0"/>
                  <a:t>  </a:t>
                </a:r>
                <a:r>
                  <a:rPr lang="ko-KR" altLang="en-US" sz="1100" b="0"/>
                  <a:t>제약조건은 아래와 같음</a:t>
                </a:r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목적함수은 값을 최소화 하려는 목적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제약조건은 </a:t>
                </a:r>
                <a:r>
                  <a:rPr lang="en-US" altLang="ko-KR" sz="1100"/>
                  <a:t>Decision Boundary</a:t>
                </a:r>
                <a:r>
                  <a:rPr lang="ko-KR" altLang="en-US" sz="1100"/>
                  <a:t>를 통해 </a:t>
                </a:r>
                <a:r>
                  <a:rPr lang="en-US" altLang="ko-KR" sz="1100"/>
                  <a:t>traing data</a:t>
                </a:r>
                <a:r>
                  <a:rPr lang="ko-KR" altLang="en-US" sz="1100"/>
                  <a:t>를 완벽하게 분리하는 목적을 가짐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위의 식을 살펴 보면 목적함수는 </a:t>
                </a:r>
                <a:r>
                  <a:rPr lang="en-US" altLang="ko-KR" sz="1100"/>
                  <a:t>2</a:t>
                </a:r>
                <a:r>
                  <a:rPr lang="ko-KR" altLang="en-US" sz="1100"/>
                  <a:t>차식임으로 </a:t>
                </a:r>
                <a:r>
                  <a:rPr lang="en-US" altLang="ko-KR" sz="1100"/>
                  <a:t>quadrati</a:t>
                </a:r>
                <a:r>
                  <a:rPr lang="ko-KR" altLang="en-US" sz="1100"/>
                  <a:t>이고 제약조건은 </a:t>
                </a:r>
                <a:r>
                  <a:rPr lang="en-US" altLang="ko-KR" sz="1100"/>
                  <a:t>linear</a:t>
                </a:r>
                <a:r>
                  <a:rPr lang="ko-KR" altLang="en-US" sz="1100"/>
                  <a:t>해서 </a:t>
                </a:r>
                <a:r>
                  <a:rPr lang="en-US" altLang="ko-KR" sz="1100"/>
                  <a:t>quadratic programming</a:t>
                </a:r>
                <a:r>
                  <a:rPr lang="ko-KR" altLang="en-US" sz="1100"/>
                  <a:t>으로 풀 수 있음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Quadratic programmin</a:t>
                </a:r>
                <a:r>
                  <a:rPr lang="ko-KR" altLang="en-US" sz="1100"/>
                  <a:t>은 </a:t>
                </a:r>
                <a:r>
                  <a:rPr lang="en-US" altLang="ko-KR" sz="1100"/>
                  <a:t>convex optimization</a:t>
                </a:r>
                <a:r>
                  <a:rPr lang="ko-KR" altLang="en-US" sz="1100"/>
                  <a:t>이고 이는 전역 최적해가 존재해서 문제를 풀수 있다</a:t>
                </a:r>
                <a:endParaRPr lang="en-US" altLang="ko-KR" sz="1100"/>
              </a:p>
              <a:p>
                <a:pPr algn="ctr"/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SVM</a:t>
                </a:r>
                <a:r>
                  <a:rPr lang="ko-KR" altLang="en-US" sz="1100"/>
                  <a:t>을 라그랑주 승수법의 식에 대입을 하면 다음과 같은 식이 나옴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 b="0"/>
                  <a:t>위의 식을 바탕으로 </a:t>
                </a:r>
                <a:r>
                  <a:rPr lang="en-US" altLang="ko-KR" sz="1100" b="0"/>
                  <a:t>Lagrangian Primal</a:t>
                </a:r>
                <a:r>
                  <a:rPr lang="ko-KR" altLang="en-US" sz="1100" b="0"/>
                  <a:t>을 구할 수 있으며 </a:t>
                </a:r>
                <a:r>
                  <a:rPr lang="en-US" altLang="ko-KR" sz="1100"/>
                  <a:t>KKT</a:t>
                </a:r>
                <a:r>
                  <a:rPr lang="ko-KR" altLang="en-US" sz="1100"/>
                  <a:t>조건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번에서의 내용을 적용하여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 b="0"/>
                  <a:t>를 구하여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 b="0"/>
                  <a:t>값을 구할 것이다</a:t>
                </a:r>
                <a:r>
                  <a:rPr lang="en-US" altLang="ko-KR" sz="1100" b="0"/>
                  <a:t>.</a:t>
                </a:r>
              </a:p>
              <a:p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b="0"/>
              </a:p>
              <a:p>
                <a:pPr algn="ctr">
                  <a:lnSpc>
                    <a:spcPct val="150000"/>
                  </a:lnSpc>
                </a:pPr>
                <a:endParaRPr lang="en-US" altLang="ko-KR" sz="1100" b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KKT </a:t>
                </a:r>
                <a:r>
                  <a:rPr lang="ko-KR" altLang="en-US" sz="1100"/>
                  <a:t>첫번째 조건인 </a:t>
                </a:r>
                <a:r>
                  <a:rPr lang="en-US" altLang="ko-KR" sz="1100"/>
                  <a:t>stationarity</a:t>
                </a:r>
                <a:r>
                  <a:rPr lang="ko-KR" altLang="en-US" sz="1100"/>
                  <a:t>을 적용</a:t>
                </a:r>
                <a:endParaRPr lang="en-US" altLang="ko-KR" sz="110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>
                  <a:lnSpc>
                    <a:spcPct val="150000"/>
                  </a:lnSpc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위의 식을 아래 식에 대입을 하여 정리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b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EB62F8-22C7-4A84-A4F6-0F9069ACE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1295400"/>
                <a:ext cx="8823959" cy="5170646"/>
              </a:xfrm>
              <a:prstGeom prst="rect">
                <a:avLst/>
              </a:prstGeom>
              <a:blipFill>
                <a:blip r:embed="rId3"/>
                <a:stretch>
                  <a:fillRect t="-1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4">
                <a:extLst>
                  <a:ext uri="{FF2B5EF4-FFF2-40B4-BE49-F238E27FC236}">
                    <a16:creationId xmlns:a16="http://schemas.microsoft.com/office/drawing/2014/main" id="{6811709D-455F-4241-AFA6-432EB150C9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417111"/>
                  </p:ext>
                </p:extLst>
              </p:nvPr>
            </p:nvGraphicFramePr>
            <p:xfrm>
              <a:off x="3131820" y="1538048"/>
              <a:ext cx="3802380" cy="7997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54580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acc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 ……, 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제약조건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4441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4">
                <a:extLst>
                  <a:ext uri="{FF2B5EF4-FFF2-40B4-BE49-F238E27FC236}">
                    <a16:creationId xmlns:a16="http://schemas.microsoft.com/office/drawing/2014/main" id="{6811709D-455F-4241-AFA6-432EB150C9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417111"/>
                  </p:ext>
                </p:extLst>
              </p:nvPr>
            </p:nvGraphicFramePr>
            <p:xfrm>
              <a:off x="3131820" y="1538048"/>
              <a:ext cx="3802380" cy="7997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54580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42887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r="-61499" b="-85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6393" r="-61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제약조건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44413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63BE171B-EFEB-4347-918D-EDF14B287D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196724"/>
                  </p:ext>
                </p:extLst>
              </p:nvPr>
            </p:nvGraphicFramePr>
            <p:xfrm>
              <a:off x="3124200" y="3542744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7521075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d>
                                  <m:d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</m:acc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⃗"/>
                                                <m:ctrlPr>
                                                  <a:rPr lang="en-US" altLang="ko-KR" sz="11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ko-KR" sz="110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4462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63BE171B-EFEB-4347-918D-EDF14B287D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196724"/>
                  </p:ext>
                </p:extLst>
              </p:nvPr>
            </p:nvGraphicFramePr>
            <p:xfrm>
              <a:off x="3124200" y="3542744"/>
              <a:ext cx="4681536" cy="49815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752107543"/>
                        </a:ext>
                      </a:extLst>
                    </a:gridCol>
                  </a:tblGrid>
                  <a:tr h="4981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115854" b="-16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4462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6D4FE444-9035-4E05-AFF9-AAA70DE283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2379184"/>
                  </p:ext>
                </p:extLst>
              </p:nvPr>
            </p:nvGraphicFramePr>
            <p:xfrm>
              <a:off x="3124200" y="4301873"/>
              <a:ext cx="504444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44440">
                      <a:extLst>
                        <a:ext uri="{9D8B030D-6E8A-4147-A177-3AD203B41FA5}">
                          <a16:colId xmlns:a16="http://schemas.microsoft.com/office/drawing/2014/main" val="5612610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lim>
                                </m:limLow>
                                <m:func>
                                  <m:func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e>
                                      <m:lim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d>
                                  <m:dPr>
                                    <m:ctrlPr>
                                      <a:rPr lang="en-US" altLang="ko-KR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</m:acc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⃗"/>
                                                <m:ctrlPr>
                                                  <a:rPr lang="en-US" altLang="ko-KR" sz="11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ko-KR" sz="110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3663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6D4FE444-9035-4E05-AFF9-AAA70DE283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2379184"/>
                  </p:ext>
                </p:extLst>
              </p:nvPr>
            </p:nvGraphicFramePr>
            <p:xfrm>
              <a:off x="3124200" y="4301873"/>
              <a:ext cx="5044440" cy="49815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44440">
                      <a:extLst>
                        <a:ext uri="{9D8B030D-6E8A-4147-A177-3AD203B41FA5}">
                          <a16:colId xmlns:a16="http://schemas.microsoft.com/office/drawing/2014/main" val="561261055"/>
                        </a:ext>
                      </a:extLst>
                    </a:gridCol>
                  </a:tblGrid>
                  <a:tr h="4981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13253" b="-1590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3663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24">
                <a:extLst>
                  <a:ext uri="{FF2B5EF4-FFF2-40B4-BE49-F238E27FC236}">
                    <a16:creationId xmlns:a16="http://schemas.microsoft.com/office/drawing/2014/main" id="{2AAA90BC-3A0C-4B93-8C1A-25194BABE0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226246"/>
                  </p:ext>
                </p:extLst>
              </p:nvPr>
            </p:nvGraphicFramePr>
            <p:xfrm>
              <a:off x="3131820" y="4932172"/>
              <a:ext cx="4681536" cy="12658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40768">
                      <a:extLst>
                        <a:ext uri="{9D8B030D-6E8A-4147-A177-3AD203B41FA5}">
                          <a16:colId xmlns:a16="http://schemas.microsoft.com/office/drawing/2014/main" val="4092076368"/>
                        </a:ext>
                      </a:extLst>
                    </a:gridCol>
                    <a:gridCol w="2340768">
                      <a:extLst>
                        <a:ext uri="{9D8B030D-6E8A-4147-A177-3AD203B41FA5}">
                          <a16:colId xmlns:a16="http://schemas.microsoft.com/office/drawing/2014/main" val="785205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i="1" smtClean="0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US" altLang="ko-KR" sz="1100" b="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i="1" smtClean="0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4610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1422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24">
                <a:extLst>
                  <a:ext uri="{FF2B5EF4-FFF2-40B4-BE49-F238E27FC236}">
                    <a16:creationId xmlns:a16="http://schemas.microsoft.com/office/drawing/2014/main" id="{2AAA90BC-3A0C-4B93-8C1A-25194BABE0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226246"/>
                  </p:ext>
                </p:extLst>
              </p:nvPr>
            </p:nvGraphicFramePr>
            <p:xfrm>
              <a:off x="3131820" y="4932172"/>
              <a:ext cx="4681536" cy="126085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40768">
                      <a:extLst>
                        <a:ext uri="{9D8B030D-6E8A-4147-A177-3AD203B41FA5}">
                          <a16:colId xmlns:a16="http://schemas.microsoft.com/office/drawing/2014/main" val="4092076368"/>
                        </a:ext>
                      </a:extLst>
                    </a:gridCol>
                    <a:gridCol w="2340768">
                      <a:extLst>
                        <a:ext uri="{9D8B030D-6E8A-4147-A177-3AD203B41FA5}">
                          <a16:colId xmlns:a16="http://schemas.microsoft.com/office/drawing/2014/main" val="785205006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 t="-96667" r="-99740" b="-2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 l="-100260" t="-96667" b="-2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4610323"/>
                      </a:ext>
                    </a:extLst>
                  </a:tr>
                  <a:tr h="71424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 t="-151282" r="-99740" b="-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 l="-100260" t="-151282" b="-897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1422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표 25">
                <a:extLst>
                  <a:ext uri="{FF2B5EF4-FFF2-40B4-BE49-F238E27FC236}">
                    <a16:creationId xmlns:a16="http://schemas.microsoft.com/office/drawing/2014/main" id="{A571CFB8-D013-46FB-A686-15637DC1E8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3538153"/>
                  </p:ext>
                </p:extLst>
              </p:nvPr>
            </p:nvGraphicFramePr>
            <p:xfrm>
              <a:off x="3131820" y="6204806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i="1" smtClean="0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</m:acc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100" i="1" smtClean="0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⃗"/>
                                                <m:ctrlPr>
                                                  <a:rPr lang="en-US" altLang="ko-KR" sz="1100" i="1" smtClean="0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ko-KR" sz="110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ko-KR" sz="110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표 25">
                <a:extLst>
                  <a:ext uri="{FF2B5EF4-FFF2-40B4-BE49-F238E27FC236}">
                    <a16:creationId xmlns:a16="http://schemas.microsoft.com/office/drawing/2014/main" id="{A571CFB8-D013-46FB-A686-15637DC1E8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3538153"/>
                  </p:ext>
                </p:extLst>
              </p:nvPr>
            </p:nvGraphicFramePr>
            <p:xfrm>
              <a:off x="3131820" y="6204806"/>
              <a:ext cx="4681536" cy="49815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4981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t="-113253" b="-1590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2031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09F87-FBC7-49B7-A838-9D6CE7CA1958}"/>
              </a:ext>
            </a:extLst>
          </p:cNvPr>
          <p:cNvSpPr txBox="1"/>
          <p:nvPr/>
        </p:nvSpPr>
        <p:spPr>
          <a:xfrm>
            <a:off x="268605" y="1293352"/>
            <a:ext cx="8502015" cy="5144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altLang="ko-KR" sz="1100" b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KKT </a:t>
            </a:r>
            <a:r>
              <a:rPr lang="ko-KR" altLang="en-US" sz="1100"/>
              <a:t>첫번째 조건을 적용한 식은 아래와 같음</a:t>
            </a:r>
            <a:endParaRPr lang="en-US" altLang="ko-KR" sz="1100"/>
          </a:p>
          <a:p>
            <a:pPr>
              <a:lnSpc>
                <a:spcPct val="150000"/>
              </a:lnSpc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1</a:t>
            </a:r>
            <a:r>
              <a:rPr lang="ko-KR" altLang="en-US" sz="1100"/>
              <a:t>번식과 </a:t>
            </a:r>
            <a:r>
              <a:rPr lang="en-US" altLang="ko-KR" sz="1100"/>
              <a:t>2</a:t>
            </a:r>
            <a:r>
              <a:rPr lang="ko-KR" altLang="en-US" sz="1100"/>
              <a:t>번식을 정리하면 다음과 같음</a:t>
            </a: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1</a:t>
            </a:r>
            <a:r>
              <a:rPr lang="ko-KR" altLang="en-US" sz="1100"/>
              <a:t>번과 </a:t>
            </a:r>
            <a:r>
              <a:rPr lang="en-US" altLang="ko-KR" sz="1100"/>
              <a:t>2</a:t>
            </a:r>
            <a:r>
              <a:rPr lang="ko-KR" altLang="en-US" sz="1100"/>
              <a:t>번식을 정리하면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10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FA9305E-28C7-4C65-A641-C4F5D18A2C61}"/>
              </a:ext>
            </a:extLst>
          </p:cNvPr>
          <p:cNvGrpSpPr/>
          <p:nvPr/>
        </p:nvGrpSpPr>
        <p:grpSpPr>
          <a:xfrm>
            <a:off x="3944678" y="2308185"/>
            <a:ext cx="2031912" cy="315417"/>
            <a:chOff x="4147850" y="4011859"/>
            <a:chExt cx="2039560" cy="315417"/>
          </a:xfrm>
        </p:grpSpPr>
        <p:sp>
          <p:nvSpPr>
            <p:cNvPr id="10" name="왼쪽 중괄호 9">
              <a:extLst>
                <a:ext uri="{FF2B5EF4-FFF2-40B4-BE49-F238E27FC236}">
                  <a16:creationId xmlns:a16="http://schemas.microsoft.com/office/drawing/2014/main" id="{BF9DDCCE-2687-4634-B7E6-EE91EA7E93B3}"/>
                </a:ext>
              </a:extLst>
            </p:cNvPr>
            <p:cNvSpPr/>
            <p:nvPr/>
          </p:nvSpPr>
          <p:spPr>
            <a:xfrm rot="16200000">
              <a:off x="4290261" y="3869449"/>
              <a:ext cx="131675" cy="41649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왼쪽 중괄호 12">
              <a:extLst>
                <a:ext uri="{FF2B5EF4-FFF2-40B4-BE49-F238E27FC236}">
                  <a16:creationId xmlns:a16="http://schemas.microsoft.com/office/drawing/2014/main" id="{304654CD-3C4B-471D-B0B0-9BAB3708DE08}"/>
                </a:ext>
              </a:extLst>
            </p:cNvPr>
            <p:cNvSpPr/>
            <p:nvPr/>
          </p:nvSpPr>
          <p:spPr>
            <a:xfrm rot="16200000">
              <a:off x="5427487" y="3383611"/>
              <a:ext cx="131675" cy="1388171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A279145-7375-4489-B290-B6FDE774C608}"/>
                </a:ext>
              </a:extLst>
            </p:cNvPr>
            <p:cNvSpPr/>
            <p:nvPr/>
          </p:nvSpPr>
          <p:spPr>
            <a:xfrm>
              <a:off x="4277356" y="4195599"/>
              <a:ext cx="177741" cy="131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</a:rPr>
                <a:t>1</a:t>
              </a:r>
              <a:endParaRPr lang="ko-KR" altLang="en-US" sz="110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CFF6A5E-624F-4051-BF8A-74AB8FDB0F86}"/>
                </a:ext>
              </a:extLst>
            </p:cNvPr>
            <p:cNvSpPr/>
            <p:nvPr/>
          </p:nvSpPr>
          <p:spPr>
            <a:xfrm>
              <a:off x="5433640" y="4195599"/>
              <a:ext cx="177741" cy="131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</a:rPr>
                <a:t>2</a:t>
              </a:r>
              <a:endParaRPr lang="ko-KR" altLang="en-US" sz="11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표 6">
                <a:extLst>
                  <a:ext uri="{FF2B5EF4-FFF2-40B4-BE49-F238E27FC236}">
                    <a16:creationId xmlns:a16="http://schemas.microsoft.com/office/drawing/2014/main" id="{740929BD-1793-48C6-B223-8E6831B671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4035146"/>
                  </p:ext>
                </p:extLst>
              </p:nvPr>
            </p:nvGraphicFramePr>
            <p:xfrm>
              <a:off x="668750" y="3447111"/>
              <a:ext cx="2973354" cy="22610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858">
                      <a:extLst>
                        <a:ext uri="{9D8B030D-6E8A-4147-A177-3AD203B41FA5}">
                          <a16:colId xmlns:a16="http://schemas.microsoft.com/office/drawing/2014/main" val="1499216807"/>
                        </a:ext>
                      </a:extLst>
                    </a:gridCol>
                    <a:gridCol w="2110496">
                      <a:extLst>
                        <a:ext uri="{9D8B030D-6E8A-4147-A177-3AD203B41FA5}">
                          <a16:colId xmlns:a16="http://schemas.microsoft.com/office/drawing/2014/main" val="367626617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ko-KR" sz="1100" b="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59450"/>
                      </a:ext>
                    </a:extLst>
                  </a:tr>
                  <a:tr h="441314">
                    <a:tc>
                      <a:txBody>
                        <a:bodyPr/>
                        <a:lstStyle/>
                        <a:p>
                          <a:pPr algn="l" latinLnBrk="1"/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3362445"/>
                      </a:ext>
                    </a:extLst>
                  </a:tr>
                  <a:tr h="441314">
                    <a:tc>
                      <a:txBody>
                        <a:bodyPr/>
                        <a:lstStyle/>
                        <a:p>
                          <a:pPr algn="l" latinLnBrk="1"/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4191560"/>
                      </a:ext>
                    </a:extLst>
                  </a:tr>
                  <a:tr h="556798">
                    <a:tc>
                      <a:txBody>
                        <a:bodyPr/>
                        <a:lstStyle/>
                        <a:p>
                          <a:pPr algn="l" latinLnBrk="1"/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6136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표 6">
                <a:extLst>
                  <a:ext uri="{FF2B5EF4-FFF2-40B4-BE49-F238E27FC236}">
                    <a16:creationId xmlns:a16="http://schemas.microsoft.com/office/drawing/2014/main" id="{740929BD-1793-48C6-B223-8E6831B671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4035146"/>
                  </p:ext>
                </p:extLst>
              </p:nvPr>
            </p:nvGraphicFramePr>
            <p:xfrm>
              <a:off x="668750" y="3447111"/>
              <a:ext cx="2973354" cy="22610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858">
                      <a:extLst>
                        <a:ext uri="{9D8B030D-6E8A-4147-A177-3AD203B41FA5}">
                          <a16:colId xmlns:a16="http://schemas.microsoft.com/office/drawing/2014/main" val="1499216807"/>
                        </a:ext>
                      </a:extLst>
                    </a:gridCol>
                    <a:gridCol w="2110496">
                      <a:extLst>
                        <a:ext uri="{9D8B030D-6E8A-4147-A177-3AD203B41FA5}">
                          <a16:colId xmlns:a16="http://schemas.microsoft.com/office/drawing/2014/main" val="3676266171"/>
                        </a:ext>
                      </a:extLst>
                    </a:gridCol>
                  </a:tblGrid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92473" r="-244366" b="-4408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0922" t="-92473" b="-4408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59450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pPr algn="l" latinLnBrk="1"/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0922" t="-190426" b="-336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362445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pPr algn="l" latinLnBrk="1"/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0922" t="-293548" b="-2397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4191560"/>
                      </a:ext>
                    </a:extLst>
                  </a:tr>
                  <a:tr h="556798">
                    <a:tc>
                      <a:txBody>
                        <a:bodyPr/>
                        <a:lstStyle/>
                        <a:p>
                          <a:pPr algn="l" latinLnBrk="1"/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0922" t="-397826" b="-142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61365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표 23">
                <a:extLst>
                  <a:ext uri="{FF2B5EF4-FFF2-40B4-BE49-F238E27FC236}">
                    <a16:creationId xmlns:a16="http://schemas.microsoft.com/office/drawing/2014/main" id="{B1C86077-1A23-4417-8005-428D01C7C3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516745"/>
                  </p:ext>
                </p:extLst>
              </p:nvPr>
            </p:nvGraphicFramePr>
            <p:xfrm>
              <a:off x="7561817" y="1189704"/>
              <a:ext cx="1161421" cy="215017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61421">
                      <a:extLst>
                        <a:ext uri="{9D8B030D-6E8A-4147-A177-3AD203B41FA5}">
                          <a16:colId xmlns:a16="http://schemas.microsoft.com/office/drawing/2014/main" val="3130857269"/>
                        </a:ext>
                      </a:extLst>
                    </a:gridCol>
                  </a:tblGrid>
                  <a:tr h="25077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6373404"/>
                      </a:ext>
                    </a:extLst>
                  </a:tr>
                  <a:tr h="47627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46175605"/>
                      </a:ext>
                    </a:extLst>
                  </a:tr>
                  <a:tr h="47627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71254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표 23">
                <a:extLst>
                  <a:ext uri="{FF2B5EF4-FFF2-40B4-BE49-F238E27FC236}">
                    <a16:creationId xmlns:a16="http://schemas.microsoft.com/office/drawing/2014/main" id="{B1C86077-1A23-4417-8005-428D01C7C3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516745"/>
                  </p:ext>
                </p:extLst>
              </p:nvPr>
            </p:nvGraphicFramePr>
            <p:xfrm>
              <a:off x="7561817" y="1189704"/>
              <a:ext cx="1161421" cy="214274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61421">
                      <a:extLst>
                        <a:ext uri="{9D8B030D-6E8A-4147-A177-3AD203B41FA5}">
                          <a16:colId xmlns:a16="http://schemas.microsoft.com/office/drawing/2014/main" val="3130857269"/>
                        </a:ext>
                      </a:extLst>
                    </a:gridCol>
                  </a:tblGrid>
                  <a:tr h="71424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24" t="-74359" r="-1571" b="-2897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6373404"/>
                      </a:ext>
                    </a:extLst>
                  </a:tr>
                  <a:tr h="71424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24" t="-172881" r="-1571" b="-1872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6175605"/>
                      </a:ext>
                    </a:extLst>
                  </a:tr>
                  <a:tr h="71424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24" t="-275214" r="-1571" b="-8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125477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표 25">
                <a:extLst>
                  <a:ext uri="{FF2B5EF4-FFF2-40B4-BE49-F238E27FC236}">
                    <a16:creationId xmlns:a16="http://schemas.microsoft.com/office/drawing/2014/main" id="{3C670122-1706-4831-9F0F-DEEA9AFD6A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158766"/>
                  </p:ext>
                </p:extLst>
              </p:nvPr>
            </p:nvGraphicFramePr>
            <p:xfrm>
              <a:off x="3154680" y="1813996"/>
              <a:ext cx="446532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65320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i="1" smtClean="0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</m:acc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100" i="1" smtClean="0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⃗"/>
                                                <m:ctrlPr>
                                                  <a:rPr lang="en-US" altLang="ko-KR" sz="1100" i="1" smtClean="0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ko-KR" sz="110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ko-KR" sz="110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표 25">
                <a:extLst>
                  <a:ext uri="{FF2B5EF4-FFF2-40B4-BE49-F238E27FC236}">
                    <a16:creationId xmlns:a16="http://schemas.microsoft.com/office/drawing/2014/main" id="{3C670122-1706-4831-9F0F-DEEA9AFD6A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158766"/>
                  </p:ext>
                </p:extLst>
              </p:nvPr>
            </p:nvGraphicFramePr>
            <p:xfrm>
              <a:off x="3154680" y="1813996"/>
              <a:ext cx="4465320" cy="49815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65320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4981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113253" b="-1590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타원 29">
            <a:extLst>
              <a:ext uri="{FF2B5EF4-FFF2-40B4-BE49-F238E27FC236}">
                <a16:creationId xmlns:a16="http://schemas.microsoft.com/office/drawing/2014/main" id="{6EC2A079-BB2D-4FEE-912F-17817D047FC1}"/>
              </a:ext>
            </a:extLst>
          </p:cNvPr>
          <p:cNvSpPr/>
          <p:nvPr/>
        </p:nvSpPr>
        <p:spPr>
          <a:xfrm>
            <a:off x="755137" y="3266610"/>
            <a:ext cx="177075" cy="1316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1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09CD308-B65E-4E24-AEB0-7FDDF98DE83F}"/>
              </a:ext>
            </a:extLst>
          </p:cNvPr>
          <p:cNvSpPr/>
          <p:nvPr/>
        </p:nvSpPr>
        <p:spPr>
          <a:xfrm>
            <a:off x="3642104" y="3266610"/>
            <a:ext cx="177075" cy="1316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2</a:t>
            </a:r>
            <a:endParaRPr lang="ko-KR" altLang="en-US" sz="11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표 20">
                <a:extLst>
                  <a:ext uri="{FF2B5EF4-FFF2-40B4-BE49-F238E27FC236}">
                    <a16:creationId xmlns:a16="http://schemas.microsoft.com/office/drawing/2014/main" id="{21717173-3F00-467B-AFCA-A46F6E2144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420218"/>
                  </p:ext>
                </p:extLst>
              </p:nvPr>
            </p:nvGraphicFramePr>
            <p:xfrm>
              <a:off x="3498946" y="3449672"/>
              <a:ext cx="4643581" cy="1833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79505">
                      <a:extLst>
                        <a:ext uri="{9D8B030D-6E8A-4147-A177-3AD203B41FA5}">
                          <a16:colId xmlns:a16="http://schemas.microsoft.com/office/drawing/2014/main" val="2050505350"/>
                        </a:ext>
                      </a:extLst>
                    </a:gridCol>
                    <a:gridCol w="2564076">
                      <a:extLst>
                        <a:ext uri="{9D8B030D-6E8A-4147-A177-3AD203B41FA5}">
                          <a16:colId xmlns:a16="http://schemas.microsoft.com/office/drawing/2014/main" val="42804181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79498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4372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92321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표 20">
                <a:extLst>
                  <a:ext uri="{FF2B5EF4-FFF2-40B4-BE49-F238E27FC236}">
                    <a16:creationId xmlns:a16="http://schemas.microsoft.com/office/drawing/2014/main" id="{21717173-3F00-467B-AFCA-A46F6E2144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420218"/>
                  </p:ext>
                </p:extLst>
              </p:nvPr>
            </p:nvGraphicFramePr>
            <p:xfrm>
              <a:off x="3498946" y="3449672"/>
              <a:ext cx="4643581" cy="182892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79505">
                      <a:extLst>
                        <a:ext uri="{9D8B030D-6E8A-4147-A177-3AD203B41FA5}">
                          <a16:colId xmlns:a16="http://schemas.microsoft.com/office/drawing/2014/main" val="2050505350"/>
                        </a:ext>
                      </a:extLst>
                    </a:gridCol>
                    <a:gridCol w="2564076">
                      <a:extLst>
                        <a:ext uri="{9D8B030D-6E8A-4147-A177-3AD203B41FA5}">
                          <a16:colId xmlns:a16="http://schemas.microsoft.com/office/drawing/2014/main" val="4280418108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5556" r="-123099" b="-37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81235" t="-95556" b="-37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7949838"/>
                      </a:ext>
                    </a:extLst>
                  </a:tr>
                  <a:tr h="714248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81235" t="-149153" b="-188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1437212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81235" t="-316129" b="-1387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92321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21">
                <a:extLst>
                  <a:ext uri="{FF2B5EF4-FFF2-40B4-BE49-F238E27FC236}">
                    <a16:creationId xmlns:a16="http://schemas.microsoft.com/office/drawing/2014/main" id="{669AF4B2-6D21-4CDC-9C90-C6C50FC218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7813409"/>
                  </p:ext>
                </p:extLst>
              </p:nvPr>
            </p:nvGraphicFramePr>
            <p:xfrm>
              <a:off x="3154680" y="6040402"/>
              <a:ext cx="233172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31720">
                      <a:extLst>
                        <a:ext uri="{9D8B030D-6E8A-4147-A177-3AD203B41FA5}">
                          <a16:colId xmlns:a16="http://schemas.microsoft.com/office/drawing/2014/main" val="942172168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3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81032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21">
                <a:extLst>
                  <a:ext uri="{FF2B5EF4-FFF2-40B4-BE49-F238E27FC236}">
                    <a16:creationId xmlns:a16="http://schemas.microsoft.com/office/drawing/2014/main" id="{669AF4B2-6D21-4CDC-9C90-C6C50FC218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7813409"/>
                  </p:ext>
                </p:extLst>
              </p:nvPr>
            </p:nvGraphicFramePr>
            <p:xfrm>
              <a:off x="3154680" y="6040402"/>
              <a:ext cx="2331720" cy="54660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31720">
                      <a:extLst>
                        <a:ext uri="{9D8B030D-6E8A-4147-A177-3AD203B41FA5}">
                          <a16:colId xmlns:a16="http://schemas.microsoft.com/office/drawing/2014/main" val="942172168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 t="-94505" b="-145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81032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직사각형 33">
            <a:extLst>
              <a:ext uri="{FF2B5EF4-FFF2-40B4-BE49-F238E27FC236}">
                <a16:creationId xmlns:a16="http://schemas.microsoft.com/office/drawing/2014/main" id="{1CA2C525-A7ED-42D5-AA01-258D6FDFF1E9}"/>
              </a:ext>
            </a:extLst>
          </p:cNvPr>
          <p:cNvSpPr/>
          <p:nvPr/>
        </p:nvSpPr>
        <p:spPr>
          <a:xfrm>
            <a:off x="4881578" y="5303011"/>
            <a:ext cx="418591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최고차항의 계수가 음수가 됨으로서 최소값 찾는 문제가 최대값 찾는 문제로 바뀌었다 </a:t>
            </a:r>
            <a:r>
              <a:rPr lang="en-US" altLang="ko-KR" sz="1100"/>
              <a:t>=&gt; dual</a:t>
            </a:r>
            <a:r>
              <a:rPr lang="ko-KR" altLang="en-US" sz="1100"/>
              <a:t>문제</a:t>
            </a:r>
          </a:p>
        </p:txBody>
      </p:sp>
    </p:spTree>
    <p:extLst>
      <p:ext uri="{BB962C8B-B14F-4D97-AF65-F5344CB8AC3E}">
        <p14:creationId xmlns:p14="http://schemas.microsoft.com/office/powerpoint/2010/main" val="4211582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Lagrangian Dual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C7C72-B8E6-4BAD-9D97-12D30DF22A06}"/>
                  </a:ext>
                </a:extLst>
              </p:cNvPr>
              <p:cNvSpPr txBox="1"/>
              <p:nvPr/>
            </p:nvSpPr>
            <p:spPr>
              <a:xfrm>
                <a:off x="251460" y="1250807"/>
                <a:ext cx="8892540" cy="5509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/>
                  <a:t>문제를 풀 수 있는 </a:t>
                </a:r>
                <a:r>
                  <a:rPr lang="en-US" altLang="ko-KR" sz="1100"/>
                  <a:t>Lagrangian Dual</a:t>
                </a:r>
                <a:r>
                  <a:rPr lang="ko-KR" altLang="en-US" sz="1100"/>
                  <a:t>문제로 변경</a:t>
                </a:r>
                <a:endParaRPr lang="en-US" altLang="ko-KR" sz="1100"/>
              </a:p>
              <a:p>
                <a:endParaRPr lang="en-US" altLang="ko-KR" sz="1100" i="1"/>
              </a:p>
              <a:p>
                <a:endParaRPr lang="en-US" altLang="ko-KR" sz="1100" i="1"/>
              </a:p>
              <a:p>
                <a:endParaRPr lang="en-US" altLang="ko-KR" sz="1100" i="1"/>
              </a:p>
              <a:p>
                <a:endParaRPr lang="en-US" altLang="ko-KR" sz="1100" i="1"/>
              </a:p>
              <a:p>
                <a:endParaRPr lang="en-US" altLang="ko-KR" sz="1100" i="1"/>
              </a:p>
              <a:p>
                <a:endParaRPr lang="en-US" altLang="ko-KR" sz="1100" i="1"/>
              </a:p>
              <a:p>
                <a:endParaRPr lang="en-US" altLang="ko-KR" sz="1100" i="1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/>
                  <a:t>값기준으로 보면</a:t>
                </a:r>
                <a:r>
                  <a:rPr lang="en-US" altLang="ko-KR" sz="1100"/>
                  <a:t> </a:t>
                </a:r>
                <a:r>
                  <a:rPr lang="ko-KR" altLang="en-US" sz="1100"/>
                  <a:t>목적식은 </a:t>
                </a:r>
                <a:r>
                  <a:rPr lang="en-US" altLang="ko-KR" sz="1100"/>
                  <a:t>2</a:t>
                </a:r>
                <a:r>
                  <a:rPr lang="ko-KR" altLang="en-US" sz="1100"/>
                  <a:t>차함수 제약조건은 </a:t>
                </a:r>
                <a:r>
                  <a:rPr lang="en-US" altLang="ko-KR" sz="1100"/>
                  <a:t>linear</a:t>
                </a:r>
                <a:r>
                  <a:rPr lang="ko-KR" altLang="en-US" sz="1100"/>
                  <a:t>임으로 </a:t>
                </a:r>
                <a:r>
                  <a:rPr lang="en-US" altLang="ko-KR" sz="1100"/>
                  <a:t>qp</a:t>
                </a:r>
                <a:r>
                  <a:rPr lang="ko-KR" altLang="en-US" sz="1100"/>
                  <a:t>임으로 최적값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개 존재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SVM</a:t>
                </a:r>
                <a:r>
                  <a:rPr lang="ko-KR" altLang="en-US" sz="1100"/>
                  <a:t>목적은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를 찾는것이며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의 식은 아래와 같다</a:t>
                </a:r>
                <a:endParaRPr lang="en-US" altLang="ko-KR" sz="1100"/>
              </a:p>
              <a:p>
                <a:endParaRPr lang="en-US" altLang="ko-KR" sz="1100" b="0" i="1">
                  <a:latin typeface="Cambria Math" panose="02040503050406030204" pitchFamily="18" charset="0"/>
                </a:endParaRPr>
              </a:p>
              <a:p>
                <a:endParaRPr lang="en-US" altLang="ko-KR" sz="1100" i="1">
                  <a:latin typeface="Cambria Math" panose="02040503050406030204" pitchFamily="18" charset="0"/>
                </a:endParaRPr>
              </a:p>
              <a:p>
                <a:endParaRPr lang="en-US" altLang="ko-KR" sz="1100" b="0" i="1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Cambria Math" panose="02040503050406030204" pitchFamily="18" charset="0"/>
                  </a:rPr>
                  <a:t>x</a:t>
                </a:r>
                <a:r>
                  <a:rPr lang="en-US" altLang="ko-KR" sz="1100" b="0">
                    <a:latin typeface="Cambria Math" panose="02040503050406030204" pitchFamily="18" charset="0"/>
                  </a:rPr>
                  <a:t>,</a:t>
                </a:r>
                <a:r>
                  <a:rPr lang="en-US" altLang="ko-KR" sz="1100">
                    <a:latin typeface="Cambria Math" panose="02040503050406030204" pitchFamily="18" charset="0"/>
                  </a:rPr>
                  <a:t>y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는 학습데이터임으로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 b="0">
                    <a:latin typeface="Cambria Math" panose="02040503050406030204" pitchFamily="18" charset="0"/>
                  </a:rPr>
                  <a:t>값만</a:t>
                </a:r>
                <a:r>
                  <a:rPr lang="en-US" altLang="ko-KR" sz="1100" b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100" b="0">
                    <a:latin typeface="Cambria Math" panose="02040503050406030204" pitchFamily="18" charset="0"/>
                  </a:rPr>
                  <a:t>알면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 b="0">
                    <a:latin typeface="Cambria Math" panose="02040503050406030204" pitchFamily="18" charset="0"/>
                  </a:rPr>
                  <a:t>값을 알 수 있음</a:t>
                </a:r>
                <a:endParaRPr lang="en-US" altLang="ko-KR" sz="1100" b="0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b="0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Cambria Math" panose="02040503050406030204" pitchFamily="18" charset="0"/>
                  </a:rPr>
                  <a:t>Dual 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문제를 최적화 하기위해서는 다시 </a:t>
                </a:r>
                <a:r>
                  <a:rPr lang="en-US" altLang="ko-KR" sz="1100">
                    <a:latin typeface="Cambria Math" panose="02040503050406030204" pitchFamily="18" charset="0"/>
                  </a:rPr>
                  <a:t>KKT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조건을 확인 한 후 </a:t>
                </a:r>
                <a:r>
                  <a:rPr lang="en-US" altLang="ko-KR" sz="1100">
                    <a:latin typeface="Cambria Math" panose="02040503050406030204" pitchFamily="18" charset="0"/>
                  </a:rPr>
                  <a:t>4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가지 조건을 연산하여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>
                    <a:latin typeface="Cambria Math" panose="02040503050406030204" pitchFamily="18" charset="0"/>
                  </a:rPr>
                  <a:t>를 구함</a:t>
                </a:r>
                <a:endParaRPr lang="en-US" altLang="ko-KR" sz="1100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두가지 경우로 나눠서 생각 가능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 1.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100"/>
                  <a:t>&gt;0 </a:t>
                </a:r>
                <a:r>
                  <a:rPr lang="ko-KR" altLang="en-US" sz="1100"/>
                  <a:t>일때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100"/>
                  <a:t>임으로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임</a:t>
                </a:r>
                <a:endParaRPr lang="en-US" altLang="ko-KR" sz="1100"/>
              </a:p>
              <a:p>
                <a:pPr lvl="1"/>
                <a:endParaRPr lang="en-US" altLang="ko-KR" sz="1100"/>
              </a:p>
              <a:p>
                <a:pPr lvl="1"/>
                <a:r>
                  <a:rPr lang="en-US" altLang="ko-KR" sz="1100"/>
                  <a:t>2.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100"/>
                  <a:t>=0</a:t>
                </a:r>
                <a:r>
                  <a:rPr lang="ko-KR" altLang="en-US" sz="1100"/>
                  <a:t>일때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1100"/>
                  <a:t>임으로 데이터가 </a:t>
                </a:r>
                <a:r>
                  <a:rPr lang="en-US" altLang="ko-KR" sz="1100"/>
                  <a:t>+</a:t>
                </a:r>
                <a:r>
                  <a:rPr lang="ko-KR" altLang="en-US" sz="1100"/>
                  <a:t>와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평면위에 없음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	Decision Boundary</a:t>
                </a:r>
                <a:r>
                  <a:rPr lang="ko-KR" altLang="en-US" sz="1100"/>
                  <a:t>에 영향을 주지 않음</a:t>
                </a:r>
                <a:endParaRPr lang="en-US" altLang="ko-KR" sz="1100"/>
              </a:p>
              <a:p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일 때만 </a:t>
                </a:r>
                <a:r>
                  <a:rPr lang="en-US" altLang="ko-KR" sz="1100"/>
                  <a:t>optimal hyperplane(decision boundary)</a:t>
                </a:r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 값은 위에서 구한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값과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100"/>
                  <a:t>식을 활용하여 구함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새로운 데이터가 들어오면 위 식에 대입하여 </a:t>
                </a:r>
                <a:r>
                  <a:rPr lang="en-US" altLang="ko-KR" sz="1100"/>
                  <a:t>0</a:t>
                </a:r>
                <a:r>
                  <a:rPr lang="ko-KR" altLang="en-US" sz="1100"/>
                  <a:t>보다 크면 </a:t>
                </a:r>
                <a:r>
                  <a:rPr lang="en-US" altLang="ko-KR" sz="1100"/>
                  <a:t>+, 0</a:t>
                </a:r>
                <a:r>
                  <a:rPr lang="ko-KR" altLang="en-US" sz="1100"/>
                  <a:t>보다 작으면 </a:t>
                </a:r>
                <a:r>
                  <a:rPr lang="en-US" altLang="ko-KR" sz="1100"/>
                  <a:t>–</a:t>
                </a:r>
                <a:r>
                  <a:rPr lang="ko-KR" altLang="en-US" sz="1100"/>
                  <a:t>값으로 분류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ko-KR" altLang="en-US" sz="110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C7C72-B8E6-4BAD-9D97-12D30DF22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1250807"/>
                <a:ext cx="8892540" cy="5509200"/>
              </a:xfrm>
              <a:prstGeom prst="rect">
                <a:avLst/>
              </a:prstGeom>
              <a:blipFill>
                <a:blip r:embed="rId3"/>
                <a:stretch>
                  <a:fillRect t="-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표 14">
                <a:extLst>
                  <a:ext uri="{FF2B5EF4-FFF2-40B4-BE49-F238E27FC236}">
                    <a16:creationId xmlns:a16="http://schemas.microsoft.com/office/drawing/2014/main" id="{3832E688-2AEB-464A-8859-3828A0650C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8222665"/>
                  </p:ext>
                </p:extLst>
              </p:nvPr>
            </p:nvGraphicFramePr>
            <p:xfrm>
              <a:off x="3116580" y="1520119"/>
              <a:ext cx="6096000" cy="10963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979057224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3872081666"/>
                        </a:ext>
                      </a:extLst>
                    </a:gridCol>
                  </a:tblGrid>
                  <a:tr h="36112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lim>
                                </m:limLow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  <m:brk m:alnAt="23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p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sty m:val="p"/>
                                                <m:brk m:alnAt="23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α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α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ko-KR" altLang="en-US" sz="1100" b="0"/>
                            <a:t>목적함수</a:t>
                          </a:r>
                          <a:endParaRPr lang="ko-KR" altLang="en-US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8027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     </m:t>
                                </m:r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≥0,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=1,2,…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altLang="ko-KR" sz="1100" b="0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b="0"/>
                            <a:t>제약조건</a:t>
                          </a:r>
                          <a:endParaRPr lang="en-US" altLang="ko-KR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4498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표 14">
                <a:extLst>
                  <a:ext uri="{FF2B5EF4-FFF2-40B4-BE49-F238E27FC236}">
                    <a16:creationId xmlns:a16="http://schemas.microsoft.com/office/drawing/2014/main" id="{3832E688-2AEB-464A-8859-3828A0650C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8222665"/>
                  </p:ext>
                </p:extLst>
              </p:nvPr>
            </p:nvGraphicFramePr>
            <p:xfrm>
              <a:off x="3116580" y="1520119"/>
              <a:ext cx="6096000" cy="10914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979057224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3872081666"/>
                        </a:ext>
                      </a:extLst>
                    </a:gridCol>
                  </a:tblGrid>
                  <a:tr h="54571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96667" r="-99800" b="-2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ko-KR" altLang="en-US" sz="1100" b="0"/>
                            <a:t>목적함수</a:t>
                          </a:r>
                          <a:endParaRPr lang="ko-KR" altLang="en-US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8027342"/>
                      </a:ext>
                    </a:extLst>
                  </a:tr>
                  <a:tr h="54571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96667" r="-99800" b="-1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b="0"/>
                            <a:t>제약조건</a:t>
                          </a:r>
                          <a:endParaRPr lang="en-US" altLang="ko-KR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4498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5">
                <a:extLst>
                  <a:ext uri="{FF2B5EF4-FFF2-40B4-BE49-F238E27FC236}">
                    <a16:creationId xmlns:a16="http://schemas.microsoft.com/office/drawing/2014/main" id="{B330CAC5-4130-4EBE-A429-32B06FFF16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691046"/>
                  </p:ext>
                </p:extLst>
              </p:nvPr>
            </p:nvGraphicFramePr>
            <p:xfrm>
              <a:off x="3116580" y="3120245"/>
              <a:ext cx="268986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89860">
                      <a:extLst>
                        <a:ext uri="{9D8B030D-6E8A-4147-A177-3AD203B41FA5}">
                          <a16:colId xmlns:a16="http://schemas.microsoft.com/office/drawing/2014/main" val="15749961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 b="0" i="1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168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5">
                <a:extLst>
                  <a:ext uri="{FF2B5EF4-FFF2-40B4-BE49-F238E27FC236}">
                    <a16:creationId xmlns:a16="http://schemas.microsoft.com/office/drawing/2014/main" id="{B330CAC5-4130-4EBE-A429-32B06FFF16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691046"/>
                  </p:ext>
                </p:extLst>
              </p:nvPr>
            </p:nvGraphicFramePr>
            <p:xfrm>
              <a:off x="3116580" y="3120245"/>
              <a:ext cx="2689860" cy="54660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89860">
                      <a:extLst>
                        <a:ext uri="{9D8B030D-6E8A-4147-A177-3AD203B41FA5}">
                          <a16:colId xmlns:a16="http://schemas.microsoft.com/office/drawing/2014/main" val="1574996124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4505" b="-145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168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표 16">
                <a:extLst>
                  <a:ext uri="{FF2B5EF4-FFF2-40B4-BE49-F238E27FC236}">
                    <a16:creationId xmlns:a16="http://schemas.microsoft.com/office/drawing/2014/main" id="{0D6AB330-D799-4200-BCEB-E935E60D6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5207649"/>
                  </p:ext>
                </p:extLst>
              </p:nvPr>
            </p:nvGraphicFramePr>
            <p:xfrm>
              <a:off x="3116580" y="4175541"/>
              <a:ext cx="1905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36269948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58163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표 16">
                <a:extLst>
                  <a:ext uri="{FF2B5EF4-FFF2-40B4-BE49-F238E27FC236}">
                    <a16:creationId xmlns:a16="http://schemas.microsoft.com/office/drawing/2014/main" id="{0D6AB330-D799-4200-BCEB-E935E60D6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5207649"/>
                  </p:ext>
                </p:extLst>
              </p:nvPr>
            </p:nvGraphicFramePr>
            <p:xfrm>
              <a:off x="3116580" y="4175541"/>
              <a:ext cx="1905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36269948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81634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0" name="그룹 39">
            <a:extLst>
              <a:ext uri="{FF2B5EF4-FFF2-40B4-BE49-F238E27FC236}">
                <a16:creationId xmlns:a16="http://schemas.microsoft.com/office/drawing/2014/main" id="{B38C4730-507C-4FCC-8F3D-F232A9960A5B}"/>
              </a:ext>
            </a:extLst>
          </p:cNvPr>
          <p:cNvGrpSpPr/>
          <p:nvPr/>
        </p:nvGrpSpPr>
        <p:grpSpPr>
          <a:xfrm>
            <a:off x="6076766" y="4305326"/>
            <a:ext cx="2127623" cy="1696427"/>
            <a:chOff x="3518675" y="2776495"/>
            <a:chExt cx="2878693" cy="2292172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5CBD0ED4-F698-4290-B19E-3559CE62E393}"/>
                </a:ext>
              </a:extLst>
            </p:cNvPr>
            <p:cNvGrpSpPr/>
            <p:nvPr/>
          </p:nvGrpSpPr>
          <p:grpSpPr>
            <a:xfrm>
              <a:off x="4870469" y="3201734"/>
              <a:ext cx="873554" cy="645957"/>
              <a:chOff x="4837649" y="3782504"/>
              <a:chExt cx="1143417" cy="783882"/>
            </a:xfrm>
            <a:solidFill>
              <a:srgbClr val="FF0000"/>
            </a:solidFill>
          </p:grpSpPr>
          <p:sp>
            <p:nvSpPr>
              <p:cNvPr id="57" name="이등변 삼각형 56">
                <a:extLst>
                  <a:ext uri="{FF2B5EF4-FFF2-40B4-BE49-F238E27FC236}">
                    <a16:creationId xmlns:a16="http://schemas.microsoft.com/office/drawing/2014/main" id="{ECDA0253-9902-4289-BF8B-E79403EE3A9D}"/>
                  </a:ext>
                </a:extLst>
              </p:cNvPr>
              <p:cNvSpPr/>
              <p:nvPr/>
            </p:nvSpPr>
            <p:spPr>
              <a:xfrm>
                <a:off x="5019988" y="384681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이등변 삼각형 57">
                <a:extLst>
                  <a:ext uri="{FF2B5EF4-FFF2-40B4-BE49-F238E27FC236}">
                    <a16:creationId xmlns:a16="http://schemas.microsoft.com/office/drawing/2014/main" id="{532B4ED2-1EC9-4D6A-8977-79893315FE2B}"/>
                  </a:ext>
                </a:extLst>
              </p:cNvPr>
              <p:cNvSpPr/>
              <p:nvPr/>
            </p:nvSpPr>
            <p:spPr>
              <a:xfrm>
                <a:off x="4837649" y="442378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이등변 삼각형 58">
                <a:extLst>
                  <a:ext uri="{FF2B5EF4-FFF2-40B4-BE49-F238E27FC236}">
                    <a16:creationId xmlns:a16="http://schemas.microsoft.com/office/drawing/2014/main" id="{30D6D877-E425-455B-A51D-6F165EE092DB}"/>
                  </a:ext>
                </a:extLst>
              </p:cNvPr>
              <p:cNvSpPr/>
              <p:nvPr/>
            </p:nvSpPr>
            <p:spPr>
              <a:xfrm>
                <a:off x="5398595" y="4099675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이등변 삼각형 59">
                <a:extLst>
                  <a:ext uri="{FF2B5EF4-FFF2-40B4-BE49-F238E27FC236}">
                    <a16:creationId xmlns:a16="http://schemas.microsoft.com/office/drawing/2014/main" id="{8A8705D1-2C00-46FF-A4FE-03106C31798F}"/>
                  </a:ext>
                </a:extLst>
              </p:cNvPr>
              <p:cNvSpPr/>
              <p:nvPr/>
            </p:nvSpPr>
            <p:spPr>
              <a:xfrm>
                <a:off x="5833424" y="4342919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이등변 삼각형 60">
                <a:extLst>
                  <a:ext uri="{FF2B5EF4-FFF2-40B4-BE49-F238E27FC236}">
                    <a16:creationId xmlns:a16="http://schemas.microsoft.com/office/drawing/2014/main" id="{3C285D94-816B-497E-9963-68E45462C8F4}"/>
                  </a:ext>
                </a:extLst>
              </p:cNvPr>
              <p:cNvSpPr/>
              <p:nvPr/>
            </p:nvSpPr>
            <p:spPr>
              <a:xfrm>
                <a:off x="5833424" y="378250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E56C1048-2848-46C6-9C98-E05F279E688A}"/>
                </a:ext>
              </a:extLst>
            </p:cNvPr>
            <p:cNvGrpSpPr/>
            <p:nvPr/>
          </p:nvGrpSpPr>
          <p:grpSpPr>
            <a:xfrm>
              <a:off x="3518675" y="2776495"/>
              <a:ext cx="2660658" cy="2261370"/>
              <a:chOff x="3431097" y="1987172"/>
              <a:chExt cx="3482605" cy="2744220"/>
            </a:xfrm>
          </p:grpSpPr>
          <p:cxnSp>
            <p:nvCxnSpPr>
              <p:cNvPr id="55" name="직선 화살표 연결선 54">
                <a:extLst>
                  <a:ext uri="{FF2B5EF4-FFF2-40B4-BE49-F238E27FC236}">
                    <a16:creationId xmlns:a16="http://schemas.microsoft.com/office/drawing/2014/main" id="{30E65A28-58EB-47D7-B7A4-E17F25929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6776A11E-6C03-4CD6-87D9-21E83AADDE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136855FB-94B1-45FF-84BE-1B07AC7AF560}"/>
                </a:ext>
              </a:extLst>
            </p:cNvPr>
            <p:cNvCxnSpPr>
              <a:cxnSpLocks/>
            </p:cNvCxnSpPr>
            <p:nvPr/>
          </p:nvCxnSpPr>
          <p:spPr>
            <a:xfrm>
              <a:off x="3874208" y="3201734"/>
              <a:ext cx="1566956" cy="169366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6E7CAB8-3EA3-43B8-BE2D-F860CA4F28E7}"/>
                </a:ext>
              </a:extLst>
            </p:cNvPr>
            <p:cNvCxnSpPr>
              <a:cxnSpLocks/>
            </p:cNvCxnSpPr>
            <p:nvPr/>
          </p:nvCxnSpPr>
          <p:spPr>
            <a:xfrm>
              <a:off x="4144981" y="3016391"/>
              <a:ext cx="1566956" cy="169366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8998F3FD-1F64-4C9D-97FE-D5D5CA73E99E}"/>
                </a:ext>
              </a:extLst>
            </p:cNvPr>
            <p:cNvGrpSpPr/>
            <p:nvPr/>
          </p:nvGrpSpPr>
          <p:grpSpPr>
            <a:xfrm>
              <a:off x="3686527" y="4050287"/>
              <a:ext cx="583218" cy="881414"/>
              <a:chOff x="3665996" y="2686332"/>
              <a:chExt cx="763389" cy="1069614"/>
            </a:xfrm>
            <a:solidFill>
              <a:srgbClr val="2C6FAD"/>
            </a:solidFill>
          </p:grpSpPr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8D4E7DA7-F2A6-45FF-A63F-55F33AA3B0C9}"/>
                  </a:ext>
                </a:extLst>
              </p:cNvPr>
              <p:cNvSpPr/>
              <p:nvPr/>
            </p:nvSpPr>
            <p:spPr>
              <a:xfrm>
                <a:off x="3758272" y="304531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DEE9617D-ABC2-41A3-8400-73FD7FFF43CD}"/>
                  </a:ext>
                </a:extLst>
              </p:cNvPr>
              <p:cNvSpPr/>
              <p:nvPr/>
            </p:nvSpPr>
            <p:spPr>
              <a:xfrm>
                <a:off x="3665996" y="3628023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CE485C1D-9419-4CB3-A671-0ADD3B36F80F}"/>
                  </a:ext>
                </a:extLst>
              </p:cNvPr>
              <p:cNvSpPr/>
              <p:nvPr/>
            </p:nvSpPr>
            <p:spPr>
              <a:xfrm>
                <a:off x="4177723" y="3482638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B84B2880-D6CB-4AE1-83EB-2B21362BFD2F}"/>
                  </a:ext>
                </a:extLst>
              </p:cNvPr>
              <p:cNvSpPr/>
              <p:nvPr/>
            </p:nvSpPr>
            <p:spPr>
              <a:xfrm>
                <a:off x="4211277" y="3119517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5575EDA8-BD1D-4D48-9B2F-92C3FF22CD93}"/>
                  </a:ext>
                </a:extLst>
              </p:cNvPr>
              <p:cNvSpPr/>
              <p:nvPr/>
            </p:nvSpPr>
            <p:spPr>
              <a:xfrm>
                <a:off x="4303554" y="268633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6F263DC9-40D0-457E-A47E-132397C40F15}"/>
                </a:ext>
              </a:extLst>
            </p:cNvPr>
            <p:cNvCxnSpPr>
              <a:cxnSpLocks/>
            </p:cNvCxnSpPr>
            <p:nvPr/>
          </p:nvCxnSpPr>
          <p:spPr>
            <a:xfrm>
              <a:off x="3587684" y="3374998"/>
              <a:ext cx="1566956" cy="169366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50976CC9-89DE-44C7-8386-4FB17746902C}"/>
                </a:ext>
              </a:extLst>
            </p:cNvPr>
            <p:cNvCxnSpPr>
              <a:cxnSpLocks/>
            </p:cNvCxnSpPr>
            <p:nvPr/>
          </p:nvCxnSpPr>
          <p:spPr>
            <a:xfrm>
              <a:off x="4929311" y="3836887"/>
              <a:ext cx="576589" cy="19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6096F062-9FCF-4811-9915-17C688AEDBBC}"/>
                </a:ext>
              </a:extLst>
            </p:cNvPr>
            <p:cNvCxnSpPr>
              <a:cxnSpLocks/>
            </p:cNvCxnSpPr>
            <p:nvPr/>
          </p:nvCxnSpPr>
          <p:spPr>
            <a:xfrm>
              <a:off x="4220299" y="4102093"/>
              <a:ext cx="1267552" cy="50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31DB8C0-48C6-4D41-8F28-5DF2F31F4122}"/>
                </a:ext>
              </a:extLst>
            </p:cNvPr>
            <p:cNvSpPr txBox="1"/>
            <p:nvPr/>
          </p:nvSpPr>
          <p:spPr>
            <a:xfrm>
              <a:off x="5526168" y="3924852"/>
              <a:ext cx="871200" cy="457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800"/>
                <a:t>Support</a:t>
              </a:r>
            </a:p>
            <a:p>
              <a:pPr algn="l"/>
              <a:r>
                <a:rPr lang="en-US" altLang="ko-KR" sz="800"/>
                <a:t>Vector</a:t>
              </a:r>
              <a:endParaRPr lang="ko-KR" altLang="en-US" sz="800"/>
            </a:p>
          </p:txBody>
        </p:sp>
      </p:grpSp>
    </p:spTree>
    <p:extLst>
      <p:ext uri="{BB962C8B-B14F-4D97-AF65-F5344CB8AC3E}">
        <p14:creationId xmlns:p14="http://schemas.microsoft.com/office/powerpoint/2010/main" val="460192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CBE487-8221-40F5-B74B-CC0B9DD86EF0}"/>
                  </a:ext>
                </a:extLst>
              </p:cNvPr>
              <p:cNvSpPr txBox="1"/>
              <p:nvPr/>
            </p:nvSpPr>
            <p:spPr>
              <a:xfrm>
                <a:off x="293622" y="1278952"/>
                <a:ext cx="6618906" cy="264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인 경우만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ko-KR" altLang="en-US" sz="1100"/>
                  <a:t>임으로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CBE487-8221-40F5-B74B-CC0B9DD86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22" y="1278952"/>
                <a:ext cx="6618906" cy="264816"/>
              </a:xfrm>
              <a:prstGeom prst="rect">
                <a:avLst/>
              </a:prstGeom>
              <a:blipFill>
                <a:blip r:embed="rId3"/>
                <a:stretch>
                  <a:fillRect t="-2326" b="-16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표 35">
                <a:extLst>
                  <a:ext uri="{FF2B5EF4-FFF2-40B4-BE49-F238E27FC236}">
                    <a16:creationId xmlns:a16="http://schemas.microsoft.com/office/drawing/2014/main" id="{4B05B391-3583-4074-871B-B0AF9D4314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8444180"/>
                  </p:ext>
                </p:extLst>
              </p:nvPr>
            </p:nvGraphicFramePr>
            <p:xfrm>
              <a:off x="3138485" y="1549175"/>
              <a:ext cx="1898708" cy="5466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8708">
                      <a:extLst>
                        <a:ext uri="{9D8B030D-6E8A-4147-A177-3AD203B41FA5}">
                          <a16:colId xmlns:a16="http://schemas.microsoft.com/office/drawing/2014/main" val="31792807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/>
                                  <m:t>𝑤</m:t>
                                </m:r>
                                <m:r>
                                  <a:rPr lang="en-US" altLang="ko-KR" sz="1100" b="0" smtClean="0"/>
                                  <m:t>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/>
                                      <m:t>𝑖</m:t>
                                    </m:r>
                                    <m:r>
                                      <a:rPr lang="en-US" altLang="ko-KR" sz="1100" b="0" smtClean="0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/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smtClean="0"/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b="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/>
                                      <m:t>𝑖</m:t>
                                    </m:r>
                                    <m:r>
                                      <a:rPr lang="en-US" altLang="ko-KR" sz="1100" b="0" smtClean="0"/>
                                      <m:t>∈</m:t>
                                    </m:r>
                                    <m:r>
                                      <a:rPr lang="en-US" altLang="ko-KR" sz="1100" b="0" smtClean="0"/>
                                      <m:t>𝑠𝑣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5491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표 35">
                <a:extLst>
                  <a:ext uri="{FF2B5EF4-FFF2-40B4-BE49-F238E27FC236}">
                    <a16:creationId xmlns:a16="http://schemas.microsoft.com/office/drawing/2014/main" id="{4B05B391-3583-4074-871B-B0AF9D4314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8444180"/>
                  </p:ext>
                </p:extLst>
              </p:nvPr>
            </p:nvGraphicFramePr>
            <p:xfrm>
              <a:off x="3138485" y="1549175"/>
              <a:ext cx="1898708" cy="5466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8708">
                      <a:extLst>
                        <a:ext uri="{9D8B030D-6E8A-4147-A177-3AD203B41FA5}">
                          <a16:colId xmlns:a16="http://schemas.microsoft.com/office/drawing/2014/main" val="3179280742"/>
                        </a:ext>
                      </a:extLst>
                    </a:gridCol>
                  </a:tblGrid>
                  <a:tr h="54667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96667" b="-1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491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9ED1D91-3598-4698-B149-7440511516F0}"/>
                  </a:ext>
                </a:extLst>
              </p:cNvPr>
              <p:cNvSpPr txBox="1"/>
              <p:nvPr/>
            </p:nvSpPr>
            <p:spPr>
              <a:xfrm>
                <a:off x="293621" y="2223083"/>
                <a:ext cx="7709475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값을 구할 때 모든 데이터들의 값을 영향받지 않고 </a:t>
                </a:r>
                <a:r>
                  <a:rPr lang="en-US" altLang="ko-KR" sz="1100"/>
                  <a:t>SV(Support Vector)</a:t>
                </a:r>
                <a:r>
                  <a:rPr lang="ko-KR" altLang="en-US" sz="1100"/>
                  <a:t>값들로만 영향을 받음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일 때만 </a:t>
                </a:r>
                <a:r>
                  <a:rPr lang="en-US" altLang="ko-KR" sz="1100"/>
                  <a:t>optimal hyperplane(decision boundary)</a:t>
                </a:r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또한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임의의 </a:t>
                </a:r>
                <a:r>
                  <a:rPr lang="en-US" altLang="ko-KR" sz="1100"/>
                  <a:t>SV</a:t>
                </a:r>
                <a:r>
                  <a:rPr lang="ko-KR" altLang="en-US" sz="1100"/>
                  <a:t>를 이용하여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SV</a:t>
                </a:r>
                <a:r>
                  <a:rPr lang="ko-KR" altLang="en-US" sz="1100"/>
                  <a:t>에 값을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𝑠𝑣</m:t>
                        </m:r>
                      </m:sub>
                    </m:sSub>
                  </m:oMath>
                </a14:m>
                <a:r>
                  <a:rPr lang="ko-KR" altLang="en-US" sz="1100"/>
                  <a:t>넣으면</a:t>
                </a:r>
                <a:r>
                  <a:rPr lang="en-US" altLang="ko-KR" sz="110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ko-KR" altLang="en-US" sz="110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𝑠𝑣</m:t>
                        </m:r>
                      </m:sub>
                    </m:sSub>
                  </m:oMath>
                </a14:m>
                <a:r>
                  <a:rPr lang="ko-KR" altLang="en-US" sz="1100"/>
                  <a:t>의값</a:t>
                </a:r>
                <a:r>
                  <a:rPr lang="en-US" altLang="ko-KR" sz="1100"/>
                  <a:t>(-1 OR 1)</a:t>
                </a:r>
                <a:r>
                  <a:rPr lang="ko-KR" altLang="en-US" sz="1100"/>
                  <a:t>을 알기때문에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의값을 알 수 있다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endParaRPr lang="ko-KR" altLang="en-US" sz="110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9ED1D91-3598-4698-B149-744051151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21" y="2223083"/>
                <a:ext cx="7709475" cy="1446550"/>
              </a:xfrm>
              <a:prstGeom prst="rect">
                <a:avLst/>
              </a:prstGeom>
              <a:blipFill>
                <a:blip r:embed="rId5"/>
                <a:stretch>
                  <a:fillRect t="-4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7" name="표 37">
                <a:extLst>
                  <a:ext uri="{FF2B5EF4-FFF2-40B4-BE49-F238E27FC236}">
                    <a16:creationId xmlns:a16="http://schemas.microsoft.com/office/drawing/2014/main" id="{726A49D5-2CD5-4B84-8540-EBDCFDC98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9470525"/>
                  </p:ext>
                </p:extLst>
              </p:nvPr>
            </p:nvGraphicFramePr>
            <p:xfrm>
              <a:off x="3138485" y="3587144"/>
              <a:ext cx="2481347" cy="109321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81347">
                      <a:extLst>
                        <a:ext uri="{9D8B030D-6E8A-4147-A177-3AD203B41FA5}">
                          <a16:colId xmlns:a16="http://schemas.microsoft.com/office/drawing/2014/main" val="52433757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smtClean="0"/>
                                    </m:ctrlPr>
                                  </m:sSupPr>
                                  <m:e>
                                    <m:r>
                                      <a:rPr lang="en-US" altLang="ko-KR" sz="1100" b="0" smtClean="0"/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smtClean="0"/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  <m:t>sv</m:t>
                                    </m:r>
                                  </m:sub>
                                </m:sSub>
                                <m:r>
                                  <a:rPr lang="en-US" altLang="ko-KR" sz="1100" b="0" smtClean="0"/>
                                  <m:t>+</m:t>
                                </m:r>
                                <m:r>
                                  <a:rPr lang="en-US" altLang="ko-KR" sz="1100" b="0" smtClean="0"/>
                                  <m:t>𝑏</m:t>
                                </m:r>
                                <m:r>
                                  <a:rPr lang="en-US" altLang="ko-KR" sz="1100" b="0" smtClean="0"/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ko-KR" altLang="en-US" sz="110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/>
                                      <m:t>𝑖</m:t>
                                    </m:r>
                                    <m:r>
                                      <a:rPr lang="en-US" altLang="ko-KR" sz="1100" b="0" smtClean="0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/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smtClean="0"/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/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𝑠𝑣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/>
                                      <m:t>+</m:t>
                                    </m:r>
                                    <m:r>
                                      <a:rPr lang="en-US" altLang="ko-KR" sz="1100" b="0" smtClean="0"/>
                                      <m:t>𝑏</m:t>
                                    </m:r>
                                    <m:r>
                                      <a:rPr lang="en-US" altLang="ko-KR" sz="1100" b="0" smtClean="0"/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𝑠𝑣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71566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/>
                                  <m:t>𝑏</m:t>
                                </m:r>
                                <m:r>
                                  <a:rPr lang="en-US" altLang="ko-KR" sz="1100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1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/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 b="0" smtClean="0"/>
                                      <m:t>𝑠𝑣</m:t>
                                    </m:r>
                                  </m:sub>
                                </m:sSub>
                                <m:r>
                                  <a:rPr lang="en-US" altLang="ko-KR" sz="1100" b="0" smtClean="0"/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ko-KR" altLang="en-US" sz="110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/>
                                      <m:t>𝑖</m:t>
                                    </m:r>
                                    <m:r>
                                      <a:rPr lang="en-US" altLang="ko-KR" sz="1100" b="0" smtClean="0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/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smtClean="0"/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/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𝑠𝑣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7284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7" name="표 37">
                <a:extLst>
                  <a:ext uri="{FF2B5EF4-FFF2-40B4-BE49-F238E27FC236}">
                    <a16:creationId xmlns:a16="http://schemas.microsoft.com/office/drawing/2014/main" id="{726A49D5-2CD5-4B84-8540-EBDCFDC98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9470525"/>
                  </p:ext>
                </p:extLst>
              </p:nvPr>
            </p:nvGraphicFramePr>
            <p:xfrm>
              <a:off x="3138485" y="3587144"/>
              <a:ext cx="2481347" cy="109321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81347">
                      <a:extLst>
                        <a:ext uri="{9D8B030D-6E8A-4147-A177-3AD203B41FA5}">
                          <a16:colId xmlns:a16="http://schemas.microsoft.com/office/drawing/2014/main" val="524337572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6667" b="-2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7156655"/>
                      </a:ext>
                    </a:extLst>
                  </a:tr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96667" b="-1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7284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B75D61-16A0-42B9-B3AE-5EE6615865E3}"/>
                  </a:ext>
                </a:extLst>
              </p:cNvPr>
              <p:cNvSpPr txBox="1"/>
              <p:nvPr/>
            </p:nvSpPr>
            <p:spPr>
              <a:xfrm>
                <a:off x="234891" y="4942425"/>
                <a:ext cx="6409189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새로운 데이터로 부터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와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의값을 계산 했다면 새로운 데이터에 대한 분류를 시행 할 수 있음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오른쪽 그림과 같이 </a:t>
                </a:r>
                <a:r>
                  <a:rPr lang="en-US" altLang="ko-KR" sz="1100"/>
                  <a:t>hyper plane</a:t>
                </a:r>
                <a:r>
                  <a:rPr lang="ko-KR" altLang="en-US" sz="1100"/>
                  <a:t>보다 아래있는 경우 </a:t>
                </a:r>
                <a:r>
                  <a:rPr lang="en-US" altLang="ko-KR" sz="1100"/>
                  <a:t>–</a:t>
                </a:r>
                <a:r>
                  <a:rPr lang="ko-KR" altLang="en-US" sz="1100"/>
                  <a:t>영역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위에 있는경우 </a:t>
                </a:r>
                <a:r>
                  <a:rPr lang="en-US" altLang="ko-KR" sz="1100"/>
                  <a:t>+</a:t>
                </a:r>
                <a:r>
                  <a:rPr lang="ko-KR" altLang="en-US" sz="1100"/>
                  <a:t>영역인걸 알 수 있음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endParaRPr lang="ko-KR" altLang="en-US" sz="110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B75D61-16A0-42B9-B3AE-5EE66158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91" y="4942425"/>
                <a:ext cx="6409189" cy="600164"/>
              </a:xfrm>
              <a:prstGeom prst="rect">
                <a:avLst/>
              </a:prstGeom>
              <a:blipFill>
                <a:blip r:embed="rId7"/>
                <a:stretch>
                  <a:fillRect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그룹 62">
            <a:extLst>
              <a:ext uri="{FF2B5EF4-FFF2-40B4-BE49-F238E27FC236}">
                <a16:creationId xmlns:a16="http://schemas.microsoft.com/office/drawing/2014/main" id="{E5D410E3-14A4-445D-B043-737A9EEBC319}"/>
              </a:ext>
            </a:extLst>
          </p:cNvPr>
          <p:cNvGrpSpPr/>
          <p:nvPr/>
        </p:nvGrpSpPr>
        <p:grpSpPr>
          <a:xfrm>
            <a:off x="6592958" y="4531197"/>
            <a:ext cx="2127623" cy="1696427"/>
            <a:chOff x="6592958" y="4531197"/>
            <a:chExt cx="2127623" cy="1696427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FC4E5833-FA5F-4022-9894-B3C7021E851D}"/>
                </a:ext>
              </a:extLst>
            </p:cNvPr>
            <p:cNvGrpSpPr/>
            <p:nvPr/>
          </p:nvGrpSpPr>
          <p:grpSpPr>
            <a:xfrm>
              <a:off x="6592958" y="4531197"/>
              <a:ext cx="2127623" cy="1696427"/>
              <a:chOff x="3518675" y="2776495"/>
              <a:chExt cx="2878693" cy="2292172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618B61D8-D03D-442E-8826-6F1BF404BA4D}"/>
                  </a:ext>
                </a:extLst>
              </p:cNvPr>
              <p:cNvGrpSpPr/>
              <p:nvPr/>
            </p:nvGrpSpPr>
            <p:grpSpPr>
              <a:xfrm>
                <a:off x="4870469" y="3201734"/>
                <a:ext cx="873554" cy="645957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56" name="이등변 삼각형 55">
                  <a:extLst>
                    <a:ext uri="{FF2B5EF4-FFF2-40B4-BE49-F238E27FC236}">
                      <a16:creationId xmlns:a16="http://schemas.microsoft.com/office/drawing/2014/main" id="{EE9071D0-2682-4B5A-B61F-96BD3E7EBBC6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이등변 삼각형 56">
                  <a:extLst>
                    <a:ext uri="{FF2B5EF4-FFF2-40B4-BE49-F238E27FC236}">
                      <a16:creationId xmlns:a16="http://schemas.microsoft.com/office/drawing/2014/main" id="{2F580893-97AF-4942-A9B4-18426B76AD1F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이등변 삼각형 57">
                  <a:extLst>
                    <a:ext uri="{FF2B5EF4-FFF2-40B4-BE49-F238E27FC236}">
                      <a16:creationId xmlns:a16="http://schemas.microsoft.com/office/drawing/2014/main" id="{1B8AD66B-39D5-4199-ADFC-BD6F1C3AD3EF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이등변 삼각형 58">
                  <a:extLst>
                    <a:ext uri="{FF2B5EF4-FFF2-40B4-BE49-F238E27FC236}">
                      <a16:creationId xmlns:a16="http://schemas.microsoft.com/office/drawing/2014/main" id="{B5BBA928-0D93-4BDB-A311-1CEA490373D9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이등변 삼각형 59">
                  <a:extLst>
                    <a:ext uri="{FF2B5EF4-FFF2-40B4-BE49-F238E27FC236}">
                      <a16:creationId xmlns:a16="http://schemas.microsoft.com/office/drawing/2014/main" id="{211B9CE2-A660-4556-8B30-C5D33496027C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B039D0E6-D2B4-4E1B-8986-FF148F8291B4}"/>
                  </a:ext>
                </a:extLst>
              </p:cNvPr>
              <p:cNvGrpSpPr/>
              <p:nvPr/>
            </p:nvGrpSpPr>
            <p:grpSpPr>
              <a:xfrm>
                <a:off x="3518675" y="2776495"/>
                <a:ext cx="2660658" cy="2261370"/>
                <a:chOff x="3431097" y="1987172"/>
                <a:chExt cx="3482605" cy="2744220"/>
              </a:xfrm>
            </p:grpSpPr>
            <p:cxnSp>
              <p:nvCxnSpPr>
                <p:cNvPr id="54" name="직선 화살표 연결선 53">
                  <a:extLst>
                    <a:ext uri="{FF2B5EF4-FFF2-40B4-BE49-F238E27FC236}">
                      <a16:creationId xmlns:a16="http://schemas.microsoft.com/office/drawing/2014/main" id="{E5F0D79E-D4F3-4816-85D5-89682D47AF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37E91C96-AE0B-4362-9ECA-7C1889722F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6511428B-2303-4F05-8E28-65BDB8FE2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4208" y="3201734"/>
                <a:ext cx="1566956" cy="169366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76B24611-D7E4-47CA-85A5-C2B996DD2C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981" y="3016391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4AB96D8A-0E23-4ABB-82A5-D734A79D3D7B}"/>
                  </a:ext>
                </a:extLst>
              </p:cNvPr>
              <p:cNvGrpSpPr/>
              <p:nvPr/>
            </p:nvGrpSpPr>
            <p:grpSpPr>
              <a:xfrm>
                <a:off x="3686528" y="4050287"/>
                <a:ext cx="1162476" cy="881414"/>
                <a:chOff x="3665996" y="2686332"/>
                <a:chExt cx="1521594" cy="1069614"/>
              </a:xfrm>
              <a:solidFill>
                <a:srgbClr val="2C6FAD"/>
              </a:solidFill>
            </p:grpSpPr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A9DF78E2-3CC4-4501-A92A-4A86B0F4A285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8C92F556-72B9-4DCB-AA68-60D250EA7A62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19A0B821-42AE-430B-BA4F-0331F3C0532A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2DFB0050-D84A-4EAA-A1B8-3E4E41100B05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1BF62920-C09D-4DCC-973A-605D82524DF8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DDD2EA72-2974-4C7F-8B5D-6EA57142ECE0}"/>
                    </a:ext>
                  </a:extLst>
                </p:cNvPr>
                <p:cNvSpPr/>
                <p:nvPr/>
              </p:nvSpPr>
              <p:spPr>
                <a:xfrm>
                  <a:off x="5061760" y="3112808"/>
                  <a:ext cx="125830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89F4E664-CF00-4438-816F-5E8B6B4FAD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7684" y="3374998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6" name="직선 화살표 연결선 45">
                <a:extLst>
                  <a:ext uri="{FF2B5EF4-FFF2-40B4-BE49-F238E27FC236}">
                    <a16:creationId xmlns:a16="http://schemas.microsoft.com/office/drawing/2014/main" id="{FC060D83-0A00-4573-9B1F-1C27A8BA12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311" y="3836887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2606E741-E7A7-4AAA-B839-346848FAF1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299" y="4102093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3B53528-7D8D-461E-9E3C-6E6BCEA2F9B9}"/>
                  </a:ext>
                </a:extLst>
              </p:cNvPr>
              <p:cNvSpPr txBox="1"/>
              <p:nvPr/>
            </p:nvSpPr>
            <p:spPr>
              <a:xfrm>
                <a:off x="5526168" y="3924852"/>
                <a:ext cx="871200" cy="45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sp>
          <p:nvSpPr>
            <p:cNvPr id="61" name="이등변 삼각형 60">
              <a:extLst>
                <a:ext uri="{FF2B5EF4-FFF2-40B4-BE49-F238E27FC236}">
                  <a16:creationId xmlns:a16="http://schemas.microsoft.com/office/drawing/2014/main" id="{05FDB980-E97F-4608-8494-8C62AAFA421D}"/>
                </a:ext>
              </a:extLst>
            </p:cNvPr>
            <p:cNvSpPr/>
            <p:nvPr/>
          </p:nvSpPr>
          <p:spPr>
            <a:xfrm>
              <a:off x="7271953" y="505442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6" name="표 66">
                <a:extLst>
                  <a:ext uri="{FF2B5EF4-FFF2-40B4-BE49-F238E27FC236}">
                    <a16:creationId xmlns:a16="http://schemas.microsoft.com/office/drawing/2014/main" id="{1AEB0C9A-9946-463A-A961-49953692C6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249574"/>
                  </p:ext>
                </p:extLst>
              </p:nvPr>
            </p:nvGraphicFramePr>
            <p:xfrm>
              <a:off x="3170397" y="5603881"/>
              <a:ext cx="3628622" cy="5181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93653">
                      <a:extLst>
                        <a:ext uri="{9D8B030D-6E8A-4147-A177-3AD203B41FA5}">
                          <a16:colId xmlns:a16="http://schemas.microsoft.com/office/drawing/2014/main" val="3693247277"/>
                        </a:ext>
                      </a:extLst>
                    </a:gridCol>
                    <a:gridCol w="2334969">
                      <a:extLst>
                        <a:ext uri="{9D8B030D-6E8A-4147-A177-3AD203B41FA5}">
                          <a16:colId xmlns:a16="http://schemas.microsoft.com/office/drawing/2014/main" val="4189599739"/>
                        </a:ext>
                      </a:extLst>
                    </a:gridCol>
                  </a:tblGrid>
                  <a:tr h="20561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smtClean="0"/>
                                    </m:ctrlPr>
                                  </m:sSup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1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768329"/>
                      </a:ext>
                    </a:extLst>
                  </a:tr>
                  <a:tr h="2056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smtClean="0"/>
                                    </m:ctrlPr>
                                  </m:sSup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2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3037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6" name="표 66">
                <a:extLst>
                  <a:ext uri="{FF2B5EF4-FFF2-40B4-BE49-F238E27FC236}">
                    <a16:creationId xmlns:a16="http://schemas.microsoft.com/office/drawing/2014/main" id="{1AEB0C9A-9946-463A-A961-49953692C6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249574"/>
                  </p:ext>
                </p:extLst>
              </p:nvPr>
            </p:nvGraphicFramePr>
            <p:xfrm>
              <a:off x="3170397" y="5603881"/>
              <a:ext cx="3628622" cy="5181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93653">
                      <a:extLst>
                        <a:ext uri="{9D8B030D-6E8A-4147-A177-3AD203B41FA5}">
                          <a16:colId xmlns:a16="http://schemas.microsoft.com/office/drawing/2014/main" val="3693247277"/>
                        </a:ext>
                      </a:extLst>
                    </a:gridCol>
                    <a:gridCol w="2334969">
                      <a:extLst>
                        <a:ext uri="{9D8B030D-6E8A-4147-A177-3AD203B41FA5}">
                          <a16:colId xmlns:a16="http://schemas.microsoft.com/office/drawing/2014/main" val="418959973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t="-2326" r="-181132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1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7683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t="-102326" r="-181132" b="-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2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3037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DAC520A8-BD17-45D1-99F8-7125663B717E}"/>
              </a:ext>
            </a:extLst>
          </p:cNvPr>
          <p:cNvSpPr txBox="1"/>
          <p:nvPr/>
        </p:nvSpPr>
        <p:spPr>
          <a:xfrm>
            <a:off x="7592060" y="4464050"/>
            <a:ext cx="5622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/>
              <a:t>Class 2</a:t>
            </a:r>
            <a:endParaRPr lang="ko-KR" altLang="en-US" sz="8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5E9559-93C3-43D5-A4AB-0647A2A40182}"/>
              </a:ext>
            </a:extLst>
          </p:cNvPr>
          <p:cNvSpPr txBox="1"/>
          <p:nvPr/>
        </p:nvSpPr>
        <p:spPr>
          <a:xfrm>
            <a:off x="7055495" y="6009645"/>
            <a:ext cx="5622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/>
              <a:t>Class 1</a:t>
            </a:r>
            <a:endParaRPr lang="ko-KR" altLang="en-US" sz="8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16F488-01FF-47A3-85DB-3E762ECA0872}"/>
              </a:ext>
            </a:extLst>
          </p:cNvPr>
          <p:cNvSpPr txBox="1"/>
          <p:nvPr/>
        </p:nvSpPr>
        <p:spPr>
          <a:xfrm>
            <a:off x="293621" y="6250731"/>
            <a:ext cx="5935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오른쪽 그림처럼 </a:t>
            </a:r>
            <a:r>
              <a:rPr lang="en-US" altLang="ko-KR" sz="1100"/>
              <a:t>Hard Margin</a:t>
            </a:r>
            <a:r>
              <a:rPr lang="ko-KR" altLang="en-US" sz="1100"/>
              <a:t>이기 때문에 </a:t>
            </a:r>
            <a:r>
              <a:rPr lang="en-US" altLang="ko-KR" sz="1100"/>
              <a:t>hyperplane</a:t>
            </a:r>
            <a:r>
              <a:rPr lang="ko-KR" altLang="en-US" sz="1100"/>
              <a:t>안에 있는 점들은 분류할 수 없게 됨 </a:t>
            </a:r>
            <a:r>
              <a:rPr lang="en-US" altLang="ko-KR" sz="1100"/>
              <a:t>-&gt; soft margin </a:t>
            </a:r>
            <a:r>
              <a:rPr lang="ko-KR" altLang="en-US" sz="1100"/>
              <a:t>사용</a:t>
            </a:r>
          </a:p>
        </p:txBody>
      </p:sp>
    </p:spTree>
    <p:extLst>
      <p:ext uri="{BB962C8B-B14F-4D97-AF65-F5344CB8AC3E}">
        <p14:creationId xmlns:p14="http://schemas.microsoft.com/office/powerpoint/2010/main" val="3570134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6733E1-C825-4ED4-8B00-F1D93D6D9BB1}"/>
                  </a:ext>
                </a:extLst>
              </p:cNvPr>
              <p:cNvSpPr txBox="1"/>
              <p:nvPr/>
            </p:nvSpPr>
            <p:spPr>
              <a:xfrm>
                <a:off x="293622" y="1278952"/>
                <a:ext cx="6618906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Soft Margin</a:t>
                </a:r>
                <a:r>
                  <a:rPr lang="ko-KR" altLang="en-US" sz="1100"/>
                  <a:t>과 </a:t>
                </a:r>
                <a:r>
                  <a:rPr lang="en-US" altLang="ko-KR" sz="1100"/>
                  <a:t>Hard Margin</a:t>
                </a:r>
                <a:r>
                  <a:rPr lang="ko-KR" altLang="en-US" sz="1100"/>
                  <a:t>의 차이점은 에러를 어느정도 허용한다는 것이다 여기서 </a:t>
                </a:r>
                <a:r>
                  <a:rPr lang="en-US" altLang="ko-KR" sz="1100"/>
                  <a:t>error</a:t>
                </a:r>
                <a:r>
                  <a:rPr lang="ko-KR" altLang="en-US" sz="1100"/>
                  <a:t>는</a:t>
                </a:r>
                <a:r>
                  <a:rPr lang="en-US" altLang="ko-KR" sz="1100"/>
                  <a:t>slack variable</a:t>
                </a:r>
                <a:r>
                  <a:rPr lang="ko-KR" altLang="en-US" sz="1100"/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100"/>
                  <a:t>를 나타낸다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Slack variable</a:t>
                </a:r>
                <a:r>
                  <a:rPr lang="ko-KR" altLang="en-US" sz="1100"/>
                  <a:t>은 </a:t>
                </a:r>
                <a:r>
                  <a:rPr lang="en-US" altLang="ko-KR" sz="1100"/>
                  <a:t>hyperplane</a:t>
                </a:r>
                <a:r>
                  <a:rPr lang="ko-KR" altLang="en-US" sz="1100"/>
                  <a:t>을 기준으로 반대 방향에 잘못 존재하는 </a:t>
                </a:r>
                <a:r>
                  <a:rPr lang="en-US" altLang="ko-KR" sz="1100"/>
                  <a:t>data</a:t>
                </a:r>
                <a:r>
                  <a:rPr lang="ko-KR" altLang="en-US" sz="1100"/>
                  <a:t>를 다루기 위해 존재한다</a:t>
                </a:r>
                <a:r>
                  <a:rPr lang="en-US" altLang="ko-KR" sz="110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Slack</a:t>
                </a:r>
                <a:r>
                  <a:rPr lang="ko-KR" altLang="en-US" sz="1100"/>
                  <a:t>변수를 추가하게 되면 목적함수의 식은 다음과 같다</a:t>
                </a:r>
                <a:r>
                  <a:rPr lang="en-US" altLang="ko-KR" sz="1100"/>
                  <a:t>.</a:t>
                </a:r>
                <a:endParaRPr lang="ko-KR" altLang="en-US" sz="11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6733E1-C825-4ED4-8B00-F1D93D6D9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22" y="1278952"/>
                <a:ext cx="6618906" cy="769441"/>
              </a:xfrm>
              <a:prstGeom prst="rect">
                <a:avLst/>
              </a:prstGeom>
              <a:blipFill>
                <a:blip r:embed="rId3"/>
                <a:stretch>
                  <a:fillRect t="-794" b="-4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4">
                <a:extLst>
                  <a:ext uri="{FF2B5EF4-FFF2-40B4-BE49-F238E27FC236}">
                    <a16:creationId xmlns:a16="http://schemas.microsoft.com/office/drawing/2014/main" id="{ABD3CD24-3F00-4EB7-B10A-D5513DC60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2311328"/>
                  </p:ext>
                </p:extLst>
              </p:nvPr>
            </p:nvGraphicFramePr>
            <p:xfrm>
              <a:off x="3137326" y="2023342"/>
              <a:ext cx="3802380" cy="4973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5154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2337226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4">
                <a:extLst>
                  <a:ext uri="{FF2B5EF4-FFF2-40B4-BE49-F238E27FC236}">
                    <a16:creationId xmlns:a16="http://schemas.microsoft.com/office/drawing/2014/main" id="{ABD3CD24-3F00-4EB7-B10A-D5513DC60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2311328"/>
                  </p:ext>
                </p:extLst>
              </p:nvPr>
            </p:nvGraphicFramePr>
            <p:xfrm>
              <a:off x="3137326" y="2023342"/>
              <a:ext cx="3802380" cy="4973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5154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2337226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49739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3253" r="-159336" b="-1590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E7A1334-F26C-4CD0-B2A2-01AA6BC33DE5}"/>
              </a:ext>
            </a:extLst>
          </p:cNvPr>
          <p:cNvSpPr txBox="1"/>
          <p:nvPr/>
        </p:nvSpPr>
        <p:spPr>
          <a:xfrm>
            <a:off x="293622" y="2382473"/>
            <a:ext cx="68286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SVM</a:t>
            </a:r>
            <a:r>
              <a:rPr lang="ko-KR" altLang="en-US" sz="1100"/>
              <a:t>은 분류할때 일반적으로 </a:t>
            </a:r>
            <a:r>
              <a:rPr lang="en-US" altLang="ko-KR" sz="1100"/>
              <a:t>Margin</a:t>
            </a:r>
            <a:r>
              <a:rPr lang="ko-KR" altLang="en-US" sz="1100"/>
              <a:t>을 크게 가져가는 방향으로 진행한다</a:t>
            </a:r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Margin</a:t>
            </a:r>
            <a:r>
              <a:rPr lang="ko-KR" altLang="en-US" sz="1100"/>
              <a:t>이 작은 분류기보다 </a:t>
            </a:r>
            <a:r>
              <a:rPr lang="en-US" altLang="ko-KR" sz="1100"/>
              <a:t>error</a:t>
            </a:r>
            <a:r>
              <a:rPr lang="ko-KR" altLang="en-US" sz="1100"/>
              <a:t>가 있어도 </a:t>
            </a:r>
            <a:r>
              <a:rPr lang="en-US" altLang="ko-KR" sz="1100"/>
              <a:t>Margin</a:t>
            </a:r>
            <a:r>
              <a:rPr lang="ko-KR" altLang="en-US" sz="1100"/>
              <a:t>이 큰 분류기를 선호함</a:t>
            </a:r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=&gt;</a:t>
            </a:r>
            <a:r>
              <a:rPr lang="ko-KR" altLang="en-US" sz="1100"/>
              <a:t> </a:t>
            </a:r>
            <a:r>
              <a:rPr lang="en-US" altLang="ko-KR" sz="1100"/>
              <a:t>Margin</a:t>
            </a:r>
            <a:r>
              <a:rPr lang="ko-KR" altLang="en-US" sz="1100"/>
              <a:t>이 큰 분류기가 새로운 </a:t>
            </a:r>
            <a:r>
              <a:rPr lang="en-US" altLang="ko-KR" sz="1100"/>
              <a:t>data</a:t>
            </a:r>
            <a:r>
              <a:rPr lang="ko-KR" altLang="en-US" sz="1100"/>
              <a:t>에 대한 예측의 정확도가 높기 때문이다</a:t>
            </a:r>
            <a:r>
              <a:rPr lang="en-US" altLang="ko-KR" sz="1100"/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Margin</a:t>
            </a:r>
            <a:r>
              <a:rPr lang="ko-KR" altLang="en-US" sz="1100"/>
              <a:t>과 </a:t>
            </a:r>
            <a:r>
              <a:rPr lang="en-US" altLang="ko-KR" sz="1100"/>
              <a:t>erro</a:t>
            </a:r>
            <a:r>
              <a:rPr lang="ko-KR" altLang="en-US" sz="1100"/>
              <a:t>에 대한 판단은 위의 식에 </a:t>
            </a:r>
            <a:r>
              <a:rPr lang="en-US" altLang="ko-KR" sz="1100"/>
              <a:t>parameter c</a:t>
            </a:r>
            <a:r>
              <a:rPr lang="ko-KR" altLang="en-US" sz="1100"/>
              <a:t>로 조절 가능하다</a:t>
            </a:r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C</a:t>
            </a:r>
            <a:r>
              <a:rPr lang="ko-KR" altLang="en-US" sz="1100"/>
              <a:t>는 </a:t>
            </a:r>
            <a:r>
              <a:rPr lang="en-US" altLang="ko-KR" sz="1100"/>
              <a:t>margin</a:t>
            </a:r>
            <a:r>
              <a:rPr lang="ko-KR" altLang="en-US" sz="1100"/>
              <a:t>과 </a:t>
            </a:r>
            <a:r>
              <a:rPr lang="en-US" altLang="ko-KR" sz="1100"/>
              <a:t>slackness </a:t>
            </a:r>
            <a:r>
              <a:rPr lang="ko-KR" altLang="en-US" sz="1100"/>
              <a:t>사이의 </a:t>
            </a:r>
            <a:r>
              <a:rPr lang="en-US" altLang="ko-KR" sz="1100"/>
              <a:t>trade-off</a:t>
            </a:r>
            <a:r>
              <a:rPr lang="ko-KR" altLang="en-US" sz="1100"/>
              <a:t>를 나타내는 </a:t>
            </a:r>
            <a:r>
              <a:rPr lang="en-US" altLang="ko-KR" sz="1100"/>
              <a:t>parameter</a:t>
            </a:r>
            <a:r>
              <a:rPr lang="ko-KR" altLang="en-US" sz="1100"/>
              <a:t>이다</a:t>
            </a:r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C</a:t>
            </a:r>
            <a:r>
              <a:rPr lang="ko-KR" altLang="en-US" sz="1100"/>
              <a:t>가 크다는 것은 잘못된 </a:t>
            </a:r>
            <a:r>
              <a:rPr lang="en-US" altLang="ko-KR" sz="1100"/>
              <a:t>data</a:t>
            </a:r>
            <a:r>
              <a:rPr lang="ko-KR" altLang="en-US" sz="1100"/>
              <a:t>에 대해 민감하다는 이야기로</a:t>
            </a:r>
            <a:r>
              <a:rPr lang="en-US" altLang="ko-KR" sz="1100"/>
              <a:t> margin&lt;slackness </a:t>
            </a:r>
            <a:r>
              <a:rPr lang="ko-KR" altLang="en-US" sz="1100"/>
              <a:t> </a:t>
            </a:r>
            <a:r>
              <a:rPr lang="en-US" altLang="ko-KR" sz="1100"/>
              <a:t>=&gt; margin</a:t>
            </a:r>
            <a:r>
              <a:rPr lang="ko-KR" altLang="en-US" sz="1100"/>
              <a:t>좁아짐</a:t>
            </a:r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C</a:t>
            </a:r>
            <a:r>
              <a:rPr lang="ko-KR" altLang="en-US" sz="1100"/>
              <a:t>가 작다는 것은  </a:t>
            </a:r>
            <a:r>
              <a:rPr lang="en-US" altLang="ko-KR" sz="1100"/>
              <a:t>margin</a:t>
            </a:r>
            <a:r>
              <a:rPr lang="ko-KR" altLang="en-US" sz="1100"/>
              <a:t>을 최대로 하여 </a:t>
            </a:r>
            <a:r>
              <a:rPr lang="en-US" altLang="ko-KR" sz="1100"/>
              <a:t>error</a:t>
            </a:r>
            <a:r>
              <a:rPr lang="ko-KR" altLang="en-US" sz="1100"/>
              <a:t>의 허용이 많아짐 </a:t>
            </a:r>
            <a:r>
              <a:rPr lang="en-US" altLang="ko-KR" sz="1100"/>
              <a:t>margin&gt;slackness  =&gt; margin</a:t>
            </a:r>
            <a:r>
              <a:rPr lang="ko-KR" altLang="en-US" sz="1100"/>
              <a:t> 넓어짐</a:t>
            </a:r>
            <a:endParaRPr lang="en-US" altLang="ko-KR" sz="11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D24AD0BE-5D58-4A02-94A3-CCB6CE8D9588}"/>
              </a:ext>
            </a:extLst>
          </p:cNvPr>
          <p:cNvGrpSpPr/>
          <p:nvPr/>
        </p:nvGrpSpPr>
        <p:grpSpPr>
          <a:xfrm>
            <a:off x="6523682" y="1663672"/>
            <a:ext cx="2226382" cy="1696427"/>
            <a:chOff x="5471410" y="2962838"/>
            <a:chExt cx="2226382" cy="1696427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6DB186F4-A281-47D6-8471-92905D5F17E3}"/>
                </a:ext>
              </a:extLst>
            </p:cNvPr>
            <p:cNvGrpSpPr/>
            <p:nvPr/>
          </p:nvGrpSpPr>
          <p:grpSpPr>
            <a:xfrm>
              <a:off x="5570169" y="2962838"/>
              <a:ext cx="2127623" cy="1696427"/>
              <a:chOff x="3518675" y="2776495"/>
              <a:chExt cx="2878693" cy="2292172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83E843FC-94CB-4E35-AD96-88D2F6561CF8}"/>
                  </a:ext>
                </a:extLst>
              </p:cNvPr>
              <p:cNvGrpSpPr/>
              <p:nvPr/>
            </p:nvGrpSpPr>
            <p:grpSpPr>
              <a:xfrm>
                <a:off x="3646435" y="3201737"/>
                <a:ext cx="2097588" cy="1451343"/>
                <a:chOff x="3235480" y="3782504"/>
                <a:chExt cx="2745586" cy="1761233"/>
              </a:xfrm>
              <a:solidFill>
                <a:srgbClr val="FF0000"/>
              </a:solidFill>
            </p:grpSpPr>
            <p:sp>
              <p:nvSpPr>
                <p:cNvPr id="51" name="이등변 삼각형 50">
                  <a:extLst>
                    <a:ext uri="{FF2B5EF4-FFF2-40B4-BE49-F238E27FC236}">
                      <a16:creationId xmlns:a16="http://schemas.microsoft.com/office/drawing/2014/main" id="{9599034E-86FC-438F-8BC7-71F442A3E8F9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이등변 삼각형 51">
                  <a:extLst>
                    <a:ext uri="{FF2B5EF4-FFF2-40B4-BE49-F238E27FC236}">
                      <a16:creationId xmlns:a16="http://schemas.microsoft.com/office/drawing/2014/main" id="{647B5C1A-A342-4E35-A621-6243EF35CA01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이등변 삼각형 52">
                  <a:extLst>
                    <a:ext uri="{FF2B5EF4-FFF2-40B4-BE49-F238E27FC236}">
                      <a16:creationId xmlns:a16="http://schemas.microsoft.com/office/drawing/2014/main" id="{9E7BE831-51CC-44A4-B0EC-93091030CE3C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" name="이등변 삼각형 53">
                  <a:extLst>
                    <a:ext uri="{FF2B5EF4-FFF2-40B4-BE49-F238E27FC236}">
                      <a16:creationId xmlns:a16="http://schemas.microsoft.com/office/drawing/2014/main" id="{CDA5CC46-ADEC-4675-A476-D9C54972D7D2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5" name="이등변 삼각형 54">
                  <a:extLst>
                    <a:ext uri="{FF2B5EF4-FFF2-40B4-BE49-F238E27FC236}">
                      <a16:creationId xmlns:a16="http://schemas.microsoft.com/office/drawing/2014/main" id="{F3346C35-AD7F-482A-87A7-731FD36E8760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" name="이등변 삼각형 55">
                  <a:extLst>
                    <a:ext uri="{FF2B5EF4-FFF2-40B4-BE49-F238E27FC236}">
                      <a16:creationId xmlns:a16="http://schemas.microsoft.com/office/drawing/2014/main" id="{425B087F-D90A-4E3F-858C-0601149DC6FB}"/>
                    </a:ext>
                  </a:extLst>
                </p:cNvPr>
                <p:cNvSpPr/>
                <p:nvPr/>
              </p:nvSpPr>
              <p:spPr>
                <a:xfrm>
                  <a:off x="5367087" y="5401136"/>
                  <a:ext cx="147642" cy="142601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이등변 삼각형 56">
                  <a:extLst>
                    <a:ext uri="{FF2B5EF4-FFF2-40B4-BE49-F238E27FC236}">
                      <a16:creationId xmlns:a16="http://schemas.microsoft.com/office/drawing/2014/main" id="{F3CD821D-EA91-4658-930B-82795A805E20}"/>
                    </a:ext>
                  </a:extLst>
                </p:cNvPr>
                <p:cNvSpPr/>
                <p:nvPr/>
              </p:nvSpPr>
              <p:spPr>
                <a:xfrm>
                  <a:off x="3235480" y="4530206"/>
                  <a:ext cx="147642" cy="142601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02DA0B47-BBF1-4B5A-91B5-F47EAF617E2F}"/>
                  </a:ext>
                </a:extLst>
              </p:cNvPr>
              <p:cNvGrpSpPr/>
              <p:nvPr/>
            </p:nvGrpSpPr>
            <p:grpSpPr>
              <a:xfrm>
                <a:off x="3518675" y="2776495"/>
                <a:ext cx="2660658" cy="2261370"/>
                <a:chOff x="3431097" y="1987172"/>
                <a:chExt cx="3482605" cy="2744220"/>
              </a:xfrm>
            </p:grpSpPr>
            <p:cxnSp>
              <p:nvCxnSpPr>
                <p:cNvPr id="49" name="직선 화살표 연결선 48">
                  <a:extLst>
                    <a:ext uri="{FF2B5EF4-FFF2-40B4-BE49-F238E27FC236}">
                      <a16:creationId xmlns:a16="http://schemas.microsoft.com/office/drawing/2014/main" id="{A31125AE-287D-4700-B50C-E2C9309306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화살표 연결선 49">
                  <a:extLst>
                    <a:ext uri="{FF2B5EF4-FFF2-40B4-BE49-F238E27FC236}">
                      <a16:creationId xmlns:a16="http://schemas.microsoft.com/office/drawing/2014/main" id="{12884BA7-3110-4356-956A-8165B5E1B5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7F4B110B-D018-4DC6-BFB4-1BF095D150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4208" y="3201734"/>
                <a:ext cx="1566956" cy="1693669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A110CC92-D1DA-4ABF-AA14-4C75ADD93C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981" y="3016391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EE5724E1-B61F-4905-B239-C3013AC99479}"/>
                  </a:ext>
                </a:extLst>
              </p:cNvPr>
              <p:cNvGrpSpPr/>
              <p:nvPr/>
            </p:nvGrpSpPr>
            <p:grpSpPr>
              <a:xfrm>
                <a:off x="3686527" y="4050287"/>
                <a:ext cx="583218" cy="8814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3D38AA23-E3BE-4268-919E-D04705AA5CCC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97205A64-3C16-41C6-8096-78C9455EDA74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3BF4BDAA-AB67-420F-9223-14AEF277C3F0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2C1541C4-00D1-43FE-AC15-0CB384B1353D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" name="직사각형 47">
                  <a:extLst>
                    <a:ext uri="{FF2B5EF4-FFF2-40B4-BE49-F238E27FC236}">
                      <a16:creationId xmlns:a16="http://schemas.microsoft.com/office/drawing/2014/main" id="{042AE58A-5782-4701-8A08-858900BE0CAC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2B8380D1-B7D4-41ED-8934-F86D8E2EE1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7684" y="3374998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accent5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E36A208E-3668-4FF2-8079-7ECE5B2003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311" y="3836887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D4D3D1CE-773F-4519-8850-B19C69AB12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299" y="4102093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9BB2564-32F6-4EB4-9195-9228A327B84F}"/>
                  </a:ext>
                </a:extLst>
              </p:cNvPr>
              <p:cNvSpPr txBox="1"/>
              <p:nvPr/>
            </p:nvSpPr>
            <p:spPr>
              <a:xfrm>
                <a:off x="5526168" y="3924852"/>
                <a:ext cx="871200" cy="45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A00AF66-24CF-40B0-972F-833B6CC98D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9347" y="3403746"/>
              <a:ext cx="505114" cy="351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94E47A55-AE33-488E-B1B7-9F33DB8CF8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0936" y="4230310"/>
              <a:ext cx="91076" cy="676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4106080-089F-4219-A341-6CE2A2BDC99C}"/>
                    </a:ext>
                  </a:extLst>
                </p:cNvPr>
                <p:cNvSpPr txBox="1"/>
                <p:nvPr/>
              </p:nvSpPr>
              <p:spPr>
                <a:xfrm>
                  <a:off x="5471410" y="3524387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&gt;1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4106080-089F-4219-A341-6CE2A2BDC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410" y="3524387"/>
                  <a:ext cx="448722" cy="215444"/>
                </a:xfrm>
                <a:prstGeom prst="rect">
                  <a:avLst/>
                </a:prstGeom>
                <a:blipFill>
                  <a:blip r:embed="rId5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37E9BDE-0792-4C6A-B57E-A0F2BFEB5E7A}"/>
                    </a:ext>
                  </a:extLst>
                </p:cNvPr>
                <p:cNvSpPr txBox="1"/>
                <p:nvPr/>
              </p:nvSpPr>
              <p:spPr>
                <a:xfrm>
                  <a:off x="6187643" y="3586480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37E9BDE-0792-4C6A-B57E-A0F2BFEB5E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7643" y="3586480"/>
                  <a:ext cx="448722" cy="21544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FDE2614-D438-41C5-83B8-FBC0501D1C5D}"/>
                    </a:ext>
                  </a:extLst>
                </p:cNvPr>
                <p:cNvSpPr txBox="1"/>
                <p:nvPr/>
              </p:nvSpPr>
              <p:spPr>
                <a:xfrm>
                  <a:off x="6843822" y="4309230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FDE2614-D438-41C5-83B8-FBC0501D1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822" y="4309230"/>
                  <a:ext cx="448722" cy="21544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12677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EE330-2653-4CB8-A580-CEB3FA9A347C}"/>
              </a:ext>
            </a:extLst>
          </p:cNvPr>
          <p:cNvSpPr txBox="1"/>
          <p:nvPr/>
        </p:nvSpPr>
        <p:spPr>
          <a:xfrm>
            <a:off x="268605" y="1957597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https://sanghyu.tistory.com/7</a:t>
            </a:r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51FCB-FE60-4A68-ADD5-B801124B5D3A}"/>
              </a:ext>
            </a:extLst>
          </p:cNvPr>
          <p:cNvSpPr txBox="1"/>
          <p:nvPr/>
        </p:nvSpPr>
        <p:spPr>
          <a:xfrm>
            <a:off x="268605" y="2333714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https://ittrue.tistory.com/44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7DB084-69BE-4611-ABE1-F98668C1D81F}"/>
              </a:ext>
            </a:extLst>
          </p:cNvPr>
          <p:cNvSpPr txBox="1"/>
          <p:nvPr/>
        </p:nvSpPr>
        <p:spPr>
          <a:xfrm>
            <a:off x="268605" y="2731202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https://excelsior-cjh.tistory.com/66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78685-FDA8-4007-A69F-C9EFA8A52B3F}"/>
              </a:ext>
            </a:extLst>
          </p:cNvPr>
          <p:cNvSpPr txBox="1"/>
          <p:nvPr/>
        </p:nvSpPr>
        <p:spPr>
          <a:xfrm>
            <a:off x="268605" y="3094268"/>
            <a:ext cx="4618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https://angeloyeo.github.io/2020/09/30/SVM.html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00F826-7100-4C5E-B75B-EA7D6CA047F7}"/>
              </a:ext>
            </a:extLst>
          </p:cNvPr>
          <p:cNvSpPr txBox="1"/>
          <p:nvPr/>
        </p:nvSpPr>
        <p:spPr>
          <a:xfrm>
            <a:off x="269023" y="3661089"/>
            <a:ext cx="4617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https://ratsgo.github.io/machine%20learning/2017/05/23/SVM/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038E6B-3E59-43F9-B333-8BD672F19FA6}"/>
              </a:ext>
            </a:extLst>
          </p:cNvPr>
          <p:cNvSpPr txBox="1"/>
          <p:nvPr/>
        </p:nvSpPr>
        <p:spPr>
          <a:xfrm>
            <a:off x="268605" y="4186835"/>
            <a:ext cx="4617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https://dsbook.tistory.com/335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D59BC2-B68A-45FC-9133-B14545B21245}"/>
              </a:ext>
            </a:extLst>
          </p:cNvPr>
          <p:cNvSpPr txBox="1"/>
          <p:nvPr/>
        </p:nvSpPr>
        <p:spPr>
          <a:xfrm>
            <a:off x="269023" y="4507524"/>
            <a:ext cx="4617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https://www.youtube.com/watch?v=qFg8cDnqYCI&amp;t=721s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A71E3-9B1D-4EA8-8204-D4F829B6DC31}"/>
              </a:ext>
            </a:extLst>
          </p:cNvPr>
          <p:cNvSpPr txBox="1"/>
          <p:nvPr/>
        </p:nvSpPr>
        <p:spPr>
          <a:xfrm>
            <a:off x="269023" y="5153855"/>
            <a:ext cx="4617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https://velog.io/@claude_ssim/%EA%B8%B0%EA%B3%84%ED%95%99%EC%8A%B5-Support-Vector-Machine-1-h6u783zd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6C2231-3390-4B9B-877B-25AA74ED648A}"/>
              </a:ext>
            </a:extLst>
          </p:cNvPr>
          <p:cNvSpPr txBox="1"/>
          <p:nvPr/>
        </p:nvSpPr>
        <p:spPr>
          <a:xfrm>
            <a:off x="269023" y="6101831"/>
            <a:ext cx="4629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https://slidesplayer.org/slide/16739823/</a:t>
            </a:r>
          </a:p>
        </p:txBody>
      </p:sp>
    </p:spTree>
    <p:extLst>
      <p:ext uri="{BB962C8B-B14F-4D97-AF65-F5344CB8AC3E}">
        <p14:creationId xmlns:p14="http://schemas.microsoft.com/office/powerpoint/2010/main" val="49662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B7A1AD3-8722-4AB7-B2B5-C2BC65EA7D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Hard Margin vs Soft Margin(Margin</a:t>
            </a:r>
            <a:r>
              <a:rPr lang="ko-KR" altLang="en-US"/>
              <a:t> 종류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85C90A-8298-47C4-8E30-C0F94BF6B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83" y="1378332"/>
            <a:ext cx="2410161" cy="18195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4562A3-F05E-47D3-A1BB-2D4394D6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945" y="1378332"/>
            <a:ext cx="2448267" cy="1838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993B21-A1A1-4CFC-8CB4-3E06CED8661B}"/>
              </a:ext>
            </a:extLst>
          </p:cNvPr>
          <p:cNvSpPr txBox="1"/>
          <p:nvPr/>
        </p:nvSpPr>
        <p:spPr>
          <a:xfrm>
            <a:off x="1848512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Hard Margin &gt;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80049-CBD3-4554-BDEC-A602F3DF1743}"/>
              </a:ext>
            </a:extLst>
          </p:cNvPr>
          <p:cNvSpPr txBox="1"/>
          <p:nvPr/>
        </p:nvSpPr>
        <p:spPr>
          <a:xfrm>
            <a:off x="5989080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Soft Margin &gt;</a:t>
            </a:r>
            <a:endParaRPr lang="ko-KR" altLang="en-US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ACFA5-60F9-4261-85B2-6BBAF4D4DC3E}"/>
              </a:ext>
            </a:extLst>
          </p:cNvPr>
          <p:cNvSpPr txBox="1"/>
          <p:nvPr/>
        </p:nvSpPr>
        <p:spPr>
          <a:xfrm>
            <a:off x="552249" y="3759596"/>
            <a:ext cx="7887076" cy="172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Margin </a:t>
            </a:r>
            <a:r>
              <a:rPr lang="ko-KR" altLang="en-US" sz="1200"/>
              <a:t>분류에는 </a:t>
            </a:r>
            <a:r>
              <a:rPr lang="en-US" altLang="ko-KR" sz="1200"/>
              <a:t>Hard Margin</a:t>
            </a:r>
            <a:r>
              <a:rPr lang="ko-KR" altLang="en-US" sz="1200"/>
              <a:t>과 </a:t>
            </a:r>
            <a:r>
              <a:rPr lang="en-US" altLang="ko-KR" sz="1200"/>
              <a:t>Soft Margin</a:t>
            </a:r>
            <a:r>
              <a:rPr lang="ko-KR" altLang="en-US" sz="1200"/>
              <a:t>으로 나뉨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Hard Margin </a:t>
            </a:r>
            <a:r>
              <a:rPr lang="ko-KR" altLang="en-US" sz="1200"/>
              <a:t>분류는 </a:t>
            </a:r>
            <a:r>
              <a:rPr lang="en-US" altLang="ko-KR" sz="1200"/>
              <a:t>Decision Boundary</a:t>
            </a:r>
            <a:r>
              <a:rPr lang="ko-KR" altLang="en-US" sz="1200"/>
              <a:t>범위안에 데이터들이 존재하지않도록 두개의 클래스를 분리하는 방법으로 모든 입력값은 한 클래스에만 속해야한다는 특성이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위의 특성으로 인해 몇 개의 노이즈로 인해 </a:t>
            </a:r>
            <a:r>
              <a:rPr lang="en-US" altLang="ko-KR" sz="1200"/>
              <a:t>Decision Boundary</a:t>
            </a:r>
            <a:r>
              <a:rPr lang="ko-KR" altLang="en-US" sz="1200"/>
              <a:t>를 잘 못 구할 수도 있으며 찾지 못하는 문제 발생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Soft Margin </a:t>
            </a:r>
            <a:r>
              <a:rPr lang="ko-KR" altLang="en-US" sz="1200"/>
              <a:t>분류는  </a:t>
            </a:r>
            <a:r>
              <a:rPr lang="en-US" altLang="ko-KR" sz="1200"/>
              <a:t>Decision Boundary</a:t>
            </a:r>
            <a:r>
              <a:rPr lang="ko-KR" altLang="en-US" sz="1200"/>
              <a:t>범위안에 어느정도 오류를 허용한다는 특성이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새로운 데이터가 들어왔을 때 오류를 발생시키지 않도록 </a:t>
            </a:r>
            <a:r>
              <a:rPr lang="en-US" altLang="ko-KR" sz="1200"/>
              <a:t>Margin</a:t>
            </a:r>
            <a:r>
              <a:rPr lang="ko-KR" altLang="en-US" sz="1200"/>
              <a:t>을 크게 함</a:t>
            </a:r>
            <a:endParaRPr lang="en-US" altLang="ko-KR" sz="12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F249DD-BD0E-4616-AAAA-E2DC303D684D}"/>
              </a:ext>
            </a:extLst>
          </p:cNvPr>
          <p:cNvSpPr/>
          <p:nvPr/>
        </p:nvSpPr>
        <p:spPr>
          <a:xfrm>
            <a:off x="4991450" y="932789"/>
            <a:ext cx="4152550" cy="20553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파라미터 </a:t>
            </a:r>
            <a:r>
              <a:rPr lang="en-US" altLang="ko-KR"/>
              <a:t>c</a:t>
            </a:r>
            <a:r>
              <a:rPr lang="ko-KR" altLang="en-US"/>
              <a:t>에 대한 </a:t>
            </a:r>
            <a:r>
              <a:rPr lang="en-US" altLang="ko-KR"/>
              <a:t>margin </a:t>
            </a:r>
            <a:r>
              <a:rPr lang="ko-KR" altLang="en-US"/>
              <a:t>사진</a:t>
            </a:r>
            <a:endParaRPr lang="en-US" altLang="ko-KR"/>
          </a:p>
          <a:p>
            <a:pPr algn="ctr"/>
            <a:r>
              <a:rPr lang="en-US" altLang="ko-KR"/>
              <a:t>Margin</a:t>
            </a:r>
            <a:r>
              <a:rPr lang="ko-KR" altLang="en-US"/>
              <a:t>최대화 하는 정확한 이유</a:t>
            </a:r>
          </a:p>
        </p:txBody>
      </p:sp>
    </p:spTree>
    <p:extLst>
      <p:ext uri="{BB962C8B-B14F-4D97-AF65-F5344CB8AC3E}">
        <p14:creationId xmlns:p14="http://schemas.microsoft.com/office/powerpoint/2010/main" val="727793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A45BE5-4969-4476-870C-89F65C4BE935}"/>
              </a:ext>
            </a:extLst>
          </p:cNvPr>
          <p:cNvSpPr/>
          <p:nvPr/>
        </p:nvSpPr>
        <p:spPr>
          <a:xfrm>
            <a:off x="855677" y="1719743"/>
            <a:ext cx="1862356" cy="150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후보</a:t>
            </a:r>
            <a:r>
              <a:rPr lang="en-US" altLang="ko-KR"/>
              <a:t>1	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5F8327-4858-4F39-8993-ADEA4F4FAA20}"/>
              </a:ext>
            </a:extLst>
          </p:cNvPr>
          <p:cNvSpPr/>
          <p:nvPr/>
        </p:nvSpPr>
        <p:spPr>
          <a:xfrm>
            <a:off x="3541553" y="1719742"/>
            <a:ext cx="1862356" cy="150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후보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DBA53A-2A67-4B2B-BC8D-A3229F6A69CA}"/>
              </a:ext>
            </a:extLst>
          </p:cNvPr>
          <p:cNvSpPr/>
          <p:nvPr/>
        </p:nvSpPr>
        <p:spPr>
          <a:xfrm>
            <a:off x="6528033" y="1719743"/>
            <a:ext cx="1862356" cy="150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후보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6890F-3E28-4134-B68F-FB1F07BA1525}"/>
              </a:ext>
            </a:extLst>
          </p:cNvPr>
          <p:cNvSpPr txBox="1"/>
          <p:nvPr/>
        </p:nvSpPr>
        <p:spPr>
          <a:xfrm>
            <a:off x="511728" y="3733101"/>
            <a:ext cx="61910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어떤게 최적의 </a:t>
            </a:r>
            <a:r>
              <a:rPr lang="en-US" altLang="ko-KR" sz="1100"/>
              <a:t>svm</a:t>
            </a:r>
            <a:r>
              <a:rPr lang="ko-KR" altLang="en-US" sz="1100"/>
              <a:t>일지</a:t>
            </a:r>
            <a:endParaRPr lang="en-US" altLang="ko-KR" sz="1100"/>
          </a:p>
          <a:p>
            <a:r>
              <a:rPr lang="ko-KR" altLang="en-US" sz="1100"/>
              <a:t>이유</a:t>
            </a:r>
            <a:endParaRPr lang="en-US" altLang="ko-KR" sz="1100"/>
          </a:p>
          <a:p>
            <a:r>
              <a:rPr lang="ko-KR" altLang="en-US" sz="1100"/>
              <a:t>마진이 넓으면 좋은이유</a:t>
            </a:r>
            <a:endParaRPr lang="en-US" altLang="ko-KR" sz="1100"/>
          </a:p>
          <a:p>
            <a:endParaRPr lang="ko-KR" altLang="en-US" sz="11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FA2E60-30D9-4508-8D21-6566E1A74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1" y="2470556"/>
            <a:ext cx="4184693" cy="291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59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그림 54">
            <a:extLst>
              <a:ext uri="{FF2B5EF4-FFF2-40B4-BE49-F238E27FC236}">
                <a16:creationId xmlns:a16="http://schemas.microsoft.com/office/drawing/2014/main" id="{4CAF8C00-DCC2-4F59-921A-F0F03069A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114" y="1731778"/>
            <a:ext cx="3828983" cy="1441655"/>
          </a:xfrm>
          <a:prstGeom prst="rect">
            <a:avLst/>
          </a:prstGeom>
        </p:spPr>
      </p:pic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SVM</a:t>
            </a:r>
            <a:r>
              <a:rPr lang="en-US" altLang="ko-KR" sz="1600" b="0">
                <a:solidFill>
                  <a:schemeClr val="tx1"/>
                </a:solidFill>
              </a:rPr>
              <a:t>(Support Vector Machine)</a:t>
            </a:r>
            <a:endParaRPr lang="ko-KR" altLang="en-US" sz="1600" b="0">
              <a:solidFill>
                <a:schemeClr val="tx1"/>
              </a:solidFill>
            </a:endParaRPr>
          </a:p>
          <a:p>
            <a:pPr marL="0" indent="0" rtl="0" latinLnBrk="0">
              <a:buFontTx/>
              <a:buNone/>
            </a:pPr>
            <a:endParaRPr lang="ko-KR" altLang="en-US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39DD744-0C53-4873-B28E-C3D10F225BDF}"/>
              </a:ext>
            </a:extLst>
          </p:cNvPr>
          <p:cNvGrpSpPr/>
          <p:nvPr/>
        </p:nvGrpSpPr>
        <p:grpSpPr>
          <a:xfrm>
            <a:off x="113335" y="1176349"/>
            <a:ext cx="5188112" cy="2256154"/>
            <a:chOff x="1775305" y="2224059"/>
            <a:chExt cx="6051768" cy="2726531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99701B55-73EC-4B03-A1FE-14334F2BEEC6}"/>
                </a:ext>
              </a:extLst>
            </p:cNvPr>
            <p:cNvGrpSpPr/>
            <p:nvPr/>
          </p:nvGrpSpPr>
          <p:grpSpPr>
            <a:xfrm>
              <a:off x="4615637" y="3632479"/>
              <a:ext cx="1143417" cy="783882"/>
              <a:chOff x="4837649" y="3782504"/>
              <a:chExt cx="1143417" cy="783882"/>
            </a:xfrm>
            <a:solidFill>
              <a:srgbClr val="FF0000"/>
            </a:solidFill>
          </p:grpSpPr>
          <p:sp>
            <p:nvSpPr>
              <p:cNvPr id="13" name="이등변 삼각형 12">
                <a:extLst>
                  <a:ext uri="{FF2B5EF4-FFF2-40B4-BE49-F238E27FC236}">
                    <a16:creationId xmlns:a16="http://schemas.microsoft.com/office/drawing/2014/main" id="{F00AA1D5-8E6F-4212-8CB5-6F8729AE320B}"/>
                  </a:ext>
                </a:extLst>
              </p:cNvPr>
              <p:cNvSpPr/>
              <p:nvPr/>
            </p:nvSpPr>
            <p:spPr>
              <a:xfrm>
                <a:off x="5019988" y="384681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이등변 삼각형 13">
                <a:extLst>
                  <a:ext uri="{FF2B5EF4-FFF2-40B4-BE49-F238E27FC236}">
                    <a16:creationId xmlns:a16="http://schemas.microsoft.com/office/drawing/2014/main" id="{EF2A36EC-4429-48AA-BF09-EF8868A53C97}"/>
                  </a:ext>
                </a:extLst>
              </p:cNvPr>
              <p:cNvSpPr/>
              <p:nvPr/>
            </p:nvSpPr>
            <p:spPr>
              <a:xfrm>
                <a:off x="4837649" y="442378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이등변 삼각형 14">
                <a:extLst>
                  <a:ext uri="{FF2B5EF4-FFF2-40B4-BE49-F238E27FC236}">
                    <a16:creationId xmlns:a16="http://schemas.microsoft.com/office/drawing/2014/main" id="{CAE5440F-B878-49D5-AC01-48A82A0C3C53}"/>
                  </a:ext>
                </a:extLst>
              </p:cNvPr>
              <p:cNvSpPr/>
              <p:nvPr/>
            </p:nvSpPr>
            <p:spPr>
              <a:xfrm>
                <a:off x="5398595" y="4099675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이등변 삼각형 15">
                <a:extLst>
                  <a:ext uri="{FF2B5EF4-FFF2-40B4-BE49-F238E27FC236}">
                    <a16:creationId xmlns:a16="http://schemas.microsoft.com/office/drawing/2014/main" id="{F52C3D77-2F96-4344-9EFD-4415EEE333B9}"/>
                  </a:ext>
                </a:extLst>
              </p:cNvPr>
              <p:cNvSpPr/>
              <p:nvPr/>
            </p:nvSpPr>
            <p:spPr>
              <a:xfrm>
                <a:off x="5833424" y="4342919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이등변 삼각형 16">
                <a:extLst>
                  <a:ext uri="{FF2B5EF4-FFF2-40B4-BE49-F238E27FC236}">
                    <a16:creationId xmlns:a16="http://schemas.microsoft.com/office/drawing/2014/main" id="{BE83F5FD-588F-4EBF-915B-3B370FE522E8}"/>
                  </a:ext>
                </a:extLst>
              </p:cNvPr>
              <p:cNvSpPr/>
              <p:nvPr/>
            </p:nvSpPr>
            <p:spPr>
              <a:xfrm>
                <a:off x="5833424" y="378250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102901B4-E573-414D-B9A7-D3F967B9BDF2}"/>
                </a:ext>
              </a:extLst>
            </p:cNvPr>
            <p:cNvGrpSpPr/>
            <p:nvPr/>
          </p:nvGrpSpPr>
          <p:grpSpPr>
            <a:xfrm>
              <a:off x="3209085" y="2224059"/>
              <a:ext cx="2877424" cy="2357307"/>
              <a:chOff x="3431097" y="2374084"/>
              <a:chExt cx="2877424" cy="2357307"/>
            </a:xfrm>
          </p:grpSpPr>
          <p:cxnSp>
            <p:nvCxnSpPr>
              <p:cNvPr id="6" name="직선 화살표 연결선 5">
                <a:extLst>
                  <a:ext uri="{FF2B5EF4-FFF2-40B4-BE49-F238E27FC236}">
                    <a16:creationId xmlns:a16="http://schemas.microsoft.com/office/drawing/2014/main" id="{59E197D0-6E26-419F-A695-6428C7520A5B}"/>
                  </a:ext>
                </a:extLst>
              </p:cNvPr>
              <p:cNvCxnSpPr/>
              <p:nvPr/>
            </p:nvCxnSpPr>
            <p:spPr>
              <a:xfrm>
                <a:off x="3431097" y="4731391"/>
                <a:ext cx="287742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FCFE1E44-19ED-42EB-9F51-B1F602575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2374084"/>
                <a:ext cx="0" cy="23573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F36A95A4-99BF-4CE8-8F02-635C1F572431}"/>
                </a:ext>
              </a:extLst>
            </p:cNvPr>
            <p:cNvCxnSpPr/>
            <p:nvPr/>
          </p:nvCxnSpPr>
          <p:spPr>
            <a:xfrm flipV="1">
              <a:off x="3355971" y="2643509"/>
              <a:ext cx="2051030" cy="205530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3EB16B1-7807-44E4-8228-9B52D2D308BE}"/>
                </a:ext>
              </a:extLst>
            </p:cNvPr>
            <p:cNvCxnSpPr/>
            <p:nvPr/>
          </p:nvCxnSpPr>
          <p:spPr>
            <a:xfrm flipV="1">
              <a:off x="3657828" y="2895287"/>
              <a:ext cx="2051030" cy="205530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FE55241-4711-4885-8033-76FA99A6AEED}"/>
                </a:ext>
              </a:extLst>
            </p:cNvPr>
            <p:cNvCxnSpPr/>
            <p:nvPr/>
          </p:nvCxnSpPr>
          <p:spPr>
            <a:xfrm flipV="1">
              <a:off x="3088784" y="2398132"/>
              <a:ext cx="2051030" cy="205530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9A2E858-637C-4D93-B10B-072B1ACAD345}"/>
                </a:ext>
              </a:extLst>
            </p:cNvPr>
            <p:cNvGrpSpPr/>
            <p:nvPr/>
          </p:nvGrpSpPr>
          <p:grpSpPr>
            <a:xfrm>
              <a:off x="3462157" y="2558670"/>
              <a:ext cx="763389" cy="1069614"/>
              <a:chOff x="3665996" y="2686332"/>
              <a:chExt cx="763389" cy="1069614"/>
            </a:xfrm>
            <a:solidFill>
              <a:srgbClr val="2C6FAD"/>
            </a:solidFill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289E2C4-0CDA-4F6D-87AD-65E2A0D45F66}"/>
                  </a:ext>
                </a:extLst>
              </p:cNvPr>
              <p:cNvSpPr/>
              <p:nvPr/>
            </p:nvSpPr>
            <p:spPr>
              <a:xfrm>
                <a:off x="3758272" y="304531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C45F4A94-ED95-43F8-8B38-A784572EDF2A}"/>
                  </a:ext>
                </a:extLst>
              </p:cNvPr>
              <p:cNvSpPr/>
              <p:nvPr/>
            </p:nvSpPr>
            <p:spPr>
              <a:xfrm>
                <a:off x="3665996" y="3628023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8FF412EC-7D81-4172-9F17-326638A3FA17}"/>
                  </a:ext>
                </a:extLst>
              </p:cNvPr>
              <p:cNvSpPr/>
              <p:nvPr/>
            </p:nvSpPr>
            <p:spPr>
              <a:xfrm>
                <a:off x="4177723" y="3482638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F2763E6-C906-4980-AB0B-F4265EA55ED6}"/>
                  </a:ext>
                </a:extLst>
              </p:cNvPr>
              <p:cNvSpPr/>
              <p:nvPr/>
            </p:nvSpPr>
            <p:spPr>
              <a:xfrm>
                <a:off x="4211277" y="3119517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C90C834F-1ADB-4352-981D-BA64E0EE3293}"/>
                  </a:ext>
                </a:extLst>
              </p:cNvPr>
              <p:cNvSpPr/>
              <p:nvPr/>
            </p:nvSpPr>
            <p:spPr>
              <a:xfrm>
                <a:off x="4303554" y="268633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3AEC60-E074-4D4D-B4DF-60C5DE8823A8}"/>
                </a:ext>
              </a:extLst>
            </p:cNvPr>
            <p:cNvSpPr txBox="1"/>
            <p:nvPr/>
          </p:nvSpPr>
          <p:spPr>
            <a:xfrm>
              <a:off x="5344227" y="2225480"/>
              <a:ext cx="2482846" cy="520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Optimal Hyperplane</a:t>
              </a:r>
            </a:p>
            <a:p>
              <a:pPr algn="l"/>
              <a:r>
                <a:rPr lang="en-US" altLang="ko-KR" sz="1100"/>
                <a:t>/Decision Boundary</a:t>
              </a:r>
              <a:endParaRPr lang="ko-KR" altLang="en-US" sz="1100"/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3A44A2F7-A029-4FB1-972D-013B3A136C18}"/>
                </a:ext>
              </a:extLst>
            </p:cNvPr>
            <p:cNvCxnSpPr/>
            <p:nvPr/>
          </p:nvCxnSpPr>
          <p:spPr>
            <a:xfrm flipH="1">
              <a:off x="2796949" y="3484508"/>
              <a:ext cx="1182848" cy="7701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45CF7977-2A17-47DF-862D-0B4F2D093D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4373" y="3821084"/>
              <a:ext cx="1948067" cy="6102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55F549-E25A-4916-BB7C-E99173F26B62}"/>
                </a:ext>
              </a:extLst>
            </p:cNvPr>
            <p:cNvSpPr txBox="1"/>
            <p:nvPr/>
          </p:nvSpPr>
          <p:spPr>
            <a:xfrm>
              <a:off x="1775305" y="4212190"/>
              <a:ext cx="11061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Support Vectors</a:t>
              </a:r>
              <a:endParaRPr lang="ko-KR" altLang="en-US" sz="1100"/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3552B0FE-F178-44BD-9475-21E9CD1ECF30}"/>
                </a:ext>
              </a:extLst>
            </p:cNvPr>
            <p:cNvCxnSpPr>
              <a:cxnSpLocks/>
            </p:cNvCxnSpPr>
            <p:nvPr/>
          </p:nvCxnSpPr>
          <p:spPr>
            <a:xfrm>
              <a:off x="4481600" y="2999654"/>
              <a:ext cx="618881" cy="52916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10D8440C-A84E-4EF3-A145-4A17B4DB7058}"/>
                </a:ext>
              </a:extLst>
            </p:cNvPr>
            <p:cNvCxnSpPr>
              <a:cxnSpLocks/>
            </p:cNvCxnSpPr>
            <p:nvPr/>
          </p:nvCxnSpPr>
          <p:spPr>
            <a:xfrm>
              <a:off x="4912062" y="3363365"/>
              <a:ext cx="763240" cy="687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70D0847-218B-4C45-8AFF-8DDDA622B1F9}"/>
                </a:ext>
              </a:extLst>
            </p:cNvPr>
            <p:cNvSpPr txBox="1"/>
            <p:nvPr/>
          </p:nvSpPr>
          <p:spPr>
            <a:xfrm>
              <a:off x="5708858" y="3278975"/>
              <a:ext cx="12081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margin</a:t>
              </a:r>
              <a:endParaRPr lang="ko-KR" altLang="en-US" sz="110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EA33A71A-D0AD-4694-9544-5F3769C146AD}"/>
              </a:ext>
            </a:extLst>
          </p:cNvPr>
          <p:cNvSpPr txBox="1"/>
          <p:nvPr/>
        </p:nvSpPr>
        <p:spPr>
          <a:xfrm>
            <a:off x="552249" y="3759596"/>
            <a:ext cx="7887076" cy="2833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두 클래스로부터 최대한 멀리 떨어져 있는 </a:t>
            </a:r>
            <a:r>
              <a:rPr lang="en-US" altLang="ko-KR" sz="1200"/>
              <a:t>Decision Boundary</a:t>
            </a:r>
            <a:r>
              <a:rPr lang="ko-KR" altLang="en-US" sz="1200"/>
              <a:t>를 찾는 분류기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특정 조건을 만족하는 동시에 클래스를 분류하는것을 목표</a:t>
            </a:r>
            <a:r>
              <a:rPr lang="en-US" altLang="ko-KR" sz="1200"/>
              <a:t>(ex) </a:t>
            </a:r>
            <a:r>
              <a:rPr lang="ko-KR" altLang="en-US" sz="1200"/>
              <a:t>짜장</a:t>
            </a:r>
            <a:r>
              <a:rPr lang="en-US" altLang="ko-KR" sz="1200"/>
              <a:t>, </a:t>
            </a:r>
            <a:r>
              <a:rPr lang="ko-KR" altLang="en-US" sz="1200"/>
              <a:t>짬뽕 </a:t>
            </a:r>
            <a:r>
              <a:rPr lang="en-US" altLang="ko-KR" sz="1200"/>
              <a:t>- &gt; </a:t>
            </a:r>
            <a:r>
              <a:rPr lang="ko-KR" altLang="en-US" sz="1200"/>
              <a:t>고춧가루양</a:t>
            </a:r>
            <a:r>
              <a:rPr lang="en-US" altLang="ko-KR" sz="1200"/>
              <a:t>, </a:t>
            </a:r>
            <a:r>
              <a:rPr lang="ko-KR" altLang="en-US" sz="1200"/>
              <a:t>국물의양</a:t>
            </a:r>
            <a:r>
              <a:rPr lang="en-US" altLang="ko-KR" sz="1200"/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Hyper plane</a:t>
            </a:r>
            <a:r>
              <a:rPr lang="ko-KR" altLang="en-US" sz="1200"/>
              <a:t>이란 어떤 </a:t>
            </a:r>
            <a:r>
              <a:rPr lang="en-US" altLang="ko-KR" sz="1200"/>
              <a:t>N</a:t>
            </a:r>
            <a:r>
              <a:rPr lang="ko-KR" altLang="en-US" sz="1200"/>
              <a:t>차원 공간에서 한 차원이 낮은 </a:t>
            </a:r>
            <a:r>
              <a:rPr lang="en-US" altLang="ko-KR" sz="1200"/>
              <a:t>N-1</a:t>
            </a:r>
            <a:r>
              <a:rPr lang="ko-KR" altLang="en-US" sz="1200"/>
              <a:t>차원의 </a:t>
            </a:r>
            <a:r>
              <a:rPr lang="en-US" altLang="ko-KR" sz="1200"/>
              <a:t>subspace</a:t>
            </a:r>
            <a:r>
              <a:rPr lang="ko-KR" altLang="en-US" sz="1200"/>
              <a:t>를 말함</a:t>
            </a:r>
            <a:r>
              <a:rPr lang="en-US" altLang="ko-KR" sz="1200"/>
              <a:t>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200"/>
              <a:t>     (ex. 2</a:t>
            </a:r>
            <a:r>
              <a:rPr lang="ko-KR" altLang="en-US" sz="1200"/>
              <a:t>차원인 경우 선</a:t>
            </a:r>
            <a:r>
              <a:rPr lang="en-US" altLang="ko-KR" sz="1200"/>
              <a:t>,</a:t>
            </a:r>
            <a:r>
              <a:rPr lang="ko-KR" altLang="en-US" sz="1200"/>
              <a:t> </a:t>
            </a:r>
            <a:r>
              <a:rPr lang="en-US" altLang="ko-KR" sz="1200"/>
              <a:t>3</a:t>
            </a:r>
            <a:r>
              <a:rPr lang="ko-KR" altLang="en-US" sz="1200"/>
              <a:t>차원의 경우 면을 뜻함</a:t>
            </a:r>
            <a:r>
              <a:rPr lang="en-US" altLang="ko-KR" sz="1200"/>
              <a:t>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를 통해 어느 쪽에 속하는지 판단</a:t>
            </a:r>
            <a:r>
              <a:rPr lang="en-US" altLang="ko-KR" sz="1200"/>
              <a:t>, </a:t>
            </a:r>
            <a:r>
              <a:rPr lang="ko-KR" altLang="en-US" sz="1200"/>
              <a:t>선형이나비선형 분류</a:t>
            </a:r>
            <a:r>
              <a:rPr lang="en-US" altLang="ko-KR" sz="1200"/>
              <a:t>, </a:t>
            </a:r>
            <a:r>
              <a:rPr lang="ko-KR" altLang="en-US" sz="1200"/>
              <a:t>회귀</a:t>
            </a:r>
            <a:r>
              <a:rPr lang="en-US" altLang="ko-KR" sz="1200"/>
              <a:t>, </a:t>
            </a:r>
            <a:r>
              <a:rPr lang="ko-KR" altLang="en-US" sz="1200"/>
              <a:t>이상치 탐색에도 사용가능한 지도 학습 모델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와 가장 가까이 있는 데이터들이 </a:t>
            </a:r>
            <a:r>
              <a:rPr lang="en-US" altLang="ko-KR" sz="1200"/>
              <a:t>margin</a:t>
            </a:r>
            <a:r>
              <a:rPr lang="ko-KR" altLang="en-US" sz="1200"/>
              <a:t>을 결정하고 이를 </a:t>
            </a:r>
            <a:r>
              <a:rPr lang="en-US" altLang="ko-KR" sz="1200"/>
              <a:t>Support Vector</a:t>
            </a:r>
            <a:r>
              <a:rPr lang="ko-KR" altLang="en-US" sz="1200"/>
              <a:t>라고 함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범위밖에 추가 데이터가 들어온다면 </a:t>
            </a:r>
            <a:r>
              <a:rPr lang="en-US" altLang="ko-KR" sz="1200"/>
              <a:t>Decision Boundary</a:t>
            </a:r>
            <a:r>
              <a:rPr lang="ko-KR" altLang="en-US" sz="1200"/>
              <a:t>에</a:t>
            </a:r>
            <a:r>
              <a:rPr lang="en-US" altLang="ko-KR" sz="1200"/>
              <a:t> </a:t>
            </a:r>
            <a:r>
              <a:rPr lang="ko-KR" altLang="en-US" sz="1200"/>
              <a:t>영향을 미치지 않지만 범위 안에 추가 데이터가 들어온다면 영향을 미치게 되어 </a:t>
            </a:r>
            <a:r>
              <a:rPr lang="en-US" altLang="ko-KR" sz="1200"/>
              <a:t>margin</a:t>
            </a:r>
            <a:r>
              <a:rPr lang="ko-KR" altLang="en-US" sz="1200"/>
              <a:t>이 달라질 수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FEE90-43AD-4044-BB3C-2398977C4800}"/>
              </a:ext>
            </a:extLst>
          </p:cNvPr>
          <p:cNvSpPr txBox="1"/>
          <p:nvPr/>
        </p:nvSpPr>
        <p:spPr>
          <a:xfrm>
            <a:off x="1468422" y="3415979"/>
            <a:ext cx="221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&lt; SVM</a:t>
            </a:r>
            <a:r>
              <a:rPr lang="en-US" altLang="ko-KR" sz="1100" b="0">
                <a:solidFill>
                  <a:schemeClr val="tx1"/>
                </a:solidFill>
              </a:rPr>
              <a:t>(Support Vector Machine) &gt;</a:t>
            </a:r>
            <a:endParaRPr lang="ko-KR" altLang="en-US" sz="1100" b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5F4690-2C95-4D62-8057-A982FE2EAA59}"/>
              </a:ext>
            </a:extLst>
          </p:cNvPr>
          <p:cNvSpPr txBox="1"/>
          <p:nvPr/>
        </p:nvSpPr>
        <p:spPr>
          <a:xfrm>
            <a:off x="6294253" y="3417032"/>
            <a:ext cx="221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&lt; HyperPlane</a:t>
            </a:r>
            <a:r>
              <a:rPr lang="en-US" altLang="ko-KR" sz="1100" b="0">
                <a:solidFill>
                  <a:schemeClr val="tx1"/>
                </a:solidFill>
              </a:rPr>
              <a:t> &gt;</a:t>
            </a:r>
            <a:endParaRPr lang="ko-KR" altLang="en-US" sz="1100" b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DCBCCF9-1177-4081-ACF4-1F1847E9FC1C}"/>
              </a:ext>
            </a:extLst>
          </p:cNvPr>
          <p:cNvSpPr/>
          <p:nvPr/>
        </p:nvSpPr>
        <p:spPr>
          <a:xfrm>
            <a:off x="3899619" y="1380857"/>
            <a:ext cx="2568987" cy="1503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초기 </a:t>
            </a:r>
            <a:r>
              <a:rPr lang="en-US" altLang="ko-KR"/>
              <a:t>Svm</a:t>
            </a:r>
            <a:r>
              <a:rPr lang="ko-KR" altLang="en-US"/>
              <a:t>설명 그림</a:t>
            </a:r>
          </a:p>
        </p:txBody>
      </p:sp>
    </p:spTree>
    <p:extLst>
      <p:ext uri="{BB962C8B-B14F-4D97-AF65-F5344CB8AC3E}">
        <p14:creationId xmlns:p14="http://schemas.microsoft.com/office/powerpoint/2010/main" val="43657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565135" y="4211124"/>
                <a:ext cx="7887076" cy="169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,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sz="1200"/>
                  <a:t>  </a:t>
                </a:r>
                <a:r>
                  <a:rPr lang="ko-KR" altLang="en-US" sz="1200"/>
                  <a:t>라고 할 때</a:t>
                </a:r>
                <a:r>
                  <a:rPr lang="en-US" altLang="ko-KR" sz="1200"/>
                  <a:t>,</a:t>
                </a:r>
                <a:r>
                  <a:rPr lang="ko-KR" altLang="en-US" sz="120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200"/>
                  <a:t> </a:t>
                </a:r>
                <a:r>
                  <a:rPr lang="ko-KR" altLang="en-US" sz="1200"/>
                  <a:t>가정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func>
                      <m:func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func>
                      <m:func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최대  </a:t>
                </a:r>
                <a:r>
                  <a:rPr lang="en-US" altLang="ko-KR" sz="1200"/>
                  <a:t>Margin</a:t>
                </a:r>
                <a:r>
                  <a:rPr lang="ko-KR" altLang="en-US" sz="1200"/>
                  <a:t>은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sz="1200"/>
                  <a:t>장 바깥에서의 </a:t>
                </a:r>
                <a:r>
                  <a:rPr lang="en-US" altLang="ko-KR" sz="1200"/>
                  <a:t>Decision Boundary</a:t>
                </a:r>
                <a:r>
                  <a:rPr lang="ko-KR" altLang="en-US" sz="1200"/>
                  <a:t>에서 가장 안쪽의 </a:t>
                </a:r>
                <a:r>
                  <a:rPr lang="en-US" altLang="ko-KR" sz="1200"/>
                  <a:t>Decision Boundary</a:t>
                </a:r>
                <a:r>
                  <a:rPr lang="ko-KR" altLang="en-US" sz="1200"/>
                  <a:t> 를 뺀 값이다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+1 −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ko-KR" altLang="en-US" sz="1200"/>
              </a:p>
              <a:p>
                <a:pPr algn="l">
                  <a:lnSpc>
                    <a:spcPct val="150000"/>
                  </a:lnSpc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35" y="4211124"/>
                <a:ext cx="7887076" cy="1691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그룹 69">
            <a:extLst>
              <a:ext uri="{FF2B5EF4-FFF2-40B4-BE49-F238E27FC236}">
                <a16:creationId xmlns:a16="http://schemas.microsoft.com/office/drawing/2014/main" id="{43906C5A-20AE-4965-A3E2-1B0BB2291F02}"/>
              </a:ext>
            </a:extLst>
          </p:cNvPr>
          <p:cNvGrpSpPr/>
          <p:nvPr/>
        </p:nvGrpSpPr>
        <p:grpSpPr>
          <a:xfrm rot="460961">
            <a:off x="5030677" y="1606923"/>
            <a:ext cx="1270931" cy="1525374"/>
            <a:chOff x="5224839" y="1172964"/>
            <a:chExt cx="1270931" cy="1525374"/>
          </a:xfrm>
        </p:grpSpPr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2A037DBD-8CB3-42E1-AF07-5896413E362B}"/>
                </a:ext>
              </a:extLst>
            </p:cNvPr>
            <p:cNvCxnSpPr/>
            <p:nvPr/>
          </p:nvCxnSpPr>
          <p:spPr>
            <a:xfrm flipH="1" flipV="1">
              <a:off x="5715595" y="1994002"/>
              <a:ext cx="713064" cy="375555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AE131E08-A072-4C05-A832-82FBE0F92DFF}"/>
                </a:ext>
              </a:extLst>
            </p:cNvPr>
            <p:cNvCxnSpPr/>
            <p:nvPr/>
          </p:nvCxnSpPr>
          <p:spPr>
            <a:xfrm flipH="1">
              <a:off x="5224839" y="1366853"/>
              <a:ext cx="939567" cy="12885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9C075A26-5335-46A7-9DE1-9BEDD3163E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73629" y="1554102"/>
              <a:ext cx="355030" cy="799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원호 47">
              <a:extLst>
                <a:ext uri="{FF2B5EF4-FFF2-40B4-BE49-F238E27FC236}">
                  <a16:creationId xmlns:a16="http://schemas.microsoft.com/office/drawing/2014/main" id="{20F5592F-AA6D-4B91-95EB-12A8396EBD14}"/>
                </a:ext>
              </a:extLst>
            </p:cNvPr>
            <p:cNvSpPr/>
            <p:nvPr/>
          </p:nvSpPr>
          <p:spPr>
            <a:xfrm flipH="1">
              <a:off x="6231517" y="2224067"/>
              <a:ext cx="264253" cy="9850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3BCA0E5-668D-4501-B453-781F31BE5810}"/>
                    </a:ext>
                  </a:extLst>
                </p:cNvPr>
                <p:cNvSpPr txBox="1"/>
                <p:nvPr/>
              </p:nvSpPr>
              <p:spPr>
                <a:xfrm>
                  <a:off x="6120807" y="2039775"/>
                  <a:ext cx="264253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3BCA0E5-668D-4501-B453-781F31BE58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0807" y="2039775"/>
                  <a:ext cx="264253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B6BA2C83-CBFC-45BC-8393-B8871AD48850}"/>
                </a:ext>
              </a:extLst>
            </p:cNvPr>
            <p:cNvCxnSpPr/>
            <p:nvPr/>
          </p:nvCxnSpPr>
          <p:spPr>
            <a:xfrm flipH="1" flipV="1">
              <a:off x="5561901" y="2245520"/>
              <a:ext cx="866758" cy="132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원호 54">
              <a:extLst>
                <a:ext uri="{FF2B5EF4-FFF2-40B4-BE49-F238E27FC236}">
                  <a16:creationId xmlns:a16="http://schemas.microsoft.com/office/drawing/2014/main" id="{7819A810-6A40-4A24-B5D4-ED4C9D0F7D23}"/>
                </a:ext>
              </a:extLst>
            </p:cNvPr>
            <p:cNvSpPr/>
            <p:nvPr/>
          </p:nvSpPr>
          <p:spPr>
            <a:xfrm rot="20839963" flipH="1">
              <a:off x="6115121" y="2245520"/>
              <a:ext cx="203238" cy="13460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A48F3EB-ED3A-423B-B09E-A9F378C8740A}"/>
                    </a:ext>
                  </a:extLst>
                </p:cNvPr>
                <p:cNvSpPr txBox="1"/>
                <p:nvPr/>
              </p:nvSpPr>
              <p:spPr>
                <a:xfrm>
                  <a:off x="5910970" y="2122390"/>
                  <a:ext cx="264253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A48F3EB-ED3A-423B-B09E-A9F378C874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0970" y="2122390"/>
                  <a:ext cx="264253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284233FB-B6A8-480E-83A0-52D8ABFB6708}"/>
                </a:ext>
              </a:extLst>
            </p:cNvPr>
            <p:cNvCxnSpPr/>
            <p:nvPr/>
          </p:nvCxnSpPr>
          <p:spPr>
            <a:xfrm flipH="1">
              <a:off x="5393282" y="2375005"/>
              <a:ext cx="1035377" cy="1018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원호 58">
              <a:extLst>
                <a:ext uri="{FF2B5EF4-FFF2-40B4-BE49-F238E27FC236}">
                  <a16:creationId xmlns:a16="http://schemas.microsoft.com/office/drawing/2014/main" id="{C8136EA3-13F7-4A7F-98E2-998ABAED4F00}"/>
                </a:ext>
              </a:extLst>
            </p:cNvPr>
            <p:cNvSpPr/>
            <p:nvPr/>
          </p:nvSpPr>
          <p:spPr>
            <a:xfrm rot="20448229" flipH="1">
              <a:off x="6058473" y="2328618"/>
              <a:ext cx="172265" cy="12333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BB30C1A-F501-44A8-A7DC-3A07BA35BBE1}"/>
                    </a:ext>
                  </a:extLst>
                </p:cNvPr>
                <p:cNvSpPr txBox="1"/>
                <p:nvPr/>
              </p:nvSpPr>
              <p:spPr>
                <a:xfrm>
                  <a:off x="5752175" y="2234721"/>
                  <a:ext cx="264253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BB30C1A-F501-44A8-A7DC-3A07BA35B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2175" y="2234721"/>
                  <a:ext cx="264253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55CE105B-CD4F-47DA-B146-92262D2EDE46}"/>
                    </a:ext>
                  </a:extLst>
                </p:cNvPr>
                <p:cNvSpPr txBox="1"/>
                <p:nvPr/>
              </p:nvSpPr>
              <p:spPr>
                <a:xfrm>
                  <a:off x="5702527" y="1882907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55CE105B-CD4F-47DA-B146-92262D2EDE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2527" y="1882907"/>
                  <a:ext cx="472696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790C06D-BD8F-44C2-8BCD-26C58381FE57}"/>
                    </a:ext>
                  </a:extLst>
                </p:cNvPr>
                <p:cNvSpPr txBox="1"/>
                <p:nvPr/>
              </p:nvSpPr>
              <p:spPr>
                <a:xfrm>
                  <a:off x="5982274" y="1573988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790C06D-BD8F-44C2-8BCD-26C58381FE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2274" y="1573988"/>
                  <a:ext cx="472696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4DF33D1-C654-475D-AA77-27650E6A3B07}"/>
                    </a:ext>
                  </a:extLst>
                </p:cNvPr>
                <p:cNvSpPr txBox="1"/>
                <p:nvPr/>
              </p:nvSpPr>
              <p:spPr>
                <a:xfrm>
                  <a:off x="5438164" y="2221938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4DF33D1-C654-475D-AA77-27650E6A3B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8164" y="2221938"/>
                  <a:ext cx="472696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3E3558E-BC85-40FD-AFA1-6112F4999055}"/>
                    </a:ext>
                  </a:extLst>
                </p:cNvPr>
                <p:cNvSpPr txBox="1"/>
                <p:nvPr/>
              </p:nvSpPr>
              <p:spPr>
                <a:xfrm>
                  <a:off x="5289526" y="2436728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3E3558E-BC85-40FD-AFA1-6112F4999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526" y="2436728"/>
                  <a:ext cx="472696" cy="2616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D821F5F-2880-4545-9108-44F8847912B0}"/>
                    </a:ext>
                  </a:extLst>
                </p:cNvPr>
                <p:cNvSpPr txBox="1"/>
                <p:nvPr/>
              </p:nvSpPr>
              <p:spPr>
                <a:xfrm>
                  <a:off x="6010930" y="1172964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D821F5F-2880-4545-9108-44F8847912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0930" y="1172964"/>
                  <a:ext cx="472696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1E0F467-4510-4764-BB0E-F49485A0969F}"/>
              </a:ext>
            </a:extLst>
          </p:cNvPr>
          <p:cNvSpPr txBox="1"/>
          <p:nvPr/>
        </p:nvSpPr>
        <p:spPr>
          <a:xfrm>
            <a:off x="1656562" y="356632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5B9CEED-31C0-462A-A188-27208DEA21FB}"/>
              </a:ext>
            </a:extLst>
          </p:cNvPr>
          <p:cNvGrpSpPr/>
          <p:nvPr/>
        </p:nvGrpSpPr>
        <p:grpSpPr>
          <a:xfrm>
            <a:off x="176554" y="1349306"/>
            <a:ext cx="3688653" cy="2360683"/>
            <a:chOff x="1875792" y="1365267"/>
            <a:chExt cx="4454966" cy="2799520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5E9F6DD4-FC13-4DDD-BB8B-FC7F76B3CB05}"/>
                </a:ext>
              </a:extLst>
            </p:cNvPr>
            <p:cNvGrpSpPr/>
            <p:nvPr/>
          </p:nvGrpSpPr>
          <p:grpSpPr>
            <a:xfrm>
              <a:off x="1875792" y="1365267"/>
              <a:ext cx="4454966" cy="2761063"/>
              <a:chOff x="2088845" y="2125205"/>
              <a:chExt cx="4828174" cy="2825385"/>
            </a:xfrm>
          </p:grpSpPr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EDE5942E-CF0D-44F6-BA03-31DEA7C08E26}"/>
                  </a:ext>
                </a:extLst>
              </p:cNvPr>
              <p:cNvGrpSpPr/>
              <p:nvPr/>
            </p:nvGrpSpPr>
            <p:grpSpPr>
              <a:xfrm>
                <a:off x="4615637" y="3632479"/>
                <a:ext cx="1143417" cy="783882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99" name="이등변 삼각형 98">
                  <a:extLst>
                    <a:ext uri="{FF2B5EF4-FFF2-40B4-BE49-F238E27FC236}">
                      <a16:creationId xmlns:a16="http://schemas.microsoft.com/office/drawing/2014/main" id="{E63F0B33-6607-4FB7-A239-4CCC2503EAD9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0" name="이등변 삼각형 99">
                  <a:extLst>
                    <a:ext uri="{FF2B5EF4-FFF2-40B4-BE49-F238E27FC236}">
                      <a16:creationId xmlns:a16="http://schemas.microsoft.com/office/drawing/2014/main" id="{46A75CCD-65E6-4C0C-9B34-B8C01215330D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1" name="이등변 삼각형 100">
                  <a:extLst>
                    <a:ext uri="{FF2B5EF4-FFF2-40B4-BE49-F238E27FC236}">
                      <a16:creationId xmlns:a16="http://schemas.microsoft.com/office/drawing/2014/main" id="{22E108C9-3E80-4DB7-B58F-985E44FDF6A2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" name="이등변 삼각형 101">
                  <a:extLst>
                    <a:ext uri="{FF2B5EF4-FFF2-40B4-BE49-F238E27FC236}">
                      <a16:creationId xmlns:a16="http://schemas.microsoft.com/office/drawing/2014/main" id="{E15F165F-8198-4CBD-B17E-340D07B8EEDE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3" name="이등변 삼각형 102">
                  <a:extLst>
                    <a:ext uri="{FF2B5EF4-FFF2-40B4-BE49-F238E27FC236}">
                      <a16:creationId xmlns:a16="http://schemas.microsoft.com/office/drawing/2014/main" id="{A3BC2089-BB9D-4945-90A9-D25327F18AF7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95C9A009-B480-4CC0-9856-2630D6FB3F67}"/>
                  </a:ext>
                </a:extLst>
              </p:cNvPr>
              <p:cNvGrpSpPr/>
              <p:nvPr/>
            </p:nvGrpSpPr>
            <p:grpSpPr>
              <a:xfrm>
                <a:off x="3209085" y="2224059"/>
                <a:ext cx="2877424" cy="2357307"/>
                <a:chOff x="3431097" y="2374084"/>
                <a:chExt cx="2877424" cy="2357307"/>
              </a:xfrm>
            </p:grpSpPr>
            <p:cxnSp>
              <p:nvCxnSpPr>
                <p:cNvPr id="97" name="직선 화살표 연결선 96">
                  <a:extLst>
                    <a:ext uri="{FF2B5EF4-FFF2-40B4-BE49-F238E27FC236}">
                      <a16:creationId xmlns:a16="http://schemas.microsoft.com/office/drawing/2014/main" id="{1ACCE954-33C0-4B0F-8D0B-3D40A1905EA1}"/>
                    </a:ext>
                  </a:extLst>
                </p:cNvPr>
                <p:cNvCxnSpPr/>
                <p:nvPr/>
              </p:nvCxnSpPr>
              <p:spPr>
                <a:xfrm>
                  <a:off x="3431097" y="4731391"/>
                  <a:ext cx="287742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직선 화살표 연결선 97">
                  <a:extLst>
                    <a:ext uri="{FF2B5EF4-FFF2-40B4-BE49-F238E27FC236}">
                      <a16:creationId xmlns:a16="http://schemas.microsoft.com/office/drawing/2014/main" id="{14F22AD3-88DE-4A53-ACF0-342D5A7302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2374084"/>
                  <a:ext cx="0" cy="235730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2C3C44D3-ADC3-494C-A642-DA3F06102DA8}"/>
                  </a:ext>
                </a:extLst>
              </p:cNvPr>
              <p:cNvCxnSpPr/>
              <p:nvPr/>
            </p:nvCxnSpPr>
            <p:spPr>
              <a:xfrm flipV="1">
                <a:off x="3355971" y="2643509"/>
                <a:ext cx="2051030" cy="205530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5EAF650B-BF5B-4977-B056-B0DFDBF33747}"/>
                  </a:ext>
                </a:extLst>
              </p:cNvPr>
              <p:cNvCxnSpPr/>
              <p:nvPr/>
            </p:nvCxnSpPr>
            <p:spPr>
              <a:xfrm flipV="1">
                <a:off x="3657828" y="2895287"/>
                <a:ext cx="2051030" cy="2055303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875B2E4B-1183-4A16-8D49-6C6F169ACB04}"/>
                  </a:ext>
                </a:extLst>
              </p:cNvPr>
              <p:cNvCxnSpPr/>
              <p:nvPr/>
            </p:nvCxnSpPr>
            <p:spPr>
              <a:xfrm flipV="1">
                <a:off x="3088784" y="2398132"/>
                <a:ext cx="2051030" cy="2055303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404502C5-095D-47D5-B26F-AE4734EFD367}"/>
                  </a:ext>
                </a:extLst>
              </p:cNvPr>
              <p:cNvGrpSpPr/>
              <p:nvPr/>
            </p:nvGrpSpPr>
            <p:grpSpPr>
              <a:xfrm>
                <a:off x="3462157" y="2558670"/>
                <a:ext cx="763389" cy="10696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E96836F1-FC93-478D-A002-F3518361D264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D2780ABD-907B-4899-8C62-DE1618789D83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99BEDC35-B941-4649-9C82-798F05B4732E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C6192413-7FF2-464C-8C56-B8240C5D5964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94BF4BC3-BA00-4CFA-AFC5-C4A295BA474B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2FDFE67A-8364-43A3-9DD9-CA1CBB60B5B1}"/>
                      </a:ext>
                    </a:extLst>
                  </p:cNvPr>
                  <p:cNvSpPr txBox="1"/>
                  <p:nvPr/>
                </p:nvSpPr>
                <p:spPr>
                  <a:xfrm>
                    <a:off x="5064978" y="2331439"/>
                    <a:ext cx="1631562" cy="4108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𝑏𝑦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altLang="ko-KR" sz="800" b="0" i="1">
                      <a:latin typeface="Cambria Math" panose="02040503050406030204" pitchFamily="18" charset="0"/>
                    </a:endParaRPr>
                  </a:p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ko-KR" altLang="en-US" sz="800"/>
                  </a:p>
                </p:txBody>
              </p:sp>
            </mc:Choice>
            <mc:Fallback xmlns="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2FDFE67A-8364-43A3-9DD9-CA1CBB60B5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4978" y="2331439"/>
                    <a:ext cx="1631562" cy="41084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002A4D1F-DB21-43FB-A073-5894CE84D05E}"/>
                      </a:ext>
                    </a:extLst>
                  </p:cNvPr>
                  <p:cNvSpPr txBox="1"/>
                  <p:nvPr/>
                </p:nvSpPr>
                <p:spPr>
                  <a:xfrm>
                    <a:off x="5640988" y="2737975"/>
                    <a:ext cx="1024362" cy="2614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ko-KR" altLang="en-US" sz="800"/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002A4D1F-DB21-43FB-A073-5894CE84D0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40988" y="2737975"/>
                    <a:ext cx="1024362" cy="26144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B6EF4AC3-8572-4AF0-A96D-3E7E4C39BF2B}"/>
                      </a:ext>
                    </a:extLst>
                  </p:cNvPr>
                  <p:cNvSpPr txBox="1"/>
                  <p:nvPr/>
                </p:nvSpPr>
                <p:spPr>
                  <a:xfrm>
                    <a:off x="4534548" y="2125205"/>
                    <a:ext cx="1076864" cy="2614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ko-KR" altLang="en-US" sz="800"/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B6EF4AC3-8572-4AF0-A96D-3E7E4C39BF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34548" y="2125205"/>
                    <a:ext cx="1076864" cy="26144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5" name="직선 화살표 연결선 84">
                <a:extLst>
                  <a:ext uri="{FF2B5EF4-FFF2-40B4-BE49-F238E27FC236}">
                    <a16:creationId xmlns:a16="http://schemas.microsoft.com/office/drawing/2014/main" id="{4005BECB-1D04-4D59-8A6E-6B6BC98C8F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6949" y="3484508"/>
                <a:ext cx="1182848" cy="1479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직선 화살표 연결선 85">
                <a:extLst>
                  <a:ext uri="{FF2B5EF4-FFF2-40B4-BE49-F238E27FC236}">
                    <a16:creationId xmlns:a16="http://schemas.microsoft.com/office/drawing/2014/main" id="{A8264B1E-383C-49BF-8BE7-5E0EEEBD01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96949" y="3775081"/>
                <a:ext cx="2035491" cy="460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EEFCE5-F9CE-4A06-B65D-F69CA11BFFEB}"/>
                  </a:ext>
                </a:extLst>
              </p:cNvPr>
              <p:cNvSpPr txBox="1"/>
              <p:nvPr/>
            </p:nvSpPr>
            <p:spPr>
              <a:xfrm>
                <a:off x="2088845" y="3499143"/>
                <a:ext cx="110612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Support Vectors</a:t>
                </a:r>
                <a:endParaRPr lang="ko-KR" altLang="en-US" sz="1100"/>
              </a:p>
            </p:txBody>
          </p:sp>
          <p:cxnSp>
            <p:nvCxnSpPr>
              <p:cNvPr id="88" name="직선 화살표 연결선 87">
                <a:extLst>
                  <a:ext uri="{FF2B5EF4-FFF2-40B4-BE49-F238E27FC236}">
                    <a16:creationId xmlns:a16="http://schemas.microsoft.com/office/drawing/2014/main" id="{499B3EC8-3DD9-4EE9-90D8-5CC7A3768A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1600" y="2999654"/>
                <a:ext cx="618881" cy="52916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E101CF94-B8B5-492D-9A5F-D88336404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2062" y="3363365"/>
                <a:ext cx="763240" cy="687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64872F2-4508-4184-B065-8AD2709B0786}"/>
                  </a:ext>
                </a:extLst>
              </p:cNvPr>
              <p:cNvSpPr txBox="1"/>
              <p:nvPr/>
            </p:nvSpPr>
            <p:spPr>
              <a:xfrm>
                <a:off x="5708858" y="3278975"/>
                <a:ext cx="120816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margin</a:t>
                </a:r>
                <a:endParaRPr lang="ko-KR" altLang="en-US" sz="1100"/>
              </a:p>
            </p:txBody>
          </p:sp>
          <p:cxnSp>
            <p:nvCxnSpPr>
              <p:cNvPr id="91" name="직선 화살표 연결선 90">
                <a:extLst>
                  <a:ext uri="{FF2B5EF4-FFF2-40B4-BE49-F238E27FC236}">
                    <a16:creationId xmlns:a16="http://schemas.microsoft.com/office/drawing/2014/main" id="{AD73F0B1-CF15-41C0-8499-0151BB82FF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4657" y="4463925"/>
                <a:ext cx="562619" cy="481059"/>
              </a:xfrm>
              <a:prstGeom prst="straightConnector1">
                <a:avLst/>
              </a:prstGeom>
              <a:ln>
                <a:prstDash val="lgDash"/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7CCD550-71BF-4A91-A638-46DB6A5741C7}"/>
                    </a:ext>
                  </a:extLst>
                </p:cNvPr>
                <p:cNvSpPr txBox="1"/>
                <p:nvPr/>
              </p:nvSpPr>
              <p:spPr>
                <a:xfrm>
                  <a:off x="2696655" y="3870970"/>
                  <a:ext cx="252767" cy="2938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ko-KR" altLang="en-US" sz="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7CCD550-71BF-4A91-A638-46DB6A574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6655" y="3870970"/>
                  <a:ext cx="252767" cy="293817"/>
                </a:xfrm>
                <a:prstGeom prst="rect">
                  <a:avLst/>
                </a:prstGeom>
                <a:blipFill>
                  <a:blip r:embed="rId15"/>
                  <a:stretch>
                    <a:fillRect t="-24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766CF24F-9349-4FCD-9179-FC2CD19C37B6}"/>
              </a:ext>
            </a:extLst>
          </p:cNvPr>
          <p:cNvSpPr/>
          <p:nvPr/>
        </p:nvSpPr>
        <p:spPr>
          <a:xfrm>
            <a:off x="3423098" y="1963856"/>
            <a:ext cx="2747562" cy="17330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벡터로 구하는 </a:t>
            </a:r>
            <a:r>
              <a:rPr lang="en-US" altLang="ko-KR"/>
              <a:t>maximize margin</a:t>
            </a:r>
          </a:p>
          <a:p>
            <a:pPr algn="ctr"/>
            <a:r>
              <a:rPr lang="ko-KR" altLang="en-US"/>
              <a:t>뒤에 라그랑지안이랑 안이어져서 뺴놓음</a:t>
            </a:r>
          </a:p>
        </p:txBody>
      </p:sp>
    </p:spTree>
    <p:extLst>
      <p:ext uri="{BB962C8B-B14F-4D97-AF65-F5344CB8AC3E}">
        <p14:creationId xmlns:p14="http://schemas.microsoft.com/office/powerpoint/2010/main" val="339313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라그랑주 승수법</a:t>
            </a:r>
            <a:r>
              <a:rPr lang="en-US" altLang="ko-KR"/>
              <a:t>(Lagrangian Multiplier Method)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21BD83-E8F9-47A5-991E-614DE8F7F6C0}"/>
                  </a:ext>
                </a:extLst>
              </p:cNvPr>
              <p:cNvSpPr txBox="1"/>
              <p:nvPr/>
            </p:nvSpPr>
            <p:spPr>
              <a:xfrm>
                <a:off x="432200" y="1180634"/>
                <a:ext cx="7887076" cy="6305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라그랑주 승수법이란 제약이 있는 최적화 문제를 푸는 방법 중 하나로</a:t>
                </a:r>
                <a:r>
                  <a:rPr lang="en-US" altLang="ko-KR" sz="1200"/>
                  <a:t>, </a:t>
                </a:r>
                <a:r>
                  <a:rPr lang="ko-KR" altLang="en-US" sz="1200"/>
                  <a:t>모든 제약식에 라그랑주 승수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200"/>
                  <a:t>를 곱하고 등식 제약이 있는 문제를 제약 없는 문제로 바꾸어 해결하는 방법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만약 부등식의 제약이 있는 문제면 </a:t>
                </a:r>
                <a:r>
                  <a:rPr lang="en-US" altLang="ko-KR" sz="1200"/>
                  <a:t>KKT(Karush-Kuhn-Tucker)</a:t>
                </a:r>
                <a:r>
                  <a:rPr lang="ko-KR" altLang="en-US" sz="1200"/>
                  <a:t>조건을 만족하는 문제일 때 라그랑주 승수법으로 문제를 해결 할 수 있다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라그랑주 함수 식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200" i="1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i="1">
                    <a:latin typeface="Cambria Math" panose="02040503050406030204" pitchFamily="18" charset="0"/>
                  </a:rPr>
                  <a:t>계산상의 편의를 위해 </a:t>
                </a:r>
                <a:r>
                  <a:rPr lang="en-US" altLang="ko-KR" sz="1200" i="1">
                    <a:latin typeface="Cambria Math" panose="02040503050406030204" pitchFamily="18" charset="0"/>
                  </a:rPr>
                  <a:t>max margin</a:t>
                </a:r>
                <a:r>
                  <a:rPr lang="ko-KR" altLang="en-US" sz="1200" i="1">
                    <a:latin typeface="Cambria Math" panose="02040503050406030204" pitchFamily="18" charset="0"/>
                  </a:rPr>
                  <a:t>을 역수를 취하여 </a:t>
                </a:r>
                <a:r>
                  <a:rPr lang="en-US" altLang="ko-KR" sz="1200" i="1">
                    <a:latin typeface="Cambria Math" panose="02040503050406030204" pitchFamily="18" charset="0"/>
                  </a:rPr>
                  <a:t>min margin</a:t>
                </a:r>
                <a:r>
                  <a:rPr lang="ko-KR" altLang="en-US" sz="1200" i="1">
                    <a:latin typeface="Cambria Math" panose="02040503050406030204" pitchFamily="18" charset="0"/>
                  </a:rPr>
                  <a:t>으로 바꿔 목적함수를 변경</a:t>
                </a:r>
                <a:endParaRPr lang="en-US" altLang="ko-KR" sz="1200" i="1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algn="ctr"/>
                <a:r>
                  <a:rPr lang="en-US" altLang="ko-KR" sz="1200"/>
                  <a:t>Max Margin = maxx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ko-KR" sz="1200">
                    <a:sym typeface="Wingdings" panose="05000000000000000000" pitchFamily="2" charset="2"/>
                  </a:rPr>
                  <a:t>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min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p>
                        <m:r>
                          <a:rPr lang="en-US" altLang="ko-KR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i="1">
                    <a:latin typeface="Cambria Math" panose="02040503050406030204" pitchFamily="18" charset="0"/>
                  </a:rPr>
                  <a:t>	(1)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 ……,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/>
                  <a:t>		(2)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(1)</a:t>
                </a:r>
                <a:r>
                  <a:rPr lang="ko-KR" altLang="en-US" sz="1200"/>
                  <a:t>은 목적함수</a:t>
                </a:r>
                <a:r>
                  <a:rPr lang="en-US" altLang="ko-KR" sz="1200"/>
                  <a:t>, (2) </a:t>
                </a:r>
                <a:r>
                  <a:rPr lang="ko-KR" altLang="en-US" sz="1200"/>
                  <a:t>제약조건 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(1)</a:t>
                </a:r>
                <a:r>
                  <a:rPr lang="ko-KR" altLang="en-US" sz="1200"/>
                  <a:t>의 </a:t>
                </a:r>
                <a:r>
                  <a:rPr lang="en-US" altLang="ko-KR" sz="1200"/>
                  <a:t>w,b</a:t>
                </a:r>
                <a:r>
                  <a:rPr lang="ko-KR" altLang="en-US" sz="1200"/>
                  <a:t>는 </a:t>
                </a:r>
                <a:r>
                  <a:rPr lang="en-US" altLang="ko-KR" sz="1200"/>
                  <a:t>unknown </a:t>
                </a:r>
                <a:r>
                  <a:rPr lang="ko-KR" altLang="en-US" sz="1200"/>
                  <a:t>데이터 임으로 </a:t>
                </a:r>
                <a:r>
                  <a:rPr lang="en-US" altLang="ko-KR" sz="1200"/>
                  <a:t>w,b</a:t>
                </a:r>
                <a:r>
                  <a:rPr lang="ko-KR" altLang="en-US" sz="1200"/>
                  <a:t>를 계산할 수 있도록 제약조건을 </a:t>
                </a:r>
                <a:r>
                  <a:rPr lang="en-US" altLang="ko-KR" sz="1200"/>
                  <a:t>1</a:t>
                </a:r>
                <a:r>
                  <a:rPr lang="ko-KR" altLang="en-US" sz="1200"/>
                  <a:t>번에 추가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목적함수는 </a:t>
                </a:r>
                <a:r>
                  <a:rPr lang="en-US" altLang="ko-KR" sz="1200"/>
                  <a:t>2</a:t>
                </a:r>
                <a:r>
                  <a:rPr lang="ko-KR" altLang="en-US" sz="1200"/>
                  <a:t>차식으로 되어있고 제약식은 </a:t>
                </a:r>
                <a:r>
                  <a:rPr lang="en-US" altLang="ko-KR" sz="1200"/>
                  <a:t>linear</a:t>
                </a:r>
                <a:r>
                  <a:rPr lang="ko-KR" altLang="en-US" sz="1200"/>
                  <a:t>로 되어있음 </a:t>
                </a:r>
                <a:r>
                  <a:rPr lang="en-US" altLang="ko-KR" sz="1200"/>
                  <a:t>=&gt; quadratic programming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=&gt; </a:t>
                </a:r>
                <a:r>
                  <a:rPr lang="ko-KR" altLang="en-US" sz="1200"/>
                  <a:t>최대</a:t>
                </a:r>
                <a:r>
                  <a:rPr lang="en-US" altLang="ko-KR" sz="1200"/>
                  <a:t>,</a:t>
                </a:r>
                <a:r>
                  <a:rPr lang="ko-KR" altLang="en-US" sz="1200"/>
                  <a:t>최소 하나만 존재 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Train data</a:t>
                </a:r>
                <a:r>
                  <a:rPr lang="ko-KR" altLang="en-US" sz="1200"/>
                  <a:t>가 </a:t>
                </a:r>
                <a:r>
                  <a:rPr lang="en-US" altLang="ko-KR" sz="1200"/>
                  <a:t>linearly separable</a:t>
                </a:r>
                <a:r>
                  <a:rPr lang="ko-KR" altLang="en-US" sz="1200"/>
                  <a:t>한 경우에만 해가 존재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 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Support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vector</a:t>
                </a:r>
                <a:r>
                  <a:rPr lang="ko-KR" altLang="en-US" sz="1200"/>
                  <a:t>의 식을 구해야함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  → </m:t>
                    </m:r>
                  </m:oMath>
                </a14:m>
                <a:r>
                  <a:rPr lang="ko-KR" altLang="en-US" sz="1200" b="0"/>
                  <a:t>목적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Minimize</a:t>
                </a:r>
                <a:r>
                  <a:rPr lang="ko-KR" altLang="en-US" sz="1200"/>
                  <a:t>로 변경하면 쿼드라틱 프로그래밍 최적화 문제가 됨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문제를 최적화 할 때 제약식이 존재하는데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이거임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즉</a:t>
                </a:r>
                <a:r>
                  <a:rPr lang="en-US" altLang="ko-KR" sz="1200" b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이라는 제약 조건이 있는 </a:t>
                </a:r>
                <a:r>
                  <a:rPr lang="en-US" altLang="ko-KR" sz="1200" b="0"/>
                  <a:t>minimize </a:t>
                </a:r>
                <a:r>
                  <a:rPr lang="ko-KR" altLang="en-US" sz="1200" b="0"/>
                  <a:t>최적화 문제를 풀어야하면 최적화 문제 식을 목적함수라고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승수법을 적용하면 제약 조건을 신경쓰지 않고 문제를 풀 수 있도록 문제를 바꿀수 있음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승수법이란 </a:t>
                </a:r>
                <a:r>
                  <a:rPr lang="en-US" altLang="ko-KR" sz="1200" b="0"/>
                  <a:t>g(x)</a:t>
                </a:r>
                <a:r>
                  <a:rPr lang="ko-KR" altLang="en-US" sz="1200" b="0"/>
                  <a:t>라는 제약사항하에서 목적함수 </a:t>
                </a:r>
                <a:r>
                  <a:rPr lang="en-US" altLang="ko-KR" sz="1200" b="0"/>
                  <a:t>f(x)</a:t>
                </a:r>
                <a:r>
                  <a:rPr lang="ko-KR" altLang="en-US" sz="1200" b="0"/>
                  <a:t>의 최소화하는 최적화 문제가 있다고 할 때 라그랑주 함수라는 새로운 함수 정의함 식은 다음과 같음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 b="0"/>
                  <a:t>L = f(x) – ag(x) , a&gt;=0	a</a:t>
                </a:r>
                <a:r>
                  <a:rPr lang="ko-KR" altLang="en-US" sz="1200" b="0"/>
                  <a:t>를 라그랑주 승수라고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제약이 있는 최적화 문제라면 라그랑주 함수의 정류점</a:t>
                </a:r>
                <a:r>
                  <a:rPr lang="en-US" altLang="ko-KR" sz="1200" b="0"/>
                  <a:t>(stationary point)</a:t>
                </a:r>
                <a:r>
                  <a:rPr lang="ko-KR" altLang="en-US" sz="1200" b="0"/>
                  <a:t>가 되는 </a:t>
                </a:r>
                <a:r>
                  <a:rPr lang="en-US" altLang="ko-KR" sz="1200" b="0"/>
                  <a:t>a</a:t>
                </a:r>
                <a:r>
                  <a:rPr lang="ko-KR" altLang="en-US" sz="1200" b="0"/>
                  <a:t>가 존재하며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정류점은 모든 편도함수가 </a:t>
                </a:r>
                <a:r>
                  <a:rPr lang="en-US" altLang="ko-KR" sz="1200" b="0"/>
                  <a:t>0</a:t>
                </a:r>
                <a:r>
                  <a:rPr lang="ko-KR" altLang="en-US" sz="1200" b="0"/>
                  <a:t>인 지점이다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만약 제약 조건이 연립부등식이라면 </a:t>
                </a:r>
                <a:r>
                  <a:rPr lang="en-US" altLang="ko-KR" sz="1200"/>
                  <a:t>KKT</a:t>
                </a:r>
                <a:r>
                  <a:rPr lang="ko-KR" altLang="en-US" sz="1200"/>
                  <a:t>조건을 만족하도록 라그랑주 승수법을 적용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21BD83-E8F9-47A5-991E-614DE8F7F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00" y="1180634"/>
                <a:ext cx="7887076" cy="6305572"/>
              </a:xfrm>
              <a:prstGeom prst="rect">
                <a:avLst/>
              </a:prstGeom>
              <a:blipFill>
                <a:blip r:embed="rId3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210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8FFBD1-B0A8-4791-8196-0EDA83AE2401}"/>
                  </a:ext>
                </a:extLst>
              </p:cNvPr>
              <p:cNvSpPr txBox="1"/>
              <p:nvPr/>
            </p:nvSpPr>
            <p:spPr>
              <a:xfrm>
                <a:off x="432200" y="1348414"/>
                <a:ext cx="7887076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벡터 </a:t>
                </a:r>
                <a:r>
                  <a:rPr lang="en-US" altLang="ko-KR" sz="1200"/>
                  <a:t>w</a:t>
                </a:r>
                <a:r>
                  <a:rPr lang="ko-KR" altLang="en-US" sz="1200"/>
                  <a:t>와 </a:t>
                </a:r>
                <a:r>
                  <a:rPr lang="en-US" altLang="ko-KR" sz="1200"/>
                  <a:t>b</a:t>
                </a:r>
                <a:r>
                  <a:rPr lang="ko-KR" altLang="en-US" sz="1200"/>
                  <a:t>를 계산 할 수 있도록 </a:t>
                </a:r>
                <a:r>
                  <a:rPr lang="en-US" altLang="ko-KR" sz="1200"/>
                  <a:t>decision rule</a:t>
                </a:r>
                <a:r>
                  <a:rPr lang="ko-KR" altLang="en-US" sz="1200"/>
                  <a:t>에 여러 제약 조건을 추가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Support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vector</a:t>
                </a:r>
                <a:r>
                  <a:rPr lang="ko-KR" altLang="en-US" sz="1200"/>
                  <a:t>의 식을 구해야함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  → </m:t>
                    </m:r>
                  </m:oMath>
                </a14:m>
                <a:r>
                  <a:rPr lang="ko-KR" altLang="en-US" sz="1200" b="0"/>
                  <a:t>목적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Minimize</a:t>
                </a:r>
                <a:r>
                  <a:rPr lang="ko-KR" altLang="en-US" sz="1200"/>
                  <a:t>로 변경하면 쿼드라틱 프로그래밍 최적화 문제가 됨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문제를 최적화 할 때 제약식이 존재하는데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이거임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즉</a:t>
                </a:r>
                <a:r>
                  <a:rPr lang="en-US" altLang="ko-KR" sz="1200" b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이라는 제약 조건이 있는 </a:t>
                </a:r>
                <a:r>
                  <a:rPr lang="en-US" altLang="ko-KR" sz="1200" b="0"/>
                  <a:t>minimize </a:t>
                </a:r>
                <a:r>
                  <a:rPr lang="ko-KR" altLang="en-US" sz="1200" b="0"/>
                  <a:t>최적화 문제를 풀어야하면 최적화 문제 식을 목적함수라고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승수법을 적용하면 제약 조건을 신경쓰지 않고 문제를 풀 수 있도록 문제를 바꿀수 있음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승수법이란 </a:t>
                </a:r>
                <a:r>
                  <a:rPr lang="en-US" altLang="ko-KR" sz="1200" b="0"/>
                  <a:t>g(x)</a:t>
                </a:r>
                <a:r>
                  <a:rPr lang="ko-KR" altLang="en-US" sz="1200" b="0"/>
                  <a:t>라는 제약사항하에서 목적함수 </a:t>
                </a:r>
                <a:r>
                  <a:rPr lang="en-US" altLang="ko-KR" sz="1200" b="0"/>
                  <a:t>f(x)</a:t>
                </a:r>
                <a:r>
                  <a:rPr lang="ko-KR" altLang="en-US" sz="1200" b="0"/>
                  <a:t>의 최소화하는 최적화 문제가 있다고 할 때 라그랑주 함수라는 새로운 함수 정의함 식은 다음과 같음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 b="0"/>
                  <a:t>L = f(x) – ag(x) , a&gt;=0	a</a:t>
                </a:r>
                <a:r>
                  <a:rPr lang="ko-KR" altLang="en-US" sz="1200" b="0"/>
                  <a:t>를 라그랑주 승수라고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제약이 있는 최적화 문제라면 라그랑주 함수의 정류점</a:t>
                </a:r>
                <a:r>
                  <a:rPr lang="en-US" altLang="ko-KR" sz="1200" b="0"/>
                  <a:t>(stationary point)</a:t>
                </a:r>
                <a:r>
                  <a:rPr lang="ko-KR" altLang="en-US" sz="1200" b="0"/>
                  <a:t>가 되는 </a:t>
                </a:r>
                <a:r>
                  <a:rPr lang="en-US" altLang="ko-KR" sz="1200" b="0"/>
                  <a:t>a</a:t>
                </a:r>
                <a:r>
                  <a:rPr lang="ko-KR" altLang="en-US" sz="1200" b="0"/>
                  <a:t>가 존재하며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정류점은 모든 편도함수가 </a:t>
                </a:r>
                <a:r>
                  <a:rPr lang="en-US" altLang="ko-KR" sz="1200" b="0"/>
                  <a:t>0</a:t>
                </a:r>
                <a:r>
                  <a:rPr lang="ko-KR" altLang="en-US" sz="1200" b="0"/>
                  <a:t>인 지점이다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만약 제약 조건이 연립부등식이라면 </a:t>
                </a:r>
                <a:r>
                  <a:rPr lang="en-US" altLang="ko-KR" sz="1200"/>
                  <a:t>KKT</a:t>
                </a:r>
                <a:r>
                  <a:rPr lang="ko-KR" altLang="en-US" sz="1200"/>
                  <a:t>조건을 만족하도록 라그랑주 승수법을 적용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8FFBD1-B0A8-4791-8196-0EDA83AE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00" y="1348414"/>
                <a:ext cx="7887076" cy="3416320"/>
              </a:xfrm>
              <a:prstGeom prst="rect">
                <a:avLst/>
              </a:prstGeom>
              <a:blipFill>
                <a:blip r:embed="rId3"/>
                <a:stretch>
                  <a:fillRect t="-1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32A194B-BA4D-4540-BCAF-25947FCDEBAA}"/>
              </a:ext>
            </a:extLst>
          </p:cNvPr>
          <p:cNvSpPr txBox="1"/>
          <p:nvPr/>
        </p:nvSpPr>
        <p:spPr>
          <a:xfrm>
            <a:off x="832607" y="5721184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https://junstar92.tistory.com/48</a:t>
            </a:r>
          </a:p>
        </p:txBody>
      </p:sp>
    </p:spTree>
    <p:extLst>
      <p:ext uri="{BB962C8B-B14F-4D97-AF65-F5344CB8AC3E}">
        <p14:creationId xmlns:p14="http://schemas.microsoft.com/office/powerpoint/2010/main" val="2545909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Margin</a:t>
            </a:r>
            <a:r>
              <a:rPr lang="ko-KR" altLang="en-US"/>
              <a:t>의 </a:t>
            </a:r>
            <a:r>
              <a:rPr lang="en-US" altLang="ko-KR"/>
              <a:t>Optimization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A5FC7-F095-49B5-B57C-0D1BC9428A39}"/>
              </a:ext>
            </a:extLst>
          </p:cNvPr>
          <p:cNvSpPr txBox="1"/>
          <p:nvPr/>
        </p:nvSpPr>
        <p:spPr>
          <a:xfrm>
            <a:off x="111154" y="1493240"/>
            <a:ext cx="39344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라그랑주 승수법</a:t>
            </a:r>
            <a:endParaRPr lang="en-US" altLang="ko-KR" sz="1100"/>
          </a:p>
          <a:p>
            <a:pPr algn="l"/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r>
              <a:rPr lang="en-US" altLang="ko-KR" sz="1100"/>
              <a:t>Quadratic</a:t>
            </a:r>
            <a:r>
              <a:rPr lang="ko-KR" altLang="en-US" sz="1100"/>
              <a:t> </a:t>
            </a:r>
            <a:r>
              <a:rPr lang="en-US" altLang="ko-KR" sz="1100"/>
              <a:t>programming</a:t>
            </a:r>
            <a:endParaRPr lang="ko-KR" altLang="en-US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A3834-68CE-4FDA-BC76-E817470D9889}"/>
              </a:ext>
            </a:extLst>
          </p:cNvPr>
          <p:cNvSpPr txBox="1"/>
          <p:nvPr/>
        </p:nvSpPr>
        <p:spPr>
          <a:xfrm>
            <a:off x="111154" y="964626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https://greedywyatt.tistory.com/121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6D3D1C-5582-4A9D-8C71-E12CA9EDFA6F}"/>
                  </a:ext>
                </a:extLst>
              </p:cNvPr>
              <p:cNvSpPr txBox="1"/>
              <p:nvPr/>
            </p:nvSpPr>
            <p:spPr>
              <a:xfrm>
                <a:off x="1258349" y="2457974"/>
                <a:ext cx="6484690" cy="1032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정리 해보면 조건</a:t>
                </a:r>
                <a:r>
                  <a:rPr lang="en-US" altLang="ko-KR" sz="1100"/>
                  <a:t>(constraints)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en-US" altLang="ko-KR" sz="1100"/>
                  <a:t>, </a:t>
                </a:r>
                <a:r>
                  <a:rPr lang="ko-KR" altLang="en-US" sz="1100"/>
                  <a:t>목적함수</a:t>
                </a:r>
                <a:r>
                  <a:rPr lang="en-US" altLang="ko-KR" sz="1100"/>
                  <a:t>: minimize ½ |w|^2</a:t>
                </a:r>
              </a:p>
              <a:p>
                <a:pPr algn="l"/>
                <a:r>
                  <a:rPr lang="ko-KR" altLang="en-US" sz="1100"/>
                  <a:t>라그랑주 함수 식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ko-KR" altLang="en-US" sz="1100" b="0"/>
                  <a:t>에 따라 보조방정식을 세우면 아래와 같다</a:t>
                </a:r>
                <a:endParaRPr lang="en-US" altLang="ko-KR" sz="1100" b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  <m:sup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1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sz="11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110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10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1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ko-KR" sz="1100"/>
              </a:p>
              <a:p>
                <a:pPr algn="l"/>
                <a:endParaRPr lang="en-US" altLang="ko-KR" sz="11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6D3D1C-5582-4A9D-8C71-E12CA9EDF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349" y="2457974"/>
                <a:ext cx="6484690" cy="1032719"/>
              </a:xfrm>
              <a:prstGeom prst="rect">
                <a:avLst/>
              </a:prstGeom>
              <a:blipFill>
                <a:blip r:embed="rId3"/>
                <a:stretch>
                  <a:fillRect t="-21176" b="-605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7309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A19FD9-C3BD-402F-99E2-9981C5269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71" y="2123476"/>
            <a:ext cx="7586057" cy="297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82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0DCB7A-BE14-424E-B179-6C280696BD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DD1003-1A95-4125-9921-B5F22CC58407}"/>
                  </a:ext>
                </a:extLst>
              </p:cNvPr>
              <p:cNvSpPr txBox="1"/>
              <p:nvPr/>
            </p:nvSpPr>
            <p:spPr>
              <a:xfrm>
                <a:off x="716280" y="1729740"/>
                <a:ext cx="649224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질문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1)</a:t>
                </a:r>
                <a:r>
                  <a:rPr lang="ko-KR" altLang="en-US" sz="1100"/>
                  <a:t>가중치 벡터</a:t>
                </a:r>
                <a:r>
                  <a:rPr lang="en-US" altLang="ko-KR" sz="1100"/>
                  <a:t>(w)</a:t>
                </a:r>
                <a:r>
                  <a:rPr lang="ko-KR" altLang="en-US" sz="1100"/>
                  <a:t>가 직교한다</a:t>
                </a:r>
                <a:r>
                  <a:rPr lang="en-US" altLang="ko-KR" sz="1100"/>
                  <a:t>?</a:t>
                </a:r>
              </a:p>
              <a:p>
                <a:pPr algn="l"/>
                <a:r>
                  <a:rPr lang="ko-KR" altLang="en-US" sz="1100"/>
                  <a:t>벡터 </a:t>
                </a:r>
                <a:r>
                  <a:rPr lang="en-US" altLang="ko-KR" sz="1100"/>
                  <a:t>w,x</a:t>
                </a:r>
                <a:r>
                  <a:rPr lang="ko-KR" altLang="en-US" sz="1100"/>
                  <a:t>가  있다고 가정하고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의 수식을 따르는 선형 </a:t>
                </a:r>
                <a:r>
                  <a:rPr lang="en-US" altLang="ko-KR" sz="1100"/>
                  <a:t>decision boundary</a:t>
                </a:r>
                <a:r>
                  <a:rPr lang="ko-KR" altLang="en-US" sz="1100"/>
                  <a:t>라고 함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벡터 </a:t>
                </a:r>
                <a:r>
                  <a:rPr lang="en-US" altLang="ko-KR" sz="1100"/>
                  <a:t>w,x</a:t>
                </a:r>
                <a:r>
                  <a:rPr lang="ko-KR" altLang="en-US" sz="1100"/>
                  <a:t>의 내적은 </a:t>
                </a:r>
                <a:r>
                  <a:rPr lang="en-US" altLang="ko-KR" sz="1100"/>
                  <a:t>p</a:t>
                </a:r>
                <a:r>
                  <a:rPr lang="ko-KR" altLang="en-US" sz="1100"/>
                  <a:t>이다 </a:t>
                </a:r>
                <a:r>
                  <a:rPr lang="en-US" altLang="ko-KR" sz="1100"/>
                  <a:t>p</a:t>
                </a:r>
                <a:r>
                  <a:rPr lang="ko-KR" altLang="en-US" sz="1100"/>
                  <a:t>가</a:t>
                </a:r>
                <a:r>
                  <a:rPr lang="en-US" altLang="ko-KR" sz="1100"/>
                  <a:t> </a:t>
                </a:r>
                <a:r>
                  <a:rPr lang="ko-KR" altLang="en-US" sz="1100"/>
                  <a:t>제일 커지는 각도 </a:t>
                </a:r>
                <a:r>
                  <a:rPr lang="en-US" altLang="ko-KR" sz="1100"/>
                  <a:t>0</a:t>
                </a:r>
                <a:r>
                  <a:rPr lang="ko-KR" altLang="en-US" sz="1100"/>
                  <a:t>도</a:t>
                </a:r>
                <a:r>
                  <a:rPr lang="en-US" altLang="ko-KR" sz="1100"/>
                  <a:t>(</a:t>
                </a:r>
                <a:r>
                  <a:rPr lang="ko-KR" altLang="en-US" sz="1100"/>
                  <a:t>겹쳐졌을때</a:t>
                </a:r>
                <a:r>
                  <a:rPr lang="en-US" altLang="ko-KR" sz="1100"/>
                  <a:t>) </a:t>
                </a:r>
                <a:r>
                  <a:rPr lang="ko-KR" altLang="en-US" sz="1100"/>
                  <a:t>작아지는 각도가 </a:t>
                </a:r>
                <a:r>
                  <a:rPr lang="en-US" altLang="ko-KR" sz="1100"/>
                  <a:t>90(</a:t>
                </a:r>
                <a:r>
                  <a:rPr lang="ko-KR" altLang="en-US" sz="1100"/>
                  <a:t>수직</a:t>
                </a:r>
                <a:r>
                  <a:rPr lang="en-US" altLang="ko-KR" sz="1100"/>
                  <a:t>)</a:t>
                </a:r>
                <a:r>
                  <a:rPr lang="ko-KR" altLang="en-US" sz="1100"/>
                  <a:t>이다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Wx=0</a:t>
                </a:r>
                <a:r>
                  <a:rPr lang="ko-KR" altLang="en-US" sz="1100"/>
                  <a:t>일때 벡터 </a:t>
                </a:r>
                <a:r>
                  <a:rPr lang="en-US" altLang="ko-KR" sz="1100"/>
                  <a:t>x</a:t>
                </a:r>
                <a:r>
                  <a:rPr lang="ko-KR" altLang="en-US" sz="1100"/>
                  <a:t>의 모든 점들은 벡터 </a:t>
                </a:r>
                <a:r>
                  <a:rPr lang="en-US" altLang="ko-KR" sz="1100"/>
                  <a:t>w</a:t>
                </a:r>
                <a:r>
                  <a:rPr lang="ko-KR" altLang="en-US" sz="1100"/>
                  <a:t>에 직교한다는 의미가 됨</a:t>
                </a:r>
                <a:endParaRPr lang="en-US" altLang="ko-KR" sz="1100"/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DD1003-1A95-4125-9921-B5F22CC58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" y="1729740"/>
                <a:ext cx="6492240" cy="1107996"/>
              </a:xfrm>
              <a:prstGeom prst="rect">
                <a:avLst/>
              </a:prstGeom>
              <a:blipFill>
                <a:blip r:embed="rId2"/>
                <a:stretch>
                  <a:fillRect t="-5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264EF9D-F72E-4FF9-AF83-26A9F45904A7}"/>
              </a:ext>
            </a:extLst>
          </p:cNvPr>
          <p:cNvCxnSpPr/>
          <p:nvPr/>
        </p:nvCxnSpPr>
        <p:spPr>
          <a:xfrm>
            <a:off x="6837680" y="1866721"/>
            <a:ext cx="1849120" cy="13793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64328B8-AA85-43DD-AD39-18B3FDA68AD9}"/>
              </a:ext>
            </a:extLst>
          </p:cNvPr>
          <p:cNvCxnSpPr/>
          <p:nvPr/>
        </p:nvCxnSpPr>
        <p:spPr>
          <a:xfrm flipV="1">
            <a:off x="7277100" y="2499181"/>
            <a:ext cx="381000" cy="404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C83B30-665C-4375-B588-E1D9511A468B}"/>
              </a:ext>
            </a:extLst>
          </p:cNvPr>
          <p:cNvSpPr txBox="1"/>
          <p:nvPr/>
        </p:nvSpPr>
        <p:spPr>
          <a:xfrm>
            <a:off x="7326629" y="2713896"/>
            <a:ext cx="2971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w</a:t>
            </a:r>
            <a:endParaRPr lang="ko-KR" altLang="en-US" sz="110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806CB9D-70FA-4DCB-B40D-198DE4F3BD84}"/>
              </a:ext>
            </a:extLst>
          </p:cNvPr>
          <p:cNvCxnSpPr/>
          <p:nvPr/>
        </p:nvCxnSpPr>
        <p:spPr>
          <a:xfrm flipH="1" flipV="1">
            <a:off x="7094220" y="2114460"/>
            <a:ext cx="182880" cy="788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3662A7-7AF8-4874-9CF3-79ADC83FC743}"/>
              </a:ext>
            </a:extLst>
          </p:cNvPr>
          <p:cNvSpPr txBox="1"/>
          <p:nvPr/>
        </p:nvSpPr>
        <p:spPr>
          <a:xfrm>
            <a:off x="6860540" y="2234862"/>
            <a:ext cx="2971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x</a:t>
            </a:r>
            <a:endParaRPr lang="ko-KR" altLang="en-US" sz="11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4E660-69A7-4280-902C-9864E41A9AE9}"/>
              </a:ext>
            </a:extLst>
          </p:cNvPr>
          <p:cNvSpPr txBox="1"/>
          <p:nvPr/>
        </p:nvSpPr>
        <p:spPr>
          <a:xfrm>
            <a:off x="7582852" y="2461945"/>
            <a:ext cx="232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p</a:t>
            </a:r>
            <a:endParaRPr lang="ko-KR" altLang="en-US" sz="110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0E6CF94-03FD-4711-B5E2-50CEDCA467D6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318057" y="2592750"/>
            <a:ext cx="264795" cy="281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281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3397</TotalTime>
  <Pages>4</Pages>
  <Words>2931</Words>
  <Characters>0</Characters>
  <Application>Microsoft Office PowerPoint</Application>
  <DocSecurity>0</DocSecurity>
  <PresentationFormat>화면 슬라이드 쇼(4:3)</PresentationFormat>
  <Lines>0</Lines>
  <Paragraphs>463</Paragraphs>
  <Slides>25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6" baseType="lpstr">
      <vt:lpstr>AppleSDGothicNeo</vt:lpstr>
      <vt:lpstr>HY견고딕</vt:lpstr>
      <vt:lpstr>MJXc-TeX-main-R</vt:lpstr>
      <vt:lpstr>맑은 고딕</vt:lpstr>
      <vt:lpstr>Arial</vt:lpstr>
      <vt:lpstr>Arial Black</vt:lpstr>
      <vt:lpstr>Calibri</vt:lpstr>
      <vt:lpstr>Calibri Light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jh</cp:lastModifiedBy>
  <cp:revision>122</cp:revision>
  <dcterms:modified xsi:type="dcterms:W3CDTF">2023-02-01T07:43:11Z</dcterms:modified>
  <cp:version>9.104.131.47063</cp:version>
</cp:coreProperties>
</file>