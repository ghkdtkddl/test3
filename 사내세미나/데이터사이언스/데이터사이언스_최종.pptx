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2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8" r:id="rId3"/>
    <p:sldId id="259" r:id="rId4"/>
    <p:sldId id="260" r:id="rId5"/>
    <p:sldId id="261" r:id="rId6"/>
    <p:sldId id="276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5" r:id="rId17"/>
  </p:sldIdLst>
  <p:sldSz cx="9144000" cy="6858000" type="screen4x3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8485543-1849-4791-92E3-68CFEC39D1B1}">
          <p14:sldIdLst>
            <p14:sldId id="256"/>
            <p14:sldId id="258"/>
            <p14:sldId id="259"/>
            <p14:sldId id="260"/>
            <p14:sldId id="261"/>
            <p14:sldId id="276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2"/>
            <p14:sldId id="2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56">
          <p15:clr>
            <a:srgbClr val="A4A3A4"/>
          </p15:clr>
        </p15:guide>
        <p15:guide id="2" pos="287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56">
          <p15:clr>
            <a:srgbClr val="A4A3A4"/>
          </p15:clr>
        </p15:guide>
        <p15:guide id="2" pos="287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h" initials="j" lastIdx="3" clrIdx="0"/>
  <p:cmAuthor id="2" name="지훈 김" initials="지김" lastIdx="1" clrIdx="1">
    <p:extLst>
      <p:ext uri="{19B8F6BF-5375-455C-9EA6-DF929625EA0E}">
        <p15:presenceInfo xmlns:p15="http://schemas.microsoft.com/office/powerpoint/2012/main" userId="1f877c8ff6cf4c9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31" autoAdjust="0"/>
    <p:restoredTop sz="82629" autoAdjust="0"/>
  </p:normalViewPr>
  <p:slideViewPr>
    <p:cSldViewPr snapToGrid="0" snapToObjects="1">
      <p:cViewPr varScale="1">
        <p:scale>
          <a:sx n="94" d="100"/>
          <a:sy n="94" d="100"/>
        </p:scale>
        <p:origin x="2448" y="66"/>
      </p:cViewPr>
      <p:guideLst>
        <p:guide orient="horz" pos="2156"/>
        <p:guide pos="28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 snapToObjects="1">
      <p:cViewPr varScale="1">
        <p:scale>
          <a:sx n="77" d="100"/>
          <a:sy n="77" d="100"/>
        </p:scale>
        <p:origin x="4008" y="120"/>
      </p:cViewPr>
      <p:guideLst>
        <p:guide orient="horz" pos="2156"/>
        <p:guide pos="287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639" cy="511176"/>
          </a:xfrm>
          <a:prstGeom prst="rect">
            <a:avLst/>
          </a:prstGeom>
        </p:spPr>
        <p:txBody>
          <a:bodyPr vert="horz" lIns="91166" tIns="45582" rIns="91166" bIns="45582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837" y="0"/>
            <a:ext cx="3078639" cy="511176"/>
          </a:xfrm>
          <a:prstGeom prst="rect">
            <a:avLst/>
          </a:prstGeom>
        </p:spPr>
        <p:txBody>
          <a:bodyPr vert="horz" lIns="91166" tIns="45582" rIns="91166" bIns="45582"/>
          <a:lstStyle>
            <a:lvl1pPr algn="r">
              <a:defRPr sz="1200"/>
            </a:lvl1pPr>
          </a:lstStyle>
          <a:p>
            <a:pPr lvl="0">
              <a:defRPr/>
            </a:pPr>
            <a:fld id="{86BECE3D-28DF-44F2-BBF4-A1F550C97DF1}" type="datetime1">
              <a:rPr lang="ko-KR" altLang="en-US"/>
              <a:pPr lvl="0">
                <a:defRPr/>
              </a:pPr>
              <a:t>2023-08-04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1851"/>
            <a:ext cx="3078639" cy="511176"/>
          </a:xfrm>
          <a:prstGeom prst="rect">
            <a:avLst/>
          </a:prstGeom>
        </p:spPr>
        <p:txBody>
          <a:bodyPr vert="horz" lIns="91166" tIns="45582" rIns="91166" bIns="45582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837" y="9721851"/>
            <a:ext cx="3078639" cy="511176"/>
          </a:xfrm>
          <a:prstGeom prst="rect">
            <a:avLst/>
          </a:prstGeom>
        </p:spPr>
        <p:txBody>
          <a:bodyPr vert="horz" lIns="91166" tIns="45582" rIns="91166" bIns="45582" anchor="b"/>
          <a:lstStyle>
            <a:lvl1pPr algn="r">
              <a:defRPr sz="1200"/>
            </a:lvl1pPr>
          </a:lstStyle>
          <a:p>
            <a:pPr lvl="0">
              <a:defRPr/>
            </a:pPr>
            <a:fld id="{9CCD6CBE-4E81-4091-B594-FAD27E600D5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079202" cy="513859"/>
          </a:xfrm>
          <a:prstGeom prst="rect">
            <a:avLst/>
          </a:prstGeom>
        </p:spPr>
        <p:txBody>
          <a:bodyPr vert="horz" lIns="94475" tIns="47237" rIns="94475" bIns="47237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205" y="2"/>
            <a:ext cx="3079202" cy="513859"/>
          </a:xfrm>
          <a:prstGeom prst="rect">
            <a:avLst/>
          </a:prstGeom>
        </p:spPr>
        <p:txBody>
          <a:bodyPr vert="horz" lIns="94475" tIns="47237" rIns="94475" bIns="47237"/>
          <a:lstStyle>
            <a:lvl1pPr algn="r">
              <a:defRPr sz="1200"/>
            </a:lvl1pPr>
          </a:lstStyle>
          <a:p>
            <a:pPr lvl="0">
              <a:defRPr/>
            </a:pPr>
            <a:fld id="{3A58FB49-0BA5-40AA-BFC7-FBD141E0550C}" type="datetime1">
              <a:rPr lang="ko-KR" altLang="en-US"/>
              <a:pPr lvl="0">
                <a:defRPr/>
              </a:pPr>
              <a:t>2023-08-04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249363" y="1279525"/>
            <a:ext cx="4605337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475" tIns="47237" rIns="94475" bIns="47237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078" y="4925839"/>
            <a:ext cx="5683914" cy="4029039"/>
          </a:xfrm>
          <a:prstGeom prst="rect">
            <a:avLst/>
          </a:prstGeom>
        </p:spPr>
        <p:txBody>
          <a:bodyPr vert="horz" lIns="94475" tIns="47237" rIns="94475" bIns="47237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0755"/>
            <a:ext cx="3079202" cy="513859"/>
          </a:xfrm>
          <a:prstGeom prst="rect">
            <a:avLst/>
          </a:prstGeom>
        </p:spPr>
        <p:txBody>
          <a:bodyPr vert="horz" lIns="94475" tIns="47237" rIns="94475" bIns="47237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205" y="9720755"/>
            <a:ext cx="3079202" cy="513859"/>
          </a:xfrm>
          <a:prstGeom prst="rect">
            <a:avLst/>
          </a:prstGeom>
        </p:spPr>
        <p:txBody>
          <a:bodyPr vert="horz" lIns="94475" tIns="47237" rIns="94475" bIns="47237" anchor="b"/>
          <a:lstStyle>
            <a:lvl1pPr algn="r">
              <a:defRPr sz="1200"/>
            </a:lvl1pPr>
          </a:lstStyle>
          <a:p>
            <a:pPr lvl="0">
              <a:defRPr/>
            </a:pPr>
            <a:fld id="{81BAB70A-F45A-47C3-B1C3-08DF0F4D1921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defRPr/>
            </a:pPr>
            <a:r>
              <a:rPr lang="ko-KR" altLang="en-US" sz="1200"/>
              <a:t>예를 들어 연인의 카톡내용에서 하트가 대화의 반이고 욕설은 거의 없다</a:t>
            </a:r>
          </a:p>
          <a:p>
            <a:pPr algn="l">
              <a:defRPr/>
            </a:pPr>
            <a:r>
              <a:rPr lang="ko-KR" altLang="en-US" sz="1200"/>
              <a:t>확률로 표현하면 </a:t>
            </a:r>
            <a:r>
              <a:rPr lang="en-US" altLang="ko-KR" sz="1200"/>
              <a:t>P(</a:t>
            </a:r>
            <a:r>
              <a:rPr lang="ko-KR" altLang="en-US" sz="1200"/>
              <a:t>하트</a:t>
            </a:r>
            <a:r>
              <a:rPr lang="en-US" altLang="ko-KR" sz="1200"/>
              <a:t>) = 0.5 P(</a:t>
            </a:r>
            <a:r>
              <a:rPr lang="ko-KR" altLang="en-US" sz="1200"/>
              <a:t>욕설</a:t>
            </a:r>
            <a:r>
              <a:rPr lang="en-US" altLang="ko-KR" sz="1200"/>
              <a:t>) = 0.001</a:t>
            </a:r>
            <a:r>
              <a:rPr lang="ko-KR" altLang="en-US" sz="1200"/>
              <a:t>정도가 된다</a:t>
            </a:r>
          </a:p>
          <a:p>
            <a:pPr algn="l">
              <a:defRPr/>
            </a:pPr>
            <a:endParaRPr lang="en-US" altLang="ko-KR" sz="1200"/>
          </a:p>
          <a:p>
            <a:pPr algn="l">
              <a:defRPr/>
            </a:pPr>
            <a:r>
              <a:rPr lang="ko-KR" altLang="en-US" sz="1200"/>
              <a:t>대화를 인코딩을 할때  </a:t>
            </a:r>
            <a:r>
              <a:rPr lang="en-US" altLang="ko-KR" sz="1200"/>
              <a:t>bit</a:t>
            </a:r>
            <a:r>
              <a:rPr lang="ko-KR" altLang="en-US" sz="1200"/>
              <a:t>로 표현</a:t>
            </a:r>
          </a:p>
          <a:p>
            <a:pPr algn="l">
              <a:defRPr/>
            </a:pPr>
            <a:r>
              <a:rPr lang="ko-KR" altLang="en-US" sz="1200"/>
              <a:t>만약 </a:t>
            </a:r>
            <a:r>
              <a:rPr lang="en-US" altLang="ko-KR" sz="1200"/>
              <a:t>/// -&gt; </a:t>
            </a:r>
            <a:r>
              <a:rPr lang="ko-KR" altLang="en-US" sz="1200"/>
              <a:t>하트</a:t>
            </a:r>
            <a:r>
              <a:rPr lang="en-US" altLang="ko-KR" sz="1200"/>
              <a:t>,   o -&gt;</a:t>
            </a:r>
            <a:r>
              <a:rPr lang="ko-KR" altLang="en-US" sz="1200"/>
              <a:t>욕설일때  하트를 </a:t>
            </a:r>
            <a:r>
              <a:rPr lang="en-US" altLang="ko-KR" sz="1200"/>
              <a:t>4</a:t>
            </a:r>
            <a:r>
              <a:rPr lang="ko-KR" altLang="en-US" sz="1200"/>
              <a:t>번 보낸다 했을때  </a:t>
            </a:r>
            <a:r>
              <a:rPr lang="en-US" altLang="ko-KR" sz="1200"/>
              <a:t>///,///,///,///</a:t>
            </a:r>
            <a:r>
              <a:rPr lang="ko-KR" altLang="en-US" sz="1200"/>
              <a:t>의 길이가 되는 반면</a:t>
            </a:r>
          </a:p>
          <a:p>
            <a:pPr algn="l">
              <a:defRPr/>
            </a:pPr>
            <a:r>
              <a:rPr lang="ko-KR" altLang="en-US" sz="1200"/>
              <a:t>욕설을 </a:t>
            </a:r>
            <a:r>
              <a:rPr lang="en-US" altLang="ko-KR" sz="1200"/>
              <a:t>4</a:t>
            </a:r>
            <a:r>
              <a:rPr lang="ko-KR" altLang="en-US" sz="1200"/>
              <a:t>번 보낼땐 </a:t>
            </a:r>
            <a:r>
              <a:rPr lang="en-US" altLang="ko-KR" sz="1200"/>
              <a:t>o,o,o,o </a:t>
            </a:r>
            <a:r>
              <a:rPr lang="ko-KR" altLang="en-US" sz="1200"/>
              <a:t>대화의 반이 하트를 사용하는데 길이가 길고 욕설은 짧다</a:t>
            </a:r>
          </a:p>
          <a:p>
            <a:pPr algn="l">
              <a:defRPr/>
            </a:pPr>
            <a:r>
              <a:rPr lang="ko-KR" altLang="en-US" sz="1200"/>
              <a:t>비효율적이다</a:t>
            </a:r>
          </a:p>
          <a:p>
            <a:pPr algn="l">
              <a:defRPr/>
            </a:pPr>
            <a:r>
              <a:rPr lang="ko-KR" altLang="en-US" sz="1200"/>
              <a:t>이 두개의 예시를 바꿔보면 더 효율적일 것이다</a:t>
            </a:r>
            <a:r>
              <a:rPr lang="en-US" altLang="ko-KR" sz="1200"/>
              <a:t>.</a:t>
            </a:r>
          </a:p>
          <a:p>
            <a:pPr algn="l">
              <a:defRPr/>
            </a:pPr>
            <a:endParaRPr lang="en-US" altLang="ko-KR" sz="1200"/>
          </a:p>
          <a:p>
            <a:pPr algn="l">
              <a:defRPr/>
            </a:pPr>
            <a:r>
              <a:rPr lang="ko-KR" altLang="en-US" sz="1200"/>
              <a:t>확률에 따라 확률이 낮은 것을 길게 코딩</a:t>
            </a:r>
            <a:r>
              <a:rPr lang="en-US" altLang="ko-KR" sz="1200"/>
              <a:t>, </a:t>
            </a:r>
            <a:r>
              <a:rPr lang="ko-KR" altLang="en-US" sz="1200"/>
              <a:t>높으면 짧게 코딩</a:t>
            </a:r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sz="1200"/>
              <a:t>확률이 다 동일하다고 가정</a:t>
            </a:r>
            <a:r>
              <a:rPr lang="en-US" altLang="ko-KR" sz="1200"/>
              <a:t>, P(</a:t>
            </a:r>
            <a:r>
              <a:rPr lang="ko-KR" altLang="en-US" sz="1200"/>
              <a:t>하트</a:t>
            </a:r>
            <a:r>
              <a:rPr lang="en-US" altLang="ko-KR" sz="1200"/>
              <a:t>) = 0.1, P(</a:t>
            </a:r>
            <a:r>
              <a:rPr lang="ko-KR" altLang="en-US" sz="1200"/>
              <a:t>욕설</a:t>
            </a:r>
            <a:r>
              <a:rPr lang="en-US" altLang="ko-KR" sz="1200"/>
              <a:t>) = 0.1</a:t>
            </a:r>
          </a:p>
          <a:p>
            <a:pPr algn="l"/>
            <a:r>
              <a:rPr lang="ko-KR" altLang="en-US" sz="1200"/>
              <a:t>실제로 </a:t>
            </a:r>
            <a:r>
              <a:rPr lang="en-US" altLang="ko-KR" sz="1200"/>
              <a:t>P</a:t>
            </a:r>
            <a:r>
              <a:rPr lang="ko-KR" altLang="en-US" sz="1200"/>
              <a:t>를 따르겠지만 내가 동일하게 생각한 확률분포는 </a:t>
            </a:r>
            <a:r>
              <a:rPr lang="en-US" altLang="ko-KR" sz="1200"/>
              <a:t>Q</a:t>
            </a:r>
            <a:r>
              <a:rPr lang="ko-KR" altLang="en-US" sz="1200"/>
              <a:t>이다</a:t>
            </a:r>
            <a:endParaRPr lang="en-US" altLang="ko-KR" sz="1200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ko-KR" altLang="en-US" smtClean="0"/>
              <a:pPr lvl="0"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148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연애를 하는 동안 같이 먹었던 음식을 횟수로 정리한 히스토그램표이다</a:t>
            </a:r>
          </a:p>
          <a:p>
            <a:pPr lvl="0">
              <a:defRPr/>
            </a:pPr>
            <a:r>
              <a:rPr lang="ko-KR" altLang="en-US"/>
              <a:t>확률적으로 군만두가 높기때문에 여자친구가 어떤걸 먹고싶어하는지는 확률표를 보고 군만두라고 말할 수 있다</a:t>
            </a:r>
          </a:p>
          <a:p>
            <a:pPr lvl="0">
              <a:defRPr/>
            </a:pPr>
            <a:r>
              <a:rPr lang="ko-KR" altLang="en-US"/>
              <a:t>그렇게 되면 전체적인 횟수가 늘어나지만 군만두의 확률만 높아짐</a:t>
            </a:r>
          </a:p>
          <a:p>
            <a:pPr lvl="0">
              <a:defRPr/>
            </a:pPr>
            <a:r>
              <a:rPr lang="ko-KR" altLang="en-US"/>
              <a:t>군만두 질려서 먹기 싫다고 헤어짐</a:t>
            </a:r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ko-KR" altLang="en-US"/>
              <a:t>다음에는 좀 더 다른 방향으로 제안함</a:t>
            </a:r>
          </a:p>
          <a:p>
            <a:pPr lvl="0">
              <a:defRPr/>
            </a:pPr>
            <a:r>
              <a:rPr lang="ko-KR" altLang="en-US"/>
              <a:t>어떤 음식을 먹었을 때의 영향요인을 정리한 표 정리한것</a:t>
            </a:r>
            <a:r>
              <a:rPr lang="en-US" altLang="ko-KR"/>
              <a:t>, </a:t>
            </a:r>
            <a:r>
              <a:rPr lang="ko-KR" altLang="en-US"/>
              <a:t>그래서 이를 기반으로 저번의 파스타를 먹었을때의 오늘과 같은 영향요인이기 떄문에</a:t>
            </a:r>
          </a:p>
          <a:p>
            <a:pPr lvl="0">
              <a:defRPr/>
            </a:pPr>
            <a:r>
              <a:rPr lang="ko-KR" altLang="en-US"/>
              <a:t>파스타 선택했지만 </a:t>
            </a:r>
            <a:r>
              <a:rPr lang="en-US" altLang="ko-KR"/>
              <a:t>p(d|</a:t>
            </a:r>
            <a:r>
              <a:rPr lang="ko-KR" altLang="en-US"/>
              <a:t>파스타</a:t>
            </a:r>
            <a:r>
              <a:rPr lang="en-US" altLang="ko-KR"/>
              <a:t>), </a:t>
            </a:r>
            <a:r>
              <a:rPr lang="ko-KR" altLang="en-US"/>
              <a:t>오늘같은날 뭐 먹고싶은지 말해야지 무슨상관이냐 </a:t>
            </a:r>
            <a:r>
              <a:rPr lang="en-US" altLang="ko-KR"/>
              <a:t>p(f|data)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남자친구 센스없어서 헤어짐</a:t>
            </a:r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ko-KR" altLang="en-US"/>
              <a:t>이제는 </a:t>
            </a:r>
            <a:r>
              <a:rPr lang="en-US" altLang="ko-KR"/>
              <a:t>episode 1</a:t>
            </a:r>
            <a:r>
              <a:rPr lang="ko-KR" altLang="en-US"/>
              <a:t>에서 모은 </a:t>
            </a:r>
            <a:r>
              <a:rPr lang="en-US" altLang="ko-KR"/>
              <a:t>prior probability</a:t>
            </a:r>
            <a:r>
              <a:rPr lang="ko-KR" altLang="en-US"/>
              <a:t>와 </a:t>
            </a:r>
            <a:r>
              <a:rPr lang="en-US" altLang="ko-KR"/>
              <a:t>2</a:t>
            </a:r>
            <a:r>
              <a:rPr lang="ko-KR" altLang="en-US"/>
              <a:t>에서 모은 </a:t>
            </a:r>
            <a:r>
              <a:rPr lang="en-US" altLang="ko-KR"/>
              <a:t>likelihood</a:t>
            </a:r>
            <a:r>
              <a:rPr lang="ko-KR" altLang="en-US"/>
              <a:t>의 정보가 있다</a:t>
            </a:r>
          </a:p>
          <a:p>
            <a:pPr lvl="0">
              <a:defRPr/>
            </a:pPr>
            <a:r>
              <a:rPr lang="ko-KR" altLang="en-US"/>
              <a:t>다양한 방법으로 접근해보자</a:t>
            </a:r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ko-KR" altLang="en-US"/>
              <a:t>다시 정리해보면 여자친구는 </a:t>
            </a:r>
            <a:r>
              <a:rPr lang="en-US" altLang="ko-KR"/>
              <a:t>p(food|data)</a:t>
            </a:r>
            <a:r>
              <a:rPr lang="ko-KR" altLang="en-US"/>
              <a:t>를 원하고 나는 </a:t>
            </a:r>
            <a:r>
              <a:rPr lang="en-US" altLang="ko-KR"/>
              <a:t>likelihood p(data|food)</a:t>
            </a:r>
            <a:r>
              <a:rPr lang="ko-KR" altLang="en-US"/>
              <a:t>의 정보가 있고 사전에 </a:t>
            </a:r>
            <a:r>
              <a:rPr lang="en-US" altLang="ko-KR"/>
              <a:t>prior probability</a:t>
            </a:r>
            <a:r>
              <a:rPr lang="ko-KR" altLang="en-US"/>
              <a:t>가 있다면</a:t>
            </a:r>
          </a:p>
          <a:p>
            <a:pPr lvl="0">
              <a:defRPr/>
            </a:pPr>
            <a:r>
              <a:rPr lang="ko-KR" altLang="en-US"/>
              <a:t>어떠한 법칙이 생각 나지 않는가</a:t>
            </a:r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현실적으로 사전확률을 얻기 쉽지않거나 잘못 구하게 되면 큰일남</a:t>
            </a:r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ko-KR" altLang="en-US"/>
              <a:t>베이지안 룰에서 </a:t>
            </a:r>
            <a:r>
              <a:rPr lang="en-US" altLang="ko-KR"/>
              <a:t>p(b)</a:t>
            </a:r>
            <a:r>
              <a:rPr lang="ko-KR" altLang="en-US"/>
              <a:t>는 </a:t>
            </a:r>
            <a:r>
              <a:rPr lang="en-US" altLang="ko-KR" b="0" i="0">
                <a:solidFill>
                  <a:srgbClr val="333333"/>
                </a:solidFill>
                <a:effectLst/>
                <a:latin typeface="Jeju Gothic"/>
              </a:rPr>
              <a:t>Normalizing constant</a:t>
            </a:r>
            <a:r>
              <a:rPr lang="ko-KR" altLang="en-US" b="0" i="0">
                <a:solidFill>
                  <a:srgbClr val="333333"/>
                </a:solidFill>
                <a:effectLst/>
                <a:latin typeface="Jeju Gothic"/>
              </a:rPr>
              <a:t>임으로 무시가능</a:t>
            </a:r>
          </a:p>
          <a:p>
            <a:pPr lvl="0">
              <a:defRPr/>
            </a:pPr>
            <a:endParaRPr lang="ko-KR" altLang="en-US" b="0" i="0">
              <a:solidFill>
                <a:srgbClr val="333333"/>
              </a:solidFill>
              <a:effectLst/>
              <a:latin typeface="Jeju Gothic"/>
            </a:endParaRPr>
          </a:p>
          <a:p>
            <a:pPr lvl="0">
              <a:defRPr/>
            </a:pPr>
            <a:r>
              <a:rPr lang="ko-KR" altLang="en-US" b="0" i="0">
                <a:solidFill>
                  <a:srgbClr val="333333"/>
                </a:solidFill>
                <a:effectLst/>
                <a:latin typeface="Jeju Gothic"/>
              </a:rPr>
              <a:t>실제로 컨디션마다 음식의 확률을 구하는건 어렵다</a:t>
            </a:r>
            <a:r>
              <a:rPr lang="en-US" altLang="ko-KR" b="0" i="0">
                <a:solidFill>
                  <a:srgbClr val="333333"/>
                </a:solidFill>
                <a:effectLst/>
                <a:latin typeface="Jeju Gothic"/>
              </a:rPr>
              <a:t>,</a:t>
            </a:r>
            <a:r>
              <a:rPr lang="ko-KR" altLang="en-US" b="0" i="0">
                <a:solidFill>
                  <a:srgbClr val="333333"/>
                </a:solidFill>
                <a:effectLst/>
                <a:latin typeface="Jeju Gothic"/>
              </a:rPr>
              <a:t> 정보를 모은다는 입장에서는 </a:t>
            </a:r>
            <a:r>
              <a:rPr lang="en-US" altLang="ko-KR" b="0" i="0">
                <a:solidFill>
                  <a:srgbClr val="333333"/>
                </a:solidFill>
                <a:effectLst/>
                <a:latin typeface="Jeju Gothic"/>
              </a:rPr>
              <a:t>likelihood</a:t>
            </a:r>
            <a:r>
              <a:rPr lang="ko-KR" altLang="en-US" b="0" i="0">
                <a:solidFill>
                  <a:srgbClr val="333333"/>
                </a:solidFill>
                <a:effectLst/>
                <a:latin typeface="Jeju Gothic"/>
              </a:rPr>
              <a:t>를 모오는게 더 쉽다</a:t>
            </a:r>
          </a:p>
          <a:p>
            <a:pPr lvl="0">
              <a:defRPr/>
            </a:pPr>
            <a:r>
              <a:rPr lang="ko-KR" altLang="en-US" b="0" i="0">
                <a:solidFill>
                  <a:srgbClr val="333333"/>
                </a:solidFill>
                <a:effectLst/>
                <a:latin typeface="Jeju Gothic"/>
              </a:rPr>
              <a:t>베이지룰의 진짜 의미는 우리가 구하기 쉬운데이터를 가지고 구하기 어려운데이터를 구하는 장치이 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MLE, MAP</a:t>
            </a:r>
            <a:r>
              <a:rPr lang="ko-KR" altLang="en-US"/>
              <a:t>표로작성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어떤 확률 분포에서 샘플이 나올수있는 가능성 </a:t>
            </a:r>
            <a:r>
              <a:rPr lang="en-US" altLang="ko-KR"/>
              <a:t>-&gt;</a:t>
            </a:r>
            <a:r>
              <a:rPr lang="ko-KR" altLang="en-US"/>
              <a:t> </a:t>
            </a:r>
            <a:r>
              <a:rPr lang="en-US" altLang="ko-KR"/>
              <a:t>likelihood</a:t>
            </a:r>
          </a:p>
          <a:p>
            <a:pPr>
              <a:defRPr/>
            </a:pPr>
            <a:r>
              <a:rPr lang="ko-KR" altLang="en-US"/>
              <a:t>샘플들의 곱을 통해 </a:t>
            </a:r>
            <a:r>
              <a:rPr lang="en-US" altLang="ko-KR"/>
              <a:t>likelihood</a:t>
            </a:r>
            <a:r>
              <a:rPr lang="ko-KR" altLang="en-US"/>
              <a:t>를 알 수 있음</a:t>
            </a:r>
          </a:p>
          <a:p>
            <a:pPr>
              <a:defRPr/>
            </a:pPr>
            <a:r>
              <a:rPr lang="ko-KR" altLang="en-US"/>
              <a:t>빨강 </a:t>
            </a:r>
            <a:r>
              <a:rPr lang="en-US" altLang="ko-KR"/>
              <a:t>=</a:t>
            </a:r>
            <a:r>
              <a:rPr lang="ko-KR" altLang="en-US"/>
              <a:t> 한국</a:t>
            </a:r>
            <a:r>
              <a:rPr lang="en-US" altLang="ko-KR"/>
              <a:t>,</a:t>
            </a:r>
            <a:r>
              <a:rPr lang="ko-KR" altLang="en-US"/>
              <a:t> 파랑 </a:t>
            </a:r>
            <a:r>
              <a:rPr lang="en-US" altLang="ko-KR"/>
              <a:t>=</a:t>
            </a:r>
            <a:r>
              <a:rPr lang="ko-KR" altLang="en-US"/>
              <a:t> 네덜란드의 키의 분포</a:t>
            </a:r>
          </a:p>
          <a:p>
            <a:pPr>
              <a:defRPr/>
            </a:pPr>
            <a:r>
              <a:rPr lang="en-US" altLang="ko-KR"/>
              <a:t>167</a:t>
            </a:r>
            <a:r>
              <a:rPr lang="ko-KR" altLang="en-US"/>
              <a:t>은 어디 확률분포에서 나온 데이터일까</a:t>
            </a:r>
          </a:p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빨강색 </a:t>
            </a:r>
            <a:r>
              <a:rPr lang="en-US" altLang="ko-KR"/>
              <a:t>– </a:t>
            </a:r>
            <a:r>
              <a:rPr lang="ko-KR" altLang="en-US"/>
              <a:t>한국</a:t>
            </a:r>
            <a:r>
              <a:rPr lang="en-US" altLang="ko-KR"/>
              <a:t>, </a:t>
            </a:r>
            <a:r>
              <a:rPr lang="ko-KR" altLang="en-US"/>
              <a:t>보라색 </a:t>
            </a:r>
            <a:r>
              <a:rPr lang="en-US" altLang="ko-KR"/>
              <a:t>– </a:t>
            </a:r>
            <a:r>
              <a:rPr lang="ko-KR" altLang="en-US"/>
              <a:t>네덜란드 비교</a:t>
            </a:r>
            <a:endParaRPr lang="en-US" altLang="ko-KR"/>
          </a:p>
          <a:p>
            <a:pPr>
              <a:defRPr/>
            </a:pPr>
            <a:r>
              <a:rPr lang="en-US" altLang="ko-KR"/>
              <a:t>likelihood</a:t>
            </a:r>
            <a:r>
              <a:rPr lang="ko-KR" altLang="en-US"/>
              <a:t> 계산</a:t>
            </a:r>
          </a:p>
          <a:p>
            <a:pPr>
              <a:defRPr/>
            </a:pPr>
            <a:r>
              <a:rPr lang="ko-KR" altLang="en-US"/>
              <a:t>샘플이 있을때 어떤 확률분포에서 나올 가능성이 클까 비교할때 많이 씀</a:t>
            </a:r>
          </a:p>
          <a:p>
            <a:pPr>
              <a:defRPr/>
            </a:pPr>
            <a:r>
              <a:rPr lang="en-US" altLang="ko-KR"/>
              <a:t>likelihood function L</a:t>
            </a:r>
            <a:r>
              <a:rPr lang="ko-KR" altLang="en-US"/>
              <a:t>은 </a:t>
            </a:r>
            <a:r>
              <a:rPr lang="en-US" altLang="ko-KR"/>
              <a:t>L(u,a) =&gt; L(mean,standard)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딥러닝의 경우 많은 파라미터를 가지고 있기떄문에 벡터로 표시</a:t>
            </a:r>
            <a:endParaRPr lang="en-US" altLang="ko-KR"/>
          </a:p>
          <a:p>
            <a:r>
              <a:rPr lang="ko-KR" altLang="en-US"/>
              <a:t>지금은 뮤랑 시그마를 가진 벡터</a:t>
            </a:r>
            <a:endParaRPr lang="en-US" altLang="ko-KR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ko-KR" altLang="en-US" smtClean="0"/>
              <a:pPr lvl="0">
                <a:defRPr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6674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3"/>
          <p:cNvSpPr/>
          <p:nvPr userDrawn="1"/>
        </p:nvSpPr>
        <p:spPr>
          <a:xfrm>
            <a:off x="-220345" y="1693545"/>
            <a:ext cx="9144000" cy="2581910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1"/>
          </p:nvPr>
        </p:nvSpPr>
        <p:spPr>
          <a:xfrm>
            <a:off x="0" y="2110105"/>
            <a:ext cx="9144000" cy="110934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8" name="텍스트 개체 틀 6"/>
          <p:cNvSpPr>
            <a:spLocks noGrp="1"/>
          </p:cNvSpPr>
          <p:nvPr>
            <p:ph type="body" sz="quarter" idx="12"/>
          </p:nvPr>
        </p:nvSpPr>
        <p:spPr>
          <a:xfrm>
            <a:off x="0" y="3475355"/>
            <a:ext cx="9144000" cy="4749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0" y="4015740"/>
            <a:ext cx="9144000" cy="4749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0" name="텍스트 개체 틀 6"/>
          <p:cNvSpPr txBox="1">
            <a:spLocks noGrp="1"/>
          </p:cNvSpPr>
          <p:nvPr>
            <p:ph type="body" sz="quarter" idx="14"/>
          </p:nvPr>
        </p:nvSpPr>
        <p:spPr>
          <a:xfrm>
            <a:off x="0" y="4535805"/>
            <a:ext cx="9144635" cy="47561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algn="ctr" latinLnBrk="0">
              <a:buFontTx/>
              <a:buNone/>
              <a:defRPr lang="en-GB" altLang="en-US"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charset="0"/>
                <a:ea typeface="HY견고딕" charset="0"/>
              </a:defRPr>
            </a:lvl1pPr>
          </a:lstStyle>
          <a:p>
            <a:pPr marL="0" indent="0" latinLnBrk="0">
              <a:buFontTx/>
              <a:buNone/>
            </a:pPr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645160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0" y="6677025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37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3"/>
          <p:cNvSpPr/>
          <p:nvPr userDrawn="1"/>
        </p:nvSpPr>
        <p:spPr>
          <a:xfrm>
            <a:off x="-220150" y="1693649"/>
            <a:ext cx="9144000" cy="2582059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6451359"/>
            <a:ext cx="9144000" cy="1956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0" y="6677011"/>
            <a:ext cx="9144000" cy="17078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4A12FF3-B48F-4CEB-A598-F2FF8F12B519}"/>
              </a:ext>
            </a:extLst>
          </p:cNvPr>
          <p:cNvSpPr/>
          <p:nvPr userDrawn="1"/>
        </p:nvSpPr>
        <p:spPr>
          <a:xfrm>
            <a:off x="0" y="5939395"/>
            <a:ext cx="9144000" cy="9186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AAAD1CA-9854-4AD2-9A09-9128641DB0C3}"/>
              </a:ext>
            </a:extLst>
          </p:cNvPr>
          <p:cNvGrpSpPr/>
          <p:nvPr userDrawn="1"/>
        </p:nvGrpSpPr>
        <p:grpSpPr>
          <a:xfrm>
            <a:off x="6985686" y="5020795"/>
            <a:ext cx="2158314" cy="1837205"/>
            <a:chOff x="9919316" y="4585315"/>
            <a:chExt cx="2272684" cy="2272684"/>
          </a:xfrm>
        </p:grpSpPr>
        <p:sp>
          <p:nvSpPr>
            <p:cNvPr id="15" name="직각 삼각형 14">
              <a:extLst>
                <a:ext uri="{FF2B5EF4-FFF2-40B4-BE49-F238E27FC236}">
                  <a16:creationId xmlns:a16="http://schemas.microsoft.com/office/drawing/2014/main" id="{909E612A-71C7-4167-80E9-977EAF958603}"/>
                </a:ext>
              </a:extLst>
            </p:cNvPr>
            <p:cNvSpPr/>
            <p:nvPr/>
          </p:nvSpPr>
          <p:spPr>
            <a:xfrm rot="5400000">
              <a:off x="11055658" y="4585315"/>
              <a:ext cx="1136342" cy="113634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" name="직각 삼각형 15">
              <a:extLst>
                <a:ext uri="{FF2B5EF4-FFF2-40B4-BE49-F238E27FC236}">
                  <a16:creationId xmlns:a16="http://schemas.microsoft.com/office/drawing/2014/main" id="{FF4A6971-B874-4CDC-9E32-6F72593F0560}"/>
                </a:ext>
              </a:extLst>
            </p:cNvPr>
            <p:cNvSpPr/>
            <p:nvPr/>
          </p:nvSpPr>
          <p:spPr>
            <a:xfrm rot="16200000">
              <a:off x="9919316" y="4585315"/>
              <a:ext cx="1136342" cy="1136342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직각 삼각형 16">
              <a:extLst>
                <a:ext uri="{FF2B5EF4-FFF2-40B4-BE49-F238E27FC236}">
                  <a16:creationId xmlns:a16="http://schemas.microsoft.com/office/drawing/2014/main" id="{A4CB350A-E6D0-4928-9917-C0668D0FD153}"/>
                </a:ext>
              </a:extLst>
            </p:cNvPr>
            <p:cNvSpPr/>
            <p:nvPr/>
          </p:nvSpPr>
          <p:spPr>
            <a:xfrm rot="5400000">
              <a:off x="11055658" y="5721657"/>
              <a:ext cx="1136342" cy="1136342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8" name="텍스트 개체 틀 6"/>
          <p:cNvSpPr>
            <a:spLocks noGrp="1"/>
          </p:cNvSpPr>
          <p:nvPr>
            <p:ph type="body" sz="quarter" idx="11"/>
          </p:nvPr>
        </p:nvSpPr>
        <p:spPr>
          <a:xfrm>
            <a:off x="0" y="2109788"/>
            <a:ext cx="9144000" cy="11096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9" name="텍스트 개체 틀 6"/>
          <p:cNvSpPr>
            <a:spLocks noGrp="1"/>
          </p:cNvSpPr>
          <p:nvPr>
            <p:ph type="body" sz="quarter" idx="12"/>
          </p:nvPr>
        </p:nvSpPr>
        <p:spPr>
          <a:xfrm>
            <a:off x="0" y="3475292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0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0" y="4015867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1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0" y="4535677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1619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85190" y="3032125"/>
            <a:ext cx="240220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순서</a:t>
            </a: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540385" y="3208020"/>
            <a:ext cx="594360" cy="431165"/>
            <a:chOff x="540385" y="3208020"/>
            <a:chExt cx="594360" cy="431165"/>
          </a:xfrm>
          <a:solidFill>
            <a:schemeClr val="accent1">
              <a:lumMod val="50000"/>
            </a:schemeClr>
          </a:solidFill>
        </p:grpSpPr>
        <p:sp>
          <p:nvSpPr>
            <p:cNvPr id="6" name="모서리가 둥근 직사각형 5"/>
            <p:cNvSpPr/>
            <p:nvPr/>
          </p:nvSpPr>
          <p:spPr>
            <a:xfrm>
              <a:off x="540385" y="320802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84860" y="320802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784860" y="3386455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40385" y="3386455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40385" y="356743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84860" y="356743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6" name="직선 연결선 15"/>
          <p:cNvCxnSpPr/>
          <p:nvPr userDrawn="1"/>
        </p:nvCxnSpPr>
        <p:spPr>
          <a:xfrm flipH="1">
            <a:off x="3549650" y="257810"/>
            <a:ext cx="8255" cy="6392545"/>
          </a:xfrm>
          <a:prstGeom prst="line">
            <a:avLst/>
          </a:prstGeom>
          <a:ln w="412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 userDrawn="1"/>
        </p:nvGrpSpPr>
        <p:grpSpPr>
          <a:xfrm>
            <a:off x="3583305" y="2369185"/>
            <a:ext cx="4468495" cy="339090"/>
            <a:chOff x="3583305" y="2369185"/>
            <a:chExt cx="4468495" cy="339090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>
              <a:off x="3583305" y="2369185"/>
              <a:ext cx="446913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2.</a:t>
              </a:r>
              <a:r>
                <a:rPr lang="ko-KR" altLang="en-US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679190" y="2708275"/>
              <a:ext cx="3901440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 userDrawn="1"/>
        </p:nvGrpSpPr>
        <p:grpSpPr>
          <a:xfrm>
            <a:off x="3583305" y="1450975"/>
            <a:ext cx="4315460" cy="356870"/>
            <a:chOff x="3583305" y="1450975"/>
            <a:chExt cx="4315460" cy="356870"/>
          </a:xfrm>
        </p:grpSpPr>
        <p:sp>
          <p:nvSpPr>
            <p:cNvPr id="12" name="TextBox 11"/>
            <p:cNvSpPr txBox="1">
              <a:spLocks/>
            </p:cNvSpPr>
            <p:nvPr userDrawn="1"/>
          </p:nvSpPr>
          <p:spPr>
            <a:xfrm>
              <a:off x="3583305" y="1450975"/>
              <a:ext cx="426656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1.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659505" y="180784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 userDrawn="1"/>
        </p:nvGrpSpPr>
        <p:grpSpPr>
          <a:xfrm>
            <a:off x="3583305" y="3269615"/>
            <a:ext cx="4460240" cy="338455"/>
            <a:chOff x="3583305" y="3269615"/>
            <a:chExt cx="4460240" cy="338455"/>
          </a:xfrm>
        </p:grpSpPr>
        <p:cxnSp>
          <p:nvCxnSpPr>
            <p:cNvPr id="22" name="직선 연결선 21"/>
            <p:cNvCxnSpPr/>
            <p:nvPr/>
          </p:nvCxnSpPr>
          <p:spPr>
            <a:xfrm>
              <a:off x="3674745" y="360807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>
              <a:spLocks/>
            </p:cNvSpPr>
            <p:nvPr userDrawn="1"/>
          </p:nvSpPr>
          <p:spPr>
            <a:xfrm>
              <a:off x="3583305" y="3269615"/>
              <a:ext cx="446087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3. 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 </a:t>
              </a:r>
            </a:p>
          </p:txBody>
        </p:sp>
      </p:grpSp>
      <p:grpSp>
        <p:nvGrpSpPr>
          <p:cNvPr id="15" name="그룹 14"/>
          <p:cNvGrpSpPr/>
          <p:nvPr userDrawn="1"/>
        </p:nvGrpSpPr>
        <p:grpSpPr>
          <a:xfrm>
            <a:off x="3583305" y="4170045"/>
            <a:ext cx="4330700" cy="338455"/>
            <a:chOff x="3583305" y="4170045"/>
            <a:chExt cx="4330700" cy="338455"/>
          </a:xfrm>
        </p:grpSpPr>
        <p:sp>
          <p:nvSpPr>
            <p:cNvPr id="23" name="TextBox 22"/>
            <p:cNvSpPr txBox="1">
              <a:spLocks/>
            </p:cNvSpPr>
            <p:nvPr userDrawn="1"/>
          </p:nvSpPr>
          <p:spPr>
            <a:xfrm>
              <a:off x="3583305" y="4170045"/>
              <a:ext cx="337375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4.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</a:p>
          </p:txBody>
        </p:sp>
        <p:cxnSp>
          <p:nvCxnSpPr>
            <p:cNvPr id="26" name="직선 연결선 25"/>
            <p:cNvCxnSpPr/>
            <p:nvPr/>
          </p:nvCxnSpPr>
          <p:spPr>
            <a:xfrm>
              <a:off x="3674745" y="450850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8B66F11-5D02-4F59-B59B-8EE82468D934}"/>
              </a:ext>
            </a:extLst>
          </p:cNvPr>
          <p:cNvGrpSpPr/>
          <p:nvPr userDrawn="1"/>
        </p:nvGrpSpPr>
        <p:grpSpPr>
          <a:xfrm>
            <a:off x="3583305" y="5067935"/>
            <a:ext cx="6702425" cy="339090"/>
            <a:chOff x="3583305" y="5067935"/>
            <a:chExt cx="6702425" cy="339090"/>
          </a:xfrm>
        </p:grpSpPr>
        <p:sp>
          <p:nvSpPr>
            <p:cNvPr id="27" name="TextBox 26"/>
            <p:cNvSpPr txBox="1">
              <a:spLocks/>
            </p:cNvSpPr>
            <p:nvPr userDrawn="1"/>
          </p:nvSpPr>
          <p:spPr>
            <a:xfrm>
              <a:off x="3583305" y="5067935"/>
              <a:ext cx="670306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5.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3674745" y="540702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텍스트 상자 1"/>
          <p:cNvSpPr txBox="1">
            <a:spLocks/>
          </p:cNvSpPr>
          <p:nvPr/>
        </p:nvSpPr>
        <p:spPr>
          <a:xfrm>
            <a:off x="3940175" y="1471295"/>
            <a:ext cx="3500755" cy="341630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379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85190" y="3032125"/>
            <a:ext cx="240220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순서</a:t>
            </a: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540385" y="3208020"/>
            <a:ext cx="594360" cy="431165"/>
            <a:chOff x="540385" y="3208020"/>
            <a:chExt cx="594360" cy="431165"/>
          </a:xfrm>
          <a:solidFill>
            <a:schemeClr val="accent1">
              <a:lumMod val="50000"/>
            </a:schemeClr>
          </a:solidFill>
        </p:grpSpPr>
        <p:sp>
          <p:nvSpPr>
            <p:cNvPr id="6" name="모서리가 둥근 직사각형 5"/>
            <p:cNvSpPr/>
            <p:nvPr/>
          </p:nvSpPr>
          <p:spPr>
            <a:xfrm>
              <a:off x="540385" y="320802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84860" y="320802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784860" y="3386455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40385" y="3386455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40385" y="356743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84860" y="356743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6" name="직선 연결선 15"/>
          <p:cNvCxnSpPr/>
          <p:nvPr userDrawn="1"/>
        </p:nvCxnSpPr>
        <p:spPr>
          <a:xfrm flipH="1">
            <a:off x="3549650" y="257810"/>
            <a:ext cx="8255" cy="6392545"/>
          </a:xfrm>
          <a:prstGeom prst="line">
            <a:avLst/>
          </a:prstGeom>
          <a:ln w="412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 userDrawn="1"/>
        </p:nvGrpSpPr>
        <p:grpSpPr>
          <a:xfrm>
            <a:off x="3549650" y="3038475"/>
            <a:ext cx="4468495" cy="339090"/>
            <a:chOff x="3583305" y="2369185"/>
            <a:chExt cx="4468495" cy="339090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>
              <a:off x="3583305" y="2369185"/>
              <a:ext cx="446913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2.</a:t>
              </a:r>
              <a:r>
                <a:rPr lang="ko-KR" altLang="en-US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679190" y="2708275"/>
              <a:ext cx="3901440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 userDrawn="1"/>
        </p:nvGrpSpPr>
        <p:grpSpPr>
          <a:xfrm>
            <a:off x="3549650" y="2120265"/>
            <a:ext cx="4316095" cy="357505"/>
            <a:chOff x="3583305" y="1450975"/>
            <a:chExt cx="4316095" cy="357505"/>
          </a:xfrm>
        </p:grpSpPr>
        <p:sp>
          <p:nvSpPr>
            <p:cNvPr id="12" name="TextBox 11"/>
            <p:cNvSpPr txBox="1">
              <a:spLocks/>
            </p:cNvSpPr>
            <p:nvPr userDrawn="1"/>
          </p:nvSpPr>
          <p:spPr>
            <a:xfrm>
              <a:off x="3583305" y="1450975"/>
              <a:ext cx="426656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1.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659505" y="180784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 userDrawn="1"/>
        </p:nvGrpSpPr>
        <p:grpSpPr>
          <a:xfrm>
            <a:off x="3549650" y="3938905"/>
            <a:ext cx="4460240" cy="338455"/>
            <a:chOff x="3583305" y="3269615"/>
            <a:chExt cx="4460240" cy="338455"/>
          </a:xfrm>
        </p:grpSpPr>
        <p:cxnSp>
          <p:nvCxnSpPr>
            <p:cNvPr id="22" name="직선 연결선 21"/>
            <p:cNvCxnSpPr/>
            <p:nvPr/>
          </p:nvCxnSpPr>
          <p:spPr>
            <a:xfrm>
              <a:off x="3674745" y="360807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>
              <a:spLocks/>
            </p:cNvSpPr>
            <p:nvPr userDrawn="1"/>
          </p:nvSpPr>
          <p:spPr>
            <a:xfrm>
              <a:off x="3583305" y="3269615"/>
              <a:ext cx="446087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3. 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 </a:t>
              </a:r>
            </a:p>
          </p:txBody>
        </p:sp>
      </p:grp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0D4A21-775F-47F7-8A71-3C0AB26EAD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25875" y="2120265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39" name="텍스트 개체 틀 2">
            <a:extLst>
              <a:ext uri="{FF2B5EF4-FFF2-40B4-BE49-F238E27FC236}">
                <a16:creationId xmlns:a16="http://schemas.microsoft.com/office/drawing/2014/main" id="{111D8129-9C51-4746-B42C-E30B0CFFB1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26510" y="3026410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40" name="텍스트 개체 틀 2">
            <a:extLst>
              <a:ext uri="{FF2B5EF4-FFF2-40B4-BE49-F238E27FC236}">
                <a16:creationId xmlns:a16="http://schemas.microsoft.com/office/drawing/2014/main" id="{FBA89A38-4604-4945-B611-7E24E9FFC8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26510" y="3912870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3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8748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85190" y="3032125"/>
            <a:ext cx="240220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>
                <a:latin typeface="HY견고딕" panose="02030600000101010101" pitchFamily="18" charset="-127"/>
                <a:ea typeface="HY견고딕" panose="02030600000101010101" pitchFamily="18" charset="-127"/>
              </a:rPr>
              <a:t>목차</a:t>
            </a:r>
            <a:endParaRPr lang="ko-KR" altLang="en-US" sz="4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540385" y="3208020"/>
            <a:ext cx="594360" cy="431165"/>
            <a:chOff x="540385" y="3208020"/>
            <a:chExt cx="594360" cy="431165"/>
          </a:xfrm>
          <a:solidFill>
            <a:schemeClr val="accent1">
              <a:lumMod val="50000"/>
            </a:schemeClr>
          </a:solidFill>
        </p:grpSpPr>
        <p:sp>
          <p:nvSpPr>
            <p:cNvPr id="6" name="모서리가 둥근 직사각형 5"/>
            <p:cNvSpPr/>
            <p:nvPr/>
          </p:nvSpPr>
          <p:spPr>
            <a:xfrm>
              <a:off x="540385" y="320802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84860" y="320802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784860" y="3386455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40385" y="3386455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40385" y="356743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84860" y="356743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6" name="직선 연결선 15"/>
          <p:cNvCxnSpPr/>
          <p:nvPr userDrawn="1"/>
        </p:nvCxnSpPr>
        <p:spPr>
          <a:xfrm flipH="1">
            <a:off x="3549650" y="257810"/>
            <a:ext cx="8255" cy="6392545"/>
          </a:xfrm>
          <a:prstGeom prst="line">
            <a:avLst/>
          </a:prstGeom>
          <a:ln w="412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 userDrawn="1"/>
        </p:nvGrpSpPr>
        <p:grpSpPr>
          <a:xfrm>
            <a:off x="3549650" y="3628678"/>
            <a:ext cx="4468495" cy="339090"/>
            <a:chOff x="3583305" y="2369185"/>
            <a:chExt cx="4468495" cy="339090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>
              <a:off x="3583305" y="2369185"/>
              <a:ext cx="446913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2.</a:t>
              </a:r>
              <a:r>
                <a:rPr lang="ko-KR" altLang="en-US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679190" y="2708275"/>
              <a:ext cx="3901440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 userDrawn="1"/>
        </p:nvGrpSpPr>
        <p:grpSpPr>
          <a:xfrm>
            <a:off x="3549650" y="2710468"/>
            <a:ext cx="4316095" cy="357505"/>
            <a:chOff x="3583305" y="1450975"/>
            <a:chExt cx="4316095" cy="357505"/>
          </a:xfrm>
        </p:grpSpPr>
        <p:sp>
          <p:nvSpPr>
            <p:cNvPr id="12" name="TextBox 11"/>
            <p:cNvSpPr txBox="1">
              <a:spLocks/>
            </p:cNvSpPr>
            <p:nvPr userDrawn="1"/>
          </p:nvSpPr>
          <p:spPr>
            <a:xfrm>
              <a:off x="3583305" y="1450975"/>
              <a:ext cx="426656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1.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659505" y="180784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0D4A21-775F-47F7-8A71-3C0AB26EAD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25875" y="2710468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39" name="텍스트 개체 틀 2">
            <a:extLst>
              <a:ext uri="{FF2B5EF4-FFF2-40B4-BE49-F238E27FC236}">
                <a16:creationId xmlns:a16="http://schemas.microsoft.com/office/drawing/2014/main" id="{111D8129-9C51-4746-B42C-E30B0CFFB1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26510" y="3616613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2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4964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0"/>
            <a:ext cx="9144000" cy="103632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  <a:tileRect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268605" y="531495"/>
            <a:ext cx="605726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39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 userDrawn="1"/>
        </p:nvSpPr>
        <p:spPr>
          <a:xfrm>
            <a:off x="0" y="1032510"/>
            <a:ext cx="9144000" cy="1009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5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" name="직사각형 51"/>
          <p:cNvSpPr/>
          <p:nvPr userDrawn="1"/>
        </p:nvSpPr>
        <p:spPr>
          <a:xfrm>
            <a:off x="0" y="644271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68770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22" name="그룹 21"/>
          <p:cNvGrpSpPr/>
          <p:nvPr userDrawn="1"/>
        </p:nvGrpSpPr>
        <p:grpSpPr>
          <a:xfrm>
            <a:off x="4824730" y="1054735"/>
            <a:ext cx="4301490" cy="247650"/>
            <a:chOff x="4824730" y="1054735"/>
            <a:chExt cx="4301490" cy="247650"/>
          </a:xfrm>
        </p:grpSpPr>
        <p:sp>
          <p:nvSpPr>
            <p:cNvPr id="29" name="직사각형 28"/>
            <p:cNvSpPr/>
            <p:nvPr userDrawn="1"/>
          </p:nvSpPr>
          <p:spPr>
            <a:xfrm>
              <a:off x="4824730" y="1056005"/>
              <a:ext cx="2148840" cy="24638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 altLang="ko-KR" sz="1600" b="1" dirty="0">
                  <a:solidFill>
                    <a:schemeClr val="tx1"/>
                  </a:solidFill>
                  <a:latin typeface="+mj-ea"/>
                  <a:ea typeface="+mj-ea"/>
                </a:rPr>
                <a:t>INTRODUCTION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A677E20-C4CE-43D7-8121-447A3D04B307}"/>
                </a:ext>
              </a:extLst>
            </p:cNvPr>
            <p:cNvSpPr/>
            <p:nvPr userDrawn="1"/>
          </p:nvSpPr>
          <p:spPr>
            <a:xfrm>
              <a:off x="6977380" y="1054735"/>
              <a:ext cx="2148840" cy="24638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+mj-ea"/>
                  <a:ea typeface="+mj-ea"/>
                </a:rPr>
                <a:t>PROJECT</a:t>
              </a:r>
              <a:endParaRPr lang="ko-KR" altLang="en-US" sz="1050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2" name="텍스트 개체 틀 21"/>
          <p:cNvSpPr>
            <a:spLocks noGrp="1"/>
          </p:cNvSpPr>
          <p:nvPr>
            <p:ph type="body" sz="quarter" idx="11" hasCustomPrompt="1"/>
          </p:nvPr>
        </p:nvSpPr>
        <p:spPr>
          <a:xfrm>
            <a:off x="268605" y="219710"/>
            <a:ext cx="4898390" cy="41846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/>
            </a:pPr>
            <a:r>
              <a:rPr lang="en-US" altLang="ko-KR" sz="1600" b="1">
                <a:solidFill>
                  <a:schemeClr val="bg2">
                    <a:lumMod val="25000"/>
                  </a:schemeClr>
                </a:solidFill>
                <a:latin typeface="맑은 고딕" charset="0"/>
                <a:ea typeface="맑은 고딕" charset="0"/>
                <a:cs typeface="+mn-cs"/>
              </a:rPr>
              <a:t>PORTFOLIO</a:t>
            </a:r>
            <a:endParaRPr lang="ko-KR" altLang="en-US" sz="1600" b="1">
              <a:solidFill>
                <a:schemeClr val="bg2">
                  <a:lumMod val="25000"/>
                </a:schemeClr>
              </a:solidFill>
              <a:latin typeface="맑은 고딕" charset="0"/>
              <a:ea typeface="맑은 고딕" charset="0"/>
              <a:cs typeface="+mn-cs"/>
            </a:endParaRPr>
          </a:p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305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Cross Entropy</a:t>
                </a: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21932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 Entropy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530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4824730" y="805180"/>
              <a:ext cx="4302125" cy="248285"/>
              <a:chOff x="4824730" y="805180"/>
              <a:chExt cx="4302125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Entropy</a:t>
                </a: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MLE vs MAP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77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4824730" y="805180"/>
              <a:ext cx="4302125" cy="248285"/>
              <a:chOff x="4824730" y="805180"/>
              <a:chExt cx="4302125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Entropy</a:t>
                </a: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MLE vs MAP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037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직사각형 6"/>
          <p:cNvSpPr>
            <a:spLocks/>
          </p:cNvSpPr>
          <p:nvPr userDrawn="1"/>
        </p:nvSpPr>
        <p:spPr>
          <a:xfrm>
            <a:off x="0" y="716280"/>
            <a:ext cx="9144635" cy="1016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solidFill>
                <a:schemeClr val="accent5">
                  <a:lumMod val="50000"/>
                </a:schemeClr>
              </a:solidFill>
              <a:latin typeface="HY견고딕" charset="0"/>
              <a:ea typeface="HY견고딕" charset="0"/>
            </a:endParaRPr>
          </a:p>
        </p:txBody>
      </p:sp>
      <p:sp>
        <p:nvSpPr>
          <p:cNvPr id="32" name="텍스트 개체 틀 21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r>
              <a:rPr lang="ko-KR" altLang="en-US" sz="1600" b="1">
                <a:latin typeface="Arial Black" charset="0"/>
              </a:rPr>
              <a:t>참고</a:t>
            </a: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745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645160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0" y="6677025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자유형 5"/>
          <p:cNvSpPr/>
          <p:nvPr userDrawn="1"/>
        </p:nvSpPr>
        <p:spPr>
          <a:xfrm>
            <a:off x="-220345" y="1868170"/>
            <a:ext cx="9144000" cy="2581910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7" name="TextBox 6"/>
          <p:cNvSpPr txBox="1"/>
          <p:nvPr userDrawn="1"/>
        </p:nvSpPr>
        <p:spPr>
          <a:xfrm>
            <a:off x="1285240" y="2482215"/>
            <a:ext cx="6777990" cy="769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 latinLnBrk="0"/>
            <a:r>
              <a:rPr lang="ko-KR" altLang="en-US" sz="4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감사합니다</a:t>
            </a:r>
            <a:r>
              <a:rPr lang="en-US" altLang="ko-KR" sz="4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ko-KR" altLang="en-US" sz="32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67211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8D494E-9A8C-4064-A675-DDDE52517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205" y="1710055"/>
            <a:ext cx="7886700" cy="28524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886235-E225-44F2-AEE7-6594F1FE6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4205" y="4589780"/>
            <a:ext cx="7886700" cy="149987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E81B25-1300-449B-BED3-50A8067F4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8035" cy="365760"/>
          </a:xfrm>
        </p:spPr>
        <p:txBody>
          <a:bodyPr/>
          <a:lstStyle/>
          <a:p>
            <a:fld id="{886427A3-7A7B-471F-9052-B4F6CB5735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178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E11BA9C9-ACA8-4929-8E38-3AE1CAD68E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941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33" r:id="rId4"/>
    <p:sldLayoutId id="2147483773" r:id="rId5"/>
    <p:sldLayoutId id="2147483728" r:id="rId6"/>
    <p:sldLayoutId id="2147483734" r:id="rId7"/>
    <p:sldLayoutId id="2147483735" r:id="rId8"/>
    <p:sldLayoutId id="2147483736" r:id="rId9"/>
    <p:sldLayoutId id="2147483737" r:id="rId10"/>
    <p:sldLayoutId id="2147483730" r:id="rId11"/>
    <p:sldLayoutId id="2147483731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dwith.org/machinelearning1_17/lecture/10575?isDesc=false" TargetMode="External"/><Relationship Id="rId3" Type="http://schemas.openxmlformats.org/officeDocument/2006/relationships/hyperlink" Target="https://velog.io/@yuns_u/%EC%86%90%EC%8B%A4%ED%95%A8%EC%88%98-%EA%B0%84%EB%9E%B5-%EC%A0%95%EB%A6%AC" TargetMode="External"/><Relationship Id="rId7" Type="http://schemas.openxmlformats.org/officeDocument/2006/relationships/hyperlink" Target="https://gaussian37.github.io/ml-concept-basic_information_theory/" TargetMode="External"/><Relationship Id="rId2" Type="http://schemas.openxmlformats.org/officeDocument/2006/relationships/hyperlink" Target="https://study2give.tistory.com/entry/%EB%A8%B8%EC%8B%A0%EB%9F%AC%EB%8B%9D-%EC%86%90%EC%8B%A4%ED%95%A8%EC%88%982-%EC%97%94%ED%8A%B8%EB%A1%9C%ED%94%BCEntropy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zzsza.github.io/data/2018/04/19/rule-based-machine-learning-overview/" TargetMode="External"/><Relationship Id="rId5" Type="http://schemas.openxmlformats.org/officeDocument/2006/relationships/hyperlink" Target="https://www.edwith.org/machinelearning1_17/lecture/10580?isDesc=false" TargetMode="External"/><Relationship Id="rId10" Type="http://schemas.openxmlformats.org/officeDocument/2006/relationships/hyperlink" Target="https://hyeongminlee.github.io/post/bnn002_mle_map/" TargetMode="External"/><Relationship Id="rId4" Type="http://schemas.openxmlformats.org/officeDocument/2006/relationships/hyperlink" Target="https://darkpgmr.tistory.com/186" TargetMode="External"/><Relationship Id="rId9" Type="http://schemas.openxmlformats.org/officeDocument/2006/relationships/hyperlink" Target="https://www.youtube.com/watch?v=mxCmB1WE3R8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/>
        </p:nvSpPr>
        <p:spPr>
          <a:xfrm>
            <a:off x="6600825" y="5478145"/>
            <a:ext cx="2542540" cy="496570"/>
          </a:xfrm>
          <a:prstGeom prst="rect">
            <a:avLst/>
          </a:prstGeom>
          <a:noFill/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</a:rPr>
              <a:t>UST21 부설 연구소 </a:t>
            </a:r>
          </a:p>
          <a:p>
            <a:pPr marL="0" indent="0" algn="ctr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</a:rPr>
              <a:t>김지훈</a:t>
            </a:r>
          </a:p>
        </p:txBody>
      </p:sp>
      <p:sp>
        <p:nvSpPr>
          <p:cNvPr id="5" name="직사각형 4"/>
          <p:cNvSpPr>
            <a:spLocks/>
          </p:cNvSpPr>
          <p:nvPr/>
        </p:nvSpPr>
        <p:spPr>
          <a:xfrm>
            <a:off x="0" y="2234565"/>
            <a:ext cx="9145270" cy="1419225"/>
          </a:xfrm>
          <a:prstGeom prst="rect">
            <a:avLst/>
          </a:prstGeom>
          <a:noFill/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r>
              <a:rPr lang="ko-KR" altLang="en-US" sz="6000" b="0">
                <a:solidFill>
                  <a:schemeClr val="tx1"/>
                </a:solidFill>
              </a:rPr>
              <a:t>데이터사이언스</a:t>
            </a:r>
          </a:p>
        </p:txBody>
      </p:sp>
    </p:spTree>
    <p:extLst>
      <p:ext uri="{BB962C8B-B14F-4D97-AF65-F5344CB8AC3E}">
        <p14:creationId xmlns:p14="http://schemas.microsoft.com/office/powerpoint/2010/main" val="4230255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상자 6"/>
          <p:cNvSpPr txBox="1"/>
          <p:nvPr/>
        </p:nvSpPr>
        <p:spPr>
          <a:xfrm>
            <a:off x="3890645" y="5037455"/>
            <a:ext cx="3508375" cy="370205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>
              <a:defRPr/>
            </a:pPr>
            <a:endParaRPr lang="ko-KR" altLang="en-US" sz="1800">
              <a:latin typeface="맑은 고딕"/>
              <a:ea typeface="맑은 고딕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400"/>
              <a:t>Entropy</a:t>
            </a:r>
            <a:endParaRPr lang="ko-KR" altLang="en-US" sz="240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2CF8CF-B21C-4E30-8F2D-4195CA1729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MLE vs MAP</a:t>
            </a:r>
          </a:p>
          <a:p>
            <a:endParaRPr lang="ko-KR" altLang="en-US"/>
          </a:p>
        </p:txBody>
      </p:sp>
      <p:sp>
        <p:nvSpPr>
          <p:cNvPr id="15" name="텍스트 개체 틀 6"/>
          <p:cNvSpPr txBox="1"/>
          <p:nvPr/>
        </p:nvSpPr>
        <p:spPr>
          <a:xfrm>
            <a:off x="3890645" y="3885881"/>
            <a:ext cx="3721100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 sz="2400"/>
          </a:p>
        </p:txBody>
      </p:sp>
      <p:sp>
        <p:nvSpPr>
          <p:cNvPr id="8" name="텍스트 개체 틀 6"/>
          <p:cNvSpPr txBox="1"/>
          <p:nvPr/>
        </p:nvSpPr>
        <p:spPr>
          <a:xfrm>
            <a:off x="3890645" y="3893741"/>
            <a:ext cx="4070507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F85CBCE-26DA-4B65-83BE-DA9FB14AAC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Entropy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BDF497-DEF0-47D8-8489-405BC6247D75}"/>
                  </a:ext>
                </a:extLst>
              </p:cNvPr>
              <p:cNvSpPr txBox="1"/>
              <p:nvPr/>
            </p:nvSpPr>
            <p:spPr>
              <a:xfrm>
                <a:off x="247650" y="1247775"/>
                <a:ext cx="8658225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200">
                    <a:latin typeface="+mn-ea"/>
                  </a:rPr>
                  <a:t>&lt;Entropy&gt;</a:t>
                </a: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불확실성의 척도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정보를 표현하는데 필요한 최소 평균 자원량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정보이론에서</a:t>
                </a:r>
                <a:r>
                  <a:rPr lang="en-US" altLang="ko-KR" sz="1200">
                    <a:latin typeface="+mn-ea"/>
                  </a:rPr>
                  <a:t>, </a:t>
                </a:r>
                <a:r>
                  <a:rPr lang="ko-KR" altLang="en-US" sz="1200">
                    <a:latin typeface="+mn-ea"/>
                  </a:rPr>
                  <a:t>정보를 정량화 하는 단위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정보가 클 수록 엔트로피가 크고</a:t>
                </a:r>
                <a:r>
                  <a:rPr lang="en-US" altLang="ko-KR" sz="1200">
                    <a:latin typeface="+mn-ea"/>
                  </a:rPr>
                  <a:t>, </a:t>
                </a:r>
                <a:r>
                  <a:rPr lang="ko-KR" altLang="en-US" sz="1200">
                    <a:latin typeface="+mn-ea"/>
                  </a:rPr>
                  <a:t>정보가 작으면 엔트로피가 작음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정보량의 수식</a:t>
                </a:r>
                <a:endParaRPr lang="en-US" altLang="ko-KR" sz="1200">
                  <a:latin typeface="+mn-ea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ko-KR" sz="1200" b="0">
                  <a:latin typeface="+mn-ea"/>
                </a:endParaRPr>
              </a:p>
              <a:p>
                <a:pPr algn="l"/>
                <a:r>
                  <a:rPr lang="ko-KR" altLang="en-US" sz="1200">
                    <a:latin typeface="+mn-ea"/>
                  </a:rPr>
                  <a:t> 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- </a:t>
                </a:r>
                <a:r>
                  <a:rPr lang="ko-KR" altLang="en-US" sz="1200">
                    <a:latin typeface="+mn-ea"/>
                  </a:rPr>
                  <a:t>섀넌은 불확실성의 측정을 엔트로피라 했으며 </a:t>
                </a:r>
                <a:r>
                  <a:rPr lang="en-US" altLang="ko-KR" sz="1200">
                    <a:latin typeface="+mn-ea"/>
                  </a:rPr>
                  <a:t>bit</a:t>
                </a:r>
                <a:r>
                  <a:rPr lang="ko-KR" altLang="en-US" sz="1200">
                    <a:latin typeface="+mn-ea"/>
                  </a:rPr>
                  <a:t>로 단위로 사용</a:t>
                </a:r>
                <a:endParaRPr lang="en-US" altLang="ko-KR" sz="1200">
                  <a:latin typeface="+mn-ea"/>
                </a:endParaRPr>
              </a:p>
              <a:p>
                <a:pPr algn="l"/>
                <a:endParaRPr lang="ko-KR" altLang="en-US" sz="1200">
                  <a:latin typeface="+mn-ea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BDF497-DEF0-47D8-8489-405BC6247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50" y="1247775"/>
                <a:ext cx="8658225" cy="1938992"/>
              </a:xfrm>
              <a:prstGeom prst="rect">
                <a:avLst/>
              </a:prstGeom>
              <a:blipFill>
                <a:blip r:embed="rId3"/>
                <a:stretch>
                  <a:fillRect l="-70" t="-3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41A8DC8F-D8A6-4417-A9D7-7F0A385287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626" y="2386940"/>
            <a:ext cx="2393660" cy="38199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F3CF09-A8BD-4C2C-BE88-837787BEF846}"/>
                  </a:ext>
                </a:extLst>
              </p:cNvPr>
              <p:cNvSpPr txBox="1"/>
              <p:nvPr/>
            </p:nvSpPr>
            <p:spPr>
              <a:xfrm>
                <a:off x="247650" y="3369281"/>
                <a:ext cx="6445547" cy="13885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200">
                    <a:latin typeface="+mn-ea"/>
                  </a:rPr>
                  <a:t>&lt;Entropy </a:t>
                </a:r>
                <a:r>
                  <a:rPr lang="ko-KR" altLang="en-US" sz="1200">
                    <a:latin typeface="+mn-ea"/>
                  </a:rPr>
                  <a:t>예시</a:t>
                </a:r>
                <a:r>
                  <a:rPr lang="en-US" altLang="ko-KR" sz="1200">
                    <a:latin typeface="+mn-ea"/>
                  </a:rPr>
                  <a:t>&gt;</a:t>
                </a: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하트 </a:t>
                </a:r>
                <a:r>
                  <a:rPr lang="en-US" altLang="ko-KR" sz="1200">
                    <a:latin typeface="+mn-ea"/>
                  </a:rPr>
                  <a:t>: </a:t>
                </a:r>
                <a:r>
                  <a:rPr lang="ko-KR" altLang="en-US" sz="1200">
                    <a:latin typeface="+mn-ea"/>
                  </a:rPr>
                  <a:t>대화의 반</a:t>
                </a:r>
                <a:r>
                  <a:rPr lang="en-US" altLang="ko-KR" sz="1200">
                    <a:latin typeface="+mn-ea"/>
                  </a:rPr>
                  <a:t>, </a:t>
                </a:r>
                <a:r>
                  <a:rPr lang="ko-KR" altLang="en-US" sz="1200">
                    <a:latin typeface="+mn-ea"/>
                  </a:rPr>
                  <a:t>욕설 </a:t>
                </a:r>
                <a:r>
                  <a:rPr lang="en-US" altLang="ko-KR" sz="1200">
                    <a:latin typeface="+mn-ea"/>
                  </a:rPr>
                  <a:t>: </a:t>
                </a:r>
                <a:r>
                  <a:rPr lang="ko-KR" altLang="en-US" sz="1200">
                    <a:latin typeface="+mn-ea"/>
                  </a:rPr>
                  <a:t>거의 없음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두개의 단어를 확률로 표현 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하</m:t>
                    </m:r>
                  </m:oMath>
                </a14:m>
                <a:r>
                  <a:rPr lang="ko-KR" altLang="en-US" sz="1200">
                    <a:latin typeface="+mn-ea"/>
                  </a:rPr>
                  <a:t>트</a:t>
                </a:r>
                <a:r>
                  <a:rPr lang="en-US" altLang="ko-KR" sz="1200">
                    <a:latin typeface="+mn-ea"/>
                  </a:rPr>
                  <a:t>) = 0.5, 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욕</m:t>
                    </m:r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설</m:t>
                    </m:r>
                  </m:oMath>
                </a14:m>
                <a:r>
                  <a:rPr lang="en-US" altLang="ko-KR" sz="1200">
                    <a:latin typeface="+mn-ea"/>
                  </a:rPr>
                  <a:t>) = 0.001</a:t>
                </a: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대화를 인코딩 할 때 </a:t>
                </a:r>
                <a:r>
                  <a:rPr lang="en-US" altLang="ko-KR" sz="1200">
                    <a:latin typeface="+mn-ea"/>
                  </a:rPr>
                  <a:t>bit(0,1)</a:t>
                </a:r>
                <a:r>
                  <a:rPr lang="ko-KR" altLang="en-US" sz="1200">
                    <a:latin typeface="+mn-ea"/>
                  </a:rPr>
                  <a:t>로 표현을 한다 했을때 하트 </a:t>
                </a:r>
                <a:r>
                  <a:rPr lang="en-US" altLang="ko-KR" sz="1200">
                    <a:latin typeface="+mn-ea"/>
                  </a:rPr>
                  <a:t>= ‘///’, </a:t>
                </a:r>
                <a:r>
                  <a:rPr lang="ko-KR" altLang="en-US" sz="1200">
                    <a:latin typeface="+mn-ea"/>
                  </a:rPr>
                  <a:t>욕설 </a:t>
                </a:r>
                <a:r>
                  <a:rPr lang="en-US" altLang="ko-KR" sz="1200">
                    <a:latin typeface="+mn-ea"/>
                  </a:rPr>
                  <a:t>= ‘o’</a:t>
                </a:r>
                <a:r>
                  <a:rPr lang="ko-KR" altLang="en-US" sz="1200">
                    <a:latin typeface="+mn-ea"/>
                  </a:rPr>
                  <a:t>의 형태로 보냄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연인에게 하트를 </a:t>
                </a:r>
                <a:r>
                  <a:rPr lang="en-US" altLang="ko-KR" sz="1200">
                    <a:latin typeface="+mn-ea"/>
                  </a:rPr>
                  <a:t>4</a:t>
                </a:r>
                <a:r>
                  <a:rPr lang="ko-KR" altLang="en-US" sz="1200">
                    <a:latin typeface="+mn-ea"/>
                  </a:rPr>
                  <a:t>번 보낼때는</a:t>
                </a:r>
                <a:r>
                  <a:rPr lang="ko-KR" altLang="en-US" sz="1200">
                    <a:solidFill>
                      <a:srgbClr val="FF0000"/>
                    </a:solidFill>
                    <a:latin typeface="+mn-ea"/>
                  </a:rPr>
                  <a:t> </a:t>
                </a:r>
                <a:r>
                  <a:rPr lang="en-US" altLang="ko-KR" sz="1200">
                    <a:solidFill>
                      <a:srgbClr val="FF0000"/>
                    </a:solidFill>
                    <a:latin typeface="+mn-ea"/>
                  </a:rPr>
                  <a:t>‘///,///,///,///’</a:t>
                </a:r>
                <a:r>
                  <a:rPr lang="ko-KR" altLang="en-US" sz="1200">
                    <a:latin typeface="+mn-ea"/>
                  </a:rPr>
                  <a:t>의</a:t>
                </a:r>
                <a:r>
                  <a:rPr lang="en-US" altLang="ko-KR" sz="1200">
                    <a:latin typeface="+mn-ea"/>
                  </a:rPr>
                  <a:t> </a:t>
                </a:r>
                <a:r>
                  <a:rPr lang="ko-KR" altLang="en-US" sz="1200">
                    <a:latin typeface="+mn-ea"/>
                  </a:rPr>
                  <a:t>길이이고 욕설일 경우</a:t>
                </a:r>
                <a:r>
                  <a:rPr lang="ko-KR" altLang="en-US" sz="1200">
                    <a:solidFill>
                      <a:srgbClr val="FF0000"/>
                    </a:solidFill>
                    <a:latin typeface="+mn-ea"/>
                  </a:rPr>
                  <a:t> </a:t>
                </a:r>
                <a:r>
                  <a:rPr lang="en-US" altLang="ko-KR" sz="1200">
                    <a:solidFill>
                      <a:srgbClr val="FF0000"/>
                    </a:solidFill>
                    <a:latin typeface="+mn-ea"/>
                  </a:rPr>
                  <a:t>‘o,o,o,o’</a:t>
                </a:r>
                <a:r>
                  <a:rPr lang="ko-KR" altLang="en-US" sz="1200">
                    <a:latin typeface="+mn-ea"/>
                  </a:rPr>
                  <a:t>의 길이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비효율적</a:t>
                </a:r>
                <a:r>
                  <a:rPr lang="en-US" altLang="ko-KR" sz="1200">
                    <a:latin typeface="+mn-ea"/>
                  </a:rPr>
                  <a:t>, </a:t>
                </a:r>
                <a:r>
                  <a:rPr lang="ko-KR" altLang="en-US" sz="1200">
                    <a:latin typeface="+mn-ea"/>
                  </a:rPr>
                  <a:t>하트와 욕설의 형태를 바꾸면</a:t>
                </a:r>
                <a:r>
                  <a:rPr lang="en-US" altLang="ko-KR" sz="1200">
                    <a:latin typeface="+mn-ea"/>
                  </a:rPr>
                  <a:t>? =&gt; </a:t>
                </a:r>
                <a:r>
                  <a:rPr lang="ko-KR" altLang="en-US" sz="1200">
                    <a:latin typeface="+mn-ea"/>
                  </a:rPr>
                  <a:t>효율적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확률에 따라 확률이 낮은것을 길게 코딩</a:t>
                </a:r>
                <a:r>
                  <a:rPr lang="en-US" altLang="ko-KR" sz="1200">
                    <a:latin typeface="+mn-ea"/>
                  </a:rPr>
                  <a:t>, </a:t>
                </a:r>
                <a:r>
                  <a:rPr lang="ko-KR" altLang="en-US" sz="1200">
                    <a:latin typeface="+mn-ea"/>
                  </a:rPr>
                  <a:t>확률이 높으면 짧게 코딩 </a:t>
                </a:r>
                <a:r>
                  <a:rPr lang="en-US" altLang="ko-KR" sz="1200">
                    <a:latin typeface="+mn-ea"/>
                  </a:rPr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F3CF09-A8BD-4C2C-BE88-837787BEF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50" y="3369281"/>
                <a:ext cx="6445547" cy="1388522"/>
              </a:xfrm>
              <a:prstGeom prst="rect">
                <a:avLst/>
              </a:prstGeom>
              <a:blipFill>
                <a:blip r:embed="rId5"/>
                <a:stretch>
                  <a:fillRect l="-95" t="-441" b="-26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그룹 33">
            <a:extLst>
              <a:ext uri="{FF2B5EF4-FFF2-40B4-BE49-F238E27FC236}">
                <a16:creationId xmlns:a16="http://schemas.microsoft.com/office/drawing/2014/main" id="{B5BED6F5-D7C9-43C0-920C-528B06D51E37}"/>
              </a:ext>
            </a:extLst>
          </p:cNvPr>
          <p:cNvGrpSpPr/>
          <p:nvPr/>
        </p:nvGrpSpPr>
        <p:grpSpPr>
          <a:xfrm>
            <a:off x="2261849" y="4840806"/>
            <a:ext cx="2393659" cy="1788500"/>
            <a:chOff x="952500" y="4267200"/>
            <a:chExt cx="1847530" cy="1489378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3249E686-6A1F-4936-A055-665B9C0B70E7}"/>
                </a:ext>
              </a:extLst>
            </p:cNvPr>
            <p:cNvGrpSpPr/>
            <p:nvPr/>
          </p:nvGrpSpPr>
          <p:grpSpPr>
            <a:xfrm>
              <a:off x="952500" y="4325061"/>
              <a:ext cx="1847530" cy="1431517"/>
              <a:chOff x="952500" y="4325061"/>
              <a:chExt cx="1847530" cy="1431517"/>
            </a:xfrm>
          </p:grpSpPr>
          <p:cxnSp>
            <p:nvCxnSpPr>
              <p:cNvPr id="12" name="직선 화살표 연결선 11">
                <a:extLst>
                  <a:ext uri="{FF2B5EF4-FFF2-40B4-BE49-F238E27FC236}">
                    <a16:creationId xmlns:a16="http://schemas.microsoft.com/office/drawing/2014/main" id="{8D1851B1-FEF4-4DC9-8E4D-109B875B07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3025" y="5489575"/>
                <a:ext cx="138112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직선 화살표 연결선 13">
                <a:extLst>
                  <a:ext uri="{FF2B5EF4-FFF2-40B4-BE49-F238E27FC236}">
                    <a16:creationId xmlns:a16="http://schemas.microsoft.com/office/drawing/2014/main" id="{E8EF66CA-2200-40AB-9011-E709C4365F4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3025" y="4325061"/>
                <a:ext cx="0" cy="116451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63BBA901-2692-4BEE-A6D0-972012B4BF9C}"/>
                  </a:ext>
                </a:extLst>
              </p:cNvPr>
              <p:cNvCxnSpPr/>
              <p:nvPr/>
            </p:nvCxnSpPr>
            <p:spPr>
              <a:xfrm>
                <a:off x="2169160" y="5435600"/>
                <a:ext cx="0" cy="10795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ADB8F49-BEEB-4E76-BCFC-AA037E616674}"/>
                  </a:ext>
                </a:extLst>
              </p:cNvPr>
              <p:cNvSpPr txBox="1"/>
              <p:nvPr/>
            </p:nvSpPr>
            <p:spPr>
              <a:xfrm>
                <a:off x="2052639" y="5484183"/>
                <a:ext cx="1524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1</a:t>
                </a:r>
                <a:endParaRPr lang="ko-KR" altLang="en-US" sz="110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6099B78-C114-4174-AEC1-018CB18C8047}"/>
                  </a:ext>
                </a:extLst>
              </p:cNvPr>
              <p:cNvSpPr txBox="1"/>
              <p:nvPr/>
            </p:nvSpPr>
            <p:spPr>
              <a:xfrm>
                <a:off x="952500" y="4362450"/>
                <a:ext cx="52387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ko-KR" altLang="en-US" sz="1100"/>
                  <a:t>길이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07CB429-210B-4148-B517-5B0363FEBB99}"/>
                  </a:ext>
                </a:extLst>
              </p:cNvPr>
              <p:cNvSpPr txBox="1"/>
              <p:nvPr/>
            </p:nvSpPr>
            <p:spPr>
              <a:xfrm>
                <a:off x="2276157" y="5494968"/>
                <a:ext cx="52387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ko-KR" altLang="en-US" sz="1100"/>
                  <a:t>확률</a:t>
                </a:r>
              </a:p>
            </p:txBody>
          </p:sp>
        </p:grpSp>
        <p:sp>
          <p:nvSpPr>
            <p:cNvPr id="31" name="자유형: 도형 30">
              <a:extLst>
                <a:ext uri="{FF2B5EF4-FFF2-40B4-BE49-F238E27FC236}">
                  <a16:creationId xmlns:a16="http://schemas.microsoft.com/office/drawing/2014/main" id="{BCEF114A-01CD-4C22-B6DC-93A4B10FE209}"/>
                </a:ext>
              </a:extLst>
            </p:cNvPr>
            <p:cNvSpPr/>
            <p:nvPr/>
          </p:nvSpPr>
          <p:spPr>
            <a:xfrm>
              <a:off x="1437494" y="4267200"/>
              <a:ext cx="718966" cy="1219200"/>
            </a:xfrm>
            <a:custGeom>
              <a:avLst/>
              <a:gdLst>
                <a:gd name="connsiteX0" fmla="*/ 718966 w 718966"/>
                <a:gd name="connsiteY0" fmla="*/ 1219200 h 1219200"/>
                <a:gd name="connsiteX1" fmla="*/ 337966 w 718966"/>
                <a:gd name="connsiteY1" fmla="*/ 1059180 h 1219200"/>
                <a:gd name="connsiteX2" fmla="*/ 132226 w 718966"/>
                <a:gd name="connsiteY2" fmla="*/ 769620 h 1219200"/>
                <a:gd name="connsiteX3" fmla="*/ 25546 w 718966"/>
                <a:gd name="connsiteY3" fmla="*/ 190500 h 1219200"/>
                <a:gd name="connsiteX4" fmla="*/ 2686 w 718966"/>
                <a:gd name="connsiteY4" fmla="*/ 0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966" h="1219200">
                  <a:moveTo>
                    <a:pt x="718966" y="1219200"/>
                  </a:moveTo>
                  <a:cubicBezTo>
                    <a:pt x="577361" y="1176655"/>
                    <a:pt x="435756" y="1134110"/>
                    <a:pt x="337966" y="1059180"/>
                  </a:cubicBezTo>
                  <a:cubicBezTo>
                    <a:pt x="240176" y="984250"/>
                    <a:pt x="184296" y="914400"/>
                    <a:pt x="132226" y="769620"/>
                  </a:cubicBezTo>
                  <a:cubicBezTo>
                    <a:pt x="80156" y="624840"/>
                    <a:pt x="47136" y="318770"/>
                    <a:pt x="25546" y="190500"/>
                  </a:cubicBezTo>
                  <a:cubicBezTo>
                    <a:pt x="3956" y="62230"/>
                    <a:pt x="-4934" y="35560"/>
                    <a:pt x="2686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90135C3-C64D-4BFB-A142-19167AAD5197}"/>
              </a:ext>
            </a:extLst>
          </p:cNvPr>
          <p:cNvSpPr txBox="1"/>
          <p:nvPr/>
        </p:nvSpPr>
        <p:spPr>
          <a:xfrm>
            <a:off x="6799516" y="1294832"/>
            <a:ext cx="1326004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 sz="1400"/>
              <a:t>P(</a:t>
            </a:r>
            <a:r>
              <a:rPr lang="ko-KR" altLang="en-US" sz="1400"/>
              <a:t>하트</a:t>
            </a:r>
            <a:r>
              <a:rPr lang="en-US" altLang="ko-KR" sz="1400"/>
              <a:t>) = 0.5</a:t>
            </a:r>
          </a:p>
          <a:p>
            <a:pPr algn="l"/>
            <a:endParaRPr lang="en-US" altLang="ko-KR" sz="1400"/>
          </a:p>
          <a:p>
            <a:pPr algn="l"/>
            <a:r>
              <a:rPr lang="en-US" altLang="ko-KR" sz="1400"/>
              <a:t>P(</a:t>
            </a:r>
            <a:r>
              <a:rPr lang="ko-KR" altLang="en-US" sz="1400"/>
              <a:t>욕설</a:t>
            </a:r>
            <a:r>
              <a:rPr lang="en-US" altLang="ko-KR" sz="1400"/>
              <a:t>) = 0.001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783812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F85CBCE-26DA-4B65-83BE-DA9FB14AAC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Entropy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F3CF09-A8BD-4C2C-BE88-837787BEF846}"/>
                  </a:ext>
                </a:extLst>
              </p:cNvPr>
              <p:cNvSpPr txBox="1"/>
              <p:nvPr/>
            </p:nvSpPr>
            <p:spPr>
              <a:xfrm>
                <a:off x="276225" y="1324226"/>
                <a:ext cx="5925020" cy="21474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200">
                    <a:latin typeface="+mn-ea"/>
                  </a:rPr>
                  <a:t>&lt;Entropy </a:t>
                </a:r>
                <a:r>
                  <a:rPr lang="ko-KR" altLang="en-US" sz="1200">
                    <a:latin typeface="+mn-ea"/>
                  </a:rPr>
                  <a:t>예시</a:t>
                </a:r>
                <a:r>
                  <a:rPr lang="en-US" altLang="ko-KR" sz="1200">
                    <a:latin typeface="+mn-ea"/>
                  </a:rPr>
                  <a:t>&gt;</a:t>
                </a: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노란선은 </a:t>
                </a:r>
                <a:r>
                  <a:rPr lang="en-US" altLang="ko-KR" sz="1200">
                    <a:latin typeface="+mn-ea"/>
                  </a:rPr>
                  <a:t>log</a:t>
                </a:r>
                <a:r>
                  <a:rPr lang="ko-KR" altLang="en-US" sz="1200">
                    <a:latin typeface="+mn-ea"/>
                  </a:rPr>
                  <a:t>함수 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파란선은 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altLang="ko-KR" sz="12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카톡방에서 하트와 욕설 뿐만아니라 다른 대화도 오가는데 이러한 랜덤확률 대비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solidFill>
                      <a:srgbClr val="FFC000"/>
                    </a:solidFill>
                    <a:latin typeface="+mn-ea"/>
                  </a:rPr>
                  <a:t> - </a:t>
                </a:r>
                <a:r>
                  <a:rPr lang="ko-KR" altLang="en-US" sz="1200">
                    <a:solidFill>
                      <a:srgbClr val="FFC000"/>
                    </a:solidFill>
                    <a:latin typeface="+mn-ea"/>
                  </a:rPr>
                  <a:t>최소 자원량을 랜덤한 입장에서 보면 기댓값으로 가야함</a:t>
                </a:r>
                <a:endParaRPr lang="en-US" altLang="ko-KR" sz="1200">
                  <a:solidFill>
                    <a:srgbClr val="FFC000"/>
                  </a:solidFill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 기댓값은 </a:t>
                </a:r>
                <a:r>
                  <a:rPr lang="en-US" altLang="ko-KR" sz="1200">
                    <a:latin typeface="+mn-ea"/>
                  </a:rPr>
                  <a:t>mean</a:t>
                </a:r>
                <a:r>
                  <a:rPr lang="ko-KR" altLang="en-US" sz="1200">
                    <a:latin typeface="+mn-ea"/>
                  </a:rPr>
                  <a:t>을 취해야 함으로 </a:t>
                </a:r>
                <a14:m>
                  <m:oMath xmlns:m="http://schemas.openxmlformats.org/officeDocument/2006/math">
                    <m:r>
                      <a:rPr lang="en-US" altLang="ko-KR" sz="1200" b="0" i="0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ko-KR" altLang="en-US" sz="1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func>
                      <m:func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2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200" b="0" i="0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2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func>
                  </m:oMath>
                </a14:m>
                <a:r>
                  <a:rPr lang="ko-KR" altLang="en-US" sz="1200">
                    <a:latin typeface="+mn-ea"/>
                  </a:rPr>
                  <a:t>의 식이 됨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예를 들어 </a:t>
                </a:r>
                <a:r>
                  <a:rPr lang="en-US" altLang="ko-KR" sz="1200">
                    <a:latin typeface="+mn-ea"/>
                  </a:rPr>
                  <a:t>3</a:t>
                </a:r>
                <a:r>
                  <a:rPr lang="ko-KR" altLang="en-US" sz="1200">
                    <a:latin typeface="+mn-ea"/>
                  </a:rPr>
                  <a:t>개의 랜덤단어가 있다면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	</a:t>
                </a:r>
                <a:r>
                  <a:rPr lang="ko-KR" altLang="en-US" sz="1200">
                    <a:latin typeface="+mn-ea"/>
                  </a:rPr>
                  <a:t>길이 </a:t>
                </a:r>
                <a:r>
                  <a:rPr lang="en-US" altLang="ko-KR" sz="1200">
                    <a:latin typeface="+mn-ea"/>
                  </a:rPr>
                  <a:t>:3, </a:t>
                </a:r>
                <a:r>
                  <a:rPr lang="ko-KR" altLang="en-US" sz="1200">
                    <a:latin typeface="+mn-ea"/>
                  </a:rPr>
                  <a:t>확률</a:t>
                </a:r>
                <a:r>
                  <a:rPr lang="en-US" altLang="ko-KR" sz="1200">
                    <a:latin typeface="+mn-ea"/>
                  </a:rPr>
                  <a:t>:</a:t>
                </a:r>
                <a:r>
                  <a:rPr lang="ko-KR" altLang="en-US" sz="1200">
                    <a:latin typeface="+mn-ea"/>
                  </a:rPr>
                  <a:t> </a:t>
                </a:r>
                <a:r>
                  <a:rPr lang="en-US" altLang="ko-KR" sz="1200">
                    <a:latin typeface="+mn-ea"/>
                  </a:rPr>
                  <a:t>1/3</a:t>
                </a:r>
              </a:p>
              <a:p>
                <a:pPr algn="l"/>
                <a:r>
                  <a:rPr lang="en-US" altLang="ko-KR" sz="1200">
                    <a:latin typeface="+mn-ea"/>
                  </a:rPr>
                  <a:t>	</a:t>
                </a:r>
                <a:r>
                  <a:rPr lang="ko-KR" altLang="en-US" sz="1200">
                    <a:latin typeface="+mn-ea"/>
                  </a:rPr>
                  <a:t>길이 </a:t>
                </a:r>
                <a:r>
                  <a:rPr lang="en-US" altLang="ko-KR" sz="1200">
                    <a:latin typeface="+mn-ea"/>
                  </a:rPr>
                  <a:t>:4 ,</a:t>
                </a:r>
                <a:r>
                  <a:rPr lang="ko-KR" altLang="en-US" sz="1200">
                    <a:latin typeface="+mn-ea"/>
                  </a:rPr>
                  <a:t>확률</a:t>
                </a:r>
                <a:r>
                  <a:rPr lang="en-US" altLang="ko-KR" sz="1200">
                    <a:latin typeface="+mn-ea"/>
                  </a:rPr>
                  <a:t>: 1/4 </a:t>
                </a:r>
              </a:p>
              <a:p>
                <a:pPr algn="l"/>
                <a:r>
                  <a:rPr lang="en-US" altLang="ko-KR" sz="1200">
                    <a:latin typeface="+mn-ea"/>
                  </a:rPr>
                  <a:t>	</a:t>
                </a:r>
                <a:r>
                  <a:rPr lang="ko-KR" altLang="en-US" sz="1200">
                    <a:latin typeface="+mn-ea"/>
                  </a:rPr>
                  <a:t>길이</a:t>
                </a:r>
                <a:r>
                  <a:rPr lang="en-US" altLang="ko-KR" sz="1200">
                    <a:latin typeface="+mn-ea"/>
                  </a:rPr>
                  <a:t>: 5, </a:t>
                </a:r>
                <a:r>
                  <a:rPr lang="ko-KR" altLang="en-US" sz="1200">
                    <a:latin typeface="+mn-ea"/>
                  </a:rPr>
                  <a:t>확률</a:t>
                </a:r>
                <a:r>
                  <a:rPr lang="en-US" altLang="ko-KR" sz="1200">
                    <a:latin typeface="+mn-ea"/>
                  </a:rPr>
                  <a:t>: 1/5</a:t>
                </a:r>
              </a:p>
              <a:p>
                <a:pPr algn="l"/>
                <a:r>
                  <a:rPr lang="en-US" altLang="ko-KR" sz="1200">
                    <a:latin typeface="+mn-ea"/>
                  </a:rPr>
                  <a:t>-  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2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길</m:t>
                            </m:r>
                            <m:r>
                              <a:rPr lang="ko-KR" altLang="en-US" sz="1200" i="1" smtClean="0">
                                <a:latin typeface="Cambria Math" panose="02040503050406030204" pitchFamily="18" charset="0"/>
                              </a:rPr>
                              <m:t>이</m:t>
                            </m:r>
                          </m:e>
                        </m:d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 ∗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확</m:t>
                            </m:r>
                            <m:r>
                              <a:rPr lang="ko-KR" altLang="en-US" sz="1200" i="1" smtClean="0">
                                <a:latin typeface="Cambria Math" panose="02040503050406030204" pitchFamily="18" charset="0"/>
                              </a:rPr>
                              <m:t>률</m:t>
                            </m:r>
                          </m:e>
                        </m:d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을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합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치</m:t>
                        </m:r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면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자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원</m:t>
                        </m:r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량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의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최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소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기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댓</m:t>
                        </m:r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값</m:t>
                        </m:r>
                      </m:e>
                    </m:func>
                  </m:oMath>
                </a14:m>
                <a:endParaRPr lang="en-US" altLang="ko-KR" sz="1200">
                  <a:latin typeface="+mn-ea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F3CF09-A8BD-4C2C-BE88-837787BEF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25" y="1324226"/>
                <a:ext cx="5925020" cy="2147447"/>
              </a:xfrm>
              <a:prstGeom prst="rect">
                <a:avLst/>
              </a:prstGeom>
              <a:blipFill>
                <a:blip r:embed="rId3"/>
                <a:stretch>
                  <a:fillRect b="-2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57684D8-B27A-468F-8C89-26F326179413}"/>
              </a:ext>
            </a:extLst>
          </p:cNvPr>
          <p:cNvSpPr txBox="1"/>
          <p:nvPr/>
        </p:nvSpPr>
        <p:spPr>
          <a:xfrm>
            <a:off x="276225" y="6062891"/>
            <a:ext cx="5604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Tx/>
              <a:buChar char="-"/>
            </a:pPr>
            <a:r>
              <a:rPr lang="ko-KR" altLang="en-US" sz="1200">
                <a:latin typeface="+mn-ea"/>
              </a:rPr>
              <a:t>확률분포 균일 </a:t>
            </a:r>
            <a:r>
              <a:rPr lang="en-US" altLang="ko-KR" sz="1200">
                <a:latin typeface="+mn-ea"/>
              </a:rPr>
              <a:t>-&gt; </a:t>
            </a:r>
            <a:r>
              <a:rPr lang="ko-KR" altLang="en-US" sz="1200">
                <a:latin typeface="+mn-ea"/>
              </a:rPr>
              <a:t>엔트로피 높음</a:t>
            </a:r>
            <a:r>
              <a:rPr lang="en-US" altLang="ko-KR" sz="1200">
                <a:latin typeface="+mn-ea"/>
              </a:rPr>
              <a:t>(</a:t>
            </a:r>
            <a:r>
              <a:rPr lang="ko-KR" altLang="en-US" sz="1200">
                <a:latin typeface="+mn-ea"/>
              </a:rPr>
              <a:t>어떤값이 나올지 모름</a:t>
            </a:r>
            <a:r>
              <a:rPr lang="en-US" altLang="ko-KR" sz="1200">
                <a:latin typeface="+mn-ea"/>
              </a:rPr>
              <a:t>)</a:t>
            </a:r>
          </a:p>
          <a:p>
            <a:pPr marL="171450" indent="-171450" algn="l">
              <a:buFontTx/>
              <a:buChar char="-"/>
            </a:pPr>
            <a:r>
              <a:rPr lang="ko-KR" altLang="en-US" sz="1200">
                <a:latin typeface="+mn-ea"/>
              </a:rPr>
              <a:t>확률분포 불균일 </a:t>
            </a:r>
            <a:r>
              <a:rPr lang="en-US" altLang="ko-KR" sz="1200">
                <a:latin typeface="+mn-ea"/>
              </a:rPr>
              <a:t>-&gt; </a:t>
            </a:r>
            <a:r>
              <a:rPr lang="ko-KR" altLang="en-US" sz="1200">
                <a:latin typeface="+mn-ea"/>
              </a:rPr>
              <a:t>엔트로피 낮음</a:t>
            </a:r>
            <a:r>
              <a:rPr lang="en-US" altLang="ko-KR" sz="1200">
                <a:latin typeface="+mn-ea"/>
              </a:rPr>
              <a:t> (</a:t>
            </a:r>
            <a:r>
              <a:rPr lang="ko-KR" altLang="en-US" sz="1200">
                <a:latin typeface="+mn-ea"/>
              </a:rPr>
              <a:t>높은 확률로 그값이 나옴</a:t>
            </a:r>
            <a:r>
              <a:rPr lang="en-US" altLang="ko-KR" sz="1200">
                <a:latin typeface="+mn-ea"/>
              </a:rPr>
              <a:t>)</a:t>
            </a:r>
          </a:p>
          <a:p>
            <a:pPr algn="l"/>
            <a:endParaRPr lang="ko-KR" altLang="en-US" sz="1200">
              <a:latin typeface="+mn-ea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CB668F3-8228-40F2-81CE-AC496E95B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429" y="3374585"/>
            <a:ext cx="5604855" cy="2337451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F1B7942C-4219-4D49-B6FB-14A32B9484D3}"/>
              </a:ext>
            </a:extLst>
          </p:cNvPr>
          <p:cNvGrpSpPr/>
          <p:nvPr/>
        </p:nvGrpSpPr>
        <p:grpSpPr>
          <a:xfrm>
            <a:off x="6497575" y="1160920"/>
            <a:ext cx="2393659" cy="2927277"/>
            <a:chOff x="6201879" y="1230857"/>
            <a:chExt cx="2393659" cy="2927277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B5BED6F5-D7C9-43C0-920C-528B06D51E37}"/>
                </a:ext>
              </a:extLst>
            </p:cNvPr>
            <p:cNvGrpSpPr/>
            <p:nvPr/>
          </p:nvGrpSpPr>
          <p:grpSpPr>
            <a:xfrm>
              <a:off x="6201879" y="1469050"/>
              <a:ext cx="2393659" cy="1788500"/>
              <a:chOff x="952500" y="4267200"/>
              <a:chExt cx="1847530" cy="1489378"/>
            </a:xfrm>
          </p:grpSpPr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3249E686-6A1F-4936-A055-665B9C0B70E7}"/>
                  </a:ext>
                </a:extLst>
              </p:cNvPr>
              <p:cNvGrpSpPr/>
              <p:nvPr/>
            </p:nvGrpSpPr>
            <p:grpSpPr>
              <a:xfrm>
                <a:off x="952500" y="4325061"/>
                <a:ext cx="1847530" cy="1431517"/>
                <a:chOff x="952500" y="4325061"/>
                <a:chExt cx="1847530" cy="1431517"/>
              </a:xfrm>
            </p:grpSpPr>
            <p:cxnSp>
              <p:nvCxnSpPr>
                <p:cNvPr id="12" name="직선 화살표 연결선 11">
                  <a:extLst>
                    <a:ext uri="{FF2B5EF4-FFF2-40B4-BE49-F238E27FC236}">
                      <a16:creationId xmlns:a16="http://schemas.microsoft.com/office/drawing/2014/main" id="{8D1851B1-FEF4-4DC9-8E4D-109B875B07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43025" y="5489575"/>
                  <a:ext cx="1381125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직선 화살표 연결선 13">
                  <a:extLst>
                    <a:ext uri="{FF2B5EF4-FFF2-40B4-BE49-F238E27FC236}">
                      <a16:creationId xmlns:a16="http://schemas.microsoft.com/office/drawing/2014/main" id="{E8EF66CA-2200-40AB-9011-E709C4365F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43025" y="4325061"/>
                  <a:ext cx="0" cy="1164514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직선 연결선 18">
                  <a:extLst>
                    <a:ext uri="{FF2B5EF4-FFF2-40B4-BE49-F238E27FC236}">
                      <a16:creationId xmlns:a16="http://schemas.microsoft.com/office/drawing/2014/main" id="{63BBA901-2692-4BEE-A6D0-972012B4BF9C}"/>
                    </a:ext>
                  </a:extLst>
                </p:cNvPr>
                <p:cNvCxnSpPr/>
                <p:nvPr/>
              </p:nvCxnSpPr>
              <p:spPr>
                <a:xfrm>
                  <a:off x="2169160" y="5435600"/>
                  <a:ext cx="0" cy="10795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ADB8F49-BEEB-4E76-BCFC-AA037E616674}"/>
                    </a:ext>
                  </a:extLst>
                </p:cNvPr>
                <p:cNvSpPr txBox="1"/>
                <p:nvPr/>
              </p:nvSpPr>
              <p:spPr>
                <a:xfrm>
                  <a:off x="2052639" y="5484183"/>
                  <a:ext cx="1524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ko-KR" sz="1100"/>
                    <a:t>1</a:t>
                  </a:r>
                  <a:endParaRPr lang="ko-KR" altLang="en-US" sz="1100"/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6099B78-C114-4174-AEC1-018CB18C8047}"/>
                    </a:ext>
                  </a:extLst>
                </p:cNvPr>
                <p:cNvSpPr txBox="1"/>
                <p:nvPr/>
              </p:nvSpPr>
              <p:spPr>
                <a:xfrm>
                  <a:off x="952500" y="4362450"/>
                  <a:ext cx="5238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ko-KR" altLang="en-US" sz="1100"/>
                    <a:t>길이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07CB429-210B-4148-B517-5B0363FEBB99}"/>
                    </a:ext>
                  </a:extLst>
                </p:cNvPr>
                <p:cNvSpPr txBox="1"/>
                <p:nvPr/>
              </p:nvSpPr>
              <p:spPr>
                <a:xfrm>
                  <a:off x="2276157" y="5494968"/>
                  <a:ext cx="5238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ko-KR" altLang="en-US" sz="1100"/>
                    <a:t>확률</a:t>
                  </a:r>
                </a:p>
              </p:txBody>
            </p:sp>
          </p:grpSp>
          <p:sp>
            <p:nvSpPr>
              <p:cNvPr id="31" name="자유형: 도형 30">
                <a:extLst>
                  <a:ext uri="{FF2B5EF4-FFF2-40B4-BE49-F238E27FC236}">
                    <a16:creationId xmlns:a16="http://schemas.microsoft.com/office/drawing/2014/main" id="{BCEF114A-01CD-4C22-B6DC-93A4B10FE209}"/>
                  </a:ext>
                </a:extLst>
              </p:cNvPr>
              <p:cNvSpPr/>
              <p:nvPr/>
            </p:nvSpPr>
            <p:spPr>
              <a:xfrm>
                <a:off x="1437494" y="4267200"/>
                <a:ext cx="718966" cy="1219200"/>
              </a:xfrm>
              <a:custGeom>
                <a:avLst/>
                <a:gdLst>
                  <a:gd name="connsiteX0" fmla="*/ 718966 w 718966"/>
                  <a:gd name="connsiteY0" fmla="*/ 1219200 h 1219200"/>
                  <a:gd name="connsiteX1" fmla="*/ 337966 w 718966"/>
                  <a:gd name="connsiteY1" fmla="*/ 1059180 h 1219200"/>
                  <a:gd name="connsiteX2" fmla="*/ 132226 w 718966"/>
                  <a:gd name="connsiteY2" fmla="*/ 769620 h 1219200"/>
                  <a:gd name="connsiteX3" fmla="*/ 25546 w 718966"/>
                  <a:gd name="connsiteY3" fmla="*/ 190500 h 1219200"/>
                  <a:gd name="connsiteX4" fmla="*/ 2686 w 718966"/>
                  <a:gd name="connsiteY4" fmla="*/ 0 h 1219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8966" h="1219200">
                    <a:moveTo>
                      <a:pt x="718966" y="1219200"/>
                    </a:moveTo>
                    <a:cubicBezTo>
                      <a:pt x="577361" y="1176655"/>
                      <a:pt x="435756" y="1134110"/>
                      <a:pt x="337966" y="1059180"/>
                    </a:cubicBezTo>
                    <a:cubicBezTo>
                      <a:pt x="240176" y="984250"/>
                      <a:pt x="184296" y="914400"/>
                      <a:pt x="132226" y="769620"/>
                    </a:cubicBezTo>
                    <a:cubicBezTo>
                      <a:pt x="80156" y="624840"/>
                      <a:pt x="47136" y="318770"/>
                      <a:pt x="25546" y="190500"/>
                    </a:cubicBezTo>
                    <a:cubicBezTo>
                      <a:pt x="3956" y="62230"/>
                      <a:pt x="-4934" y="35560"/>
                      <a:pt x="2686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086AC9E0-3C85-48CA-9525-9CE081A67F92}"/>
                </a:ext>
              </a:extLst>
            </p:cNvPr>
            <p:cNvSpPr/>
            <p:nvPr/>
          </p:nvSpPr>
          <p:spPr>
            <a:xfrm>
              <a:off x="7103891" y="2895600"/>
              <a:ext cx="738359" cy="1262534"/>
            </a:xfrm>
            <a:custGeom>
              <a:avLst/>
              <a:gdLst>
                <a:gd name="connsiteX0" fmla="*/ 39859 w 738359"/>
                <a:gd name="connsiteY0" fmla="*/ 1244600 h 1262534"/>
                <a:gd name="connsiteX1" fmla="*/ 52559 w 738359"/>
                <a:gd name="connsiteY1" fmla="*/ 1174750 h 1262534"/>
                <a:gd name="connsiteX2" fmla="*/ 14459 w 738359"/>
                <a:gd name="connsiteY2" fmla="*/ 558800 h 1262534"/>
                <a:gd name="connsiteX3" fmla="*/ 331959 w 738359"/>
                <a:gd name="connsiteY3" fmla="*/ 222250 h 1262534"/>
                <a:gd name="connsiteX4" fmla="*/ 738359 w 738359"/>
                <a:gd name="connsiteY4" fmla="*/ 0 h 126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8359" h="1262534">
                  <a:moveTo>
                    <a:pt x="39859" y="1244600"/>
                  </a:moveTo>
                  <a:cubicBezTo>
                    <a:pt x="48325" y="1266825"/>
                    <a:pt x="56792" y="1289050"/>
                    <a:pt x="52559" y="1174750"/>
                  </a:cubicBezTo>
                  <a:cubicBezTo>
                    <a:pt x="48326" y="1060450"/>
                    <a:pt x="-32108" y="717550"/>
                    <a:pt x="14459" y="558800"/>
                  </a:cubicBezTo>
                  <a:cubicBezTo>
                    <a:pt x="61026" y="400050"/>
                    <a:pt x="211309" y="315383"/>
                    <a:pt x="331959" y="222250"/>
                  </a:cubicBezTo>
                  <a:cubicBezTo>
                    <a:pt x="452609" y="129117"/>
                    <a:pt x="660042" y="43392"/>
                    <a:pt x="738359" y="0"/>
                  </a:cubicBezTo>
                </a:path>
              </a:pathLst>
            </a:cu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34C9BF3A-E28C-439A-90F4-AD813925E7EC}"/>
                    </a:ext>
                  </a:extLst>
                </p:cNvPr>
                <p:cNvSpPr txBox="1"/>
                <p:nvPr/>
              </p:nvSpPr>
              <p:spPr>
                <a:xfrm>
                  <a:off x="6497575" y="1230857"/>
                  <a:ext cx="74225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1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sSub>
                              <m:sSub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func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34C9BF3A-E28C-439A-90F4-AD813925E7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7575" y="1230857"/>
                  <a:ext cx="742254" cy="261610"/>
                </a:xfrm>
                <a:prstGeom prst="rect">
                  <a:avLst/>
                </a:prstGeom>
                <a:blipFill>
                  <a:blip r:embed="rId5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7CE25E9-8DDF-4D48-B7F9-8F55A64F2179}"/>
                    </a:ext>
                  </a:extLst>
                </p:cNvPr>
                <p:cNvSpPr txBox="1"/>
                <p:nvPr/>
              </p:nvSpPr>
              <p:spPr>
                <a:xfrm>
                  <a:off x="7174554" y="3826587"/>
                  <a:ext cx="61292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1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sSub>
                              <m:sSub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func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7CE25E9-8DDF-4D48-B7F9-8F55A64F21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4554" y="3826587"/>
                  <a:ext cx="612925" cy="261610"/>
                </a:xfrm>
                <a:prstGeom prst="rect">
                  <a:avLst/>
                </a:prstGeom>
                <a:blipFill>
                  <a:blip r:embed="rId6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2E37DEB-1189-4C46-AD07-8DC746552DC5}"/>
              </a:ext>
            </a:extLst>
          </p:cNvPr>
          <p:cNvSpPr txBox="1"/>
          <p:nvPr/>
        </p:nvSpPr>
        <p:spPr>
          <a:xfrm>
            <a:off x="1306545" y="5662974"/>
            <a:ext cx="22021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000"/>
              <a:t>&lt; </a:t>
            </a:r>
            <a:r>
              <a:rPr lang="ko-KR" altLang="en-US" sz="1000"/>
              <a:t>확률분포 불균일</a:t>
            </a:r>
            <a:r>
              <a:rPr lang="en-US" altLang="ko-KR" sz="1000"/>
              <a:t>(</a:t>
            </a:r>
            <a:r>
              <a:rPr lang="ko-KR" altLang="en-US" sz="1000"/>
              <a:t>엔트로피 낮음</a:t>
            </a:r>
            <a:r>
              <a:rPr lang="en-US" altLang="ko-KR" sz="1000"/>
              <a:t>) &gt;</a:t>
            </a:r>
            <a:endParaRPr lang="ko-KR" altLang="en-US" sz="10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31111D-110F-4602-BB5D-FFFFAB58F327}"/>
              </a:ext>
            </a:extLst>
          </p:cNvPr>
          <p:cNvSpPr txBox="1"/>
          <p:nvPr/>
        </p:nvSpPr>
        <p:spPr>
          <a:xfrm>
            <a:off x="4053840" y="5662974"/>
            <a:ext cx="21031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000"/>
              <a:t>&lt; </a:t>
            </a:r>
            <a:r>
              <a:rPr lang="ko-KR" altLang="en-US" sz="1000"/>
              <a:t>확률분포 균일</a:t>
            </a:r>
            <a:r>
              <a:rPr lang="en-US" altLang="ko-KR" sz="1000"/>
              <a:t>(</a:t>
            </a:r>
            <a:r>
              <a:rPr lang="ko-KR" altLang="en-US" sz="1000"/>
              <a:t>엔트로피 높음</a:t>
            </a:r>
            <a:r>
              <a:rPr lang="en-US" altLang="ko-KR" sz="1000"/>
              <a:t>) &gt;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2706995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A8329C7-0083-442C-A027-13494589273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Cross Entropy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DB9463-B24D-42C8-9552-87A715DFDE56}"/>
                  </a:ext>
                </a:extLst>
              </p:cNvPr>
              <p:cNvSpPr txBox="1"/>
              <p:nvPr/>
            </p:nvSpPr>
            <p:spPr>
              <a:xfrm>
                <a:off x="296944" y="1616043"/>
                <a:ext cx="6178294" cy="13851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200">
                    <a:latin typeface="+mn-ea"/>
                  </a:rPr>
                  <a:t>&lt;Cross Entropy&gt;</a:t>
                </a: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두 분포 사이에 존재하는 정보량을 구하는 것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수식 </a:t>
                </a:r>
                <a:r>
                  <a:rPr lang="en-US" altLang="ko-KR" sz="1200">
                    <a:latin typeface="+mn-ea"/>
                  </a:rPr>
                  <a:t>:  </a:t>
                </a:r>
                <a14:m>
                  <m:oMath xmlns:m="http://schemas.openxmlformats.org/officeDocument/2006/math">
                    <m:r>
                      <a:rPr lang="en-US" altLang="ko-KR" sz="1200" b="0" i="0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func>
                          <m:func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sSub>
                              <m:sSubPr>
                                <m:ctrlP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func>
                      </m:e>
                    </m:nary>
                  </m:oMath>
                </a14:m>
                <a:r>
                  <a:rPr lang="en-US" altLang="ko-KR" sz="1200">
                    <a:latin typeface="+mn-ea"/>
                  </a:rPr>
                  <a:t>, Q</a:t>
                </a:r>
                <a:r>
                  <a:rPr lang="ko-KR" altLang="en-US" sz="1200">
                    <a:latin typeface="+mn-ea"/>
                  </a:rPr>
                  <a:t>는 예측값</a:t>
                </a:r>
                <a:r>
                  <a:rPr lang="en-US" altLang="ko-KR" sz="1200">
                    <a:latin typeface="+mn-ea"/>
                  </a:rPr>
                  <a:t>, P</a:t>
                </a:r>
                <a:r>
                  <a:rPr lang="ko-KR" altLang="en-US" sz="1200">
                    <a:latin typeface="+mn-ea"/>
                  </a:rPr>
                  <a:t>는 실제값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머신러닝을 통한 예측 모형에서 실제값과 예측값의 차이를 계산하는데 사용할수 있음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실제값과 예측값이 맞는 경우는 </a:t>
                </a:r>
                <a:r>
                  <a:rPr lang="en-US" altLang="ko-KR" sz="1200">
                    <a:latin typeface="+mn-ea"/>
                  </a:rPr>
                  <a:t>0</a:t>
                </a:r>
                <a:r>
                  <a:rPr lang="ko-KR" altLang="en-US" sz="1200">
                    <a:latin typeface="+mn-ea"/>
                  </a:rPr>
                  <a:t>으로 수렴하고</a:t>
                </a:r>
                <a:r>
                  <a:rPr lang="en-US" altLang="ko-KR" sz="1200">
                    <a:latin typeface="+mn-ea"/>
                  </a:rPr>
                  <a:t> </a:t>
                </a:r>
                <a:r>
                  <a:rPr lang="ko-KR" altLang="en-US" sz="1200">
                    <a:latin typeface="+mn-ea"/>
                  </a:rPr>
                  <a:t>아닌 경우는 값이 커짐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:r>
                  <a:rPr lang="ko-KR" altLang="en-US" sz="1200">
                    <a:latin typeface="+mn-ea"/>
                  </a:rPr>
                  <a:t>실제값과 예측값 차이를 줄이기 위한 엔트로피라 생각</a:t>
                </a:r>
                <a:endParaRPr lang="en-US" altLang="ko-KR" sz="1200">
                  <a:latin typeface="+mn-ea"/>
                </a:endParaRPr>
              </a:p>
              <a:p>
                <a:pPr algn="l"/>
                <a:endParaRPr lang="ko-KR" altLang="en-US" sz="1200">
                  <a:latin typeface="+mn-ea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DB9463-B24D-42C8-9552-87A715DFD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44" y="1616043"/>
                <a:ext cx="6178294" cy="1385187"/>
              </a:xfrm>
              <a:prstGeom prst="rect">
                <a:avLst/>
              </a:prstGeom>
              <a:blipFill>
                <a:blip r:embed="rId3"/>
                <a:stretch>
                  <a:fillRect l="-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CFCCC460-59AE-4AE7-A7AD-EA4902CA98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963" y="2228441"/>
            <a:ext cx="2393660" cy="38199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E59157-4E73-4D21-A117-43E67F5DE52F}"/>
              </a:ext>
            </a:extLst>
          </p:cNvPr>
          <p:cNvSpPr txBox="1"/>
          <p:nvPr/>
        </p:nvSpPr>
        <p:spPr>
          <a:xfrm>
            <a:off x="7029450" y="1246711"/>
            <a:ext cx="1183337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 sz="1400"/>
              <a:t>P(</a:t>
            </a:r>
            <a:r>
              <a:rPr lang="ko-KR" altLang="en-US" sz="1400"/>
              <a:t>하트</a:t>
            </a:r>
            <a:r>
              <a:rPr lang="en-US" altLang="ko-KR" sz="1400"/>
              <a:t>) = 0.1</a:t>
            </a:r>
          </a:p>
          <a:p>
            <a:pPr algn="l"/>
            <a:endParaRPr lang="en-US" altLang="ko-KR" sz="1400"/>
          </a:p>
          <a:p>
            <a:pPr algn="l"/>
            <a:r>
              <a:rPr lang="en-US" altLang="ko-KR" sz="1400"/>
              <a:t>P(</a:t>
            </a:r>
            <a:r>
              <a:rPr lang="ko-KR" altLang="en-US" sz="1400"/>
              <a:t>욕설</a:t>
            </a:r>
            <a:r>
              <a:rPr lang="en-US" altLang="ko-KR" sz="1400"/>
              <a:t>) = 0. 1</a:t>
            </a:r>
            <a:endParaRPr lang="ko-KR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35DA2B-4F43-4337-A32C-1F0263399C23}"/>
                  </a:ext>
                </a:extLst>
              </p:cNvPr>
              <p:cNvSpPr txBox="1"/>
              <p:nvPr/>
            </p:nvSpPr>
            <p:spPr>
              <a:xfrm>
                <a:off x="328167" y="3148942"/>
                <a:ext cx="4483920" cy="13992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200">
                    <a:latin typeface="+mn-ea"/>
                  </a:rPr>
                  <a:t>&lt;Entropy vs Cross Entropy </a:t>
                </a:r>
                <a:r>
                  <a:rPr lang="ko-KR" altLang="en-US" sz="1200">
                    <a:latin typeface="+mn-ea"/>
                  </a:rPr>
                  <a:t>예시</a:t>
                </a:r>
                <a:r>
                  <a:rPr lang="en-US" altLang="ko-KR" sz="1200">
                    <a:latin typeface="+mn-ea"/>
                  </a:rPr>
                  <a:t>&gt;</a:t>
                </a:r>
              </a:p>
              <a:p>
                <a:pPr algn="l"/>
                <a:r>
                  <a:rPr lang="ko-KR" altLang="en-US" sz="1200">
                    <a:latin typeface="+mn-ea"/>
                  </a:rPr>
                  <a:t> 가방에 </a:t>
                </a:r>
                <a:r>
                  <a:rPr lang="en-US" altLang="ko-KR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0.8/0.1/0.1 </a:t>
                </a:r>
                <a:r>
                  <a:rPr lang="ko-KR" altLang="en-US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의 비율로</a:t>
                </a:r>
                <a:r>
                  <a:rPr lang="en-US" altLang="ko-KR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, </a:t>
                </a:r>
                <a:r>
                  <a:rPr lang="ko-KR" altLang="en-US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빨간</a:t>
                </a:r>
                <a:r>
                  <a:rPr lang="en-US" altLang="ko-KR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/</a:t>
                </a:r>
                <a:r>
                  <a:rPr lang="ko-KR" altLang="en-US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녹색</a:t>
                </a:r>
                <a:r>
                  <a:rPr lang="en-US" altLang="ko-KR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/</a:t>
                </a:r>
                <a:r>
                  <a:rPr lang="ko-KR" altLang="en-US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노랑 공이 들어가 있다</a:t>
                </a:r>
                <a:r>
                  <a:rPr lang="en-US" altLang="ko-KR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.</a:t>
                </a:r>
              </a:p>
              <a:p>
                <a:pPr algn="l"/>
                <a:r>
                  <a:rPr lang="ko-KR" altLang="en-US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직감에는 </a:t>
                </a:r>
                <a:r>
                  <a:rPr lang="en-US" altLang="ko-KR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0.2/0.2/0.6</a:t>
                </a:r>
                <a:r>
                  <a:rPr lang="ko-KR" altLang="en-US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의 비율로 들어가 있을 것 같다</a:t>
                </a:r>
                <a:r>
                  <a:rPr lang="en-US" altLang="ko-KR" sz="1200" b="0" i="0">
                    <a:solidFill>
                      <a:srgbClr val="212529"/>
                    </a:solidFill>
                    <a:effectLst/>
                    <a:latin typeface="-apple-system"/>
                  </a:rPr>
                  <a:t>.</a:t>
                </a:r>
              </a:p>
              <a:p>
                <a:pPr algn="l"/>
                <a:endParaRPr lang="en-US" altLang="ko-KR" sz="1200">
                  <a:solidFill>
                    <a:srgbClr val="212529"/>
                  </a:solidFill>
                  <a:latin typeface="-apple-system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0.8</m:t>
                          </m:r>
                          <m:func>
                            <m:func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0.8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+0.1</m:t>
                          </m:r>
                          <m:func>
                            <m:func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0.1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+0.1</m:t>
                          </m:r>
                          <m:func>
                            <m:func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0.1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=0.63</m:t>
                      </m:r>
                    </m:oMath>
                  </m:oMathPara>
                </a14:m>
                <a:endParaRPr lang="en-US" altLang="ko-KR" sz="1200" b="0">
                  <a:latin typeface="+mn-ea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0.8</m:t>
                          </m:r>
                          <m:func>
                            <m:func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0.2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+0.1</m:t>
                          </m:r>
                          <m:func>
                            <m:func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0.2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+0.1</m:t>
                          </m:r>
                          <m:func>
                            <m:func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0.6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=1.50</m:t>
                      </m:r>
                    </m:oMath>
                  </m:oMathPara>
                </a14:m>
                <a:endParaRPr lang="ko-KR" altLang="en-US" sz="1200">
                  <a:latin typeface="+mn-ea"/>
                </a:endParaRPr>
              </a:p>
              <a:p>
                <a:pPr algn="l"/>
                <a:endParaRPr lang="ko-KR" altLang="en-US" sz="1200">
                  <a:latin typeface="+mn-ea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35DA2B-4F43-4337-A32C-1F0263399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167" y="3148942"/>
                <a:ext cx="4483920" cy="1399294"/>
              </a:xfrm>
              <a:prstGeom prst="rect">
                <a:avLst/>
              </a:prstGeom>
              <a:blipFill>
                <a:blip r:embed="rId5"/>
                <a:stretch>
                  <a:fillRect l="-136" t="-4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직사각형 10">
            <a:extLst>
              <a:ext uri="{FF2B5EF4-FFF2-40B4-BE49-F238E27FC236}">
                <a16:creationId xmlns:a16="http://schemas.microsoft.com/office/drawing/2014/main" id="{DF967DA7-5F88-464E-A2DE-4D9E69279153}"/>
              </a:ext>
            </a:extLst>
          </p:cNvPr>
          <p:cNvSpPr/>
          <p:nvPr/>
        </p:nvSpPr>
        <p:spPr>
          <a:xfrm>
            <a:off x="836930" y="4714875"/>
            <a:ext cx="4057650" cy="1600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650C9B9-25F5-4749-B8C8-AF4D6DE4D180}"/>
              </a:ext>
            </a:extLst>
          </p:cNvPr>
          <p:cNvSpPr/>
          <p:nvPr/>
        </p:nvSpPr>
        <p:spPr>
          <a:xfrm>
            <a:off x="1076325" y="4953000"/>
            <a:ext cx="295275" cy="288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82AAA05-79BB-4CDC-A941-0B56E22054CA}"/>
              </a:ext>
            </a:extLst>
          </p:cNvPr>
          <p:cNvSpPr/>
          <p:nvPr/>
        </p:nvSpPr>
        <p:spPr>
          <a:xfrm>
            <a:off x="1768157" y="5080032"/>
            <a:ext cx="295275" cy="28895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3BEE197-E3A3-4AB8-A465-F21C17757342}"/>
              </a:ext>
            </a:extLst>
          </p:cNvPr>
          <p:cNvSpPr/>
          <p:nvPr/>
        </p:nvSpPr>
        <p:spPr>
          <a:xfrm>
            <a:off x="1371600" y="5507053"/>
            <a:ext cx="295275" cy="288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195A7CC0-4FF5-4E3E-A379-84F4074F75A1}"/>
              </a:ext>
            </a:extLst>
          </p:cNvPr>
          <p:cNvSpPr/>
          <p:nvPr/>
        </p:nvSpPr>
        <p:spPr>
          <a:xfrm>
            <a:off x="2489118" y="5040327"/>
            <a:ext cx="295275" cy="288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64BFC9B5-668D-425F-8500-731D37B77912}"/>
              </a:ext>
            </a:extLst>
          </p:cNvPr>
          <p:cNvSpPr/>
          <p:nvPr/>
        </p:nvSpPr>
        <p:spPr>
          <a:xfrm>
            <a:off x="3090816" y="5241957"/>
            <a:ext cx="295275" cy="288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A17C6A4-891E-4DC9-978D-5629AFCCB018}"/>
              </a:ext>
            </a:extLst>
          </p:cNvPr>
          <p:cNvSpPr/>
          <p:nvPr/>
        </p:nvSpPr>
        <p:spPr>
          <a:xfrm>
            <a:off x="2179749" y="5771348"/>
            <a:ext cx="295275" cy="288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FE44E6A-0503-4C44-AF0F-B6FEB6E81D41}"/>
              </a:ext>
            </a:extLst>
          </p:cNvPr>
          <p:cNvSpPr/>
          <p:nvPr/>
        </p:nvSpPr>
        <p:spPr>
          <a:xfrm>
            <a:off x="4211908" y="5582901"/>
            <a:ext cx="295275" cy="288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E2D0457-D44E-4223-B37A-503271504BD6}"/>
              </a:ext>
            </a:extLst>
          </p:cNvPr>
          <p:cNvSpPr/>
          <p:nvPr/>
        </p:nvSpPr>
        <p:spPr>
          <a:xfrm>
            <a:off x="3333258" y="5775405"/>
            <a:ext cx="295275" cy="28895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1E2EB779-225C-4F86-86C2-5F20DA1B7EFF}"/>
              </a:ext>
            </a:extLst>
          </p:cNvPr>
          <p:cNvSpPr/>
          <p:nvPr/>
        </p:nvSpPr>
        <p:spPr>
          <a:xfrm>
            <a:off x="2570127" y="5481684"/>
            <a:ext cx="295275" cy="288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2AD1CB73-0172-48E1-80C0-19760D3DDB34}"/>
              </a:ext>
            </a:extLst>
          </p:cNvPr>
          <p:cNvSpPr/>
          <p:nvPr/>
        </p:nvSpPr>
        <p:spPr>
          <a:xfrm>
            <a:off x="4118200" y="5004410"/>
            <a:ext cx="295275" cy="2889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361875-716B-44C6-8011-69F2E6431D30}"/>
              </a:ext>
            </a:extLst>
          </p:cNvPr>
          <p:cNvSpPr txBox="1"/>
          <p:nvPr/>
        </p:nvSpPr>
        <p:spPr>
          <a:xfrm>
            <a:off x="1768157" y="6315075"/>
            <a:ext cx="23500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 Entropy vs Cross Entropy </a:t>
            </a:r>
            <a:r>
              <a:rPr lang="ko-KR" altLang="en-US" sz="1100"/>
              <a:t>예시 </a:t>
            </a:r>
            <a:r>
              <a:rPr lang="en-US" altLang="ko-KR" sz="1100"/>
              <a:t>&gt;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332959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Likelihood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03007" y="3429000"/>
                <a:ext cx="8774318" cy="29088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/>
                </a:pPr>
                <a:r>
                  <a:rPr lang="en-US" altLang="ko-KR" sz="1200">
                    <a:latin typeface="+mn-ea"/>
                  </a:rPr>
                  <a:t>&lt; Likelihood &gt;</a:t>
                </a:r>
              </a:p>
              <a:p>
                <a:pPr marL="171450" indent="-171450" algn="l">
                  <a:buFontTx/>
                  <a:buChar char="-"/>
                  <a:defRPr/>
                </a:pPr>
                <a:r>
                  <a:rPr lang="ko-KR" altLang="en-US" sz="1200">
                    <a:latin typeface="+mn-ea"/>
                  </a:rPr>
                  <a:t>데이터가 특정 분포로부터 만들어졌을 확률</a:t>
                </a:r>
                <a:endParaRPr lang="en-US" altLang="ko-KR" sz="1200">
                  <a:latin typeface="+mn-ea"/>
                </a:endParaRPr>
              </a:p>
              <a:p>
                <a:pPr marL="171450" indent="-171450" algn="l">
                  <a:buFontTx/>
                  <a:buChar char="-"/>
                  <a:defRPr/>
                </a:pPr>
                <a:r>
                  <a:rPr lang="ko-KR" altLang="en-US" sz="1200">
                    <a:latin typeface="+mn-ea"/>
                  </a:rPr>
                  <a:t>예를들어</a:t>
                </a:r>
                <a:r>
                  <a:rPr lang="en-US" altLang="ko-KR" sz="1200">
                    <a:latin typeface="+mn-ea"/>
                  </a:rPr>
                  <a:t>, X={1,1,1,1}</a:t>
                </a:r>
                <a:r>
                  <a:rPr lang="ko-KR" altLang="en-US" sz="1200">
                    <a:latin typeface="+mn-ea"/>
                  </a:rPr>
                  <a:t>이라는 데이터가 있을경우 어느 쪽 분포를 따를 확률이 높을까</a:t>
                </a:r>
                <a:r>
                  <a:rPr lang="en-US" altLang="ko-KR" sz="1200">
                    <a:latin typeface="+mn-ea"/>
                  </a:rPr>
                  <a:t>?</a:t>
                </a:r>
              </a:p>
              <a:p>
                <a:pPr marL="171450" indent="-171450" algn="l">
                  <a:buFontTx/>
                  <a:buChar char="-"/>
                  <a:defRPr/>
                </a:pPr>
                <a:r>
                  <a:rPr lang="ko-KR" altLang="en-US" sz="1200">
                    <a:latin typeface="+mn-ea"/>
                  </a:rPr>
                  <a:t>이런 상황에서 우리는 왼쪽 분포의 데이터 </a:t>
                </a:r>
                <a:r>
                  <a:rPr lang="en-US" altLang="ko-KR" sz="1200">
                    <a:latin typeface="+mn-ea"/>
                  </a:rPr>
                  <a:t>X</a:t>
                </a:r>
                <a:r>
                  <a:rPr lang="ko-KR" altLang="en-US" sz="1200">
                    <a:latin typeface="+mn-ea"/>
                  </a:rPr>
                  <a:t>에 대한 </a:t>
                </a:r>
                <a:r>
                  <a:rPr lang="en-US" altLang="ko-KR" sz="1200">
                    <a:latin typeface="+mn-ea"/>
                  </a:rPr>
                  <a:t>likelihood</a:t>
                </a:r>
                <a:r>
                  <a:rPr lang="ko-KR" altLang="en-US" sz="1200">
                    <a:latin typeface="+mn-ea"/>
                  </a:rPr>
                  <a:t>가 더 높다고 표현할 수 있음</a:t>
                </a:r>
                <a:endParaRPr lang="en-US" altLang="ko-KR" sz="1200">
                  <a:latin typeface="+mn-ea"/>
                </a:endParaRPr>
              </a:p>
              <a:p>
                <a:pPr algn="l"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200">
                  <a:latin typeface="+mn-ea"/>
                </a:endParaRPr>
              </a:p>
              <a:p>
                <a:pPr algn="l">
                  <a:defRPr/>
                </a:pPr>
                <a:endParaRPr lang="en-US" altLang="ko-KR" sz="1200">
                  <a:latin typeface="+mn-ea"/>
                </a:endParaRPr>
              </a:p>
              <a:p>
                <a:pPr algn="l">
                  <a:defRPr/>
                </a:pPr>
                <a:r>
                  <a:rPr lang="en-US" altLang="ko-KR" sz="1200">
                    <a:latin typeface="+mn-ea"/>
                  </a:rPr>
                  <a:t>&lt;Likelihood </a:t>
                </a:r>
                <a:r>
                  <a:rPr lang="ko-KR" altLang="en-US" sz="1200">
                    <a:latin typeface="+mn-ea"/>
                  </a:rPr>
                  <a:t>계산식</a:t>
                </a:r>
                <a:r>
                  <a:rPr lang="en-US" altLang="ko-KR" sz="1200">
                    <a:latin typeface="+mn-ea"/>
                  </a:rPr>
                  <a:t>&gt;</a:t>
                </a:r>
              </a:p>
              <a:p>
                <a:pPr marL="171450" indent="-171450" algn="l">
                  <a:buFontTx/>
                  <a:buChar char="-"/>
                  <a:defRPr/>
                </a:pPr>
                <a:r>
                  <a:rPr lang="ko-KR" altLang="en-US" sz="1200">
                    <a:latin typeface="+mn-ea"/>
                  </a:rPr>
                  <a:t>분포에서의 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sz="1200">
                    <a:latin typeface="+mn-ea"/>
                  </a:rPr>
                  <a:t> </a:t>
                </a:r>
                <a:r>
                  <a:rPr lang="ko-KR" altLang="en-US" sz="1200">
                    <a:latin typeface="+mn-ea"/>
                  </a:rPr>
                  <a:t>파라미터를 가지고 있는 정규분포라고 할때 정규분포의 식</a:t>
                </a:r>
                <a:endParaRPr lang="en-US" altLang="ko-KR" sz="1200">
                  <a:latin typeface="+mn-ea"/>
                </a:endParaRPr>
              </a:p>
              <a:p>
                <a:pPr algn="l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𝜋𝜎</m:t>
                              </m:r>
                            </m:e>
                          </m:rad>
                        </m:den>
                      </m:f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𝑒𝑥</m:t>
                      </m:r>
                      <m:sSup>
                        <m:sSup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 </m:t>
                          </m:r>
                          <m:f>
                            <m:f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en-US" altLang="ko-KR" sz="1200">
                  <a:latin typeface="+mn-ea"/>
                </a:endParaRPr>
              </a:p>
              <a:p>
                <a:pPr marL="171450" indent="-171450" algn="l">
                  <a:buFontTx/>
                  <a:buChar char="-"/>
                  <a:defRPr/>
                </a:pPr>
                <a:endParaRPr lang="en-US" altLang="ko-KR" sz="1200">
                  <a:latin typeface="+mn-ea"/>
                </a:endParaRPr>
              </a:p>
              <a:p>
                <a:pPr algn="l">
                  <a:defRPr/>
                </a:pPr>
                <a:r>
                  <a:rPr lang="en-US" altLang="ko-KR" sz="1200">
                    <a:latin typeface="+mn-ea"/>
                  </a:rPr>
                  <a:t>&lt;MLE</a:t>
                </a:r>
                <a:r>
                  <a:rPr lang="ko-KR" altLang="en-US" sz="1200">
                    <a:latin typeface="+mn-ea"/>
                  </a:rPr>
                  <a:t>가 딥러닝에서의 역할</a:t>
                </a:r>
                <a:r>
                  <a:rPr lang="en-US" altLang="ko-KR" sz="1200">
                    <a:latin typeface="+mn-ea"/>
                  </a:rPr>
                  <a:t>&gt;</a:t>
                </a:r>
              </a:p>
              <a:p>
                <a:pPr marL="171450" indent="-171450" algn="l">
                  <a:buFontTx/>
                  <a:buChar char="-"/>
                  <a:defRPr/>
                </a:pPr>
                <a:r>
                  <a:rPr lang="en-US" altLang="ko-KR" sz="1200">
                    <a:latin typeface="+mn-ea"/>
                  </a:rPr>
                  <a:t>Multi-classification</a:t>
                </a:r>
                <a:r>
                  <a:rPr lang="ko-KR" altLang="en-US" sz="1200">
                    <a:latin typeface="+mn-ea"/>
                  </a:rPr>
                  <a:t>문제를 풀고하는 경우 </a:t>
                </a:r>
                <a:r>
                  <a:rPr lang="en-US" altLang="ko-KR" sz="1200">
                    <a:latin typeface="+mn-ea"/>
                  </a:rPr>
                  <a:t>0~n</a:t>
                </a:r>
                <a:r>
                  <a:rPr lang="ko-KR" altLang="en-US" sz="1200">
                    <a:latin typeface="+mn-ea"/>
                  </a:rPr>
                  <a:t>까지의 클래스를 예측하므로 이산확률 변수를 다루는 </a:t>
                </a:r>
                <a:r>
                  <a:rPr lang="en-US" altLang="ko-KR" sz="1200">
                    <a:latin typeface="+mn-ea"/>
                  </a:rPr>
                  <a:t>multinomial </a:t>
                </a:r>
                <a:r>
                  <a:rPr lang="ko-KR" altLang="en-US" sz="1200">
                    <a:latin typeface="+mn-ea"/>
                  </a:rPr>
                  <a:t>분포</a:t>
                </a:r>
                <a:r>
                  <a:rPr lang="en-US" altLang="ko-KR" sz="1200">
                    <a:latin typeface="+mn-ea"/>
                  </a:rPr>
                  <a:t>(</a:t>
                </a:r>
                <a:r>
                  <a:rPr lang="ko-KR" altLang="en-US" sz="1200">
                    <a:latin typeface="+mn-ea"/>
                  </a:rPr>
                  <a:t>다항분포</a:t>
                </a:r>
                <a:r>
                  <a:rPr lang="en-US" altLang="ko-KR" sz="1200">
                    <a:latin typeface="+mn-ea"/>
                  </a:rPr>
                  <a:t>)</a:t>
                </a:r>
                <a:r>
                  <a:rPr lang="ko-KR" altLang="en-US" sz="1200">
                    <a:latin typeface="+mn-ea"/>
                  </a:rPr>
                  <a:t>임</a:t>
                </a:r>
                <a:endParaRPr lang="en-US" altLang="ko-KR" sz="1200">
                  <a:latin typeface="+mn-ea"/>
                </a:endParaRPr>
              </a:p>
              <a:p>
                <a:pPr marL="171450" indent="-171450" algn="l">
                  <a:buFontTx/>
                  <a:buChar char="-"/>
                  <a:defRPr/>
                </a:pPr>
                <a:r>
                  <a:rPr lang="ko-KR" altLang="en-US" sz="1200">
                    <a:latin typeface="+mn-ea"/>
                  </a:rPr>
                  <a:t>문제를 해결할때 신경망의 마지막 </a:t>
                </a:r>
                <a:r>
                  <a:rPr lang="en-US" altLang="ko-KR" sz="1200">
                    <a:latin typeface="+mn-ea"/>
                  </a:rPr>
                  <a:t>layer</a:t>
                </a:r>
                <a:r>
                  <a:rPr lang="ko-KR" altLang="en-US" sz="1200">
                    <a:latin typeface="+mn-ea"/>
                  </a:rPr>
                  <a:t>에서 소프트맥스 연산 </a:t>
                </a:r>
                <a:r>
                  <a:rPr lang="en-US" altLang="ko-KR" sz="1200">
                    <a:latin typeface="+mn-ea"/>
                  </a:rPr>
                  <a:t>y</a:t>
                </a:r>
                <a:r>
                  <a:rPr lang="ko-KR" altLang="en-US" sz="1200">
                    <a:latin typeface="+mn-ea"/>
                  </a:rPr>
                  <a:t>의 결과값은 클래스별 확률값에 대한 분포 </a:t>
                </a:r>
                <a:r>
                  <a:rPr lang="en-US" altLang="ko-KR" sz="1200">
                    <a:latin typeface="+mn-ea"/>
                  </a:rPr>
                  <a:t>y^</a:t>
                </a:r>
                <a:r>
                  <a:rPr lang="ko-KR" altLang="en-US" sz="1200">
                    <a:latin typeface="+mn-ea"/>
                  </a:rPr>
                  <a:t>을 반환</a:t>
                </a:r>
                <a:endParaRPr lang="en-US" altLang="ko-KR" sz="1200">
                  <a:latin typeface="+mn-ea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07" y="3429000"/>
                <a:ext cx="8774318" cy="2908873"/>
              </a:xfrm>
              <a:prstGeom prst="rect">
                <a:avLst/>
              </a:prstGeom>
              <a:blipFill>
                <a:blip r:embed="rId2"/>
                <a:stretch>
                  <a:fillRect l="-139" t="-210" b="-10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2842D87F-AEE2-491F-BECB-71EDE689C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868" y="1247663"/>
            <a:ext cx="5343832" cy="1943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14125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MLE(Maximum likelihood estimation)</a:t>
            </a:r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0982" y="1494088"/>
            <a:ext cx="4075389" cy="1805206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251918" y="1487570"/>
            <a:ext cx="4777638" cy="1805206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422264" y="4413227"/>
            <a:ext cx="4130936" cy="137384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0982" y="1208866"/>
            <a:ext cx="11176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200" b="1">
                <a:latin typeface="+mn-ea"/>
              </a:rPr>
              <a:t>&lt;Episode 1&gt;</a:t>
            </a:r>
            <a:endParaRPr lang="ko-KR" altLang="en-US" sz="1200" b="1"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0981" y="4029549"/>
            <a:ext cx="11176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200" b="1">
                <a:latin typeface="+mn-ea"/>
              </a:rPr>
              <a:t>&lt;Episode 2&gt;</a:t>
            </a:r>
            <a:endParaRPr lang="ko-KR" altLang="en-US" sz="1200" b="1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자유형: 도형 17"/>
              <p:cNvSpPr/>
              <p:nvPr/>
            </p:nvSpPr>
            <p:spPr>
              <a:xfrm>
                <a:off x="2809911" y="6090748"/>
                <a:ext cx="3743289" cy="4381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/>
                          <a:sym typeface="Cambria Math"/>
                        </a:rPr>
                        <m:t>𝑃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봄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,15,29,14.5,8,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금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,7 |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파스타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8" name="자유형: 도형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9911" y="6090748"/>
                <a:ext cx="3743289" cy="4381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 xmlns:a14="http://schemas.microsoft.com/office/drawing/2010/main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MLE(Maximum likelihood estimation)</a:t>
            </a:r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601266" y="3429000"/>
            <a:ext cx="4175600" cy="2153984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970780" y="1382915"/>
            <a:ext cx="3689873" cy="13761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01704" y="1706719"/>
                <a:ext cx="4487362" cy="789020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 algn="l"/>
                <a:r>
                  <a:rPr lang="ko-KR" altLang="en-US" sz="1100">
                    <a:latin typeface="Cambria Math" panose="21474836470000000000" pitchFamily="18" charset="0"/>
                  </a:rPr>
                  <a:t>남자친구 </a:t>
                </a:r>
                <a:r>
                  <a:rPr lang="en-US" altLang="ko-KR" sz="1100">
                    <a:latin typeface="Cambria Math" panose="21474836470000000000" pitchFamily="18" charset="0"/>
                  </a:rPr>
                  <a:t>: </a:t>
                </a:r>
                <a:r>
                  <a:rPr lang="ko-KR" altLang="en-US" sz="1100">
                    <a:latin typeface="Cambria Math" panose="21474836470000000000" pitchFamily="18" charset="0"/>
                  </a:rPr>
                  <a:t>저번에도 이 음식에 이런 영향요인이였으니 파스타먹자</a:t>
                </a:r>
                <a:endParaRPr lang="en-US" altLang="ko-KR" sz="1100">
                  <a:latin typeface="Cambria Math" panose="21474836470000000000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ar-AE" sz="1100" b="0" i="1" smtClean="0">
                          <a:latin typeface="Cambria Math" panose="21474836470000000000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ar-AE" sz="1100" b="0" i="1" smtClean="0">
                              <a:latin typeface="Cambria Math" panose="21474836470000000000" pitchFamily="18" charset="0"/>
                            </a:rPr>
                            <m:t>𝑑𝑎𝑡𝑎</m:t>
                          </m:r>
                        </m:e>
                        <m:e>
                          <m:r>
                            <a:rPr lang="ko-KR" altLang="ar-AE" sz="1100" b="0" i="1" smtClean="0">
                              <a:latin typeface="Cambria Math" panose="21474836470000000000" pitchFamily="18" charset="0"/>
                            </a:rPr>
                            <m:t>𝑓𝑜𝑜𝑑</m:t>
                          </m:r>
                        </m:e>
                      </m:d>
                    </m:oMath>
                  </m:oMathPara>
                </a14:m>
                <a:endParaRPr lang="en-US" altLang="ko-KR" sz="1100">
                  <a:latin typeface="Cambria Math" panose="21474836470000000000" pitchFamily="18" charset="0"/>
                </a:endParaRPr>
              </a:p>
              <a:p>
                <a:pPr algn="l"/>
                <a:r>
                  <a:rPr lang="ko-KR" altLang="en-US" sz="1100" b="0">
                    <a:latin typeface="Cambria Math" panose="21474836470000000000" pitchFamily="18" charset="0"/>
                  </a:rPr>
                  <a:t>여자친구 </a:t>
                </a:r>
                <a:r>
                  <a:rPr lang="en-US" altLang="ko-KR" sz="1100" b="0">
                    <a:latin typeface="Cambria Math" panose="21474836470000000000" pitchFamily="18" charset="0"/>
                  </a:rPr>
                  <a:t>: </a:t>
                </a:r>
                <a:r>
                  <a:rPr lang="ko-KR" altLang="en-US" sz="1100">
                    <a:latin typeface="Cambria Math" panose="21474836470000000000" pitchFamily="18" charset="0"/>
                  </a:rPr>
                  <a:t>오늘 같은날 뭐먹고 싶은지 말해야지 무슨 상관</a:t>
                </a:r>
                <a:r>
                  <a:rPr lang="en-US" altLang="ko-KR" sz="1100">
                    <a:latin typeface="Cambria Math" panose="21474836470000000000" pitchFamily="18" charset="0"/>
                  </a:rPr>
                  <a:t>?</a:t>
                </a:r>
                <a:endParaRPr lang="ar-AE" altLang="ko-KR" sz="1100" b="0">
                  <a:latin typeface="Cambria Math" panose="21474836470000000000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ar-AE" sz="1100" b="0" i="1" smtClean="0">
                          <a:latin typeface="Cambria Math" panose="21474836470000000000" pitchFamily="18" charset="0"/>
                        </a:rPr>
                        <m:t>𝑃</m:t>
                      </m:r>
                      <m:r>
                        <a:rPr lang="ar-AE" altLang="ko-KR" sz="1100" b="0" i="1" smtClean="0">
                          <a:latin typeface="Cambria Math" panose="21474836470000000000" pitchFamily="18" charset="0"/>
                        </a:rPr>
                        <m:t>(</m:t>
                      </m:r>
                      <m:r>
                        <a:rPr lang="ko-KR" altLang="ar-AE" sz="1100" b="0" i="1" smtClean="0">
                          <a:latin typeface="Cambria Math" panose="21474836470000000000" pitchFamily="18" charset="0"/>
                        </a:rPr>
                        <m:t>𝑓𝑜𝑜𝑑</m:t>
                      </m:r>
                      <m:r>
                        <a:rPr lang="ar-AE" altLang="ko-KR" sz="1100" b="0" i="1" smtClean="0">
                          <a:latin typeface="Cambria Math" panose="21474836470000000000" pitchFamily="18" charset="0"/>
                        </a:rPr>
                        <m:t>|</m:t>
                      </m:r>
                      <m:r>
                        <a:rPr lang="ko-KR" altLang="ar-AE" sz="1100" b="0" i="1" smtClean="0">
                          <a:latin typeface="Cambria Math" panose="21474836470000000000" pitchFamily="18" charset="0"/>
                        </a:rPr>
                        <m:t>𝑑𝑎𝑡𝑎</m:t>
                      </m:r>
                      <m:r>
                        <a:rPr lang="ar-AE" altLang="ko-KR" sz="1100" b="0" i="1" smtClean="0">
                          <a:latin typeface="Cambria Math" panose="21474836470000000000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04" y="1706719"/>
                <a:ext cx="4487362" cy="789020"/>
              </a:xfrm>
              <a:prstGeom prst="rect">
                <a:avLst/>
              </a:prstGeom>
              <a:blipFill>
                <a:blip r:embed="rId5"/>
                <a:stretch>
                  <a:fillRect t="-7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3"/>
          <p:cNvSpPr txBox="1"/>
          <p:nvPr/>
        </p:nvSpPr>
        <p:spPr>
          <a:xfrm>
            <a:off x="207264" y="3046256"/>
            <a:ext cx="11176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200" b="1">
                <a:latin typeface="+mn-ea"/>
              </a:rPr>
              <a:t>&lt;Episode 3&gt;</a:t>
            </a:r>
            <a:endParaRPr lang="ko-KR" altLang="en-US" sz="1200" b="1">
              <a:latin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E8E99FC-BDEF-44AC-A5F5-F6CADB8D44C5}"/>
                  </a:ext>
                </a:extLst>
              </p:cNvPr>
              <p:cNvSpPr txBox="1"/>
              <p:nvPr/>
            </p:nvSpPr>
            <p:spPr>
              <a:xfrm>
                <a:off x="201704" y="5582984"/>
                <a:ext cx="7974711" cy="9605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ko-KR" altLang="en-US" sz="1100"/>
                  <a:t>첫번째 만남 때 여자친구와 만나면서 먹었던 음식의 횟수 </a:t>
                </a:r>
                <a:r>
                  <a:rPr lang="en-US" altLang="ko-KR" sz="1100"/>
                  <a:t>: </a:t>
                </a:r>
                <a:r>
                  <a:rPr lang="ko-KR" altLang="en-US" sz="1100"/>
                  <a:t>사전확률</a:t>
                </a:r>
                <a:r>
                  <a:rPr lang="en-US" altLang="ko-KR" sz="1100"/>
                  <a:t>(Prior Probability)</a:t>
                </a:r>
              </a:p>
              <a:p>
                <a:pPr algn="l"/>
                <a:r>
                  <a:rPr lang="ko-KR" altLang="en-US" sz="1100"/>
                  <a:t>두번째 만남 때 여자친구와 만나면서 음식을 먹었을때 영향요인 </a:t>
                </a:r>
                <a:r>
                  <a:rPr lang="en-US" altLang="ko-KR" sz="1100"/>
                  <a:t>: </a:t>
                </a:r>
                <a:r>
                  <a:rPr lang="ko-KR" altLang="en-US" sz="1100"/>
                  <a:t>가능도</a:t>
                </a:r>
                <a:r>
                  <a:rPr lang="en-US" altLang="ko-KR" sz="1100"/>
                  <a:t>(Likelihood)</a:t>
                </a:r>
              </a:p>
              <a:p>
                <a:pPr algn="l"/>
                <a:r>
                  <a:rPr lang="ko-KR" altLang="en-US" sz="1100"/>
                  <a:t>두번째 만남 때 </a:t>
                </a:r>
                <a:r>
                  <a:rPr lang="en-US" altLang="ko-KR" sz="1100"/>
                  <a:t>‘</a:t>
                </a:r>
                <a:r>
                  <a:rPr lang="ko-KR" altLang="en-US" sz="1100"/>
                  <a:t>아무거나</a:t>
                </a:r>
                <a:r>
                  <a:rPr lang="en-US" altLang="ko-KR" sz="1100"/>
                  <a:t>’</a:t>
                </a:r>
                <a:r>
                  <a:rPr lang="ko-KR" altLang="en-US" sz="1100"/>
                  <a:t>라고 말할때  여자친구가 원하는 음식 </a:t>
                </a:r>
                <a:r>
                  <a:rPr lang="en-US" altLang="ko-KR" sz="1100"/>
                  <a:t>: </a:t>
                </a:r>
                <a:r>
                  <a:rPr lang="ko-KR" altLang="en-US" sz="1100"/>
                  <a:t>사후확률</a:t>
                </a:r>
                <a:r>
                  <a:rPr lang="en-US" altLang="ko-KR" sz="1100"/>
                  <a:t>(Posterior Probability)</a:t>
                </a:r>
              </a:p>
              <a:p>
                <a:pPr algn="l"/>
                <a:endParaRPr lang="en-US" altLang="ko-KR" sz="110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100" i="1">
                              <a:latin typeface="Cambria Math" panose="02040503050406030204" pitchFamily="18" charset="0"/>
                            </a:rPr>
                            <m:t>음</m:t>
                          </m:r>
                          <m:r>
                            <a:rPr lang="ko-KR" altLang="en-US" sz="1100" i="1" smtClean="0">
                              <a:latin typeface="Cambria Math" panose="02040503050406030204" pitchFamily="18" charset="0"/>
                            </a:rPr>
                            <m:t>식</m:t>
                          </m:r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𝐶𝑜𝑛𝑑𝑖𝑡𝑖𝑜𝑛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𝐹𝑜𝑜𝑑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𝐹𝑜𝑜𝑑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𝐶𝑜𝑛𝑑𝑖𝑡𝑖𝑜𝑛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) , </m:t>
                      </m:r>
                    </m:oMath>
                  </m:oMathPara>
                </a14:m>
                <a:endParaRPr lang="ko-KR" altLang="en-US" sz="110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E8E99FC-BDEF-44AC-A5F5-F6CADB8D4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04" y="5582984"/>
                <a:ext cx="7974711" cy="960519"/>
              </a:xfrm>
              <a:prstGeom prst="rect">
                <a:avLst/>
              </a:prstGeom>
              <a:blipFill>
                <a:blip r:embed="rId6"/>
                <a:stretch>
                  <a:fillRect t="-6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 xmlns:a14="http://schemas.microsoft.com/office/drawing/2010/main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3544906-4DAC-4C43-8C16-F6D53820D6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MLE(Maximum likelihood estimation)</a:t>
            </a:r>
            <a:endParaRPr lang="ko-KR" altLang="en-US"/>
          </a:p>
          <a:p>
            <a:pPr>
              <a:buNone/>
            </a:pP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자유형: 도형 14"/>
              <p:cNvSpPr/>
              <p:nvPr/>
            </p:nvSpPr>
            <p:spPr>
              <a:xfrm>
                <a:off x="790576" y="1681340"/>
                <a:ext cx="7962900" cy="10001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1400" b="1" smtClean="0">
                          <a:latin typeface="Cambria Math" panose="02040503050406030204" pitchFamily="18" charset="0"/>
                          <a:sym typeface="Cambria Math"/>
                        </a:rPr>
                        <m:t>𝐁𝐚𝐲𝐞</m:t>
                      </m:r>
                      <m:sSup>
                        <m:sSupPr>
                          <m:ctrlPr>
                            <a:rPr lang="ar-AE" sz="1400" b="1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pPr>
                        <m:e>
                          <m:r>
                            <a:rPr lang="ar-AE" sz="1400" b="1">
                              <a:latin typeface="Cambria Math" panose="02040503050406030204" pitchFamily="18" charset="0"/>
                              <a:sym typeface="Cambria Math"/>
                            </a:rPr>
                            <m:t>𝐬</m:t>
                          </m:r>
                        </m:e>
                        <m:sup>
                          <m:r>
                            <a:rPr lang="ar-AE" sz="1400" b="1" i="1">
                              <a:latin typeface="Cambria Math" panose="02040503050406030204" pitchFamily="18" charset="0"/>
                              <a:sym typeface="Cambria Math"/>
                            </a:rPr>
                            <m:t>′</m:t>
                          </m:r>
                        </m:sup>
                      </m:sSup>
                      <m:r>
                        <a:rPr lang="ar-AE" sz="1400" b="1">
                          <a:latin typeface="Cambria Math" panose="02040503050406030204" pitchFamily="18" charset="0"/>
                          <a:sym typeface="Cambria Math"/>
                        </a:rPr>
                        <m:t>𝐑𝐮𝐥𝐞</m:t>
                      </m:r>
                      <m:r>
                        <a:rPr lang="ar-AE" sz="1400" b="1">
                          <a:latin typeface="Cambria Math" panose="02040503050406030204" pitchFamily="18" charset="0"/>
                          <a:sym typeface="Cambria Math"/>
                        </a:rPr>
                        <m:t> : </m:t>
                      </m:r>
                      <m:r>
                        <a:rPr lang="ar-AE" sz="1400">
                          <a:latin typeface="Cambria Math" panose="02040503050406030204" pitchFamily="18" charset="0"/>
                          <a:sym typeface="Cambria Math"/>
                        </a:rPr>
                        <m:t> </m:t>
                      </m:r>
                      <m:r>
                        <a:rPr lang="ar-AE" sz="1400">
                          <a:latin typeface="Cambria Math" panose="02040503050406030204" pitchFamily="18" charset="0"/>
                          <a:sym typeface="Cambria Math"/>
                        </a:rPr>
                        <m:t>𝑃</m:t>
                      </m:r>
                      <m:d>
                        <m:dPr>
                          <m:ctrlPr>
                            <a:rPr lang="ar-AE" sz="14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dPr>
                        <m:e>
                          <m:r>
                            <a:rPr lang="ar-AE" sz="1400">
                              <a:latin typeface="Cambria Math" panose="02040503050406030204" pitchFamily="18" charset="0"/>
                              <a:sym typeface="Cambria Math"/>
                            </a:rPr>
                            <m:t>𝐴</m:t>
                          </m:r>
                        </m:e>
                        <m:e>
                          <m:r>
                            <a:rPr lang="ar-AE" sz="1400">
                              <a:latin typeface="Cambria Math" panose="02040503050406030204" pitchFamily="18" charset="0"/>
                              <a:sym typeface="Cambria Math"/>
                            </a:rPr>
                            <m:t>𝐵</m:t>
                          </m:r>
                        </m:e>
                      </m:d>
                      <m:r>
                        <a:rPr lang="ar-AE" sz="1400">
                          <a:latin typeface="Cambria Math" panose="02040503050406030204" pitchFamily="18" charset="0"/>
                          <a:sym typeface="Cambria Math"/>
                        </a:rPr>
                        <m:t>= </m:t>
                      </m:r>
                      <m:f>
                        <m:fPr>
                          <m:ctrlPr>
                            <a:rPr lang="ar-AE" sz="14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r>
                            <a:rPr lang="ar-AE" sz="1400" i="1">
                              <a:latin typeface="Cambria Math" panose="02040503050406030204" pitchFamily="18" charset="0"/>
                              <a:sym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14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dPr>
                            <m:e>
                              <m:r>
                                <a:rPr lang="ar-AE" sz="1400" i="1">
                                  <a:latin typeface="Cambria Math" panose="02040503050406030204" pitchFamily="18" charset="0"/>
                                  <a:sym typeface="Cambria Math"/>
                                </a:rPr>
                                <m:t>𝐵</m:t>
                              </m:r>
                            </m:e>
                            <m:e>
                              <m:r>
                                <a:rPr lang="ar-AE" sz="1400" i="1">
                                  <a:latin typeface="Cambria Math" panose="02040503050406030204" pitchFamily="18" charset="0"/>
                                  <a:sym typeface="Cambria Math"/>
                                </a:rPr>
                                <m:t>𝐴</m:t>
                              </m:r>
                            </m:e>
                          </m:d>
                          <m:r>
                            <a:rPr lang="ar-AE" sz="1400" i="1">
                              <a:latin typeface="Cambria Math" panose="02040503050406030204" pitchFamily="18" charset="0"/>
                              <a:sym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14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dPr>
                            <m:e>
                              <m:r>
                                <a:rPr lang="ar-AE" sz="1400" i="1">
                                  <a:latin typeface="Cambria Math" panose="02040503050406030204" pitchFamily="18" charset="0"/>
                                  <a:sym typeface="Cambria Math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ar-AE" sz="1400" i="1">
                              <a:latin typeface="Cambria Math" panose="02040503050406030204" pitchFamily="18" charset="0"/>
                              <a:sym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14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dPr>
                            <m:e>
                              <m:r>
                                <a:rPr lang="ar-AE" sz="1400" i="1">
                                  <a:latin typeface="Cambria Math" panose="02040503050406030204" pitchFamily="18" charset="0"/>
                                  <a:sym typeface="Cambria Math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  <a:sym typeface="Cambria Math"/>
                        </a:rPr>
                        <m:t> </m:t>
                      </m:r>
                    </m:oMath>
                  </m:oMathPara>
                </a14:m>
                <a:endParaRPr lang="en-US" sz="1400" b="0" i="1">
                  <a:latin typeface="+mn-ea"/>
                  <a:sym typeface="Cambria Math"/>
                </a:endParaRPr>
              </a:p>
              <a:p>
                <a:pPr algn="l"/>
                <a:r>
                  <a:rPr lang="en-US" sz="1400" i="1">
                    <a:latin typeface="+mn-ea"/>
                    <a:sym typeface="Cambria Math"/>
                  </a:rPr>
                  <a:t>								</a:t>
                </a:r>
                <a:r>
                  <a:rPr lang="en-US" sz="1400">
                    <a:latin typeface="+mn-ea"/>
                    <a:sym typeface="Cambria Math"/>
                  </a:rPr>
                  <a:t>P(B)</a:t>
                </a:r>
                <a:r>
                  <a:rPr lang="ko-KR" altLang="en-US" sz="1400">
                    <a:latin typeface="+mn-ea"/>
                    <a:sym typeface="Cambria Math"/>
                  </a:rPr>
                  <a:t>는 </a:t>
                </a:r>
                <a:r>
                  <a:rPr lang="en-US" altLang="ko-KR" sz="1400">
                    <a:latin typeface="+mn-ea"/>
                    <a:sym typeface="Cambria Math"/>
                  </a:rPr>
                  <a:t>Normalizing constant</a:t>
                </a:r>
                <a:r>
                  <a:rPr lang="ko-KR" altLang="en-US" sz="1400">
                    <a:latin typeface="+mn-ea"/>
                    <a:sym typeface="Cambria Math"/>
                  </a:rPr>
                  <a:t>임으로 무시</a:t>
                </a:r>
                <a:endParaRPr lang="en-US" sz="1400">
                  <a:latin typeface="+mn-ea"/>
                  <a:sym typeface="Cambria Math"/>
                </a:endParaRPr>
              </a:p>
              <a:p>
                <a:pPr algn="l"/>
                <a:r>
                  <a:rPr lang="en-US" sz="1400" i="1">
                    <a:latin typeface="+mn-ea"/>
                    <a:sym typeface="Cambria Math"/>
                  </a:rPr>
                  <a:t>	</a:t>
                </a:r>
                <a14:m>
                  <m:oMath xmlns:m="http://schemas.openxmlformats.org/officeDocument/2006/math">
                    <m:r>
                      <a:rPr lang="ar-AE" sz="1400" i="1">
                        <a:latin typeface="Cambria Math" panose="02040503050406030204" pitchFamily="18" charset="0"/>
                        <a:sym typeface="Cambria Math"/>
                      </a:rPr>
                      <m:t>𝑃</m:t>
                    </m:r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  <a:sym typeface="Cambria Math"/>
                          </a:rPr>
                        </m:ctrlPr>
                      </m:dPr>
                      <m:e>
                        <m:r>
                          <a:rPr lang="ar-AE" sz="1400" i="1">
                            <a:latin typeface="Cambria Math" panose="02040503050406030204" pitchFamily="18" charset="0"/>
                            <a:sym typeface="Cambria Math"/>
                          </a:rPr>
                          <m:t>𝐴</m:t>
                        </m:r>
                      </m:e>
                      <m:e>
                        <m:r>
                          <a:rPr lang="ar-AE" sz="1400" i="1">
                            <a:latin typeface="Cambria Math" panose="02040503050406030204" pitchFamily="18" charset="0"/>
                            <a:sym typeface="Cambria Math"/>
                          </a:rPr>
                          <m:t>𝐵</m:t>
                        </m:r>
                      </m:e>
                    </m:d>
                    <m:r>
                      <a:rPr lang="ar-AE" sz="1400" i="1">
                        <a:latin typeface="Cambria Math" panose="02040503050406030204" pitchFamily="18" charset="0"/>
                        <a:sym typeface="Cambria Math"/>
                      </a:rPr>
                      <m:t>= </m:t>
                    </m:r>
                    <m:r>
                      <a:rPr lang="ar-AE" sz="1400" i="1">
                        <a:latin typeface="Cambria Math" panose="02040503050406030204" pitchFamily="18" charset="0"/>
                        <a:sym typeface="Cambria Math"/>
                      </a:rPr>
                      <m:t>𝑃</m:t>
                    </m:r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  <a:sym typeface="Cambria Math"/>
                          </a:rPr>
                        </m:ctrlPr>
                      </m:dPr>
                      <m:e>
                        <m:r>
                          <a:rPr lang="ar-AE" sz="1400" i="1">
                            <a:latin typeface="Cambria Math" panose="02040503050406030204" pitchFamily="18" charset="0"/>
                            <a:sym typeface="Cambria Math"/>
                          </a:rPr>
                          <m:t>𝐵</m:t>
                        </m:r>
                      </m:e>
                      <m:e>
                        <m:r>
                          <a:rPr lang="ar-AE" sz="1400" i="1">
                            <a:latin typeface="Cambria Math" panose="02040503050406030204" pitchFamily="18" charset="0"/>
                            <a:sym typeface="Cambria Math"/>
                          </a:rPr>
                          <m:t>𝐴</m:t>
                        </m:r>
                      </m:e>
                    </m:d>
                    <m:r>
                      <a:rPr lang="ar-AE" sz="1400" i="1">
                        <a:latin typeface="Cambria Math" panose="02040503050406030204" pitchFamily="18" charset="0"/>
                        <a:sym typeface="Cambria Math"/>
                      </a:rPr>
                      <m:t>𝑃</m:t>
                    </m:r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  <a:sym typeface="Cambria Math"/>
                          </a:rPr>
                        </m:ctrlPr>
                      </m:dPr>
                      <m:e>
                        <m:r>
                          <a:rPr lang="ar-AE" sz="1400" i="1">
                            <a:latin typeface="Cambria Math" panose="02040503050406030204" pitchFamily="18" charset="0"/>
                            <a:sym typeface="Cambria Math"/>
                          </a:rPr>
                          <m:t>𝐴</m:t>
                        </m:r>
                      </m:e>
                    </m:d>
                  </m:oMath>
                </a14:m>
                <a:endParaRPr lang="en-US" sz="1400" i="1">
                  <a:latin typeface="+mn-ea"/>
                  <a:sym typeface="Cambria Math"/>
                </a:endParaRPr>
              </a:p>
              <a:p>
                <a:pPr algn="l"/>
                <a:r>
                  <a:rPr lang="en-US" sz="1400">
                    <a:latin typeface="+mn-ea"/>
                  </a:rPr>
                  <a:t>	</a:t>
                </a:r>
              </a:p>
              <a:p>
                <a:pPr algn="l"/>
                <a:endParaRPr sz="1400">
                  <a:latin typeface="+mn-ea"/>
                </a:endParaRPr>
              </a:p>
            </p:txBody>
          </p:sp>
        </mc:Choice>
        <mc:Fallback xmlns="">
          <p:sp>
            <p:nvSpPr>
              <p:cNvPr id="15" name="자유형: 도형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576" y="1681340"/>
                <a:ext cx="7962900" cy="10001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4988717" y="3060747"/>
            <a:ext cx="1139192" cy="2588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100" b="1"/>
              <a:t>Prior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자유형: 도형 16"/>
              <p:cNvSpPr/>
              <p:nvPr/>
            </p:nvSpPr>
            <p:spPr>
              <a:xfrm>
                <a:off x="1249680" y="2741473"/>
                <a:ext cx="5638799" cy="3524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400">
                          <a:latin typeface="Cambria Math"/>
                          <a:sym typeface="Cambria Math"/>
                        </a:rPr>
                        <m:t>𝑃</m:t>
                      </m:r>
                      <m:r>
                        <a:rPr sz="14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1400">
                          <a:latin typeface="Cambria Math"/>
                          <a:sym typeface="Cambria Math"/>
                        </a:rPr>
                        <m:t>𝐹𝑜𝑜𝑑</m:t>
                      </m:r>
                      <m:r>
                        <a:rPr sz="1400">
                          <a:latin typeface="Cambria Math"/>
                          <a:sym typeface="Cambria Math"/>
                        </a:rPr>
                        <m:t>|</m:t>
                      </m:r>
                      <m:r>
                        <a:rPr sz="1400">
                          <a:latin typeface="Cambria Math"/>
                          <a:sym typeface="Cambria Math"/>
                        </a:rPr>
                        <m:t>𝐶𝑜𝑛𝑑𝑖𝑡𝑖𝑜𝑛</m:t>
                      </m:r>
                      <m:r>
                        <a:rPr sz="1400">
                          <a:latin typeface="Cambria Math"/>
                          <a:sym typeface="Cambria Math"/>
                        </a:rPr>
                        <m:t>) </m:t>
                      </m:r>
                      <m:r>
                        <a:rPr sz="1400" i="1">
                          <a:latin typeface="Cambria Math"/>
                          <a:sym typeface="Cambria Math"/>
                        </a:rPr>
                        <m:t>∝ </m:t>
                      </m:r>
                      <m:r>
                        <a:rPr sz="1400" i="1">
                          <a:latin typeface="Cambria Math"/>
                          <a:sym typeface="Cambria Math"/>
                        </a:rPr>
                        <m:t>𝑃</m:t>
                      </m:r>
                      <m:r>
                        <a:rPr sz="1400" i="1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1400" i="1">
                          <a:latin typeface="Cambria Math"/>
                          <a:sym typeface="Cambria Math"/>
                        </a:rPr>
                        <m:t>𝐶𝑜𝑛𝑑𝑖𝑡𝑖𝑜𝑛</m:t>
                      </m:r>
                      <m:r>
                        <a:rPr sz="1400" i="1">
                          <a:latin typeface="Cambria Math"/>
                          <a:sym typeface="Cambria Math"/>
                        </a:rPr>
                        <m:t>|</m:t>
                      </m:r>
                      <m:r>
                        <a:rPr sz="1400" i="1">
                          <a:latin typeface="Cambria Math"/>
                          <a:sym typeface="Cambria Math"/>
                        </a:rPr>
                        <m:t>𝐹𝑜𝑜𝑑</m:t>
                      </m:r>
                      <m:r>
                        <a:rPr sz="1400" i="1">
                          <a:latin typeface="Cambria Math"/>
                          <a:sym typeface="Cambria Math"/>
                        </a:rPr>
                        <m:t>)</m:t>
                      </m:r>
                      <m:r>
                        <a:rPr sz="1400" i="1">
                          <a:latin typeface="Cambria Math"/>
                          <a:sym typeface="Cambria Math"/>
                        </a:rPr>
                        <m:t>𝑃</m:t>
                      </m:r>
                      <m:r>
                        <a:rPr sz="1400" i="1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1400" i="1">
                          <a:latin typeface="Cambria Math"/>
                          <a:sym typeface="Cambria Math"/>
                        </a:rPr>
                        <m:t>𝐹𝑜𝑜𝑑</m:t>
                      </m:r>
                      <m:r>
                        <a:rPr sz="1400" i="1">
                          <a:latin typeface="Cambria Math"/>
                          <a:sym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7" name="자유형: 도형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680" y="2741473"/>
                <a:ext cx="5638799" cy="3524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1064419" y="3060747"/>
            <a:ext cx="1384935" cy="259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100" b="1"/>
              <a:t>Posterior probability</a:t>
            </a:r>
            <a:endParaRPr sz="1100" b="1"/>
          </a:p>
        </p:txBody>
      </p:sp>
      <p:sp>
        <p:nvSpPr>
          <p:cNvPr id="19" name="TextBox 18"/>
          <p:cNvSpPr txBox="1"/>
          <p:nvPr/>
        </p:nvSpPr>
        <p:spPr>
          <a:xfrm>
            <a:off x="3687602" y="3060747"/>
            <a:ext cx="762953" cy="259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100" b="1"/>
              <a:t>likelihood</a:t>
            </a:r>
            <a:endParaRPr sz="1100" b="1"/>
          </a:p>
        </p:txBody>
      </p:sp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612AF2A1-11A8-4623-A943-A45CE5438E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686519"/>
              </p:ext>
            </p:extLst>
          </p:nvPr>
        </p:nvGraphicFramePr>
        <p:xfrm>
          <a:off x="1419225" y="4232452"/>
          <a:ext cx="6534149" cy="1146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2802">
                  <a:extLst>
                    <a:ext uri="{9D8B030D-6E8A-4147-A177-3AD203B41FA5}">
                      <a16:colId xmlns:a16="http://schemas.microsoft.com/office/drawing/2014/main" val="3902384449"/>
                    </a:ext>
                  </a:extLst>
                </a:gridCol>
                <a:gridCol w="323929">
                  <a:extLst>
                    <a:ext uri="{9D8B030D-6E8A-4147-A177-3AD203B41FA5}">
                      <a16:colId xmlns:a16="http://schemas.microsoft.com/office/drawing/2014/main" val="2086127051"/>
                    </a:ext>
                  </a:extLst>
                </a:gridCol>
                <a:gridCol w="1264085">
                  <a:extLst>
                    <a:ext uri="{9D8B030D-6E8A-4147-A177-3AD203B41FA5}">
                      <a16:colId xmlns:a16="http://schemas.microsoft.com/office/drawing/2014/main" val="2617394657"/>
                    </a:ext>
                  </a:extLst>
                </a:gridCol>
                <a:gridCol w="481528">
                  <a:extLst>
                    <a:ext uri="{9D8B030D-6E8A-4147-A177-3AD203B41FA5}">
                      <a16:colId xmlns:a16="http://schemas.microsoft.com/office/drawing/2014/main" val="259538936"/>
                    </a:ext>
                  </a:extLst>
                </a:gridCol>
                <a:gridCol w="2401805">
                  <a:extLst>
                    <a:ext uri="{9D8B030D-6E8A-4147-A177-3AD203B41FA5}">
                      <a16:colId xmlns:a16="http://schemas.microsoft.com/office/drawing/2014/main" val="2691380752"/>
                    </a:ext>
                  </a:extLst>
                </a:gridCol>
              </a:tblGrid>
              <a:tr h="2255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/>
                        <a:t>likelihood</a:t>
                      </a:r>
                      <a:endParaRPr lang="en-US" altLang="ko-KR" sz="1200" b="1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/>
                        <a:t>Prior probability</a:t>
                      </a:r>
                      <a:endParaRPr lang="en-US" altLang="ko-KR" sz="1200" b="1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/>
                        <a:t>Posterior probability</a:t>
                      </a:r>
                      <a:endParaRPr lang="en-US" altLang="ko-KR" sz="1200" b="1">
                        <a:latin typeface="+mn-ea"/>
                        <a:ea typeface="+mn-ea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5374610"/>
                  </a:ext>
                </a:extLst>
              </a:tr>
              <a:tr h="2255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P(</a:t>
                      </a:r>
                      <a:r>
                        <a:rPr lang="ko-KR" altLang="en-US" sz="1200"/>
                        <a:t>봄</a:t>
                      </a:r>
                      <a:r>
                        <a:rPr lang="en-US" altLang="ko-KR" sz="1200"/>
                        <a:t>,12,30,12,8,</a:t>
                      </a:r>
                      <a:r>
                        <a:rPr lang="ko-KR" altLang="en-US" sz="1200"/>
                        <a:t>금</a:t>
                      </a:r>
                      <a:r>
                        <a:rPr lang="en-US" altLang="ko-KR" sz="1200"/>
                        <a:t>,7</a:t>
                      </a:r>
                      <a:r>
                        <a:rPr lang="ko-KR" altLang="en-US" sz="1200"/>
                        <a:t> </a:t>
                      </a:r>
                      <a:r>
                        <a:rPr lang="en-US" altLang="ko-KR" sz="1200"/>
                        <a:t>|</a:t>
                      </a:r>
                      <a:r>
                        <a:rPr lang="ko-KR" altLang="en-US" sz="1200"/>
                        <a:t> 파스타</a:t>
                      </a:r>
                      <a:r>
                        <a:rPr lang="en-US" altLang="ko-KR" sz="1200"/>
                        <a:t>)</a:t>
                      </a:r>
                      <a:endParaRPr lang="en-US" altLang="ko-KR" sz="12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en-US" altLang="ko-KR" sz="2800"/>
                        <a:t>X</a:t>
                      </a:r>
                      <a:endParaRPr lang="ko-KR" altLang="en-US" sz="2800">
                        <a:latin typeface="+mn-ea"/>
                        <a:ea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P(</a:t>
                      </a:r>
                      <a:r>
                        <a:rPr lang="ko-KR" altLang="en-US" sz="1200"/>
                        <a:t>파스타</a:t>
                      </a:r>
                      <a:r>
                        <a:rPr lang="en-US" altLang="ko-KR" sz="1200"/>
                        <a:t>)</a:t>
                      </a:r>
                      <a:endParaRPr lang="en-US" altLang="ko-KR" sz="120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2800"/>
                        <a:t> =</a:t>
                      </a:r>
                      <a:endParaRPr lang="ko-KR" altLang="en-US" sz="2800">
                        <a:latin typeface="+mn-ea"/>
                        <a:ea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P(</a:t>
                      </a:r>
                      <a:r>
                        <a:rPr lang="ko-KR" altLang="en-US" sz="1200"/>
                        <a:t>파스타 </a:t>
                      </a:r>
                      <a:r>
                        <a:rPr lang="en-US" altLang="ko-KR" sz="1200"/>
                        <a:t>|</a:t>
                      </a:r>
                      <a:r>
                        <a:rPr lang="ko-KR" altLang="en-US" sz="1200"/>
                        <a:t>봄</a:t>
                      </a:r>
                      <a:r>
                        <a:rPr lang="en-US" altLang="ko-KR" sz="1200"/>
                        <a:t>,12,30,12,8,</a:t>
                      </a:r>
                      <a:r>
                        <a:rPr lang="ko-KR" altLang="en-US" sz="1200"/>
                        <a:t>금</a:t>
                      </a:r>
                      <a:r>
                        <a:rPr lang="en-US" altLang="ko-KR" sz="1200"/>
                        <a:t>,7</a:t>
                      </a:r>
                      <a:r>
                        <a:rPr lang="ko-KR" altLang="en-US" sz="1200"/>
                        <a:t> </a:t>
                      </a:r>
                      <a:r>
                        <a:rPr lang="en-US" altLang="ko-KR" sz="1200"/>
                        <a:t>)</a:t>
                      </a:r>
                      <a:endParaRPr lang="en-US" altLang="ko-KR" sz="1200">
                        <a:latin typeface="+mn-ea"/>
                        <a:ea typeface="+mn-ea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25805044"/>
                  </a:ext>
                </a:extLst>
              </a:tr>
              <a:tr h="2255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P(</a:t>
                      </a:r>
                      <a:r>
                        <a:rPr lang="ko-KR" altLang="en-US" sz="1200"/>
                        <a:t>봄</a:t>
                      </a:r>
                      <a:r>
                        <a:rPr lang="en-US" altLang="ko-KR" sz="1200"/>
                        <a:t>,12,30,12,8,</a:t>
                      </a:r>
                      <a:r>
                        <a:rPr lang="ko-KR" altLang="en-US" sz="1200"/>
                        <a:t>금</a:t>
                      </a:r>
                      <a:r>
                        <a:rPr lang="en-US" altLang="ko-KR" sz="1200"/>
                        <a:t>,7</a:t>
                      </a:r>
                      <a:r>
                        <a:rPr lang="ko-KR" altLang="en-US" sz="1200"/>
                        <a:t> </a:t>
                      </a:r>
                      <a:r>
                        <a:rPr lang="en-US" altLang="ko-KR" sz="1200"/>
                        <a:t>|</a:t>
                      </a:r>
                      <a:r>
                        <a:rPr lang="ko-KR" altLang="en-US" sz="1200"/>
                        <a:t> 군만두</a:t>
                      </a:r>
                      <a:r>
                        <a:rPr lang="en-US" altLang="ko-KR" sz="1200"/>
                        <a:t>)</a:t>
                      </a:r>
                      <a:endParaRPr lang="en-US" altLang="ko-KR" sz="12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P(</a:t>
                      </a:r>
                      <a:r>
                        <a:rPr lang="ko-KR" altLang="en-US" sz="1200"/>
                        <a:t>군만두</a:t>
                      </a:r>
                      <a:r>
                        <a:rPr lang="en-US" altLang="ko-KR" sz="1200"/>
                        <a:t>)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P(</a:t>
                      </a:r>
                      <a:r>
                        <a:rPr lang="ko-KR" altLang="en-US" sz="1200"/>
                        <a:t>군만두 </a:t>
                      </a:r>
                      <a:r>
                        <a:rPr lang="en-US" altLang="ko-KR" sz="1200"/>
                        <a:t>|</a:t>
                      </a:r>
                      <a:r>
                        <a:rPr lang="ko-KR" altLang="en-US" sz="1200"/>
                        <a:t>봄</a:t>
                      </a:r>
                      <a:r>
                        <a:rPr lang="en-US" altLang="ko-KR" sz="1200"/>
                        <a:t>,12,30,12,8,</a:t>
                      </a:r>
                      <a:r>
                        <a:rPr lang="ko-KR" altLang="en-US" sz="1200"/>
                        <a:t>금</a:t>
                      </a:r>
                      <a:r>
                        <a:rPr lang="en-US" altLang="ko-KR" sz="1200"/>
                        <a:t>,7</a:t>
                      </a:r>
                      <a:r>
                        <a:rPr lang="ko-KR" altLang="en-US" sz="1200"/>
                        <a:t> </a:t>
                      </a:r>
                      <a:r>
                        <a:rPr lang="en-US" altLang="ko-KR" sz="1200"/>
                        <a:t>)</a:t>
                      </a:r>
                      <a:endParaRPr lang="en-US" altLang="ko-KR" sz="1200">
                        <a:latin typeface="+mn-ea"/>
                        <a:ea typeface="+mn-ea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87321180"/>
                  </a:ext>
                </a:extLst>
              </a:tr>
              <a:tr h="3235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P(</a:t>
                      </a:r>
                      <a:r>
                        <a:rPr lang="ko-KR" altLang="en-US" sz="1200"/>
                        <a:t>봄</a:t>
                      </a:r>
                      <a:r>
                        <a:rPr lang="en-US" altLang="ko-KR" sz="1200"/>
                        <a:t>,12,30,12,8,</a:t>
                      </a:r>
                      <a:r>
                        <a:rPr lang="ko-KR" altLang="en-US" sz="1200"/>
                        <a:t>금</a:t>
                      </a:r>
                      <a:r>
                        <a:rPr lang="en-US" altLang="ko-KR" sz="1200"/>
                        <a:t>,7</a:t>
                      </a:r>
                      <a:r>
                        <a:rPr lang="ko-KR" altLang="en-US" sz="1200"/>
                        <a:t> </a:t>
                      </a:r>
                      <a:r>
                        <a:rPr lang="en-US" altLang="ko-KR" sz="1200"/>
                        <a:t>|</a:t>
                      </a:r>
                      <a:r>
                        <a:rPr lang="ko-KR" altLang="en-US" sz="1200"/>
                        <a:t> 삼겹살</a:t>
                      </a:r>
                      <a:r>
                        <a:rPr lang="en-US" altLang="ko-KR" sz="1200"/>
                        <a:t>)</a:t>
                      </a:r>
                      <a:endParaRPr lang="en-US" altLang="ko-KR" sz="12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P(</a:t>
                      </a:r>
                      <a:r>
                        <a:rPr lang="ko-KR" altLang="en-US" sz="1200"/>
                        <a:t>삼겹살</a:t>
                      </a:r>
                      <a:r>
                        <a:rPr lang="en-US" altLang="ko-KR" sz="1200"/>
                        <a:t>)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P(</a:t>
                      </a:r>
                      <a:r>
                        <a:rPr lang="ko-KR" altLang="en-US" sz="1200"/>
                        <a:t>삼겹살 </a:t>
                      </a:r>
                      <a:r>
                        <a:rPr lang="en-US" altLang="ko-KR" sz="1200"/>
                        <a:t>|</a:t>
                      </a:r>
                      <a:r>
                        <a:rPr lang="ko-KR" altLang="en-US" sz="1200"/>
                        <a:t>봄</a:t>
                      </a:r>
                      <a:r>
                        <a:rPr lang="en-US" altLang="ko-KR" sz="1200"/>
                        <a:t>,12,30,12,8,</a:t>
                      </a:r>
                      <a:r>
                        <a:rPr lang="ko-KR" altLang="en-US" sz="1200"/>
                        <a:t>금</a:t>
                      </a:r>
                      <a:r>
                        <a:rPr lang="en-US" altLang="ko-KR" sz="1200"/>
                        <a:t>,7</a:t>
                      </a:r>
                      <a:r>
                        <a:rPr lang="ko-KR" altLang="en-US" sz="1200"/>
                        <a:t> </a:t>
                      </a:r>
                      <a:r>
                        <a:rPr lang="en-US" altLang="ko-KR" sz="1200"/>
                        <a:t>)</a:t>
                      </a:r>
                      <a:endParaRPr lang="en-US" altLang="ko-KR" sz="1200">
                        <a:latin typeface="+mn-ea"/>
                        <a:ea typeface="+mn-ea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20149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5218A72D-1906-46AF-85E6-8F2C4D2163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MLE vs MAP</a:t>
            </a:r>
            <a:endParaRPr lang="ko-KR" altLang="en-US"/>
          </a:p>
        </p:txBody>
      </p:sp>
      <p:pic>
        <p:nvPicPr>
          <p:cNvPr id="3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01034" y="1261828"/>
            <a:ext cx="5665731" cy="1884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9600" y="3732193"/>
            <a:ext cx="4621052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ko-KR" sz="1100"/>
              <a:t>Likelihood</a:t>
            </a:r>
            <a:r>
              <a:rPr lang="ko-KR" altLang="en-US" sz="1100"/>
              <a:t>는 정보를 모으는데 용이함 하지만 원하는 정보는 아닐수도있음</a:t>
            </a:r>
          </a:p>
          <a:p>
            <a:pPr algn="l">
              <a:defRPr/>
            </a:pPr>
            <a:endParaRPr lang="en-US" altLang="ko-KR" sz="1100"/>
          </a:p>
          <a:p>
            <a:pPr algn="l">
              <a:defRPr/>
            </a:pPr>
            <a:r>
              <a:rPr lang="ko-KR" altLang="en-US" sz="1100"/>
              <a:t>음식에서 조건을 만족하는 확률이 가장 높은게 </a:t>
            </a:r>
            <a:r>
              <a:rPr lang="en-US" altLang="ko-KR" sz="1100"/>
              <a:t>MLE, MLE</a:t>
            </a:r>
            <a:r>
              <a:rPr lang="ko-KR" altLang="en-US" sz="1100"/>
              <a:t> </a:t>
            </a:r>
            <a:r>
              <a:rPr lang="en-US" altLang="ko-KR" sz="1100"/>
              <a:t>=</a:t>
            </a:r>
            <a:r>
              <a:rPr lang="ko-KR" altLang="en-US" sz="1100"/>
              <a:t> </a:t>
            </a:r>
            <a:r>
              <a:rPr lang="en-US" altLang="ko-KR" sz="1100"/>
              <a:t>‘</a:t>
            </a:r>
            <a:r>
              <a:rPr lang="ko-KR" altLang="en-US" sz="1100"/>
              <a:t>파스타</a:t>
            </a:r>
            <a:r>
              <a:rPr lang="en-US" altLang="ko-KR" sz="1100"/>
              <a:t>’</a:t>
            </a:r>
          </a:p>
          <a:p>
            <a:pPr algn="l">
              <a:defRPr/>
            </a:pPr>
            <a:r>
              <a:rPr lang="ko-KR" altLang="en-US" sz="1100"/>
              <a:t>조건에서 음식을 만족하는 확률이 가장 높은게 </a:t>
            </a:r>
            <a:r>
              <a:rPr lang="en-US" altLang="ko-KR" sz="1100"/>
              <a:t>MAP</a:t>
            </a:r>
            <a:r>
              <a:rPr lang="ko-KR" altLang="en-US" sz="1100"/>
              <a:t>이다</a:t>
            </a:r>
            <a:r>
              <a:rPr lang="en-US" altLang="ko-KR" sz="1100"/>
              <a:t>.</a:t>
            </a:r>
          </a:p>
          <a:p>
            <a:pPr algn="l">
              <a:defRPr/>
            </a:pPr>
            <a:endParaRPr lang="en-US" altLang="ko-KR" sz="11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7">
                <a:extLst>
                  <a:ext uri="{FF2B5EF4-FFF2-40B4-BE49-F238E27FC236}">
                    <a16:creationId xmlns:a16="http://schemas.microsoft.com/office/drawing/2014/main" id="{C5DF4E09-7C15-4298-B8AC-ED087D9A3A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5157020"/>
                  </p:ext>
                </p:extLst>
              </p:nvPr>
            </p:nvGraphicFramePr>
            <p:xfrm>
              <a:off x="578050" y="5109186"/>
              <a:ext cx="7672628" cy="144818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836314">
                      <a:extLst>
                        <a:ext uri="{9D8B030D-6E8A-4147-A177-3AD203B41FA5}">
                          <a16:colId xmlns:a16="http://schemas.microsoft.com/office/drawing/2014/main" val="3223870515"/>
                        </a:ext>
                      </a:extLst>
                    </a:gridCol>
                    <a:gridCol w="3836314">
                      <a:extLst>
                        <a:ext uri="{9D8B030D-6E8A-4147-A177-3AD203B41FA5}">
                          <a16:colId xmlns:a16="http://schemas.microsoft.com/office/drawing/2014/main" val="101724333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>
                              <a:solidFill>
                                <a:sysClr val="windowText" lastClr="000000"/>
                              </a:solidFill>
                            </a:rPr>
                            <a:t>MLE(Maximum Likelihood Estimation)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>
                              <a:solidFill>
                                <a:sysClr val="windowText" lastClr="000000"/>
                              </a:solidFill>
                            </a:rPr>
                            <a:t>MAP(Maximum A posterior Probability)</a:t>
                          </a:r>
                          <a:endParaRPr lang="ko-KR" altLang="en-US" sz="1400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3253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𝑎𝑟𝑔</m:t>
                                </m:r>
                                <m:func>
                                  <m:func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e>
                                      <m:lim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𝐹𝑜𝑜𝑑</m:t>
                                        </m:r>
                                      </m:lim>
                                    </m:limLow>
                                  </m:fName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</m:e>
                                </m:func>
                                <m:r>
                                  <a:rPr lang="ko-KR" altLang="en-US" sz="1200" smtClean="0">
                                    <a:latin typeface="Cambria Math" panose="02040503050406030204" pitchFamily="18" charset="0"/>
                                    <a:sym typeface="Cambria Math"/>
                                  </a:rPr>
                                  <m:t>봄</m:t>
                                </m:r>
                                <m:r>
                                  <a:rPr lang="en-US" altLang="ko-KR" sz="1200">
                                    <a:latin typeface="Cambria Math" panose="02040503050406030204" pitchFamily="18" charset="0"/>
                                    <a:sym typeface="Cambria Math"/>
                                  </a:rPr>
                                  <m:t>,12,30,12,8,</m:t>
                                </m:r>
                                <m:r>
                                  <a:rPr lang="ko-KR" altLang="en-US" sz="1200">
                                    <a:latin typeface="Cambria Math" panose="02040503050406030204" pitchFamily="18" charset="0"/>
                                    <a:sym typeface="Cambria Math"/>
                                  </a:rPr>
                                  <m:t>금</m:t>
                                </m:r>
                                <m:r>
                                  <a:rPr lang="en-US" altLang="ko-KR" sz="1200">
                                    <a:latin typeface="Cambria Math" panose="02040503050406030204" pitchFamily="18" charset="0"/>
                                    <a:sym typeface="Cambria Math"/>
                                  </a:rPr>
                                  <m:t>,7 | </m:t>
                                </m:r>
                                <m:r>
                                  <a:rPr lang="ko-KR" altLang="en-US" sz="1200">
                                    <a:latin typeface="Cambria Math" panose="02040503050406030204" pitchFamily="18" charset="0"/>
                                    <a:sym typeface="Cambria Math"/>
                                  </a:rPr>
                                  <m:t>𝐹𝑜𝑜𝑑</m:t>
                                </m:r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  <a:sym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𝑎𝑟𝑔</m:t>
                                </m:r>
                                <m:func>
                                  <m:func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e>
                                      <m:lim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𝐹𝑜𝑜𝑑</m:t>
                                        </m:r>
                                      </m:lim>
                                    </m:limLow>
                                  </m:fName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</m:e>
                                </m:func>
                                <m:r>
                                  <a:rPr lang="ko-KR" altLang="en-US" sz="1200" smtClean="0">
                                    <a:latin typeface="Cambria Math" panose="02040503050406030204" pitchFamily="18" charset="0"/>
                                    <a:sym typeface="Cambria Math"/>
                                  </a:rPr>
                                  <m:t>𝐹𝑜𝑜𝑑</m:t>
                                </m:r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  <a:sym typeface="Cambria Math"/>
                                  </a:rPr>
                                  <m:t> | </m:t>
                                </m:r>
                                <m:r>
                                  <a:rPr lang="ko-KR" altLang="en-US" sz="1200" smtClean="0">
                                    <a:latin typeface="Cambria Math" panose="02040503050406030204" pitchFamily="18" charset="0"/>
                                    <a:sym typeface="Cambria Math"/>
                                  </a:rPr>
                                  <m:t>봄</m:t>
                                </m:r>
                                <m:r>
                                  <a:rPr lang="en-US" altLang="ko-KR" sz="1200">
                                    <a:latin typeface="Cambria Math" panose="02040503050406030204" pitchFamily="18" charset="0"/>
                                    <a:sym typeface="Cambria Math"/>
                                  </a:rPr>
                                  <m:t>,12,30,12,8,</m:t>
                                </m:r>
                                <m:r>
                                  <a:rPr lang="ko-KR" altLang="en-US" sz="1200">
                                    <a:latin typeface="Cambria Math" panose="02040503050406030204" pitchFamily="18" charset="0"/>
                                    <a:sym typeface="Cambria Math"/>
                                  </a:rPr>
                                  <m:t>금</m:t>
                                </m:r>
                                <m:r>
                                  <a:rPr lang="en-US" altLang="ko-KR" sz="1200">
                                    <a:latin typeface="Cambria Math" panose="02040503050406030204" pitchFamily="18" charset="0"/>
                                    <a:sym typeface="Cambria Math"/>
                                  </a:rPr>
                                  <m:t>,7 </m:t>
                                </m:r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  <a:sym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28419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Prior Probability </a:t>
                          </a:r>
                          <a:r>
                            <a:rPr lang="ko-KR" altLang="en-US" sz="1200"/>
                            <a:t>없음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/>
                            <a:t>Prior Probability </a:t>
                          </a:r>
                          <a:r>
                            <a:rPr lang="ko-KR" altLang="en-US" sz="1200"/>
                            <a:t>있음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6268622"/>
                      </a:ext>
                    </a:extLst>
                  </a:tr>
                  <a:tr h="370840">
                    <a:tc grid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MLE</a:t>
                          </a:r>
                          <a:r>
                            <a:rPr lang="ko-KR" altLang="en-US" sz="1200"/>
                            <a:t>를 쓰는 이유</a:t>
                          </a:r>
                          <a:r>
                            <a:rPr lang="en-US" altLang="ko-KR" sz="1200"/>
                            <a:t> : Prior Probability</a:t>
                          </a:r>
                          <a:r>
                            <a:rPr lang="ko-KR" altLang="en-US" sz="1200"/>
                            <a:t>를 구하는게 현실적으로 쉽지않으며 잘못 파악하게 되면 이상한 값임 됨으로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33014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7">
                <a:extLst>
                  <a:ext uri="{FF2B5EF4-FFF2-40B4-BE49-F238E27FC236}">
                    <a16:creationId xmlns:a16="http://schemas.microsoft.com/office/drawing/2014/main" id="{C5DF4E09-7C15-4298-B8AC-ED087D9A3A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5157020"/>
                  </p:ext>
                </p:extLst>
              </p:nvPr>
            </p:nvGraphicFramePr>
            <p:xfrm>
              <a:off x="578050" y="5109186"/>
              <a:ext cx="7672628" cy="144805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836314">
                      <a:extLst>
                        <a:ext uri="{9D8B030D-6E8A-4147-A177-3AD203B41FA5}">
                          <a16:colId xmlns:a16="http://schemas.microsoft.com/office/drawing/2014/main" val="3223870515"/>
                        </a:ext>
                      </a:extLst>
                    </a:gridCol>
                    <a:gridCol w="3836314">
                      <a:extLst>
                        <a:ext uri="{9D8B030D-6E8A-4147-A177-3AD203B41FA5}">
                          <a16:colId xmlns:a16="http://schemas.microsoft.com/office/drawing/2014/main" val="101724333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>
                              <a:solidFill>
                                <a:sysClr val="windowText" lastClr="000000"/>
                              </a:solidFill>
                            </a:rPr>
                            <a:t>MLE(Maximum Likelihood Estimation)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>
                              <a:solidFill>
                                <a:sysClr val="windowText" lastClr="000000"/>
                              </a:solidFill>
                            </a:rPr>
                            <a:t>MAP(Maximum A posterior Probability)</a:t>
                          </a:r>
                          <a:endParaRPr lang="ko-KR" altLang="en-US" sz="1400" b="1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4332531"/>
                      </a:ext>
                    </a:extLst>
                  </a:tr>
                  <a:tr h="335534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59" t="-114545" r="-100317" b="-22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00159" t="-114545" r="-317" b="-22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28419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Prior Probability </a:t>
                          </a:r>
                          <a:r>
                            <a:rPr lang="ko-KR" altLang="en-US" sz="1200"/>
                            <a:t>없음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/>
                            <a:t>Prior Probability </a:t>
                          </a:r>
                          <a:r>
                            <a:rPr lang="ko-KR" altLang="en-US" sz="1200"/>
                            <a:t>있음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6268622"/>
                      </a:ext>
                    </a:extLst>
                  </a:tr>
                  <a:tr h="370840">
                    <a:tc grid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MLE</a:t>
                          </a:r>
                          <a:r>
                            <a:rPr lang="ko-KR" altLang="en-US" sz="1200"/>
                            <a:t>를 쓰는 이유</a:t>
                          </a:r>
                          <a:r>
                            <a:rPr lang="en-US" altLang="ko-KR" sz="1200"/>
                            <a:t> : Prior Probability</a:t>
                          </a:r>
                          <a:r>
                            <a:rPr lang="ko-KR" altLang="en-US" sz="1200"/>
                            <a:t>를 구하는게 현실적으로 쉽지않으며 잘못 파악하게 되면 이상한 값임 됨으로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330146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8" name="표 11">
            <a:extLst>
              <a:ext uri="{FF2B5EF4-FFF2-40B4-BE49-F238E27FC236}">
                <a16:creationId xmlns:a16="http://schemas.microsoft.com/office/drawing/2014/main" id="{DBE3F6A6-650F-48BD-A6D9-8D9FFAE3B5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160675"/>
              </p:ext>
            </p:extLst>
          </p:nvPr>
        </p:nvGraphicFramePr>
        <p:xfrm>
          <a:off x="5043014" y="3711898"/>
          <a:ext cx="3681886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5756">
                  <a:extLst>
                    <a:ext uri="{9D8B030D-6E8A-4147-A177-3AD203B41FA5}">
                      <a16:colId xmlns:a16="http://schemas.microsoft.com/office/drawing/2014/main" val="656650998"/>
                    </a:ext>
                  </a:extLst>
                </a:gridCol>
                <a:gridCol w="2676130">
                  <a:extLst>
                    <a:ext uri="{9D8B030D-6E8A-4147-A177-3AD203B41FA5}">
                      <a16:colId xmlns:a16="http://schemas.microsoft.com/office/drawing/2014/main" val="1220709364"/>
                    </a:ext>
                  </a:extLst>
                </a:gridCol>
              </a:tblGrid>
              <a:tr h="231269"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  Likelihood =</a:t>
                      </a: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P(</a:t>
                      </a:r>
                      <a:r>
                        <a:rPr lang="ko-KR" altLang="en-US" sz="1200"/>
                        <a:t>봄</a:t>
                      </a:r>
                      <a:r>
                        <a:rPr lang="en-US" altLang="ko-KR" sz="1200"/>
                        <a:t>,12,30,12,8,</a:t>
                      </a:r>
                      <a:r>
                        <a:rPr lang="ko-KR" altLang="en-US" sz="1200"/>
                        <a:t>금</a:t>
                      </a:r>
                      <a:r>
                        <a:rPr lang="en-US" altLang="ko-KR" sz="1200"/>
                        <a:t>,7 | </a:t>
                      </a:r>
                      <a:r>
                        <a:rPr lang="ko-KR" altLang="en-US" sz="1200"/>
                        <a:t>파스타</a:t>
                      </a:r>
                      <a:r>
                        <a:rPr lang="en-US" altLang="ko-KR" sz="1200"/>
                        <a:t>) = 0.82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13866585"/>
                  </a:ext>
                </a:extLst>
              </a:tr>
              <a:tr h="26679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P(</a:t>
                      </a:r>
                      <a:r>
                        <a:rPr lang="ko-KR" altLang="en-US" sz="1200"/>
                        <a:t>봄</a:t>
                      </a:r>
                      <a:r>
                        <a:rPr lang="en-US" altLang="ko-KR" sz="1200"/>
                        <a:t>,12,30,12,8,</a:t>
                      </a:r>
                      <a:r>
                        <a:rPr lang="ko-KR" altLang="en-US" sz="1200"/>
                        <a:t>금</a:t>
                      </a:r>
                      <a:r>
                        <a:rPr lang="en-US" altLang="ko-KR" sz="1200"/>
                        <a:t>,7 | </a:t>
                      </a:r>
                      <a:r>
                        <a:rPr lang="ko-KR" altLang="en-US" sz="1200"/>
                        <a:t>군만두</a:t>
                      </a:r>
                      <a:r>
                        <a:rPr lang="en-US" altLang="ko-KR" sz="1200"/>
                        <a:t>) = 0.56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28909322"/>
                  </a:ext>
                </a:extLst>
              </a:tr>
              <a:tr h="26679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P(</a:t>
                      </a:r>
                      <a:r>
                        <a:rPr lang="ko-KR" altLang="en-US" sz="1200"/>
                        <a:t>봄</a:t>
                      </a:r>
                      <a:r>
                        <a:rPr lang="en-US" altLang="ko-KR" sz="1200"/>
                        <a:t>,12,30,12,8,</a:t>
                      </a:r>
                      <a:r>
                        <a:rPr lang="ko-KR" altLang="en-US" sz="1200"/>
                        <a:t>금</a:t>
                      </a:r>
                      <a:r>
                        <a:rPr lang="en-US" altLang="ko-KR" sz="1200"/>
                        <a:t>,7 | </a:t>
                      </a:r>
                      <a:r>
                        <a:rPr lang="ko-KR" altLang="en-US" sz="1200"/>
                        <a:t>삼겹살</a:t>
                      </a:r>
                      <a:r>
                        <a:rPr lang="en-US" altLang="ko-KR" sz="1200"/>
                        <a:t>) = 0.4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908287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MLE vs MAP</a:t>
            </a:r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381250" y="1382949"/>
            <a:ext cx="4525324" cy="28271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3819E0-BE39-417A-92B6-C14696368339}"/>
              </a:ext>
            </a:extLst>
          </p:cNvPr>
          <p:cNvSpPr txBox="1"/>
          <p:nvPr/>
        </p:nvSpPr>
        <p:spPr>
          <a:xfrm>
            <a:off x="666750" y="4619625"/>
            <a:ext cx="734377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Sample = { 150, 160, 161, 168, 170, 175 }</a:t>
            </a:r>
          </a:p>
          <a:p>
            <a:pPr algn="l"/>
            <a:r>
              <a:rPr lang="ko-KR" altLang="en-US" sz="1100"/>
              <a:t>어떤 확률 분포에서 샘플이 나올 수 있는 가능성 </a:t>
            </a:r>
            <a:r>
              <a:rPr lang="en-US" altLang="ko-KR" sz="1100"/>
              <a:t>-&gt; Likelihood</a:t>
            </a:r>
          </a:p>
          <a:p>
            <a:pPr algn="l"/>
            <a:r>
              <a:rPr lang="en-US" altLang="ko-KR" sz="1100"/>
              <a:t>Sample</a:t>
            </a:r>
            <a:r>
              <a:rPr lang="ko-KR" altLang="en-US" sz="1100"/>
              <a:t>들의 곱을 통해 </a:t>
            </a:r>
            <a:r>
              <a:rPr lang="en-US" altLang="ko-KR" sz="1100"/>
              <a:t>likelihood</a:t>
            </a:r>
            <a:r>
              <a:rPr lang="ko-KR" altLang="en-US" sz="1100"/>
              <a:t>를 알 수 있음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텍스트 개체 틀 23">
            <a:extLst>
              <a:ext uri="{FF2B5EF4-FFF2-40B4-BE49-F238E27FC236}">
                <a16:creationId xmlns:a16="http://schemas.microsoft.com/office/drawing/2014/main" id="{9DE08494-16A6-40C1-A678-917E4F2236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MLE vs MAP</a:t>
            </a:r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D3B2FD2-DFB2-4143-964B-6A20A48DE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022" y="1380997"/>
            <a:ext cx="6315956" cy="18290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0261F79-9E22-445B-8C5C-51CD8B913715}"/>
                  </a:ext>
                </a:extLst>
              </p:cNvPr>
              <p:cNvSpPr txBox="1"/>
              <p:nvPr/>
            </p:nvSpPr>
            <p:spPr>
              <a:xfrm>
                <a:off x="561975" y="3705225"/>
                <a:ext cx="7510389" cy="32569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1100"/>
                  <a:t> </a:t>
                </a:r>
                <a:r>
                  <a:rPr lang="en-US" altLang="ko-KR" sz="1100"/>
                  <a:t>- </a:t>
                </a:r>
                <a:r>
                  <a:rPr lang="ko-KR" altLang="en-US" sz="1100"/>
                  <a:t>키에대한 두개의 확률 분포 존재</a:t>
                </a:r>
                <a:r>
                  <a:rPr lang="en-US" altLang="ko-KR" sz="1100"/>
                  <a:t>(</a:t>
                </a:r>
                <a:r>
                  <a:rPr lang="ko-KR" altLang="en-US" sz="1100"/>
                  <a:t>빨강 </a:t>
                </a:r>
                <a:r>
                  <a:rPr lang="en-US" altLang="ko-KR" sz="1100"/>
                  <a:t>– </a:t>
                </a:r>
                <a:r>
                  <a:rPr lang="ko-KR" altLang="en-US" sz="1100"/>
                  <a:t>한국</a:t>
                </a:r>
                <a:r>
                  <a:rPr lang="en-US" altLang="ko-KR" sz="1100"/>
                  <a:t>, </a:t>
                </a:r>
                <a:r>
                  <a:rPr lang="ko-KR" altLang="en-US" sz="1100"/>
                  <a:t>보라 </a:t>
                </a:r>
                <a:r>
                  <a:rPr lang="en-US" altLang="ko-KR" sz="1100"/>
                  <a:t>– </a:t>
                </a:r>
                <a:r>
                  <a:rPr lang="ko-KR" altLang="en-US" sz="1100"/>
                  <a:t>네덜란드</a:t>
                </a:r>
                <a:r>
                  <a:rPr lang="en-US" altLang="ko-KR" sz="1100"/>
                  <a:t>)</a:t>
                </a:r>
              </a:p>
              <a:p>
                <a:pPr algn="l"/>
                <a:r>
                  <a:rPr lang="en-US" altLang="ko-KR" sz="1100"/>
                  <a:t> - sample</a:t>
                </a:r>
                <a:r>
                  <a:rPr lang="ko-KR" altLang="en-US" sz="1100"/>
                  <a:t>이 존재할 때 어떤 확률분포에서 나올 가능성이 클까 비교</a:t>
                </a:r>
                <a:endParaRPr lang="en-US" altLang="ko-KR" sz="1100"/>
              </a:p>
              <a:p>
                <a:pPr algn="ctr"/>
                <a14:m>
                  <m:oMath xmlns:m="http://schemas.openxmlformats.org/officeDocument/2006/math">
                    <m:r>
                      <a:rPr lang="en-US" altLang="ko-KR" sz="1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=165,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𝑒𝑥</m:t>
                    </m:r>
                    <m:sSup>
                      <m:s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167−165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ko-KR" sz="1100"/>
                  <a:t> --- </a:t>
                </a:r>
                <a:r>
                  <a:rPr lang="ko-KR" altLang="en-US" sz="1100">
                    <a:solidFill>
                      <a:srgbClr val="C00000"/>
                    </a:solidFill>
                  </a:rPr>
                  <a:t>한국</a:t>
                </a:r>
                <a:endParaRPr lang="en-US" altLang="ko-KR" sz="1100">
                  <a:solidFill>
                    <a:srgbClr val="C00000"/>
                  </a:solidFill>
                </a:endParaRPr>
              </a:p>
              <a:p>
                <a:pPr algn="l"/>
                <a:endParaRPr lang="en-US" altLang="ko-KR" sz="1100"/>
              </a:p>
              <a:p>
                <a:pPr algn="ctr"/>
                <a14:m>
                  <m:oMath xmlns:m="http://schemas.openxmlformats.org/officeDocument/2006/math">
                    <m:r>
                      <a:rPr lang="en-US" altLang="ko-KR" sz="1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=170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𝑒𝑥</m:t>
                    </m:r>
                    <m:sSup>
                      <m:s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167−170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ko-KR" sz="1100"/>
                  <a:t> ---</a:t>
                </a:r>
                <a:r>
                  <a:rPr lang="en-US" altLang="ko-KR" sz="1100">
                    <a:solidFill>
                      <a:srgbClr val="7030A0"/>
                    </a:solidFill>
                  </a:rPr>
                  <a:t> </a:t>
                </a:r>
                <a:r>
                  <a:rPr lang="ko-KR" altLang="en-US" sz="1100">
                    <a:solidFill>
                      <a:srgbClr val="7030A0"/>
                    </a:solidFill>
                  </a:rPr>
                  <a:t>네덜란드</a:t>
                </a:r>
                <a:endParaRPr lang="en-US" altLang="ko-KR" sz="1100">
                  <a:solidFill>
                    <a:srgbClr val="7030A0"/>
                  </a:solidFill>
                </a:endParaRPr>
              </a:p>
              <a:p>
                <a:endParaRPr lang="en-US" altLang="ko-KR" sz="1100">
                  <a:solidFill>
                    <a:srgbClr val="7030A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1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en-US" altLang="ko-KR" sz="1100">
                    <a:solidFill>
                      <a:srgbClr val="7030A0"/>
                    </a:solidFill>
                  </a:rPr>
                  <a:t>= 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mean, standard devation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을 뜻하여 한국과 네덜란드의 확률분포에 대한 정보를 담는다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ko-KR" altLang="en-US" sz="1100">
                    <a:solidFill>
                      <a:schemeClr val="tx1"/>
                    </a:solidFill>
                  </a:rPr>
                  <a:t>즉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, 165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에서 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167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의데이터가 나올 가능성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한국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)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과 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170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에서 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167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의 데이터가 나올 가능성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네덜란드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=165,</m:t>
                          </m:r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altLang="ko-K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ko-KR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=170,</m:t>
                          </m:r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n-US" altLang="ko-KR" sz="1100">
                  <a:solidFill>
                    <a:schemeClr val="tx1"/>
                  </a:solidFill>
                </a:endParaRPr>
              </a:p>
              <a:p>
                <a:endParaRPr lang="en-US" altLang="ko-KR" sz="1100">
                  <a:solidFill>
                    <a:schemeClr val="tx1"/>
                  </a:solidFill>
                </a:endParaRPr>
              </a:p>
              <a:p>
                <a:r>
                  <a:rPr lang="ko-KR" altLang="en-US" sz="1100">
                    <a:solidFill>
                      <a:schemeClr val="tx1"/>
                    </a:solidFill>
                  </a:rPr>
                  <a:t>위의 식에서 보았을 때 확실한건 아니다 단지 확률로 따질 뿐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아래의 식으로도 사용가능</a:t>
                </a:r>
                <a:endParaRPr lang="en-US" altLang="ko-KR" sz="110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=165</m:t>
                          </m:r>
                        </m:e>
                      </m:d>
                      <m:r>
                        <a:rPr lang="en-US" altLang="ko-K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ko-KR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=170</m:t>
                          </m:r>
                        </m:e>
                      </m:d>
                    </m:oMath>
                  </m:oMathPara>
                </a14:m>
                <a:endParaRPr lang="en-US" altLang="ko-KR" sz="1100">
                  <a:solidFill>
                    <a:schemeClr val="tx1"/>
                  </a:solidFill>
                </a:endParaRPr>
              </a:p>
              <a:p>
                <a:endParaRPr lang="en-US" altLang="ko-KR" sz="1100"/>
              </a:p>
              <a:p>
                <a:r>
                  <a:rPr lang="en-US" altLang="ko-KR" sz="1100">
                    <a:solidFill>
                      <a:schemeClr val="tx1"/>
                    </a:solidFill>
                  </a:rPr>
                  <a:t>167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의 데이터에 대해서 </a:t>
                </a:r>
                <a:r>
                  <a:rPr lang="ko-KR" altLang="en-US" sz="1100"/>
                  <a:t>한국과 네덜란드의 </a:t>
                </a:r>
                <a:r>
                  <a:rPr lang="en-US" altLang="ko-KR" sz="1100"/>
                  <a:t>likelihood</a:t>
                </a:r>
                <a:r>
                  <a:rPr lang="ko-KR" altLang="en-US" sz="1100"/>
                  <a:t>를 계산 했고 두개중의 값이 </a:t>
                </a:r>
                <a:r>
                  <a:rPr lang="en-US" altLang="ko-KR" sz="1100"/>
                  <a:t>1,2</a:t>
                </a:r>
                <a:r>
                  <a:rPr lang="ko-KR" altLang="en-US" sz="1100"/>
                  <a:t>번에 표시되며 더 높은 것이 </a:t>
                </a:r>
                <a:r>
                  <a:rPr lang="en-US" altLang="ko-KR" sz="1100"/>
                  <a:t>MLE</a:t>
                </a:r>
                <a:endParaRPr lang="en-US" altLang="ko-KR" sz="1100">
                  <a:solidFill>
                    <a:schemeClr val="tx1"/>
                  </a:solidFill>
                </a:endParaRPr>
              </a:p>
              <a:p>
                <a:endParaRPr lang="en-US" altLang="ko-KR" sz="1100">
                  <a:solidFill>
                    <a:schemeClr val="tx1"/>
                  </a:solidFill>
                </a:endParaRPr>
              </a:p>
              <a:p>
                <a:pPr algn="l"/>
                <a:endParaRPr lang="en-US" altLang="ko-KR" sz="1100"/>
              </a:p>
              <a:p>
                <a:pPr algn="l"/>
                <a:endParaRPr lang="ko-KR" altLang="en-US" sz="110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0261F79-9E22-445B-8C5C-51CD8B9137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75" y="3705225"/>
                <a:ext cx="7510389" cy="3256917"/>
              </a:xfrm>
              <a:prstGeom prst="rect">
                <a:avLst/>
              </a:prstGeom>
              <a:blipFill>
                <a:blip r:embed="rId4"/>
                <a:stretch>
                  <a:fillRect t="-1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23DC0F5-C0C1-43C4-9C61-D6F58AAABFD0}"/>
              </a:ext>
            </a:extLst>
          </p:cNvPr>
          <p:cNvCxnSpPr/>
          <p:nvPr/>
        </p:nvCxnSpPr>
        <p:spPr>
          <a:xfrm flipV="1">
            <a:off x="4457700" y="1744980"/>
            <a:ext cx="0" cy="119634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250A18E4-FEC7-4B48-A99F-D622BCDA5381}"/>
              </a:ext>
            </a:extLst>
          </p:cNvPr>
          <p:cNvCxnSpPr>
            <a:cxnSpLocks/>
          </p:cNvCxnSpPr>
          <p:nvPr/>
        </p:nvCxnSpPr>
        <p:spPr>
          <a:xfrm>
            <a:off x="4457700" y="1744980"/>
            <a:ext cx="12268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01DF7F1A-BCDA-427E-8977-688D67E4749A}"/>
              </a:ext>
            </a:extLst>
          </p:cNvPr>
          <p:cNvCxnSpPr>
            <a:cxnSpLocks/>
          </p:cNvCxnSpPr>
          <p:nvPr/>
        </p:nvCxnSpPr>
        <p:spPr>
          <a:xfrm>
            <a:off x="4457700" y="2295524"/>
            <a:ext cx="12268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2891762-5C8C-4163-BB1E-B02D442EF4E2}"/>
              </a:ext>
            </a:extLst>
          </p:cNvPr>
          <p:cNvSpPr txBox="1"/>
          <p:nvPr/>
        </p:nvSpPr>
        <p:spPr>
          <a:xfrm>
            <a:off x="5684520" y="1623060"/>
            <a:ext cx="3352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>
                <a:solidFill>
                  <a:schemeClr val="bg1"/>
                </a:solidFill>
              </a:rPr>
              <a:t>1</a:t>
            </a:r>
            <a:endParaRPr lang="ko-KR" altLang="en-US" sz="110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A6C0C0-6252-4C16-B56F-E20E70717E20}"/>
              </a:ext>
            </a:extLst>
          </p:cNvPr>
          <p:cNvSpPr txBox="1"/>
          <p:nvPr/>
        </p:nvSpPr>
        <p:spPr>
          <a:xfrm>
            <a:off x="5735704" y="2150220"/>
            <a:ext cx="3352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>
                <a:solidFill>
                  <a:schemeClr val="bg1"/>
                </a:solidFill>
              </a:rPr>
              <a:t>2</a:t>
            </a:r>
            <a:endParaRPr lang="ko-KR" altLang="en-US" sz="1100">
              <a:solidFill>
                <a:schemeClr val="bg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64822D6-52F8-4CFE-997F-4404ECCAFA63}"/>
              </a:ext>
            </a:extLst>
          </p:cNvPr>
          <p:cNvSpPr/>
          <p:nvPr/>
        </p:nvSpPr>
        <p:spPr>
          <a:xfrm>
            <a:off x="7781162" y="1541980"/>
            <a:ext cx="389128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X</a:t>
            </a:r>
            <a:r>
              <a:rPr lang="ko-KR" altLang="en-US" sz="1100"/>
              <a:t>축은 데이터  이산형데이터 </a:t>
            </a:r>
            <a:r>
              <a:rPr lang="en-US" altLang="ko-KR" sz="1100"/>
              <a:t>, Y</a:t>
            </a:r>
            <a:r>
              <a:rPr lang="ko-KR" altLang="en-US" sz="1100"/>
              <a:t>축은 확률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텍스트 개체 틀 48">
            <a:extLst>
              <a:ext uri="{FF2B5EF4-FFF2-40B4-BE49-F238E27FC236}">
                <a16:creationId xmlns:a16="http://schemas.microsoft.com/office/drawing/2014/main" id="{AB2CADA5-AF65-4A9D-9FC3-AB10BA04A54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MLE vs MAP</a:t>
            </a:r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90612" y="1255978"/>
            <a:ext cx="6962775" cy="266690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0" y="3429000"/>
            <a:ext cx="0" cy="0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387D1AD-325B-4BA4-822F-407106D85C99}"/>
              </a:ext>
            </a:extLst>
          </p:cNvPr>
          <p:cNvCxnSpPr>
            <a:cxnSpLocks/>
          </p:cNvCxnSpPr>
          <p:nvPr/>
        </p:nvCxnSpPr>
        <p:spPr>
          <a:xfrm flipV="1">
            <a:off x="4146550" y="2091756"/>
            <a:ext cx="0" cy="158489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FCCBAD5-957A-4942-BF74-8F0F88D6A70C}"/>
              </a:ext>
            </a:extLst>
          </p:cNvPr>
          <p:cNvCxnSpPr>
            <a:cxnSpLocks/>
          </p:cNvCxnSpPr>
          <p:nvPr/>
        </p:nvCxnSpPr>
        <p:spPr>
          <a:xfrm flipH="1" flipV="1">
            <a:off x="4730750" y="2119630"/>
            <a:ext cx="57150" cy="155702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81ACF2E-977C-4F5F-A830-C57B0E8ECC6F}"/>
              </a:ext>
            </a:extLst>
          </p:cNvPr>
          <p:cNvSpPr txBox="1"/>
          <p:nvPr/>
        </p:nvSpPr>
        <p:spPr>
          <a:xfrm>
            <a:off x="4730750" y="3102963"/>
            <a:ext cx="533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>
                <a:solidFill>
                  <a:schemeClr val="bg1"/>
                </a:solidFill>
              </a:rPr>
              <a:t>170</a:t>
            </a:r>
            <a:endParaRPr lang="ko-KR" altLang="en-US" sz="110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7CDCFF-8A22-4B47-B3AF-F8E78A959C4A}"/>
              </a:ext>
            </a:extLst>
          </p:cNvPr>
          <p:cNvSpPr txBox="1"/>
          <p:nvPr/>
        </p:nvSpPr>
        <p:spPr>
          <a:xfrm>
            <a:off x="3839846" y="3102963"/>
            <a:ext cx="533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>
                <a:solidFill>
                  <a:schemeClr val="bg1"/>
                </a:solidFill>
              </a:rPr>
              <a:t>165</a:t>
            </a:r>
            <a:endParaRPr lang="ko-KR" altLang="en-US" sz="110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A08A97-A32A-4221-AB59-3834B9BABC59}"/>
              </a:ext>
            </a:extLst>
          </p:cNvPr>
          <p:cNvSpPr txBox="1"/>
          <p:nvPr/>
        </p:nvSpPr>
        <p:spPr>
          <a:xfrm>
            <a:off x="3306446" y="3680239"/>
            <a:ext cx="533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>
                <a:solidFill>
                  <a:schemeClr val="bg1"/>
                </a:solidFill>
              </a:rPr>
              <a:t>158</a:t>
            </a:r>
            <a:endParaRPr lang="ko-KR" altLang="en-US" sz="110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F56622-13A2-4A48-97CE-20311FF6D23B}"/>
              </a:ext>
            </a:extLst>
          </p:cNvPr>
          <p:cNvSpPr txBox="1"/>
          <p:nvPr/>
        </p:nvSpPr>
        <p:spPr>
          <a:xfrm>
            <a:off x="3698558" y="3681913"/>
            <a:ext cx="533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>
                <a:solidFill>
                  <a:schemeClr val="bg1"/>
                </a:solidFill>
              </a:rPr>
              <a:t>163</a:t>
            </a:r>
            <a:endParaRPr lang="ko-KR" altLang="en-US" sz="110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F01EEF-A265-463D-A249-4A8C0DB3B2FA}"/>
              </a:ext>
            </a:extLst>
          </p:cNvPr>
          <p:cNvSpPr txBox="1"/>
          <p:nvPr/>
        </p:nvSpPr>
        <p:spPr>
          <a:xfrm>
            <a:off x="4000819" y="3685502"/>
            <a:ext cx="533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>
                <a:solidFill>
                  <a:schemeClr val="bg1"/>
                </a:solidFill>
              </a:rPr>
              <a:t>166</a:t>
            </a:r>
            <a:endParaRPr lang="ko-KR" altLang="en-US" sz="110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3CB76B-2EF1-420A-A561-9935A679A13E}"/>
              </a:ext>
            </a:extLst>
          </p:cNvPr>
          <p:cNvSpPr txBox="1"/>
          <p:nvPr/>
        </p:nvSpPr>
        <p:spPr>
          <a:xfrm>
            <a:off x="4267519" y="3681913"/>
            <a:ext cx="533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>
                <a:solidFill>
                  <a:schemeClr val="bg1"/>
                </a:solidFill>
              </a:rPr>
              <a:t>168</a:t>
            </a:r>
            <a:endParaRPr lang="ko-KR" altLang="en-US" sz="11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8B3FE07-1EAA-4342-9C72-9D13B61253E0}"/>
                  </a:ext>
                </a:extLst>
              </p:cNvPr>
              <p:cNvSpPr txBox="1"/>
              <p:nvPr/>
            </p:nvSpPr>
            <p:spPr>
              <a:xfrm>
                <a:off x="561975" y="4277889"/>
                <a:ext cx="5816977" cy="21079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100"/>
                  <a:t>Data = {158, 163, 166, 168}, </a:t>
                </a:r>
                <a:r>
                  <a:rPr lang="ko-KR" altLang="en-US" sz="1100"/>
                  <a:t>데이터는 독립적이라 가정</a:t>
                </a:r>
                <a:endParaRPr lang="en-US" altLang="ko-KR" sz="1100"/>
              </a:p>
              <a:p>
                <a:pPr algn="l"/>
                <a:r>
                  <a:rPr lang="ko-KR" altLang="en-US" sz="1100"/>
                  <a:t>각 </a:t>
                </a:r>
                <a:r>
                  <a:rPr lang="en-US" altLang="ko-KR" sz="1100"/>
                  <a:t>Data</a:t>
                </a:r>
                <a:r>
                  <a:rPr lang="ko-KR" altLang="en-US" sz="1100"/>
                  <a:t>에 대한 </a:t>
                </a:r>
                <a:r>
                  <a:rPr lang="en-US" altLang="ko-KR" sz="1100"/>
                  <a:t>likelihood</a:t>
                </a:r>
                <a:r>
                  <a:rPr lang="ko-KR" altLang="en-US" sz="1100"/>
                  <a:t>를 구하고 곱하면 한국</a:t>
                </a:r>
                <a:r>
                  <a:rPr lang="en-US" altLang="ko-KR" sz="1100"/>
                  <a:t>,</a:t>
                </a:r>
                <a:r>
                  <a:rPr lang="ko-KR" altLang="en-US" sz="1100"/>
                  <a:t>네덜란드의 </a:t>
                </a:r>
                <a:r>
                  <a:rPr lang="en-US" altLang="ko-KR" sz="1100"/>
                  <a:t>likelihood</a:t>
                </a:r>
                <a:r>
                  <a:rPr lang="ko-KR" altLang="en-US" sz="1100"/>
                  <a:t>를 구할 수 있음</a:t>
                </a:r>
                <a:endParaRPr lang="en-US" altLang="ko-KR" sz="1100"/>
              </a:p>
              <a:p>
                <a:pPr algn="ctr"/>
                <a14:m>
                  <m:oMath xmlns:m="http://schemas.openxmlformats.org/officeDocument/2006/math">
                    <m:r>
                      <a:rPr lang="en-US" altLang="ko-KR" sz="1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=165 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ko-KR" sz="11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∏"/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  <m:e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altLang="ko-K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=165 </m:t>
                            </m:r>
                            <m:r>
                              <a:rPr lang="en-US" altLang="ko-K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ko-K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e>
                    </m:nary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altLang="ko-KR" sz="1100"/>
                  <a:t> --- </a:t>
                </a:r>
                <a:r>
                  <a:rPr lang="ko-KR" altLang="en-US" sz="1100">
                    <a:solidFill>
                      <a:srgbClr val="FF0000"/>
                    </a:solidFill>
                  </a:rPr>
                  <a:t>한국</a:t>
                </a:r>
                <a:endParaRPr lang="en-US" altLang="ko-KR" sz="1100">
                  <a:solidFill>
                    <a:srgbClr val="FF0000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ko-KR" sz="1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=170 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ko-KR" sz="11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∏"/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  <m:e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altLang="ko-K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=170 </m:t>
                            </m:r>
                            <m:r>
                              <a:rPr lang="en-US" altLang="ko-K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ko-K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e>
                    </m:nary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altLang="ko-KR" sz="1100"/>
                  <a:t> --- </a:t>
                </a:r>
                <a:r>
                  <a:rPr lang="ko-KR" altLang="en-US" sz="1100">
                    <a:solidFill>
                      <a:srgbClr val="7030A0"/>
                    </a:solidFill>
                  </a:rPr>
                  <a:t>네덜란드</a:t>
                </a:r>
                <a:r>
                  <a:rPr lang="en-US" altLang="ko-KR" sz="1100">
                    <a:solidFill>
                      <a:srgbClr val="7030A0"/>
                    </a:solidFill>
                  </a:rPr>
                  <a:t>  </a:t>
                </a:r>
                <a:endParaRPr lang="en-US" altLang="ko-KR" sz="1100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=165 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altLang="ko-KR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∏"/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=165 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e>
                      </m:nary>
                      <m:r>
                        <a:rPr lang="en-US" altLang="ko-KR" sz="1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ko-KR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=170 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altLang="ko-KR" sz="1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∏"/>
                          <m:ctrlP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=170 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altLang="ko-KR" sz="1100">
                  <a:solidFill>
                    <a:srgbClr val="7030A0"/>
                  </a:solidFill>
                </a:endParaRPr>
              </a:p>
              <a:p>
                <a:r>
                  <a:rPr lang="en-US" altLang="ko-KR" sz="1100">
                    <a:solidFill>
                      <a:schemeClr val="tx1"/>
                    </a:solidFill>
                  </a:rPr>
                  <a:t>Data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는 한국에서 나왔을 가능성이 크다 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-&gt; 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 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MLE</a:t>
                </a:r>
              </a:p>
              <a:p>
                <a:r>
                  <a:rPr lang="en-US" altLang="ko-KR" sz="1100">
                    <a:solidFill>
                      <a:schemeClr val="tx1"/>
                    </a:solidFill>
                  </a:rPr>
                  <a:t>MLE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계산 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-&gt; 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미분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ko-KR" altLang="en-US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en-US" altLang="ko-KR" sz="1100">
                    <a:solidFill>
                      <a:schemeClr val="tx1"/>
                    </a:solidFill>
                  </a:rPr>
                  <a:t> 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미분하기에 적당하지 않기에 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log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를 취하면 곱셈이 덧셈으로 바뀜으로 </a:t>
                </a:r>
                <a:endParaRPr lang="en-US" altLang="ko-KR" sz="1100">
                  <a:solidFill>
                    <a:schemeClr val="tx1"/>
                  </a:solidFill>
                </a:endParaRPr>
              </a:p>
              <a:p>
                <a:r>
                  <a:rPr lang="en-US" altLang="ko-KR" sz="1100">
                    <a:solidFill>
                      <a:schemeClr val="tx1"/>
                    </a:solidFill>
                  </a:rPr>
                  <a:t>Log likelihood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라고 함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(x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값에서의 최댓값 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= y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값에서의 최대값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)</a:t>
                </a:r>
              </a:p>
              <a:p>
                <a:r>
                  <a:rPr lang="ko-KR" altLang="en-US" sz="1100">
                    <a:solidFill>
                      <a:schemeClr val="tx1"/>
                    </a:solidFill>
                  </a:rPr>
                  <a:t>계산상의 편의성을 위한 </a:t>
                </a:r>
                <a:r>
                  <a:rPr lang="en-US" altLang="ko-KR" sz="1100">
                    <a:solidFill>
                      <a:schemeClr val="tx1"/>
                    </a:solidFill>
                  </a:rPr>
                  <a:t>log</a:t>
                </a:r>
                <a:r>
                  <a:rPr lang="ko-KR" altLang="en-US" sz="1100">
                    <a:solidFill>
                      <a:schemeClr val="tx1"/>
                    </a:solidFill>
                  </a:rPr>
                  <a:t>함수사용</a:t>
                </a:r>
                <a:endParaRPr lang="en-US" altLang="ko-KR" sz="1100">
                  <a:solidFill>
                    <a:schemeClr val="tx1"/>
                  </a:solidFill>
                </a:endParaRPr>
              </a:p>
              <a:p>
                <a:pPr algn="l"/>
                <a:endParaRPr lang="ko-KR" altLang="en-US" sz="110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8B3FE07-1EAA-4342-9C72-9D13B61253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75" y="4277889"/>
                <a:ext cx="5816977" cy="2107949"/>
              </a:xfrm>
              <a:prstGeom prst="rect">
                <a:avLst/>
              </a:prstGeom>
              <a:blipFill>
                <a:blip r:embed="rId4"/>
                <a:stretch>
                  <a:fillRect t="-2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22DC9F1C-8748-42E9-A8D0-49064549F343}"/>
              </a:ext>
            </a:extLst>
          </p:cNvPr>
          <p:cNvCxnSpPr/>
          <p:nvPr/>
        </p:nvCxnSpPr>
        <p:spPr>
          <a:xfrm flipV="1">
            <a:off x="3656966" y="3295650"/>
            <a:ext cx="0" cy="386263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599939C0-47D9-4682-87AC-0DE5B88FD519}"/>
              </a:ext>
            </a:extLst>
          </p:cNvPr>
          <p:cNvCxnSpPr>
            <a:cxnSpLocks/>
          </p:cNvCxnSpPr>
          <p:nvPr/>
        </p:nvCxnSpPr>
        <p:spPr>
          <a:xfrm flipV="1">
            <a:off x="4000819" y="2273300"/>
            <a:ext cx="0" cy="1412202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30884616-7295-40F2-BEBD-226C529E1D5B}"/>
              </a:ext>
            </a:extLst>
          </p:cNvPr>
          <p:cNvCxnSpPr>
            <a:cxnSpLocks/>
          </p:cNvCxnSpPr>
          <p:nvPr/>
        </p:nvCxnSpPr>
        <p:spPr>
          <a:xfrm flipV="1">
            <a:off x="4231958" y="2203450"/>
            <a:ext cx="1" cy="147320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66EB3E2C-E437-4C0C-815D-5B366514CFAD}"/>
              </a:ext>
            </a:extLst>
          </p:cNvPr>
          <p:cNvCxnSpPr>
            <a:cxnSpLocks/>
          </p:cNvCxnSpPr>
          <p:nvPr/>
        </p:nvCxnSpPr>
        <p:spPr>
          <a:xfrm flipV="1">
            <a:off x="4373246" y="2533650"/>
            <a:ext cx="0" cy="1148264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74EC0D8B-304D-4AD0-A9BC-E9B2636DD510}"/>
              </a:ext>
            </a:extLst>
          </p:cNvPr>
          <p:cNvGrpSpPr/>
          <p:nvPr/>
        </p:nvGrpSpPr>
        <p:grpSpPr>
          <a:xfrm>
            <a:off x="6762750" y="4545336"/>
            <a:ext cx="2195477" cy="1840502"/>
            <a:chOff x="6762750" y="4545336"/>
            <a:chExt cx="2195477" cy="1840502"/>
          </a:xfrm>
        </p:grpSpPr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237BD07D-C071-4AF6-A969-D3CC5DD874D9}"/>
                </a:ext>
              </a:extLst>
            </p:cNvPr>
            <p:cNvCxnSpPr/>
            <p:nvPr/>
          </p:nvCxnSpPr>
          <p:spPr>
            <a:xfrm>
              <a:off x="6762750" y="5492750"/>
              <a:ext cx="21526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C13BCB35-027B-4579-903A-62B0E1C17F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58115" y="4643439"/>
              <a:ext cx="0" cy="174239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3B8ECAE4-A320-4D01-8C4C-D463B988F4F0}"/>
                </a:ext>
              </a:extLst>
            </p:cNvPr>
            <p:cNvSpPr/>
            <p:nvPr/>
          </p:nvSpPr>
          <p:spPr>
            <a:xfrm>
              <a:off x="7839043" y="4899662"/>
              <a:ext cx="1038257" cy="1409698"/>
            </a:xfrm>
            <a:custGeom>
              <a:avLst/>
              <a:gdLst>
                <a:gd name="connsiteX0" fmla="*/ 17177 w 1038257"/>
                <a:gd name="connsiteY0" fmla="*/ 1188720 h 1188720"/>
                <a:gd name="connsiteX1" fmla="*/ 40037 w 1038257"/>
                <a:gd name="connsiteY1" fmla="*/ 601980 h 1188720"/>
                <a:gd name="connsiteX2" fmla="*/ 367697 w 1038257"/>
                <a:gd name="connsiteY2" fmla="*/ 243840 h 1188720"/>
                <a:gd name="connsiteX3" fmla="*/ 1038257 w 1038257"/>
                <a:gd name="connsiteY3" fmla="*/ 0 h 1188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257" h="1188720">
                  <a:moveTo>
                    <a:pt x="17177" y="1188720"/>
                  </a:moveTo>
                  <a:cubicBezTo>
                    <a:pt x="-603" y="974090"/>
                    <a:pt x="-18383" y="759460"/>
                    <a:pt x="40037" y="601980"/>
                  </a:cubicBezTo>
                  <a:cubicBezTo>
                    <a:pt x="98457" y="444500"/>
                    <a:pt x="201327" y="344170"/>
                    <a:pt x="367697" y="243840"/>
                  </a:cubicBezTo>
                  <a:cubicBezTo>
                    <a:pt x="534067" y="143510"/>
                    <a:pt x="906177" y="72390"/>
                    <a:pt x="1038257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1B3ED11-70C3-4958-896B-87ED09926FA1}"/>
                </a:ext>
              </a:extLst>
            </p:cNvPr>
            <p:cNvSpPr txBox="1"/>
            <p:nvPr/>
          </p:nvSpPr>
          <p:spPr>
            <a:xfrm>
              <a:off x="8744867" y="5508640"/>
              <a:ext cx="2133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x</a:t>
              </a:r>
              <a:endParaRPr lang="ko-KR" altLang="en-US" sz="110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F1B1756-9300-4B0E-A189-301827A1066D}"/>
                </a:ext>
              </a:extLst>
            </p:cNvPr>
            <p:cNvSpPr txBox="1"/>
            <p:nvPr/>
          </p:nvSpPr>
          <p:spPr>
            <a:xfrm>
              <a:off x="7544755" y="4545336"/>
              <a:ext cx="2133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y</a:t>
              </a:r>
              <a:endParaRPr lang="ko-KR" altLang="en-US" sz="110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1E1678E-251E-4B0E-8C07-A3101CD3AF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MLE vs MAP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2857F2C-B9A5-4D3D-9033-DAC47C388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495" y="1279044"/>
            <a:ext cx="6697010" cy="23339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1C84B2B-629B-4F46-BEA4-B4465F8EC2CB}"/>
                  </a:ext>
                </a:extLst>
              </p:cNvPr>
              <p:cNvSpPr txBox="1"/>
              <p:nvPr/>
            </p:nvSpPr>
            <p:spPr>
              <a:xfrm>
                <a:off x="426720" y="4105275"/>
                <a:ext cx="3980577" cy="22290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100"/>
                  <a:t>9</a:t>
                </a:r>
                <a:r>
                  <a:rPr lang="ko-KR" altLang="en-US" sz="1100"/>
                  <a:t>개의 확률 분포가 있고 </a:t>
                </a:r>
                <a:r>
                  <a:rPr lang="en-US" altLang="ko-KR" sz="1100"/>
                  <a:t>6</a:t>
                </a:r>
                <a:r>
                  <a:rPr lang="ko-KR" altLang="en-US" sz="1100"/>
                  <a:t>개의 </a:t>
                </a:r>
                <a:r>
                  <a:rPr lang="en-US" altLang="ko-KR" sz="1100"/>
                  <a:t>Data</a:t>
                </a:r>
                <a:r>
                  <a:rPr lang="ko-KR" altLang="en-US" sz="1100"/>
                  <a:t>가 존재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Data</a:t>
                </a:r>
                <a:r>
                  <a:rPr lang="ko-KR" altLang="en-US" sz="1100"/>
                  <a:t>에 대해 가장 높은 </a:t>
                </a:r>
                <a:r>
                  <a:rPr lang="en-US" altLang="ko-KR" sz="1100"/>
                  <a:t>likelihood</a:t>
                </a:r>
                <a:r>
                  <a:rPr lang="ko-KR" altLang="en-US" sz="1100"/>
                  <a:t>의 확률분포를 얻고자 한다면</a:t>
                </a:r>
                <a:r>
                  <a:rPr lang="en-US" altLang="ko-KR" sz="1100"/>
                  <a:t>?</a:t>
                </a:r>
              </a:p>
              <a:p>
                <a:pPr algn="l"/>
                <a:endParaRPr lang="en-US" altLang="ko-KR" sz="1100"/>
              </a:p>
              <a:p>
                <a:pPr algn="ctr"/>
                <a14:m>
                  <m:oMath xmlns:m="http://schemas.openxmlformats.org/officeDocument/2006/math">
                    <m:r>
                      <a:rPr lang="en-US" altLang="ko-KR" sz="11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μ</m:t>
                        </m:r>
                        <m:r>
                          <a:rPr lang="en-US" altLang="ko-KR" sz="11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</m:d>
                  </m:oMath>
                </a14:m>
                <a:r>
                  <a:rPr lang="en-US" altLang="ko-KR" sz="1100" b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ko-KR" sz="110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𝐷𝑎𝑡𝑎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sz="1100" b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endParaRPr lang="en-US" altLang="ko-KR" sz="1100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ko-KR" sz="1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𝐷𝑎𝑡𝑎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en-US" altLang="ko-KR" sz="1100"/>
                  <a:t>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⇒ </m:t>
                      </m:r>
                      <m:nary>
                        <m:naryPr>
                          <m:chr m:val="∏"/>
                          <m:ctrlPr>
                            <a:rPr lang="en-US" altLang="ko-KR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altLang="ko-KR" sz="11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⇒ </m:t>
                      </m:r>
                      <m:nary>
                        <m:naryPr>
                          <m:chr m:val="∑"/>
                          <m:ctrlPr>
                            <a:rPr lang="en-US" altLang="ko-KR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func>
                            <m:func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1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ℒ</m:t>
                                  </m:r>
                                </m:e>
                                <m:sub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altLang="ko-KR" sz="1100"/>
              </a:p>
              <a:p>
                <a:pPr algn="ctr"/>
                <a:endParaRPr lang="ko-KR" altLang="en-US" sz="110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1C84B2B-629B-4F46-BEA4-B4465F8EC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" y="4105275"/>
                <a:ext cx="3980577" cy="2229072"/>
              </a:xfrm>
              <a:prstGeom prst="rect">
                <a:avLst/>
              </a:prstGeom>
              <a:blipFill>
                <a:blip r:embed="rId4"/>
                <a:stretch>
                  <a:fillRect t="-273" b="-275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ECF5642-549B-4309-87C9-5953E5850B26}"/>
                  </a:ext>
                </a:extLst>
              </p:cNvPr>
              <p:cNvSpPr txBox="1"/>
              <p:nvPr/>
            </p:nvSpPr>
            <p:spPr>
              <a:xfrm>
                <a:off x="4572000" y="4105275"/>
                <a:ext cx="2743059" cy="19229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1100"/>
                  <a:t>딥러닝의 경우 훨씬 많은 파라미터를 가짐</a:t>
                </a:r>
                <a:endParaRPr lang="en-US" altLang="ko-KR" sz="110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acc>
                        <m:accPr>
                          <m:chr m:val="⃗"/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lang="en-US" altLang="ko-KR" sz="1100" b="0">
                  <a:ea typeface="Cambria Math" panose="02040503050406030204" pitchFamily="18" charset="0"/>
                </a:endParaRPr>
              </a:p>
              <a:p>
                <a:pPr algn="l"/>
                <a:endParaRPr lang="en-US" altLang="ko-KR" sz="1100" b="0">
                  <a:ea typeface="Cambria Math" panose="020405030504060302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𝑀𝐿𝐸</m:t>
                              </m:r>
                            </m:sub>
                          </m:sSub>
                        </m:e>
                      </m:acc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1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acc>
                                <m:accPr>
                                  <m:chr m:val="⃗"/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lim>
                          </m:limLow>
                        </m:fName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⃗"/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ko-KR" sz="1100" b="0">
                  <a:ea typeface="Cambria Math" panose="02040503050406030204" pitchFamily="18" charset="0"/>
                </a:endParaRPr>
              </a:p>
              <a:p>
                <a:pPr algn="l"/>
                <a:endParaRPr lang="en-US" altLang="ko-KR" sz="1100" b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</m:d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𝑀𝐿𝐸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1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acc>
                                <m:accPr>
                                  <m:chr m:val="⃗"/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lim>
                          </m:limLow>
                        </m:fName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ko-KR" sz="1100" b="0">
                  <a:ea typeface="Cambria Math" panose="02040503050406030204" pitchFamily="18" charset="0"/>
                </a:endParaRPr>
              </a:p>
              <a:p>
                <a:endParaRPr lang="en-US" altLang="ko-KR" sz="1100" b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𝑀𝑜𝑑𝑒</m:t>
                      </m:r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𝑀𝐿𝐸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1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acc>
                                <m:accPr>
                                  <m:chr m:val="⃗"/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lim>
                          </m:limLow>
                        </m:fName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𝑀𝑜𝑑𝑒𝑙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ko-KR" sz="1100" b="0">
                  <a:ea typeface="Cambria Math" panose="02040503050406030204" pitchFamily="18" charset="0"/>
                </a:endParaRPr>
              </a:p>
              <a:p>
                <a:pPr algn="l"/>
                <a:endParaRPr lang="ko-KR" altLang="en-US" sz="110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ECF5642-549B-4309-87C9-5953E5850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4105275"/>
                <a:ext cx="2743059" cy="1922962"/>
              </a:xfrm>
              <a:prstGeom prst="rect">
                <a:avLst/>
              </a:prstGeom>
              <a:blipFill>
                <a:blip r:embed="rId5"/>
                <a:stretch>
                  <a:fillRect t="-3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A551B8-F8F5-44A7-B98C-39169BEA52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9EFB0F-2D50-4781-BABE-FB220DD63E89}"/>
              </a:ext>
            </a:extLst>
          </p:cNvPr>
          <p:cNvSpPr txBox="1"/>
          <p:nvPr/>
        </p:nvSpPr>
        <p:spPr>
          <a:xfrm>
            <a:off x="268605" y="1643420"/>
            <a:ext cx="852297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>
                <a:hlinkClick r:id="rId2"/>
              </a:rPr>
              <a:t>https://study2give.tistory.com/entry/%EB%A8%B8%EC%8B%A0%EB%9F%AC%EB%8B%9D-%EC%86%90%EC%8B%A4%ED%95%A8%EC%88%982-%EC%97%94%ED%8A%B8%EB%A1%9C%ED%94%BCEntropy</a:t>
            </a:r>
            <a:endParaRPr lang="en-US" altLang="ko-KR" sz="1200"/>
          </a:p>
          <a:p>
            <a:r>
              <a:rPr lang="ko-KR" altLang="en-US" sz="1200">
                <a:hlinkClick r:id="rId3"/>
              </a:rPr>
              <a:t>https://velog.io/@yuns_u/%EC%86%90%EC%8B%A4%ED%95%A8%EC%88%98-%EA%B0%84%EB%9E%B5-%EC%A0%95%EB%A6%AC</a:t>
            </a:r>
            <a:endParaRPr lang="en-US" altLang="ko-KR" sz="1200"/>
          </a:p>
          <a:p>
            <a:r>
              <a:rPr lang="ko-KR" altLang="en-US" sz="1200">
                <a:hlinkClick r:id="rId4"/>
              </a:rPr>
              <a:t>https://darkpgmr.tistory.com/186</a:t>
            </a:r>
            <a:endParaRPr lang="en-US" altLang="ko-KR" sz="1200"/>
          </a:p>
          <a:p>
            <a:pPr algn="l"/>
            <a:r>
              <a:rPr lang="en-US" altLang="ko-KR" sz="1200">
                <a:hlinkClick r:id="rId5"/>
              </a:rPr>
              <a:t>https://www.edwith.org/machinelearning1_17/lecture/10580?isDesc=false</a:t>
            </a:r>
            <a:endParaRPr lang="en-US" altLang="ko-KR" sz="1200"/>
          </a:p>
          <a:p>
            <a:pPr algn="l"/>
            <a:r>
              <a:rPr lang="en-US" altLang="ko-KR" sz="1200">
                <a:hlinkClick r:id="rId6"/>
              </a:rPr>
              <a:t>https://zzsza.github.io/data/2018/04/19/rule-based-machine-learning-overview/</a:t>
            </a:r>
            <a:endParaRPr lang="en-US" altLang="ko-KR" sz="1200"/>
          </a:p>
          <a:p>
            <a:pPr algn="l"/>
            <a:r>
              <a:rPr lang="en-US" altLang="ko-KR" sz="1200">
                <a:hlinkClick r:id="rId7"/>
              </a:rPr>
              <a:t>https://gaussian37.github.io/ml-concept-basic_information_theory/</a:t>
            </a:r>
            <a:endParaRPr lang="en-US" altLang="ko-KR" sz="1200"/>
          </a:p>
          <a:p>
            <a:r>
              <a:rPr lang="en-US" altLang="ko-KR" sz="1000">
                <a:hlinkClick r:id="rId8"/>
              </a:rPr>
              <a:t>https://www.edwith.org/machinelearning1_17/lecture/10575?isDesc=false</a:t>
            </a:r>
            <a:endParaRPr lang="en-US" altLang="ko-KR" sz="1000"/>
          </a:p>
          <a:p>
            <a:r>
              <a:rPr lang="en-US" altLang="ko-KR" sz="1000">
                <a:hlinkClick r:id="rId9"/>
              </a:rPr>
              <a:t>https://www.youtube.com/watch?v=mxCmB1WE3R8</a:t>
            </a:r>
            <a:endParaRPr lang="en-US" altLang="ko-KR" sz="1000"/>
          </a:p>
          <a:p>
            <a:r>
              <a:rPr lang="en-US" altLang="ko-KR" sz="1000">
                <a:hlinkClick r:id="rId10"/>
              </a:rPr>
              <a:t>https://hyeongminlee.github.io/post/bnn002_mle_map/</a:t>
            </a:r>
            <a:endParaRPr lang="en-US" altLang="ko-KR" sz="1000"/>
          </a:p>
          <a:p>
            <a:endParaRPr lang="en-US" altLang="ko-KR" sz="1200"/>
          </a:p>
          <a:p>
            <a:endParaRPr lang="ko-KR" altLang="en-US" sz="1200"/>
          </a:p>
          <a:p>
            <a:endParaRPr lang="ko-KR" altLang="en-US" sz="1200"/>
          </a:p>
          <a:p>
            <a:endParaRPr lang="en-US" altLang="ko-KR" sz="1200"/>
          </a:p>
          <a:p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4122315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948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1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10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1920</Words>
  <Application>Microsoft Office PowerPoint</Application>
  <PresentationFormat>화면 슬라이드 쇼(4:3)</PresentationFormat>
  <Paragraphs>258</Paragraphs>
  <Slides>16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6" baseType="lpstr">
      <vt:lpstr>-apple-system</vt:lpstr>
      <vt:lpstr>HY견고딕</vt:lpstr>
      <vt:lpstr>Jeju Gothic</vt:lpstr>
      <vt:lpstr>맑은 고딕</vt:lpstr>
      <vt:lpstr>Arial</vt:lpstr>
      <vt:lpstr>Arial Black</vt:lpstr>
      <vt:lpstr>Calibri</vt:lpstr>
      <vt:lpstr>Calibri Light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박진용</dc:creator>
  <cp:lastModifiedBy>지훈 김</cp:lastModifiedBy>
  <cp:revision>349</cp:revision>
  <dcterms:modified xsi:type="dcterms:W3CDTF">2023-08-04T04:41:59Z</dcterms:modified>
  <cp:version>1000.0000.01</cp:version>
</cp:coreProperties>
</file>