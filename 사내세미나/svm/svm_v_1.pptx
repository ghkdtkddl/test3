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27"/>
  </p:notesMasterIdLst>
  <p:handoutMasterIdLst>
    <p:handoutMasterId r:id="rId28"/>
  </p:handoutMasterIdLst>
  <p:sldIdLst>
    <p:sldId id="256" r:id="rId2"/>
    <p:sldId id="408" r:id="rId3"/>
    <p:sldId id="433" r:id="rId4"/>
    <p:sldId id="434" r:id="rId5"/>
    <p:sldId id="415" r:id="rId6"/>
    <p:sldId id="420" r:id="rId7"/>
    <p:sldId id="422" r:id="rId8"/>
    <p:sldId id="418" r:id="rId9"/>
    <p:sldId id="423" r:id="rId10"/>
    <p:sldId id="428" r:id="rId11"/>
    <p:sldId id="424" r:id="rId12"/>
    <p:sldId id="427" r:id="rId13"/>
    <p:sldId id="429" r:id="rId14"/>
    <p:sldId id="430" r:id="rId15"/>
    <p:sldId id="413" r:id="rId16"/>
    <p:sldId id="306" r:id="rId17"/>
    <p:sldId id="414" r:id="rId18"/>
    <p:sldId id="409" r:id="rId19"/>
    <p:sldId id="421" r:id="rId20"/>
    <p:sldId id="410" r:id="rId21"/>
    <p:sldId id="417" r:id="rId22"/>
    <p:sldId id="416" r:id="rId23"/>
    <p:sldId id="411" r:id="rId24"/>
    <p:sldId id="431" r:id="rId25"/>
    <p:sldId id="432" r:id="rId26"/>
  </p:sldIdLst>
  <p:sldSz cx="9144000" cy="6858000" type="screen4x3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7">
          <p15:clr>
            <a:srgbClr val="A4A3A4"/>
          </p15:clr>
        </p15:guide>
        <p15:guide id="2" pos="287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57">
          <p15:clr>
            <a:srgbClr val="A4A3A4"/>
          </p15:clr>
        </p15:guide>
        <p15:guide id="2" pos="2877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h" initials="j" lastIdx="7" clrIdx="0">
    <p:extLst>
      <p:ext uri="{19B8F6BF-5375-455C-9EA6-DF929625EA0E}">
        <p15:presenceInfo xmlns:p15="http://schemas.microsoft.com/office/powerpoint/2012/main" userId="jh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E79"/>
    <a:srgbClr val="2C6FAD"/>
    <a:srgbClr val="BBD5ED"/>
    <a:srgbClr val="FFABAB"/>
    <a:srgbClr val="FFD03B"/>
    <a:srgbClr val="FFCCCC"/>
    <a:srgbClr val="FDD7D7"/>
    <a:srgbClr val="F6D55C"/>
    <a:srgbClr val="666699"/>
    <a:srgbClr val="FBC0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566" autoAdjust="0"/>
    <p:restoredTop sz="93857" autoAdjust="0"/>
  </p:normalViewPr>
  <p:slideViewPr>
    <p:cSldViewPr snapToGrid="0" snapToObjects="1">
      <p:cViewPr>
        <p:scale>
          <a:sx n="125" d="100"/>
          <a:sy n="125" d="100"/>
        </p:scale>
        <p:origin x="1542" y="-150"/>
      </p:cViewPr>
      <p:guideLst>
        <p:guide orient="horz" pos="2157"/>
        <p:guide pos="2877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napToObjects="1">
      <p:cViewPr varScale="1">
        <p:scale>
          <a:sx n="77" d="100"/>
          <a:sy n="77" d="100"/>
        </p:scale>
        <p:origin x="4008" y="120"/>
      </p:cViewPr>
      <p:guideLst>
        <p:guide orient="horz" pos="2157"/>
        <p:guide pos="287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02-02T12:56:36.217" idx="7">
    <p:pos x="4858" y="1334"/>
    <p:text>x말고 다 상수여서</p:text>
    <p:extLst>
      <p:ext uri="{C676402C-5697-4E1C-873F-D02D1690AC5C}">
        <p15:threadingInfo xmlns:p15="http://schemas.microsoft.com/office/powerpoint/2012/main" timeZoneBias="-54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02-02T12:55:12.797" idx="4">
    <p:pos x="2602" y="960"/>
    <p:text>모든점들에 대한 w식</p:text>
    <p:extLst>
      <p:ext uri="{C676402C-5697-4E1C-873F-D02D1690AC5C}">
        <p15:threadingInfo xmlns:p15="http://schemas.microsoft.com/office/powerpoint/2012/main" timeZoneBias="-540"/>
      </p:ext>
    </p:extLst>
  </p:cm>
  <p:cm authorId="1" dt="2023-02-02T12:55:47.193" idx="6">
    <p:pos x="3067" y="960"/>
    <p:text>ai&gt;0 클때의 support vector들의 점에서의 w값</p:text>
    <p:extLst>
      <p:ext uri="{C676402C-5697-4E1C-873F-D02D1690AC5C}">
        <p15:threadingInfo xmlns:p15="http://schemas.microsoft.com/office/powerpoint/2012/main" timeZoneBias="-540"/>
      </p:ext>
    </p:extLst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639" cy="511176"/>
          </a:xfrm>
          <a:prstGeom prst="rect">
            <a:avLst/>
          </a:prstGeom>
        </p:spPr>
        <p:txBody>
          <a:bodyPr vert="horz" lIns="91166" tIns="45582" rIns="91166" bIns="45582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4023837" y="0"/>
            <a:ext cx="3078639" cy="511176"/>
          </a:xfrm>
          <a:prstGeom prst="rect">
            <a:avLst/>
          </a:prstGeom>
        </p:spPr>
        <p:txBody>
          <a:bodyPr vert="horz" lIns="91166" tIns="45582" rIns="91166" bIns="45582" rtlCol="0"/>
          <a:lstStyle>
            <a:lvl1pPr algn="r">
              <a:defRPr sz="1200"/>
            </a:lvl1pPr>
          </a:lstStyle>
          <a:p>
            <a:fld id="{86BECE3D-28DF-44F2-BBF4-A1F550C97DF1}" type="datetimeFigureOut">
              <a:rPr lang="ko-KR" altLang="en-US" smtClean="0"/>
              <a:t>2023-02-01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721851"/>
            <a:ext cx="3078639" cy="511176"/>
          </a:xfrm>
          <a:prstGeom prst="rect">
            <a:avLst/>
          </a:prstGeom>
        </p:spPr>
        <p:txBody>
          <a:bodyPr vert="horz" lIns="91166" tIns="45582" rIns="91166" bIns="45582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4023837" y="9721851"/>
            <a:ext cx="3078639" cy="511176"/>
          </a:xfrm>
          <a:prstGeom prst="rect">
            <a:avLst/>
          </a:prstGeom>
        </p:spPr>
        <p:txBody>
          <a:bodyPr vert="horz" lIns="91166" tIns="45582" rIns="91166" bIns="45582" rtlCol="0" anchor="b"/>
          <a:lstStyle>
            <a:lvl1pPr algn="r">
              <a:defRPr sz="1200"/>
            </a:lvl1pPr>
          </a:lstStyle>
          <a:p>
            <a:fld id="{9CCD6CBE-4E81-4091-B594-FAD27E600D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6148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3079202" cy="513859"/>
          </a:xfrm>
          <a:prstGeom prst="rect">
            <a:avLst/>
          </a:prstGeom>
        </p:spPr>
        <p:txBody>
          <a:bodyPr vert="horz" lIns="94475" tIns="47238" rIns="94475" bIns="4723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205" y="2"/>
            <a:ext cx="3079202" cy="513859"/>
          </a:xfrm>
          <a:prstGeom prst="rect">
            <a:avLst/>
          </a:prstGeom>
        </p:spPr>
        <p:txBody>
          <a:bodyPr vert="horz" lIns="94475" tIns="47238" rIns="94475" bIns="47238" rtlCol="0"/>
          <a:lstStyle>
            <a:lvl1pPr algn="r">
              <a:defRPr sz="1200"/>
            </a:lvl1pPr>
          </a:lstStyle>
          <a:p>
            <a:fld id="{3A58FB49-0BA5-40AA-BFC7-FBD141E0550C}" type="datetimeFigureOut">
              <a:rPr lang="ko-KR" altLang="en-US" smtClean="0"/>
              <a:t>2023-02-01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475" tIns="47238" rIns="94475" bIns="4723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078" y="4925839"/>
            <a:ext cx="5683914" cy="4029039"/>
          </a:xfrm>
          <a:prstGeom prst="rect">
            <a:avLst/>
          </a:prstGeom>
        </p:spPr>
        <p:txBody>
          <a:bodyPr vert="horz" lIns="94475" tIns="47238" rIns="94475" bIns="47238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720755"/>
            <a:ext cx="3079202" cy="513859"/>
          </a:xfrm>
          <a:prstGeom prst="rect">
            <a:avLst/>
          </a:prstGeom>
        </p:spPr>
        <p:txBody>
          <a:bodyPr vert="horz" lIns="94475" tIns="47238" rIns="94475" bIns="4723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205" y="9720755"/>
            <a:ext cx="3079202" cy="513859"/>
          </a:xfrm>
          <a:prstGeom prst="rect">
            <a:avLst/>
          </a:prstGeom>
        </p:spPr>
        <p:txBody>
          <a:bodyPr vert="horz" lIns="94475" tIns="47238" rIns="94475" bIns="47238" rtlCol="0" anchor="b"/>
          <a:lstStyle>
            <a:lvl1pPr algn="r">
              <a:defRPr sz="1200"/>
            </a:lvl1pPr>
          </a:lstStyle>
          <a:p>
            <a:fld id="{81BAB70A-F45A-47C3-B1C3-08DF0F4D19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9104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4615" tIns="46990" rIns="94615" bIns="46990" numCol="1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" name="슬라이드 노트 개체 틀 4"/>
          <p:cNvSpPr txBox="1">
            <a:spLocks noGrp="1"/>
          </p:cNvSpPr>
          <p:nvPr>
            <p:ph type="body" idx="3"/>
          </p:nvPr>
        </p:nvSpPr>
        <p:spPr>
          <a:xfrm>
            <a:off x="709930" y="4925695"/>
            <a:ext cx="5684520" cy="4029710"/>
          </a:xfrm>
          <a:prstGeom prst="rect">
            <a:avLst/>
          </a:prstGeom>
        </p:spPr>
        <p:txBody>
          <a:bodyPr vert="horz" wrap="square" lIns="94615" tIns="46990" rIns="94615" bIns="46990" numCol="1" anchor="t">
            <a:noAutofit/>
          </a:bodyPr>
          <a:lstStyle/>
          <a:p>
            <a:pPr marL="0" indent="0" rtl="0"/>
            <a:endParaRPr lang="ko-KR" altLang="en-US"/>
          </a:p>
        </p:txBody>
      </p:sp>
      <p:sp>
        <p:nvSpPr>
          <p:cNvPr id="4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4023360" y="9720580"/>
            <a:ext cx="3079750" cy="514350"/>
          </a:xfrm>
          <a:prstGeom prst="rect">
            <a:avLst/>
          </a:prstGeom>
        </p:spPr>
        <p:txBody>
          <a:bodyPr vert="horz" wrap="square" lIns="94615" tIns="46990" rIns="94615" bIns="46990" numCol="1" anchor="b">
            <a:noAutofit/>
          </a:bodyPr>
          <a:lstStyle>
            <a:lvl1pPr marL="0" indent="0" algn="r" latinLnBrk="0">
              <a:buFontTx/>
              <a:buNone/>
              <a:defRPr lang="en-GB" altLang="en-US" sz="1200"/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8248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4615" tIns="46990" rIns="94615" bIns="46990" numCol="1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" name="슬라이드 노트 개체 틀 4"/>
          <p:cNvSpPr txBox="1">
            <a:spLocks noGrp="1"/>
          </p:cNvSpPr>
          <p:nvPr>
            <p:ph type="body" idx="3"/>
          </p:nvPr>
        </p:nvSpPr>
        <p:spPr>
          <a:xfrm>
            <a:off x="709930" y="4925695"/>
            <a:ext cx="5684520" cy="4029710"/>
          </a:xfrm>
          <a:prstGeom prst="rect">
            <a:avLst/>
          </a:prstGeom>
        </p:spPr>
        <p:txBody>
          <a:bodyPr vert="horz" wrap="square" lIns="94615" tIns="46990" rIns="94615" bIns="46990" numCol="1" anchor="t">
            <a:noAutofit/>
          </a:bodyPr>
          <a:lstStyle/>
          <a:p>
            <a:pPr marL="0" indent="0" rtl="0"/>
            <a:endParaRPr lang="ko-KR" altLang="en-US"/>
          </a:p>
        </p:txBody>
      </p:sp>
      <p:sp>
        <p:nvSpPr>
          <p:cNvPr id="4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4023360" y="9720580"/>
            <a:ext cx="3079750" cy="514350"/>
          </a:xfrm>
          <a:prstGeom prst="rect">
            <a:avLst/>
          </a:prstGeom>
        </p:spPr>
        <p:txBody>
          <a:bodyPr vert="horz" wrap="square" lIns="94615" tIns="46990" rIns="94615" bIns="46990" numCol="1" anchor="b">
            <a:noAutofit/>
          </a:bodyPr>
          <a:lstStyle>
            <a:lvl1pPr marL="0" indent="0" algn="r" latinLnBrk="0">
              <a:buFontTx/>
              <a:buNone/>
              <a:defRPr lang="en-GB" altLang="en-US" sz="1200"/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03135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4615" tIns="46990" rIns="94615" bIns="46990" numCol="1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" name="슬라이드 노트 개체 틀 4"/>
          <p:cNvSpPr txBox="1">
            <a:spLocks noGrp="1"/>
          </p:cNvSpPr>
          <p:nvPr>
            <p:ph type="body" idx="3"/>
          </p:nvPr>
        </p:nvSpPr>
        <p:spPr>
          <a:xfrm>
            <a:off x="709930" y="4925695"/>
            <a:ext cx="5684520" cy="4029710"/>
          </a:xfrm>
          <a:prstGeom prst="rect">
            <a:avLst/>
          </a:prstGeom>
        </p:spPr>
        <p:txBody>
          <a:bodyPr vert="horz" wrap="square" lIns="94615" tIns="46990" rIns="94615" bIns="46990" numCol="1" anchor="t">
            <a:noAutofit/>
          </a:bodyPr>
          <a:lstStyle/>
          <a:p>
            <a:pPr marL="0" indent="0" rtl="0"/>
            <a:endParaRPr lang="ko-KR" altLang="en-US"/>
          </a:p>
        </p:txBody>
      </p:sp>
      <p:sp>
        <p:nvSpPr>
          <p:cNvPr id="4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4023360" y="9720580"/>
            <a:ext cx="3079750" cy="514350"/>
          </a:xfrm>
          <a:prstGeom prst="rect">
            <a:avLst/>
          </a:prstGeom>
        </p:spPr>
        <p:txBody>
          <a:bodyPr vert="horz" wrap="square" lIns="94615" tIns="46990" rIns="94615" bIns="46990" numCol="1" anchor="b">
            <a:noAutofit/>
          </a:bodyPr>
          <a:lstStyle>
            <a:lvl1pPr marL="0" indent="0" algn="r" latinLnBrk="0">
              <a:buFontTx/>
              <a:buNone/>
              <a:defRPr lang="en-GB" altLang="en-US" sz="1200"/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72744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4615" tIns="46990" rIns="94615" bIns="46990" numCol="1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" name="슬라이드 노트 개체 틀 4"/>
          <p:cNvSpPr txBox="1">
            <a:spLocks noGrp="1"/>
          </p:cNvSpPr>
          <p:nvPr>
            <p:ph type="body" idx="3"/>
          </p:nvPr>
        </p:nvSpPr>
        <p:spPr>
          <a:xfrm>
            <a:off x="709930" y="4925695"/>
            <a:ext cx="5684520" cy="4029710"/>
          </a:xfrm>
          <a:prstGeom prst="rect">
            <a:avLst/>
          </a:prstGeom>
        </p:spPr>
        <p:txBody>
          <a:bodyPr vert="horz" wrap="square" lIns="94615" tIns="46990" rIns="94615" bIns="46990" numCol="1" anchor="t">
            <a:noAutofit/>
          </a:bodyPr>
          <a:lstStyle/>
          <a:p>
            <a:pPr marL="0" indent="0" rtl="0"/>
            <a:endParaRPr lang="ko-KR" altLang="en-US"/>
          </a:p>
        </p:txBody>
      </p:sp>
      <p:sp>
        <p:nvSpPr>
          <p:cNvPr id="4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4023360" y="9720580"/>
            <a:ext cx="3079750" cy="514350"/>
          </a:xfrm>
          <a:prstGeom prst="rect">
            <a:avLst/>
          </a:prstGeom>
        </p:spPr>
        <p:txBody>
          <a:bodyPr vert="horz" wrap="square" lIns="94615" tIns="46990" rIns="94615" bIns="46990" numCol="1" anchor="b">
            <a:noAutofit/>
          </a:bodyPr>
          <a:lstStyle>
            <a:lvl1pPr marL="0" indent="0" algn="r" latinLnBrk="0">
              <a:buFontTx/>
              <a:buNone/>
              <a:defRPr lang="en-GB" altLang="en-US" sz="1200"/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702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4615" tIns="46990" rIns="94615" bIns="46990" numCol="1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" name="슬라이드 노트 개체 틀 4"/>
          <p:cNvSpPr txBox="1">
            <a:spLocks noGrp="1"/>
          </p:cNvSpPr>
          <p:nvPr>
            <p:ph type="body" idx="3"/>
          </p:nvPr>
        </p:nvSpPr>
        <p:spPr>
          <a:xfrm>
            <a:off x="709930" y="4925695"/>
            <a:ext cx="5684520" cy="4029710"/>
          </a:xfrm>
          <a:prstGeom prst="rect">
            <a:avLst/>
          </a:prstGeom>
        </p:spPr>
        <p:txBody>
          <a:bodyPr vert="horz" wrap="square" lIns="94615" tIns="46990" rIns="94615" bIns="46990" numCol="1" anchor="t">
            <a:noAutofit/>
          </a:bodyPr>
          <a:lstStyle/>
          <a:p>
            <a:pPr marL="0" indent="0" rtl="0"/>
            <a:endParaRPr lang="ko-KR" altLang="en-US"/>
          </a:p>
        </p:txBody>
      </p:sp>
      <p:sp>
        <p:nvSpPr>
          <p:cNvPr id="4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4023360" y="9720580"/>
            <a:ext cx="3079750" cy="514350"/>
          </a:xfrm>
          <a:prstGeom prst="rect">
            <a:avLst/>
          </a:prstGeom>
        </p:spPr>
        <p:txBody>
          <a:bodyPr vert="horz" wrap="square" lIns="94615" tIns="46990" rIns="94615" bIns="46990" numCol="1" anchor="b">
            <a:noAutofit/>
          </a:bodyPr>
          <a:lstStyle>
            <a:lvl1pPr marL="0" indent="0" algn="r" latinLnBrk="0">
              <a:buFontTx/>
              <a:buNone/>
              <a:defRPr lang="en-GB" altLang="en-US" sz="1200"/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56408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4615" tIns="46990" rIns="94615" bIns="46990" numCol="1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" name="슬라이드 노트 개체 틀 4"/>
          <p:cNvSpPr txBox="1">
            <a:spLocks noGrp="1"/>
          </p:cNvSpPr>
          <p:nvPr>
            <p:ph type="body" idx="3"/>
          </p:nvPr>
        </p:nvSpPr>
        <p:spPr>
          <a:xfrm>
            <a:off x="709930" y="4925695"/>
            <a:ext cx="5684520" cy="4029710"/>
          </a:xfrm>
          <a:prstGeom prst="rect">
            <a:avLst/>
          </a:prstGeom>
        </p:spPr>
        <p:txBody>
          <a:bodyPr vert="horz" wrap="square" lIns="94615" tIns="46990" rIns="94615" bIns="46990" numCol="1" anchor="t">
            <a:noAutofit/>
          </a:bodyPr>
          <a:lstStyle/>
          <a:p>
            <a:pPr marL="0" indent="0" rtl="0"/>
            <a:endParaRPr lang="ko-KR" altLang="en-US"/>
          </a:p>
        </p:txBody>
      </p:sp>
      <p:sp>
        <p:nvSpPr>
          <p:cNvPr id="4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4023360" y="9720580"/>
            <a:ext cx="3079750" cy="514350"/>
          </a:xfrm>
          <a:prstGeom prst="rect">
            <a:avLst/>
          </a:prstGeom>
        </p:spPr>
        <p:txBody>
          <a:bodyPr vert="horz" wrap="square" lIns="94615" tIns="46990" rIns="94615" bIns="46990" numCol="1" anchor="b">
            <a:noAutofit/>
          </a:bodyPr>
          <a:lstStyle>
            <a:lvl1pPr marL="0" indent="0" algn="r" latinLnBrk="0">
              <a:buFontTx/>
              <a:buNone/>
              <a:defRPr lang="en-GB" altLang="en-US" sz="1200"/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67333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4615" tIns="46990" rIns="94615" bIns="46990" numCol="1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" name="슬라이드 노트 개체 틀 4"/>
          <p:cNvSpPr txBox="1">
            <a:spLocks noGrp="1"/>
          </p:cNvSpPr>
          <p:nvPr>
            <p:ph type="body" idx="3"/>
          </p:nvPr>
        </p:nvSpPr>
        <p:spPr>
          <a:xfrm>
            <a:off x="709930" y="4925695"/>
            <a:ext cx="5684520" cy="4029710"/>
          </a:xfrm>
          <a:prstGeom prst="rect">
            <a:avLst/>
          </a:prstGeom>
        </p:spPr>
        <p:txBody>
          <a:bodyPr vert="horz" wrap="square" lIns="94615" tIns="46990" rIns="94615" bIns="46990" numCol="1" anchor="t">
            <a:noAutofit/>
          </a:bodyPr>
          <a:lstStyle/>
          <a:p>
            <a:pPr marL="0" indent="0" rtl="0"/>
            <a:endParaRPr lang="ko-KR" altLang="en-US"/>
          </a:p>
        </p:txBody>
      </p:sp>
      <p:sp>
        <p:nvSpPr>
          <p:cNvPr id="4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4023360" y="9720580"/>
            <a:ext cx="3079750" cy="514350"/>
          </a:xfrm>
          <a:prstGeom prst="rect">
            <a:avLst/>
          </a:prstGeom>
        </p:spPr>
        <p:txBody>
          <a:bodyPr vert="horz" wrap="square" lIns="94615" tIns="46990" rIns="94615" bIns="46990" numCol="1" anchor="b">
            <a:noAutofit/>
          </a:bodyPr>
          <a:lstStyle>
            <a:lvl1pPr marL="0" indent="0" algn="r" latinLnBrk="0">
              <a:buFontTx/>
              <a:buNone/>
              <a:defRPr lang="en-GB" altLang="en-US" sz="1200"/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63409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4615" tIns="46990" rIns="94615" bIns="46990" numCol="1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" name="슬라이드 노트 개체 틀 4"/>
          <p:cNvSpPr txBox="1">
            <a:spLocks noGrp="1"/>
          </p:cNvSpPr>
          <p:nvPr>
            <p:ph type="body" idx="3"/>
          </p:nvPr>
        </p:nvSpPr>
        <p:spPr>
          <a:xfrm>
            <a:off x="709930" y="4925695"/>
            <a:ext cx="5684520" cy="4029710"/>
          </a:xfrm>
          <a:prstGeom prst="rect">
            <a:avLst/>
          </a:prstGeom>
        </p:spPr>
        <p:txBody>
          <a:bodyPr vert="horz" wrap="square" lIns="94615" tIns="46990" rIns="94615" bIns="46990" numCol="1" anchor="t">
            <a:noAutofit/>
          </a:bodyPr>
          <a:lstStyle/>
          <a:p>
            <a:pPr marL="0" indent="0" rtl="0"/>
            <a:endParaRPr lang="ko-KR" altLang="en-US"/>
          </a:p>
        </p:txBody>
      </p:sp>
      <p:sp>
        <p:nvSpPr>
          <p:cNvPr id="4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4023360" y="9720580"/>
            <a:ext cx="3079750" cy="514350"/>
          </a:xfrm>
          <a:prstGeom prst="rect">
            <a:avLst/>
          </a:prstGeom>
        </p:spPr>
        <p:txBody>
          <a:bodyPr vert="horz" wrap="square" lIns="94615" tIns="46990" rIns="94615" bIns="46990" numCol="1" anchor="b">
            <a:noAutofit/>
          </a:bodyPr>
          <a:lstStyle>
            <a:lvl1pPr marL="0" indent="0" algn="r" latinLnBrk="0">
              <a:buFontTx/>
              <a:buNone/>
              <a:defRPr lang="en-GB" altLang="en-US" sz="1200"/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7771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4615" tIns="46990" rIns="94615" bIns="46990" numCol="1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" name="슬라이드 노트 개체 틀 4"/>
          <p:cNvSpPr txBox="1">
            <a:spLocks noGrp="1"/>
          </p:cNvSpPr>
          <p:nvPr>
            <p:ph type="body" idx="3"/>
          </p:nvPr>
        </p:nvSpPr>
        <p:spPr>
          <a:xfrm>
            <a:off x="709930" y="4925695"/>
            <a:ext cx="5684520" cy="4029710"/>
          </a:xfrm>
          <a:prstGeom prst="rect">
            <a:avLst/>
          </a:prstGeom>
        </p:spPr>
        <p:txBody>
          <a:bodyPr vert="horz" wrap="square" lIns="94615" tIns="46990" rIns="94615" bIns="46990" numCol="1" anchor="t">
            <a:noAutofit/>
          </a:bodyPr>
          <a:lstStyle/>
          <a:p>
            <a:pPr marL="0" indent="0" rtl="0"/>
            <a:endParaRPr lang="ko-KR" altLang="en-US"/>
          </a:p>
        </p:txBody>
      </p:sp>
      <p:sp>
        <p:nvSpPr>
          <p:cNvPr id="4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4023360" y="9720580"/>
            <a:ext cx="3079750" cy="514350"/>
          </a:xfrm>
          <a:prstGeom prst="rect">
            <a:avLst/>
          </a:prstGeom>
        </p:spPr>
        <p:txBody>
          <a:bodyPr vert="horz" wrap="square" lIns="94615" tIns="46990" rIns="94615" bIns="46990" numCol="1" anchor="b">
            <a:noAutofit/>
          </a:bodyPr>
          <a:lstStyle>
            <a:lvl1pPr marL="0" indent="0" algn="r" latinLnBrk="0">
              <a:buFontTx/>
              <a:buNone/>
              <a:defRPr lang="en-GB" altLang="en-US" sz="1200"/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8924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4615" tIns="46990" rIns="94615" bIns="46990" numCol="1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" name="슬라이드 노트 개체 틀 4"/>
          <p:cNvSpPr txBox="1">
            <a:spLocks noGrp="1"/>
          </p:cNvSpPr>
          <p:nvPr>
            <p:ph type="body" idx="3"/>
          </p:nvPr>
        </p:nvSpPr>
        <p:spPr>
          <a:xfrm>
            <a:off x="709930" y="4925695"/>
            <a:ext cx="5684520" cy="4029710"/>
          </a:xfrm>
          <a:prstGeom prst="rect">
            <a:avLst/>
          </a:prstGeom>
        </p:spPr>
        <p:txBody>
          <a:bodyPr vert="horz" wrap="square" lIns="94615" tIns="46990" rIns="94615" bIns="46990" numCol="1" anchor="t">
            <a:noAutofit/>
          </a:bodyPr>
          <a:lstStyle/>
          <a:p>
            <a:pPr marL="0" indent="0" rtl="0"/>
            <a:endParaRPr lang="ko-KR" altLang="en-US"/>
          </a:p>
        </p:txBody>
      </p:sp>
      <p:sp>
        <p:nvSpPr>
          <p:cNvPr id="4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4023360" y="9720580"/>
            <a:ext cx="3079750" cy="514350"/>
          </a:xfrm>
          <a:prstGeom prst="rect">
            <a:avLst/>
          </a:prstGeom>
        </p:spPr>
        <p:txBody>
          <a:bodyPr vert="horz" wrap="square" lIns="94615" tIns="46990" rIns="94615" bIns="46990" numCol="1" anchor="b">
            <a:noAutofit/>
          </a:bodyPr>
          <a:lstStyle>
            <a:lvl1pPr marL="0" indent="0" algn="r" latinLnBrk="0">
              <a:buFontTx/>
              <a:buNone/>
              <a:defRPr lang="en-GB" altLang="en-US" sz="1200"/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48074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4615" tIns="46990" rIns="94615" bIns="46990" numCol="1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" name="슬라이드 노트 개체 틀 4"/>
          <p:cNvSpPr txBox="1">
            <a:spLocks noGrp="1"/>
          </p:cNvSpPr>
          <p:nvPr>
            <p:ph type="body" idx="3"/>
          </p:nvPr>
        </p:nvSpPr>
        <p:spPr>
          <a:xfrm>
            <a:off x="709930" y="4925695"/>
            <a:ext cx="5684520" cy="4029710"/>
          </a:xfrm>
          <a:prstGeom prst="rect">
            <a:avLst/>
          </a:prstGeom>
        </p:spPr>
        <p:txBody>
          <a:bodyPr vert="horz" wrap="square" lIns="94615" tIns="46990" rIns="94615" bIns="46990" numCol="1" anchor="t">
            <a:noAutofit/>
          </a:bodyPr>
          <a:lstStyle/>
          <a:p>
            <a:pPr marL="0" indent="0" rtl="0"/>
            <a:endParaRPr lang="ko-KR" altLang="en-US"/>
          </a:p>
        </p:txBody>
      </p:sp>
      <p:sp>
        <p:nvSpPr>
          <p:cNvPr id="4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4023360" y="9720580"/>
            <a:ext cx="3079750" cy="514350"/>
          </a:xfrm>
          <a:prstGeom prst="rect">
            <a:avLst/>
          </a:prstGeom>
        </p:spPr>
        <p:txBody>
          <a:bodyPr vert="horz" wrap="square" lIns="94615" tIns="46990" rIns="94615" bIns="46990" numCol="1" anchor="b">
            <a:noAutofit/>
          </a:bodyPr>
          <a:lstStyle>
            <a:lvl1pPr marL="0" indent="0" algn="r" latinLnBrk="0">
              <a:buFontTx/>
              <a:buNone/>
              <a:defRPr lang="en-GB" altLang="en-US" sz="1200"/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47777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4615" tIns="46990" rIns="94615" bIns="46990" numCol="1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" name="슬라이드 노트 개체 틀 4"/>
          <p:cNvSpPr txBox="1">
            <a:spLocks noGrp="1"/>
          </p:cNvSpPr>
          <p:nvPr>
            <p:ph type="body" idx="3"/>
          </p:nvPr>
        </p:nvSpPr>
        <p:spPr>
          <a:xfrm>
            <a:off x="709930" y="4925695"/>
            <a:ext cx="5684520" cy="4029710"/>
          </a:xfrm>
          <a:prstGeom prst="rect">
            <a:avLst/>
          </a:prstGeom>
        </p:spPr>
        <p:txBody>
          <a:bodyPr vert="horz" wrap="square" lIns="94615" tIns="46990" rIns="94615" bIns="46990" numCol="1" anchor="t">
            <a:noAutofit/>
          </a:bodyPr>
          <a:lstStyle/>
          <a:p>
            <a:pPr marL="0" indent="0" rtl="0"/>
            <a:endParaRPr lang="ko-KR" altLang="en-US"/>
          </a:p>
        </p:txBody>
      </p:sp>
      <p:sp>
        <p:nvSpPr>
          <p:cNvPr id="4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4023360" y="9720580"/>
            <a:ext cx="3079750" cy="514350"/>
          </a:xfrm>
          <a:prstGeom prst="rect">
            <a:avLst/>
          </a:prstGeom>
        </p:spPr>
        <p:txBody>
          <a:bodyPr vert="horz" wrap="square" lIns="94615" tIns="46990" rIns="94615" bIns="46990" numCol="1" anchor="b">
            <a:noAutofit/>
          </a:bodyPr>
          <a:lstStyle>
            <a:lvl1pPr marL="0" indent="0" algn="r" latinLnBrk="0">
              <a:buFontTx/>
              <a:buNone/>
              <a:defRPr lang="en-GB" altLang="en-US" sz="1200"/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47062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4615" tIns="46990" rIns="94615" bIns="46990" numCol="1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" name="슬라이드 노트 개체 틀 4"/>
          <p:cNvSpPr txBox="1">
            <a:spLocks noGrp="1"/>
          </p:cNvSpPr>
          <p:nvPr>
            <p:ph type="body" idx="3"/>
          </p:nvPr>
        </p:nvSpPr>
        <p:spPr>
          <a:xfrm>
            <a:off x="709930" y="4925695"/>
            <a:ext cx="5684520" cy="4029710"/>
          </a:xfrm>
          <a:prstGeom prst="rect">
            <a:avLst/>
          </a:prstGeom>
        </p:spPr>
        <p:txBody>
          <a:bodyPr vert="horz" wrap="square" lIns="94615" tIns="46990" rIns="94615" bIns="46990" numCol="1" anchor="t">
            <a:noAutofit/>
          </a:bodyPr>
          <a:lstStyle/>
          <a:p>
            <a:pPr marL="0" indent="0" rtl="0"/>
            <a:endParaRPr lang="ko-KR" altLang="en-US"/>
          </a:p>
        </p:txBody>
      </p:sp>
      <p:sp>
        <p:nvSpPr>
          <p:cNvPr id="4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4023360" y="9720580"/>
            <a:ext cx="3079750" cy="514350"/>
          </a:xfrm>
          <a:prstGeom prst="rect">
            <a:avLst/>
          </a:prstGeom>
        </p:spPr>
        <p:txBody>
          <a:bodyPr vert="horz" wrap="square" lIns="94615" tIns="46990" rIns="94615" bIns="46990" numCol="1" anchor="b">
            <a:noAutofit/>
          </a:bodyPr>
          <a:lstStyle>
            <a:lvl1pPr marL="0" indent="0" algn="r" latinLnBrk="0">
              <a:buFontTx/>
              <a:buNone/>
              <a:defRPr lang="en-GB" altLang="en-US" sz="1200"/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940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4615" tIns="46990" rIns="94615" bIns="46990" numCol="1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" name="슬라이드 노트 개체 틀 4"/>
          <p:cNvSpPr txBox="1">
            <a:spLocks noGrp="1"/>
          </p:cNvSpPr>
          <p:nvPr>
            <p:ph type="body" idx="3"/>
          </p:nvPr>
        </p:nvSpPr>
        <p:spPr>
          <a:xfrm>
            <a:off x="709930" y="4925695"/>
            <a:ext cx="5684520" cy="4029710"/>
          </a:xfrm>
          <a:prstGeom prst="rect">
            <a:avLst/>
          </a:prstGeom>
        </p:spPr>
        <p:txBody>
          <a:bodyPr vert="horz" wrap="square" lIns="94615" tIns="46990" rIns="94615" bIns="46990" numCol="1" anchor="t">
            <a:noAutofit/>
          </a:bodyPr>
          <a:lstStyle/>
          <a:p>
            <a:pPr marL="0" indent="0" rtl="0"/>
            <a:endParaRPr lang="ko-KR" altLang="en-US"/>
          </a:p>
        </p:txBody>
      </p:sp>
      <p:sp>
        <p:nvSpPr>
          <p:cNvPr id="4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4023360" y="9720580"/>
            <a:ext cx="3079750" cy="514350"/>
          </a:xfrm>
          <a:prstGeom prst="rect">
            <a:avLst/>
          </a:prstGeom>
        </p:spPr>
        <p:txBody>
          <a:bodyPr vert="horz" wrap="square" lIns="94615" tIns="46990" rIns="94615" bIns="46990" numCol="1" anchor="b">
            <a:noAutofit/>
          </a:bodyPr>
          <a:lstStyle>
            <a:lvl1pPr marL="0" indent="0" algn="r" latinLnBrk="0">
              <a:buFontTx/>
              <a:buNone/>
              <a:defRPr lang="en-GB" altLang="en-US" sz="1200"/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80722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4615" tIns="46990" rIns="94615" bIns="46990" numCol="1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" name="슬라이드 노트 개체 틀 4"/>
          <p:cNvSpPr txBox="1">
            <a:spLocks noGrp="1"/>
          </p:cNvSpPr>
          <p:nvPr>
            <p:ph type="body" idx="3"/>
          </p:nvPr>
        </p:nvSpPr>
        <p:spPr>
          <a:xfrm>
            <a:off x="709930" y="4925695"/>
            <a:ext cx="5684520" cy="4029710"/>
          </a:xfrm>
          <a:prstGeom prst="rect">
            <a:avLst/>
          </a:prstGeom>
        </p:spPr>
        <p:txBody>
          <a:bodyPr vert="horz" wrap="square" lIns="94615" tIns="46990" rIns="94615" bIns="46990" numCol="1" anchor="t">
            <a:noAutofit/>
          </a:bodyPr>
          <a:lstStyle/>
          <a:p>
            <a:pPr marL="0" indent="0" rtl="0"/>
            <a:endParaRPr lang="ko-KR" altLang="en-US"/>
          </a:p>
        </p:txBody>
      </p:sp>
      <p:sp>
        <p:nvSpPr>
          <p:cNvPr id="4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4023360" y="9720580"/>
            <a:ext cx="3079750" cy="514350"/>
          </a:xfrm>
          <a:prstGeom prst="rect">
            <a:avLst/>
          </a:prstGeom>
        </p:spPr>
        <p:txBody>
          <a:bodyPr vert="horz" wrap="square" lIns="94615" tIns="46990" rIns="94615" bIns="46990" numCol="1" anchor="b">
            <a:noAutofit/>
          </a:bodyPr>
          <a:lstStyle>
            <a:lvl1pPr marL="0" indent="0" algn="r" latinLnBrk="0">
              <a:buFontTx/>
              <a:buNone/>
              <a:defRPr lang="en-GB" altLang="en-US" sz="1200"/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72732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4615" tIns="46990" rIns="94615" bIns="46990" numCol="1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" name="슬라이드 노트 개체 틀 4"/>
          <p:cNvSpPr txBox="1">
            <a:spLocks noGrp="1"/>
          </p:cNvSpPr>
          <p:nvPr>
            <p:ph type="body" idx="3"/>
          </p:nvPr>
        </p:nvSpPr>
        <p:spPr>
          <a:xfrm>
            <a:off x="709930" y="4925695"/>
            <a:ext cx="5684520" cy="4029710"/>
          </a:xfrm>
          <a:prstGeom prst="rect">
            <a:avLst/>
          </a:prstGeom>
        </p:spPr>
        <p:txBody>
          <a:bodyPr vert="horz" wrap="square" lIns="94615" tIns="46990" rIns="94615" bIns="46990" numCol="1" anchor="t">
            <a:noAutofit/>
          </a:bodyPr>
          <a:lstStyle/>
          <a:p>
            <a:pPr marL="0" indent="0" rtl="0"/>
            <a:endParaRPr lang="ko-KR" altLang="en-US"/>
          </a:p>
        </p:txBody>
      </p:sp>
      <p:sp>
        <p:nvSpPr>
          <p:cNvPr id="4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4023360" y="9720580"/>
            <a:ext cx="3079750" cy="514350"/>
          </a:xfrm>
          <a:prstGeom prst="rect">
            <a:avLst/>
          </a:prstGeom>
        </p:spPr>
        <p:txBody>
          <a:bodyPr vert="horz" wrap="square" lIns="94615" tIns="46990" rIns="94615" bIns="46990" numCol="1" anchor="b">
            <a:noAutofit/>
          </a:bodyPr>
          <a:lstStyle>
            <a:lvl1pPr marL="0" indent="0" algn="r" latinLnBrk="0">
              <a:buFontTx/>
              <a:buNone/>
              <a:defRPr lang="en-GB" altLang="en-US" sz="1200"/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1522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4615" tIns="46990" rIns="94615" bIns="46990" numCol="1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" name="슬라이드 노트 개체 틀 4"/>
          <p:cNvSpPr txBox="1">
            <a:spLocks noGrp="1"/>
          </p:cNvSpPr>
          <p:nvPr>
            <p:ph type="body" idx="3"/>
          </p:nvPr>
        </p:nvSpPr>
        <p:spPr>
          <a:xfrm>
            <a:off x="709930" y="4925695"/>
            <a:ext cx="5684520" cy="4029710"/>
          </a:xfrm>
          <a:prstGeom prst="rect">
            <a:avLst/>
          </a:prstGeom>
        </p:spPr>
        <p:txBody>
          <a:bodyPr vert="horz" wrap="square" lIns="94615" tIns="46990" rIns="94615" bIns="46990" numCol="1" anchor="t">
            <a:noAutofit/>
          </a:bodyPr>
          <a:lstStyle/>
          <a:p>
            <a:pPr marL="0" indent="0" rtl="0"/>
            <a:endParaRPr lang="ko-KR" altLang="en-US"/>
          </a:p>
        </p:txBody>
      </p:sp>
      <p:sp>
        <p:nvSpPr>
          <p:cNvPr id="4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4023360" y="9720580"/>
            <a:ext cx="3079750" cy="514350"/>
          </a:xfrm>
          <a:prstGeom prst="rect">
            <a:avLst/>
          </a:prstGeom>
        </p:spPr>
        <p:txBody>
          <a:bodyPr vert="horz" wrap="square" lIns="94615" tIns="46990" rIns="94615" bIns="46990" numCol="1" anchor="b">
            <a:noAutofit/>
          </a:bodyPr>
          <a:lstStyle>
            <a:lvl1pPr marL="0" indent="0" algn="r" latinLnBrk="0">
              <a:buFontTx/>
              <a:buNone/>
              <a:defRPr lang="en-GB" altLang="en-US" sz="1200"/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68268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94615" tIns="46990" rIns="94615" bIns="46990" numCol="1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" name="슬라이드 노트 개체 틀 4"/>
          <p:cNvSpPr txBox="1">
            <a:spLocks noGrp="1"/>
          </p:cNvSpPr>
          <p:nvPr>
            <p:ph type="body" idx="3"/>
          </p:nvPr>
        </p:nvSpPr>
        <p:spPr>
          <a:xfrm>
            <a:off x="709930" y="4925695"/>
            <a:ext cx="5684520" cy="4029710"/>
          </a:xfrm>
          <a:prstGeom prst="rect">
            <a:avLst/>
          </a:prstGeom>
        </p:spPr>
        <p:txBody>
          <a:bodyPr vert="horz" wrap="square" lIns="94615" tIns="46990" rIns="94615" bIns="46990" numCol="1" anchor="t">
            <a:noAutofit/>
          </a:bodyPr>
          <a:lstStyle/>
          <a:p>
            <a:pPr marL="0" indent="0" rtl="0"/>
            <a:endParaRPr lang="ko-KR" altLang="en-US"/>
          </a:p>
        </p:txBody>
      </p:sp>
      <p:sp>
        <p:nvSpPr>
          <p:cNvPr id="4" name="슬라이드 번호 개체 틀 6"/>
          <p:cNvSpPr txBox="1">
            <a:spLocks noGrp="1"/>
          </p:cNvSpPr>
          <p:nvPr>
            <p:ph type="sldNum" idx="5"/>
          </p:nvPr>
        </p:nvSpPr>
        <p:spPr>
          <a:xfrm>
            <a:off x="4023360" y="9720580"/>
            <a:ext cx="3079750" cy="514350"/>
          </a:xfrm>
          <a:prstGeom prst="rect">
            <a:avLst/>
          </a:prstGeom>
        </p:spPr>
        <p:txBody>
          <a:bodyPr vert="horz" wrap="square" lIns="94615" tIns="46990" rIns="94615" bIns="46990" numCol="1" anchor="b">
            <a:noAutofit/>
          </a:bodyPr>
          <a:lstStyle>
            <a:lvl1pPr marL="0" indent="0" algn="r" latinLnBrk="0">
              <a:buFontTx/>
              <a:buNone/>
              <a:defRPr lang="en-GB" altLang="en-US" sz="1200"/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73894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자유형 3"/>
          <p:cNvSpPr/>
          <p:nvPr userDrawn="1"/>
        </p:nvSpPr>
        <p:spPr>
          <a:xfrm>
            <a:off x="-220345" y="1693545"/>
            <a:ext cx="9144000" cy="2581910"/>
          </a:xfrm>
          <a:custGeom>
            <a:avLst/>
            <a:gdLst>
              <a:gd name="connsiteX0" fmla="*/ 55340 w 7037470"/>
              <a:gd name="connsiteY0" fmla="*/ 1044433 h 1987223"/>
              <a:gd name="connsiteX1" fmla="*/ 3421995 w 7037470"/>
              <a:gd name="connsiteY1" fmla="*/ 470855 h 1987223"/>
              <a:gd name="connsiteX2" fmla="*/ 5466926 w 7037470"/>
              <a:gd name="connsiteY2" fmla="*/ 445917 h 1987223"/>
              <a:gd name="connsiteX3" fmla="*/ 3704628 w 7037470"/>
              <a:gd name="connsiteY3" fmla="*/ 1318753 h 1987223"/>
              <a:gd name="connsiteX4" fmla="*/ 1776075 w 7037470"/>
              <a:gd name="connsiteY4" fmla="*/ 1967146 h 1987223"/>
              <a:gd name="connsiteX5" fmla="*/ 6306511 w 7037470"/>
              <a:gd name="connsiteY5" fmla="*/ 545670 h 1987223"/>
              <a:gd name="connsiteX6" fmla="*/ 6389639 w 7037470"/>
              <a:gd name="connsiteY6" fmla="*/ 13655 h 1987223"/>
              <a:gd name="connsiteX7" fmla="*/ 55340 w 7037470"/>
              <a:gd name="connsiteY7" fmla="*/ 1044433 h 1987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37470" h="1987223">
                <a:moveTo>
                  <a:pt x="55340" y="1044433"/>
                </a:moveTo>
                <a:cubicBezTo>
                  <a:pt x="-439267" y="1120633"/>
                  <a:pt x="2520064" y="570608"/>
                  <a:pt x="3421995" y="470855"/>
                </a:cubicBezTo>
                <a:cubicBezTo>
                  <a:pt x="4323926" y="371102"/>
                  <a:pt x="5419821" y="304601"/>
                  <a:pt x="5466926" y="445917"/>
                </a:cubicBezTo>
                <a:cubicBezTo>
                  <a:pt x="5514032" y="587233"/>
                  <a:pt x="4319770" y="1065215"/>
                  <a:pt x="3704628" y="1318753"/>
                </a:cubicBezTo>
                <a:cubicBezTo>
                  <a:pt x="3089486" y="1572291"/>
                  <a:pt x="1342428" y="2095993"/>
                  <a:pt x="1776075" y="1967146"/>
                </a:cubicBezTo>
                <a:cubicBezTo>
                  <a:pt x="2209722" y="1838299"/>
                  <a:pt x="5537584" y="871252"/>
                  <a:pt x="6306511" y="545670"/>
                </a:cubicBezTo>
                <a:cubicBezTo>
                  <a:pt x="7075438" y="220088"/>
                  <a:pt x="7432886" y="-66701"/>
                  <a:pt x="6389639" y="13655"/>
                </a:cubicBezTo>
                <a:cubicBezTo>
                  <a:pt x="5346392" y="94011"/>
                  <a:pt x="549947" y="968233"/>
                  <a:pt x="55340" y="1044433"/>
                </a:cubicBezTo>
                <a:close/>
              </a:path>
            </a:pathLst>
          </a:custGeom>
          <a:gradFill>
            <a:gsLst>
              <a:gs pos="71000">
                <a:schemeClr val="accent1">
                  <a:lumMod val="40000"/>
                  <a:lumOff val="60000"/>
                </a:schemeClr>
              </a:gs>
              <a:gs pos="0">
                <a:schemeClr val="bg1"/>
              </a:gs>
              <a:gs pos="9000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1"/>
          </p:nvPr>
        </p:nvSpPr>
        <p:spPr>
          <a:xfrm>
            <a:off x="0" y="2110105"/>
            <a:ext cx="9144000" cy="110934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8" name="텍스트 개체 틀 6"/>
          <p:cNvSpPr>
            <a:spLocks noGrp="1"/>
          </p:cNvSpPr>
          <p:nvPr>
            <p:ph type="body" sz="quarter" idx="12"/>
          </p:nvPr>
        </p:nvSpPr>
        <p:spPr>
          <a:xfrm>
            <a:off x="0" y="3475355"/>
            <a:ext cx="9144000" cy="47498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9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0" y="4015740"/>
            <a:ext cx="9144000" cy="47498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0" name="텍스트 개체 틀 6"/>
          <p:cNvSpPr txBox="1">
            <a:spLocks noGrp="1"/>
          </p:cNvSpPr>
          <p:nvPr>
            <p:ph type="body" sz="quarter" idx="14"/>
          </p:nvPr>
        </p:nvSpPr>
        <p:spPr>
          <a:xfrm>
            <a:off x="0" y="4535805"/>
            <a:ext cx="9144635" cy="475615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 algn="ctr" latinLnBrk="0">
              <a:buFontTx/>
              <a:buNone/>
              <a:defRPr lang="en-GB" altLang="en-US"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charset="0"/>
                <a:ea typeface="HY견고딕" charset="0"/>
              </a:defRPr>
            </a:lvl1pPr>
          </a:lstStyle>
          <a:p>
            <a:pPr marL="0" indent="0" latinLnBrk="0">
              <a:buFontTx/>
              <a:buNone/>
            </a:pPr>
            <a:endParaRPr lang="ko-KR" altLang="en-US"/>
          </a:p>
        </p:txBody>
      </p:sp>
      <p:sp>
        <p:nvSpPr>
          <p:cNvPr id="11" name="직사각형 10"/>
          <p:cNvSpPr/>
          <p:nvPr userDrawn="1"/>
        </p:nvSpPr>
        <p:spPr>
          <a:xfrm>
            <a:off x="0" y="6451600"/>
            <a:ext cx="9144000" cy="19558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2" name="직사각형 11"/>
          <p:cNvSpPr/>
          <p:nvPr userDrawn="1"/>
        </p:nvSpPr>
        <p:spPr>
          <a:xfrm>
            <a:off x="0" y="6677025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0373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사용자 지정 레이아웃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자유형 3"/>
          <p:cNvSpPr/>
          <p:nvPr userDrawn="1"/>
        </p:nvSpPr>
        <p:spPr>
          <a:xfrm>
            <a:off x="-220150" y="1693649"/>
            <a:ext cx="9144000" cy="2582059"/>
          </a:xfrm>
          <a:custGeom>
            <a:avLst/>
            <a:gdLst>
              <a:gd name="connsiteX0" fmla="*/ 55340 w 7037470"/>
              <a:gd name="connsiteY0" fmla="*/ 1044433 h 1987223"/>
              <a:gd name="connsiteX1" fmla="*/ 3421995 w 7037470"/>
              <a:gd name="connsiteY1" fmla="*/ 470855 h 1987223"/>
              <a:gd name="connsiteX2" fmla="*/ 5466926 w 7037470"/>
              <a:gd name="connsiteY2" fmla="*/ 445917 h 1987223"/>
              <a:gd name="connsiteX3" fmla="*/ 3704628 w 7037470"/>
              <a:gd name="connsiteY3" fmla="*/ 1318753 h 1987223"/>
              <a:gd name="connsiteX4" fmla="*/ 1776075 w 7037470"/>
              <a:gd name="connsiteY4" fmla="*/ 1967146 h 1987223"/>
              <a:gd name="connsiteX5" fmla="*/ 6306511 w 7037470"/>
              <a:gd name="connsiteY5" fmla="*/ 545670 h 1987223"/>
              <a:gd name="connsiteX6" fmla="*/ 6389639 w 7037470"/>
              <a:gd name="connsiteY6" fmla="*/ 13655 h 1987223"/>
              <a:gd name="connsiteX7" fmla="*/ 55340 w 7037470"/>
              <a:gd name="connsiteY7" fmla="*/ 1044433 h 1987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37470" h="1987223">
                <a:moveTo>
                  <a:pt x="55340" y="1044433"/>
                </a:moveTo>
                <a:cubicBezTo>
                  <a:pt x="-439267" y="1120633"/>
                  <a:pt x="2520064" y="570608"/>
                  <a:pt x="3421995" y="470855"/>
                </a:cubicBezTo>
                <a:cubicBezTo>
                  <a:pt x="4323926" y="371102"/>
                  <a:pt x="5419821" y="304601"/>
                  <a:pt x="5466926" y="445917"/>
                </a:cubicBezTo>
                <a:cubicBezTo>
                  <a:pt x="5514032" y="587233"/>
                  <a:pt x="4319770" y="1065215"/>
                  <a:pt x="3704628" y="1318753"/>
                </a:cubicBezTo>
                <a:cubicBezTo>
                  <a:pt x="3089486" y="1572291"/>
                  <a:pt x="1342428" y="2095993"/>
                  <a:pt x="1776075" y="1967146"/>
                </a:cubicBezTo>
                <a:cubicBezTo>
                  <a:pt x="2209722" y="1838299"/>
                  <a:pt x="5537584" y="871252"/>
                  <a:pt x="6306511" y="545670"/>
                </a:cubicBezTo>
                <a:cubicBezTo>
                  <a:pt x="7075438" y="220088"/>
                  <a:pt x="7432886" y="-66701"/>
                  <a:pt x="6389639" y="13655"/>
                </a:cubicBezTo>
                <a:cubicBezTo>
                  <a:pt x="5346392" y="94011"/>
                  <a:pt x="549947" y="968233"/>
                  <a:pt x="55340" y="1044433"/>
                </a:cubicBezTo>
                <a:close/>
              </a:path>
            </a:pathLst>
          </a:custGeom>
          <a:gradFill>
            <a:gsLst>
              <a:gs pos="71000">
                <a:schemeClr val="accent1">
                  <a:lumMod val="40000"/>
                  <a:lumOff val="60000"/>
                </a:schemeClr>
              </a:gs>
              <a:gs pos="0">
                <a:schemeClr val="bg1"/>
              </a:gs>
              <a:gs pos="9000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/>
          </a:p>
        </p:txBody>
      </p:sp>
      <p:sp>
        <p:nvSpPr>
          <p:cNvPr id="11" name="직사각형 10"/>
          <p:cNvSpPr/>
          <p:nvPr userDrawn="1"/>
        </p:nvSpPr>
        <p:spPr>
          <a:xfrm>
            <a:off x="0" y="6451359"/>
            <a:ext cx="9144000" cy="1956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2" name="직사각형 11"/>
          <p:cNvSpPr/>
          <p:nvPr userDrawn="1"/>
        </p:nvSpPr>
        <p:spPr>
          <a:xfrm>
            <a:off x="0" y="6677011"/>
            <a:ext cx="9144000" cy="17078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4A12FF3-B48F-4CEB-A598-F2FF8F12B519}"/>
              </a:ext>
            </a:extLst>
          </p:cNvPr>
          <p:cNvSpPr/>
          <p:nvPr userDrawn="1"/>
        </p:nvSpPr>
        <p:spPr>
          <a:xfrm>
            <a:off x="0" y="5939395"/>
            <a:ext cx="9144000" cy="9186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EAAAD1CA-9854-4AD2-9A09-9128641DB0C3}"/>
              </a:ext>
            </a:extLst>
          </p:cNvPr>
          <p:cNvGrpSpPr/>
          <p:nvPr userDrawn="1"/>
        </p:nvGrpSpPr>
        <p:grpSpPr>
          <a:xfrm>
            <a:off x="6985686" y="5020795"/>
            <a:ext cx="2158314" cy="1837205"/>
            <a:chOff x="9919316" y="4585315"/>
            <a:chExt cx="2272684" cy="2272684"/>
          </a:xfrm>
        </p:grpSpPr>
        <p:sp>
          <p:nvSpPr>
            <p:cNvPr id="15" name="직각 삼각형 14">
              <a:extLst>
                <a:ext uri="{FF2B5EF4-FFF2-40B4-BE49-F238E27FC236}">
                  <a16:creationId xmlns:a16="http://schemas.microsoft.com/office/drawing/2014/main" id="{909E612A-71C7-4167-80E9-977EAF958603}"/>
                </a:ext>
              </a:extLst>
            </p:cNvPr>
            <p:cNvSpPr/>
            <p:nvPr/>
          </p:nvSpPr>
          <p:spPr>
            <a:xfrm rot="5400000">
              <a:off x="11055658" y="4585315"/>
              <a:ext cx="1136342" cy="1136342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" name="직각 삼각형 15">
              <a:extLst>
                <a:ext uri="{FF2B5EF4-FFF2-40B4-BE49-F238E27FC236}">
                  <a16:creationId xmlns:a16="http://schemas.microsoft.com/office/drawing/2014/main" id="{FF4A6971-B874-4CDC-9E32-6F72593F0560}"/>
                </a:ext>
              </a:extLst>
            </p:cNvPr>
            <p:cNvSpPr/>
            <p:nvPr/>
          </p:nvSpPr>
          <p:spPr>
            <a:xfrm rot="16200000">
              <a:off x="9919316" y="4585315"/>
              <a:ext cx="1136342" cy="1136342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" name="직각 삼각형 16">
              <a:extLst>
                <a:ext uri="{FF2B5EF4-FFF2-40B4-BE49-F238E27FC236}">
                  <a16:creationId xmlns:a16="http://schemas.microsoft.com/office/drawing/2014/main" id="{A4CB350A-E6D0-4928-9917-C0668D0FD153}"/>
                </a:ext>
              </a:extLst>
            </p:cNvPr>
            <p:cNvSpPr/>
            <p:nvPr/>
          </p:nvSpPr>
          <p:spPr>
            <a:xfrm rot="5400000">
              <a:off x="11055658" y="5721657"/>
              <a:ext cx="1136342" cy="1136342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8" name="텍스트 개체 틀 6"/>
          <p:cNvSpPr>
            <a:spLocks noGrp="1"/>
          </p:cNvSpPr>
          <p:nvPr>
            <p:ph type="body" sz="quarter" idx="11"/>
          </p:nvPr>
        </p:nvSpPr>
        <p:spPr>
          <a:xfrm>
            <a:off x="0" y="2109788"/>
            <a:ext cx="9144000" cy="11096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9" name="텍스트 개체 틀 6"/>
          <p:cNvSpPr>
            <a:spLocks noGrp="1"/>
          </p:cNvSpPr>
          <p:nvPr>
            <p:ph type="body" sz="quarter" idx="12"/>
          </p:nvPr>
        </p:nvSpPr>
        <p:spPr>
          <a:xfrm>
            <a:off x="0" y="3475292"/>
            <a:ext cx="9144000" cy="47491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20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0" y="4015867"/>
            <a:ext cx="9144000" cy="47491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21" name="텍스트 개체 틀 6"/>
          <p:cNvSpPr>
            <a:spLocks noGrp="1"/>
          </p:cNvSpPr>
          <p:nvPr>
            <p:ph type="body" sz="quarter" idx="14"/>
          </p:nvPr>
        </p:nvSpPr>
        <p:spPr>
          <a:xfrm>
            <a:off x="0" y="4535677"/>
            <a:ext cx="9144000" cy="47491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71619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885190" y="3032125"/>
            <a:ext cx="2402205" cy="708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순서</a:t>
            </a:r>
          </a:p>
        </p:txBody>
      </p:sp>
      <p:grpSp>
        <p:nvGrpSpPr>
          <p:cNvPr id="5" name="그룹 4"/>
          <p:cNvGrpSpPr/>
          <p:nvPr userDrawn="1"/>
        </p:nvGrpSpPr>
        <p:grpSpPr>
          <a:xfrm>
            <a:off x="540385" y="3208020"/>
            <a:ext cx="594360" cy="431165"/>
            <a:chOff x="540385" y="3208020"/>
            <a:chExt cx="594360" cy="431165"/>
          </a:xfrm>
          <a:solidFill>
            <a:schemeClr val="accent1">
              <a:lumMod val="50000"/>
            </a:schemeClr>
          </a:solidFill>
        </p:grpSpPr>
        <p:sp>
          <p:nvSpPr>
            <p:cNvPr id="6" name="모서리가 둥근 직사각형 5"/>
            <p:cNvSpPr/>
            <p:nvPr/>
          </p:nvSpPr>
          <p:spPr>
            <a:xfrm>
              <a:off x="540385" y="3208020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7" name="모서리가 둥근 직사각형 6"/>
            <p:cNvSpPr/>
            <p:nvPr/>
          </p:nvSpPr>
          <p:spPr>
            <a:xfrm>
              <a:off x="784860" y="3208020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8" name="모서리가 둥근 직사각형 7"/>
            <p:cNvSpPr/>
            <p:nvPr/>
          </p:nvSpPr>
          <p:spPr>
            <a:xfrm>
              <a:off x="784860" y="3386455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9" name="모서리가 둥근 직사각형 8"/>
            <p:cNvSpPr/>
            <p:nvPr/>
          </p:nvSpPr>
          <p:spPr>
            <a:xfrm>
              <a:off x="540385" y="3386455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10" name="모서리가 둥근 직사각형 9"/>
            <p:cNvSpPr/>
            <p:nvPr/>
          </p:nvSpPr>
          <p:spPr>
            <a:xfrm>
              <a:off x="540385" y="3567430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11" name="모서리가 둥근 직사각형 10"/>
            <p:cNvSpPr/>
            <p:nvPr/>
          </p:nvSpPr>
          <p:spPr>
            <a:xfrm>
              <a:off x="784860" y="3567430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cxnSp>
        <p:nvCxnSpPr>
          <p:cNvPr id="16" name="직선 연결선 15"/>
          <p:cNvCxnSpPr/>
          <p:nvPr userDrawn="1"/>
        </p:nvCxnSpPr>
        <p:spPr>
          <a:xfrm flipH="1">
            <a:off x="3549650" y="257810"/>
            <a:ext cx="8255" cy="6392545"/>
          </a:xfrm>
          <a:prstGeom prst="line">
            <a:avLst/>
          </a:prstGeom>
          <a:ln w="41275" cmpd="sng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그룹 19"/>
          <p:cNvGrpSpPr/>
          <p:nvPr userDrawn="1"/>
        </p:nvGrpSpPr>
        <p:grpSpPr>
          <a:xfrm>
            <a:off x="3583305" y="2369185"/>
            <a:ext cx="4468495" cy="339090"/>
            <a:chOff x="3583305" y="2369185"/>
            <a:chExt cx="4468495" cy="339090"/>
          </a:xfrm>
        </p:grpSpPr>
        <p:sp>
          <p:nvSpPr>
            <p:cNvPr id="13" name="TextBox 12"/>
            <p:cNvSpPr txBox="1">
              <a:spLocks/>
            </p:cNvSpPr>
            <p:nvPr userDrawn="1"/>
          </p:nvSpPr>
          <p:spPr>
            <a:xfrm>
              <a:off x="3583305" y="2369185"/>
              <a:ext cx="4469130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2.</a:t>
              </a:r>
              <a:r>
                <a:rPr lang="ko-KR" altLang="en-US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 </a:t>
              </a:r>
              <a:endParaRPr lang="ko-KR" altLang="en-US" sz="1600" b="1" i="0">
                <a:solidFill>
                  <a:schemeClr val="tx1"/>
                </a:solidFill>
                <a:latin typeface="HY견고딕" charset="0"/>
                <a:ea typeface="HY견고딕" charset="0"/>
              </a:endParaRPr>
            </a:p>
          </p:txBody>
        </p:sp>
        <p:cxnSp>
          <p:nvCxnSpPr>
            <p:cNvPr id="18" name="직선 연결선 17"/>
            <p:cNvCxnSpPr/>
            <p:nvPr/>
          </p:nvCxnSpPr>
          <p:spPr>
            <a:xfrm>
              <a:off x="3679190" y="2708275"/>
              <a:ext cx="3901440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그룹 27"/>
          <p:cNvGrpSpPr/>
          <p:nvPr userDrawn="1"/>
        </p:nvGrpSpPr>
        <p:grpSpPr>
          <a:xfrm>
            <a:off x="3583305" y="1450975"/>
            <a:ext cx="4315460" cy="356870"/>
            <a:chOff x="3583305" y="1450975"/>
            <a:chExt cx="4315460" cy="356870"/>
          </a:xfrm>
        </p:grpSpPr>
        <p:sp>
          <p:nvSpPr>
            <p:cNvPr id="12" name="TextBox 11"/>
            <p:cNvSpPr txBox="1">
              <a:spLocks/>
            </p:cNvSpPr>
            <p:nvPr userDrawn="1"/>
          </p:nvSpPr>
          <p:spPr>
            <a:xfrm>
              <a:off x="3583305" y="1450975"/>
              <a:ext cx="4266565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1. </a:t>
              </a:r>
              <a:endParaRPr lang="ko-KR" altLang="en-US" sz="1600" b="1" i="0">
                <a:solidFill>
                  <a:schemeClr val="tx1"/>
                </a:solidFill>
                <a:latin typeface="HY견고딕" charset="0"/>
                <a:ea typeface="HY견고딕" charset="0"/>
              </a:endParaRPr>
            </a:p>
          </p:txBody>
        </p:sp>
        <p:cxnSp>
          <p:nvCxnSpPr>
            <p:cNvPr id="21" name="직선 연결선 20"/>
            <p:cNvCxnSpPr/>
            <p:nvPr/>
          </p:nvCxnSpPr>
          <p:spPr>
            <a:xfrm>
              <a:off x="3659505" y="1807845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그룹 18"/>
          <p:cNvGrpSpPr/>
          <p:nvPr userDrawn="1"/>
        </p:nvGrpSpPr>
        <p:grpSpPr>
          <a:xfrm>
            <a:off x="3583305" y="3269615"/>
            <a:ext cx="4460240" cy="338455"/>
            <a:chOff x="3583305" y="3269615"/>
            <a:chExt cx="4460240" cy="338455"/>
          </a:xfrm>
        </p:grpSpPr>
        <p:cxnSp>
          <p:nvCxnSpPr>
            <p:cNvPr id="22" name="직선 연결선 21"/>
            <p:cNvCxnSpPr/>
            <p:nvPr/>
          </p:nvCxnSpPr>
          <p:spPr>
            <a:xfrm>
              <a:off x="3674745" y="3608070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>
              <a:spLocks/>
            </p:cNvSpPr>
            <p:nvPr userDrawn="1"/>
          </p:nvSpPr>
          <p:spPr>
            <a:xfrm>
              <a:off x="3583305" y="3269615"/>
              <a:ext cx="4460875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3. </a:t>
              </a:r>
              <a:r>
                <a:rPr lang="ko-KR" altLang="en-US" sz="1600" b="1" i="0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 </a:t>
              </a:r>
            </a:p>
          </p:txBody>
        </p:sp>
      </p:grpSp>
      <p:grpSp>
        <p:nvGrpSpPr>
          <p:cNvPr id="15" name="그룹 14"/>
          <p:cNvGrpSpPr/>
          <p:nvPr userDrawn="1"/>
        </p:nvGrpSpPr>
        <p:grpSpPr>
          <a:xfrm>
            <a:off x="3583305" y="4170045"/>
            <a:ext cx="4330700" cy="338455"/>
            <a:chOff x="3583305" y="4170045"/>
            <a:chExt cx="4330700" cy="338455"/>
          </a:xfrm>
        </p:grpSpPr>
        <p:sp>
          <p:nvSpPr>
            <p:cNvPr id="23" name="TextBox 22"/>
            <p:cNvSpPr txBox="1">
              <a:spLocks/>
            </p:cNvSpPr>
            <p:nvPr userDrawn="1"/>
          </p:nvSpPr>
          <p:spPr>
            <a:xfrm>
              <a:off x="3583305" y="4170045"/>
              <a:ext cx="3373755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4.</a:t>
              </a:r>
              <a:r>
                <a:rPr lang="ko-KR" altLang="en-US" sz="1600" b="1" i="0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 </a:t>
              </a:r>
            </a:p>
          </p:txBody>
        </p:sp>
        <p:cxnSp>
          <p:nvCxnSpPr>
            <p:cNvPr id="26" name="직선 연결선 25"/>
            <p:cNvCxnSpPr/>
            <p:nvPr/>
          </p:nvCxnSpPr>
          <p:spPr>
            <a:xfrm>
              <a:off x="3674745" y="4508500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48B66F11-5D02-4F59-B59B-8EE82468D934}"/>
              </a:ext>
            </a:extLst>
          </p:cNvPr>
          <p:cNvGrpSpPr/>
          <p:nvPr userDrawn="1"/>
        </p:nvGrpSpPr>
        <p:grpSpPr>
          <a:xfrm>
            <a:off x="3583305" y="5067935"/>
            <a:ext cx="6702425" cy="339090"/>
            <a:chOff x="3583305" y="5067935"/>
            <a:chExt cx="6702425" cy="339090"/>
          </a:xfrm>
        </p:grpSpPr>
        <p:sp>
          <p:nvSpPr>
            <p:cNvPr id="27" name="TextBox 26"/>
            <p:cNvSpPr txBox="1">
              <a:spLocks/>
            </p:cNvSpPr>
            <p:nvPr userDrawn="1"/>
          </p:nvSpPr>
          <p:spPr>
            <a:xfrm>
              <a:off x="3583305" y="5067935"/>
              <a:ext cx="6703060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5.</a:t>
              </a:r>
              <a:r>
                <a:rPr lang="ko-KR" altLang="en-US" sz="1600" b="1" i="0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 </a:t>
              </a:r>
            </a:p>
          </p:txBody>
        </p:sp>
        <p:cxnSp>
          <p:nvCxnSpPr>
            <p:cNvPr id="29" name="직선 연결선 28"/>
            <p:cNvCxnSpPr/>
            <p:nvPr/>
          </p:nvCxnSpPr>
          <p:spPr>
            <a:xfrm>
              <a:off x="3674745" y="5407025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텍스트 상자 1"/>
          <p:cNvSpPr txBox="1">
            <a:spLocks/>
          </p:cNvSpPr>
          <p:nvPr/>
        </p:nvSpPr>
        <p:spPr>
          <a:xfrm>
            <a:off x="3940175" y="1471295"/>
            <a:ext cx="3500755" cy="341630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l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4379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885190" y="3032125"/>
            <a:ext cx="2402205" cy="708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순서</a:t>
            </a:r>
          </a:p>
        </p:txBody>
      </p:sp>
      <p:grpSp>
        <p:nvGrpSpPr>
          <p:cNvPr id="5" name="그룹 4"/>
          <p:cNvGrpSpPr/>
          <p:nvPr userDrawn="1"/>
        </p:nvGrpSpPr>
        <p:grpSpPr>
          <a:xfrm>
            <a:off x="540385" y="3208020"/>
            <a:ext cx="594360" cy="431165"/>
            <a:chOff x="540385" y="3208020"/>
            <a:chExt cx="594360" cy="431165"/>
          </a:xfrm>
          <a:solidFill>
            <a:schemeClr val="accent1">
              <a:lumMod val="50000"/>
            </a:schemeClr>
          </a:solidFill>
        </p:grpSpPr>
        <p:sp>
          <p:nvSpPr>
            <p:cNvPr id="6" name="모서리가 둥근 직사각형 5"/>
            <p:cNvSpPr/>
            <p:nvPr/>
          </p:nvSpPr>
          <p:spPr>
            <a:xfrm>
              <a:off x="540385" y="3208020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7" name="모서리가 둥근 직사각형 6"/>
            <p:cNvSpPr/>
            <p:nvPr/>
          </p:nvSpPr>
          <p:spPr>
            <a:xfrm>
              <a:off x="784860" y="3208020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8" name="모서리가 둥근 직사각형 7"/>
            <p:cNvSpPr/>
            <p:nvPr/>
          </p:nvSpPr>
          <p:spPr>
            <a:xfrm>
              <a:off x="784860" y="3386455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9" name="모서리가 둥근 직사각형 8"/>
            <p:cNvSpPr/>
            <p:nvPr/>
          </p:nvSpPr>
          <p:spPr>
            <a:xfrm>
              <a:off x="540385" y="3386455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10" name="모서리가 둥근 직사각형 9"/>
            <p:cNvSpPr/>
            <p:nvPr/>
          </p:nvSpPr>
          <p:spPr>
            <a:xfrm>
              <a:off x="540385" y="3567430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11" name="모서리가 둥근 직사각형 10"/>
            <p:cNvSpPr/>
            <p:nvPr/>
          </p:nvSpPr>
          <p:spPr>
            <a:xfrm>
              <a:off x="784860" y="3567430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cxnSp>
        <p:nvCxnSpPr>
          <p:cNvPr id="16" name="직선 연결선 15"/>
          <p:cNvCxnSpPr/>
          <p:nvPr userDrawn="1"/>
        </p:nvCxnSpPr>
        <p:spPr>
          <a:xfrm flipH="1">
            <a:off x="3549650" y="257810"/>
            <a:ext cx="8255" cy="6392545"/>
          </a:xfrm>
          <a:prstGeom prst="line">
            <a:avLst/>
          </a:prstGeom>
          <a:ln w="41275" cmpd="sng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그룹 19"/>
          <p:cNvGrpSpPr/>
          <p:nvPr userDrawn="1"/>
        </p:nvGrpSpPr>
        <p:grpSpPr>
          <a:xfrm>
            <a:off x="3549650" y="3038475"/>
            <a:ext cx="4468495" cy="339090"/>
            <a:chOff x="3583305" y="2369185"/>
            <a:chExt cx="4468495" cy="339090"/>
          </a:xfrm>
        </p:grpSpPr>
        <p:sp>
          <p:nvSpPr>
            <p:cNvPr id="13" name="TextBox 12"/>
            <p:cNvSpPr txBox="1">
              <a:spLocks/>
            </p:cNvSpPr>
            <p:nvPr userDrawn="1"/>
          </p:nvSpPr>
          <p:spPr>
            <a:xfrm>
              <a:off x="3583305" y="2369185"/>
              <a:ext cx="4469130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2.</a:t>
              </a:r>
              <a:r>
                <a:rPr lang="ko-KR" altLang="en-US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 </a:t>
              </a:r>
              <a:endParaRPr lang="ko-KR" altLang="en-US" sz="1600" b="1" i="0">
                <a:solidFill>
                  <a:schemeClr val="tx1"/>
                </a:solidFill>
                <a:latin typeface="HY견고딕" charset="0"/>
                <a:ea typeface="HY견고딕" charset="0"/>
              </a:endParaRPr>
            </a:p>
          </p:txBody>
        </p:sp>
        <p:cxnSp>
          <p:nvCxnSpPr>
            <p:cNvPr id="18" name="직선 연결선 17"/>
            <p:cNvCxnSpPr/>
            <p:nvPr/>
          </p:nvCxnSpPr>
          <p:spPr>
            <a:xfrm>
              <a:off x="3679190" y="2708275"/>
              <a:ext cx="3901440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그룹 27"/>
          <p:cNvGrpSpPr/>
          <p:nvPr userDrawn="1"/>
        </p:nvGrpSpPr>
        <p:grpSpPr>
          <a:xfrm>
            <a:off x="3549650" y="2120265"/>
            <a:ext cx="4316095" cy="357505"/>
            <a:chOff x="3583305" y="1450975"/>
            <a:chExt cx="4316095" cy="357505"/>
          </a:xfrm>
        </p:grpSpPr>
        <p:sp>
          <p:nvSpPr>
            <p:cNvPr id="12" name="TextBox 11"/>
            <p:cNvSpPr txBox="1">
              <a:spLocks/>
            </p:cNvSpPr>
            <p:nvPr userDrawn="1"/>
          </p:nvSpPr>
          <p:spPr>
            <a:xfrm>
              <a:off x="3583305" y="1450975"/>
              <a:ext cx="4266565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1. </a:t>
              </a:r>
              <a:endParaRPr lang="ko-KR" altLang="en-US" sz="1600" b="1" i="0">
                <a:solidFill>
                  <a:schemeClr val="tx1"/>
                </a:solidFill>
                <a:latin typeface="HY견고딕" charset="0"/>
                <a:ea typeface="HY견고딕" charset="0"/>
              </a:endParaRPr>
            </a:p>
          </p:txBody>
        </p:sp>
        <p:cxnSp>
          <p:nvCxnSpPr>
            <p:cNvPr id="21" name="직선 연결선 20"/>
            <p:cNvCxnSpPr/>
            <p:nvPr/>
          </p:nvCxnSpPr>
          <p:spPr>
            <a:xfrm>
              <a:off x="3659505" y="1807845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그룹 18"/>
          <p:cNvGrpSpPr/>
          <p:nvPr userDrawn="1"/>
        </p:nvGrpSpPr>
        <p:grpSpPr>
          <a:xfrm>
            <a:off x="3549650" y="3938905"/>
            <a:ext cx="4460240" cy="338455"/>
            <a:chOff x="3583305" y="3269615"/>
            <a:chExt cx="4460240" cy="338455"/>
          </a:xfrm>
        </p:grpSpPr>
        <p:cxnSp>
          <p:nvCxnSpPr>
            <p:cNvPr id="22" name="직선 연결선 21"/>
            <p:cNvCxnSpPr/>
            <p:nvPr/>
          </p:nvCxnSpPr>
          <p:spPr>
            <a:xfrm>
              <a:off x="3674745" y="3608070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>
              <a:spLocks/>
            </p:cNvSpPr>
            <p:nvPr userDrawn="1"/>
          </p:nvSpPr>
          <p:spPr>
            <a:xfrm>
              <a:off x="3583305" y="3269615"/>
              <a:ext cx="4460875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3. </a:t>
              </a:r>
              <a:r>
                <a:rPr lang="ko-KR" altLang="en-US" sz="1600" b="1" i="0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 </a:t>
              </a:r>
            </a:p>
          </p:txBody>
        </p:sp>
      </p:grp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80D4A21-775F-47F7-8A71-3C0AB26EAD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25875" y="2120265"/>
            <a:ext cx="3721100" cy="338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ko-KR" altLang="en-US"/>
              <a:t>주제</a:t>
            </a:r>
            <a:r>
              <a:rPr lang="en-US" altLang="ko-KR"/>
              <a:t>1</a:t>
            </a:r>
            <a:endParaRPr lang="ko-KR" altLang="en-US"/>
          </a:p>
        </p:txBody>
      </p:sp>
      <p:sp>
        <p:nvSpPr>
          <p:cNvPr id="39" name="텍스트 개체 틀 2">
            <a:extLst>
              <a:ext uri="{FF2B5EF4-FFF2-40B4-BE49-F238E27FC236}">
                <a16:creationId xmlns:a16="http://schemas.microsoft.com/office/drawing/2014/main" id="{111D8129-9C51-4746-B42C-E30B0CFFB18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26510" y="3026410"/>
            <a:ext cx="3721100" cy="338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ko-KR" altLang="en-US"/>
              <a:t>주제</a:t>
            </a:r>
            <a:r>
              <a:rPr lang="en-US" altLang="ko-KR"/>
              <a:t>2</a:t>
            </a:r>
            <a:endParaRPr lang="ko-KR" altLang="en-US"/>
          </a:p>
        </p:txBody>
      </p:sp>
      <p:sp>
        <p:nvSpPr>
          <p:cNvPr id="40" name="텍스트 개체 틀 2">
            <a:extLst>
              <a:ext uri="{FF2B5EF4-FFF2-40B4-BE49-F238E27FC236}">
                <a16:creationId xmlns:a16="http://schemas.microsoft.com/office/drawing/2014/main" id="{FBA89A38-4604-4945-B611-7E24E9FFC80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26510" y="3912870"/>
            <a:ext cx="3721100" cy="338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ko-KR" altLang="en-US"/>
              <a:t>주제</a:t>
            </a:r>
            <a:r>
              <a:rPr lang="en-US" altLang="ko-KR"/>
              <a:t>3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8748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>
          <a:xfrm>
            <a:off x="0" y="0"/>
            <a:ext cx="9144000" cy="103632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E6F0FA"/>
              </a:gs>
            </a:gsLst>
            <a:lin ang="10800000" scaled="1"/>
            <a:tileRect/>
          </a:gra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6" name="직선 연결선 5"/>
          <p:cNvCxnSpPr/>
          <p:nvPr userDrawn="1"/>
        </p:nvCxnSpPr>
        <p:spPr>
          <a:xfrm>
            <a:off x="268605" y="531495"/>
            <a:ext cx="6057265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3900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0" scaled="1"/>
              <a:tileRect/>
            </a:gra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/>
          <p:cNvSpPr/>
          <p:nvPr userDrawn="1"/>
        </p:nvSpPr>
        <p:spPr>
          <a:xfrm>
            <a:off x="0" y="1032510"/>
            <a:ext cx="9144000" cy="10096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5">
                  <a:lumMod val="50000"/>
                </a:scheme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1" name="직사각형 51"/>
          <p:cNvSpPr/>
          <p:nvPr userDrawn="1"/>
        </p:nvSpPr>
        <p:spPr>
          <a:xfrm>
            <a:off x="0" y="6442710"/>
            <a:ext cx="9144000" cy="19558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2" name="직사각형 52"/>
          <p:cNvSpPr/>
          <p:nvPr userDrawn="1"/>
        </p:nvSpPr>
        <p:spPr>
          <a:xfrm>
            <a:off x="0" y="6668770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7152005" y="65849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1BA9C9-ACA8-4929-8E38-3AE1CAD68ED2}" type="slidenum">
              <a:rPr lang="ko-KR" altLang="en-US" sz="1400" smtClean="0"/>
              <a:pPr/>
              <a:t>‹#›</a:t>
            </a:fld>
            <a:endParaRPr lang="ko-KR" altLang="en-US" sz="1400" dirty="0"/>
          </a:p>
        </p:txBody>
      </p:sp>
      <p:sp>
        <p:nvSpPr>
          <p:cNvPr id="24" name="육각형 23"/>
          <p:cNvSpPr/>
          <p:nvPr userDrawn="1"/>
        </p:nvSpPr>
        <p:spPr>
          <a:xfrm>
            <a:off x="421640" y="1477645"/>
            <a:ext cx="159385" cy="137160"/>
          </a:xfrm>
          <a:prstGeom prst="hexagon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22" name="그룹 21"/>
          <p:cNvGrpSpPr/>
          <p:nvPr userDrawn="1"/>
        </p:nvGrpSpPr>
        <p:grpSpPr>
          <a:xfrm>
            <a:off x="4824730" y="1054735"/>
            <a:ext cx="4301490" cy="247650"/>
            <a:chOff x="4824730" y="1054735"/>
            <a:chExt cx="4301490" cy="247650"/>
          </a:xfrm>
        </p:grpSpPr>
        <p:sp>
          <p:nvSpPr>
            <p:cNvPr id="29" name="직사각형 28"/>
            <p:cNvSpPr/>
            <p:nvPr userDrawn="1"/>
          </p:nvSpPr>
          <p:spPr>
            <a:xfrm>
              <a:off x="4824730" y="1056005"/>
              <a:ext cx="2148840" cy="24638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1F4E7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lang="en-US" altLang="ko-KR" sz="1600" b="1" dirty="0">
                  <a:solidFill>
                    <a:schemeClr val="tx1"/>
                  </a:solidFill>
                  <a:latin typeface="+mj-ea"/>
                  <a:ea typeface="+mj-ea"/>
                </a:rPr>
                <a:t>INTRODUCTION</a:t>
              </a: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AA677E20-C4CE-43D7-8121-447A3D04B307}"/>
                </a:ext>
              </a:extLst>
            </p:cNvPr>
            <p:cNvSpPr/>
            <p:nvPr userDrawn="1"/>
          </p:nvSpPr>
          <p:spPr>
            <a:xfrm>
              <a:off x="6977380" y="1054735"/>
              <a:ext cx="2148840" cy="24638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rgbClr val="1F4E7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solidFill>
                    <a:schemeClr val="tx1"/>
                  </a:solidFill>
                  <a:latin typeface="+mj-ea"/>
                  <a:ea typeface="+mj-ea"/>
                </a:rPr>
                <a:t>PROJECT</a:t>
              </a:r>
              <a:endParaRPr lang="ko-KR" altLang="en-US" sz="1050" b="1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32" name="텍스트 개체 틀 21"/>
          <p:cNvSpPr>
            <a:spLocks noGrp="1"/>
          </p:cNvSpPr>
          <p:nvPr>
            <p:ph type="body" sz="quarter" idx="11" hasCustomPrompt="1"/>
          </p:nvPr>
        </p:nvSpPr>
        <p:spPr>
          <a:xfrm>
            <a:off x="268605" y="219710"/>
            <a:ext cx="4898390" cy="418465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 latinLnBrk="0">
              <a:buFontTx/>
              <a:buNone/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/>
            </a:pPr>
            <a:r>
              <a:rPr lang="en-US" altLang="ko-KR" sz="1600" b="1">
                <a:solidFill>
                  <a:schemeClr val="bg2">
                    <a:lumMod val="25000"/>
                  </a:schemeClr>
                </a:solidFill>
                <a:latin typeface="맑은 고딕" charset="0"/>
                <a:ea typeface="맑은 고딕" charset="0"/>
                <a:cs typeface="+mn-cs"/>
              </a:rPr>
              <a:t>PORTFOLIO</a:t>
            </a:r>
            <a:endParaRPr lang="ko-KR" altLang="en-US" sz="1600" b="1">
              <a:solidFill>
                <a:schemeClr val="bg2">
                  <a:lumMod val="25000"/>
                </a:schemeClr>
              </a:solidFill>
              <a:latin typeface="맑은 고딕" charset="0"/>
              <a:ea typeface="맑은 고딕" charset="0"/>
              <a:cs typeface="+mn-cs"/>
            </a:endParaRPr>
          </a:p>
          <a:p>
            <a:pPr marL="0" indent="0" latinLnBrk="0">
              <a:buFontTx/>
              <a:buNone/>
              <a:defRPr/>
            </a:pPr>
            <a:endParaRPr lang="ko-KR" altLang="en-US" sz="1600" b="1">
              <a:latin typeface="Arial Black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3305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>
            <a:spLocks/>
          </p:cNvSpPr>
          <p:nvPr userDrawn="1"/>
        </p:nvSpPr>
        <p:spPr>
          <a:xfrm>
            <a:off x="0" y="0"/>
            <a:ext cx="9144635" cy="71564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E6F0FA"/>
              </a:gs>
            </a:gsLst>
            <a:lin ang="10800000" scaled="1"/>
          </a:gradFill>
          <a:ln w="12700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>
              <a:latin typeface="HY견고딕" charset="0"/>
              <a:ea typeface="HY견고딕" charset="0"/>
            </a:endParaRPr>
          </a:p>
        </p:txBody>
      </p:sp>
      <p:sp>
        <p:nvSpPr>
          <p:cNvPr id="12" name="직사각형 52"/>
          <p:cNvSpPr/>
          <p:nvPr userDrawn="1"/>
        </p:nvSpPr>
        <p:spPr>
          <a:xfrm>
            <a:off x="0" y="6693709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7152005" y="65849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1BA9C9-ACA8-4929-8E38-3AE1CAD68ED2}" type="slidenum">
              <a:rPr lang="ko-KR" altLang="en-US" sz="1400" smtClean="0"/>
              <a:pPr/>
              <a:t>‹#›</a:t>
            </a:fld>
            <a:endParaRPr lang="ko-KR" altLang="en-US" sz="1400" dirty="0"/>
          </a:p>
        </p:txBody>
      </p:sp>
      <p:sp>
        <p:nvSpPr>
          <p:cNvPr id="24" name="육각형 23"/>
          <p:cNvSpPr/>
          <p:nvPr userDrawn="1"/>
        </p:nvSpPr>
        <p:spPr>
          <a:xfrm>
            <a:off x="421640" y="1477645"/>
            <a:ext cx="159385" cy="137160"/>
          </a:xfrm>
          <a:prstGeom prst="hexagon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35" name="그룹 8"/>
          <p:cNvGrpSpPr/>
          <p:nvPr/>
        </p:nvGrpSpPr>
        <p:grpSpPr>
          <a:xfrm>
            <a:off x="0" y="716280"/>
            <a:ext cx="9144635" cy="337185"/>
            <a:chOff x="0" y="716280"/>
            <a:chExt cx="9144635" cy="337185"/>
          </a:xfrm>
        </p:grpSpPr>
        <p:sp>
          <p:nvSpPr>
            <p:cNvPr id="7" name="직사각형 6"/>
            <p:cNvSpPr>
              <a:spLocks/>
            </p:cNvSpPr>
            <p:nvPr userDrawn="1"/>
          </p:nvSpPr>
          <p:spPr>
            <a:xfrm>
              <a:off x="0" y="716280"/>
              <a:ext cx="9144635" cy="1016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 cap="flat" cmpd="sng">
              <a:solidFill>
                <a:schemeClr val="bg1">
                  <a:lumMod val="95000"/>
                  <a:alpha val="10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>
                <a:solidFill>
                  <a:schemeClr val="accent5">
                    <a:lumMod val="50000"/>
                  </a:schemeClr>
                </a:solidFill>
                <a:latin typeface="HY견고딕" charset="0"/>
                <a:ea typeface="HY견고딕" charset="0"/>
              </a:endParaRPr>
            </a:p>
          </p:txBody>
        </p:sp>
        <p:grpSp>
          <p:nvGrpSpPr>
            <p:cNvPr id="22" name="그룹 21"/>
            <p:cNvGrpSpPr/>
            <p:nvPr userDrawn="1"/>
          </p:nvGrpSpPr>
          <p:grpSpPr>
            <a:xfrm>
              <a:off x="2675255" y="805180"/>
              <a:ext cx="6451600" cy="248285"/>
              <a:chOff x="2675255" y="805180"/>
              <a:chExt cx="6451600" cy="248285"/>
            </a:xfrm>
          </p:grpSpPr>
          <p:sp>
            <p:nvSpPr>
              <p:cNvPr id="29" name="직사각형 28"/>
              <p:cNvSpPr>
                <a:spLocks/>
              </p:cNvSpPr>
              <p:nvPr userDrawn="1"/>
            </p:nvSpPr>
            <p:spPr>
              <a:xfrm>
                <a:off x="4824730" y="806450"/>
                <a:ext cx="2149475" cy="247015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  <a:defRPr/>
                </a:pPr>
                <a:r>
                  <a:rPr lang="en-US" altLang="ko-KR" sz="16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Hard Margin</a:t>
                </a:r>
                <a:endParaRPr lang="ko-KR" altLang="en-US" sz="16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18" name="직사각형 17"/>
              <p:cNvSpPr>
                <a:spLocks/>
              </p:cNvSpPr>
              <p:nvPr userDrawn="1"/>
            </p:nvSpPr>
            <p:spPr>
              <a:xfrm>
                <a:off x="6977380" y="805180"/>
                <a:ext cx="2149475" cy="247015"/>
              </a:xfrm>
              <a:prstGeom prst="rect">
                <a:avLst/>
              </a:prstGeom>
              <a:solidFill>
                <a:srgbClr val="1F4E79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r>
                  <a:rPr lang="en-US" altLang="ko-KR" sz="16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Soft Margin</a:t>
                </a:r>
                <a:endParaRPr lang="ko-KR" altLang="en-US" sz="16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8C6513CF-1BDC-4525-A773-5ABE5E78A776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2675255" y="806450"/>
                <a:ext cx="2149475" cy="247015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  <a:defRPr/>
                </a:pPr>
                <a:r>
                  <a:rPr lang="en-US" altLang="ko-KR" sz="16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SVM</a:t>
                </a:r>
                <a:endParaRPr lang="ko-KR" altLang="en-US" sz="16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</p:grpSp>
      </p:grpSp>
      <p:sp>
        <p:nvSpPr>
          <p:cNvPr id="32" name="텍스트 개체 틀 21"/>
          <p:cNvSpPr txBox="1">
            <a:spLocks noGrp="1"/>
          </p:cNvSpPr>
          <p:nvPr>
            <p:ph type="body" sz="quarter" idx="11"/>
          </p:nvPr>
        </p:nvSpPr>
        <p:spPr>
          <a:xfrm>
            <a:off x="-3810" y="194945"/>
            <a:ext cx="4898390" cy="32004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latinLnBrk="0">
              <a:buFontTx/>
              <a:buNone/>
              <a:defRPr/>
            </a:pPr>
            <a:endParaRPr lang="ko-KR" altLang="en-US" sz="1600" b="1">
              <a:latin typeface="Arial Black" charset="0"/>
            </a:endParaRPr>
          </a:p>
        </p:txBody>
      </p:sp>
      <p:sp>
        <p:nvSpPr>
          <p:cNvPr id="34" name="텍스트 상자 3"/>
          <p:cNvSpPr txBox="1">
            <a:spLocks/>
          </p:cNvSpPr>
          <p:nvPr/>
        </p:nvSpPr>
        <p:spPr>
          <a:xfrm>
            <a:off x="306705" y="1547495"/>
            <a:ext cx="7265670" cy="370205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254000" indent="-254000" algn="l" hangingPunct="1">
              <a:buFont typeface="Wingdings"/>
              <a:buChar char="Ø"/>
            </a:pP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36" name="도형 9"/>
          <p:cNvSpPr>
            <a:spLocks/>
          </p:cNvSpPr>
          <p:nvPr/>
        </p:nvSpPr>
        <p:spPr>
          <a:xfrm>
            <a:off x="0" y="507365"/>
            <a:ext cx="4980305" cy="88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5530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>
            <a:spLocks/>
          </p:cNvSpPr>
          <p:nvPr userDrawn="1"/>
        </p:nvSpPr>
        <p:spPr>
          <a:xfrm>
            <a:off x="0" y="0"/>
            <a:ext cx="9144635" cy="71564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E6F0FA"/>
              </a:gs>
            </a:gsLst>
            <a:lin ang="10800000" scaled="1"/>
          </a:gradFill>
          <a:ln w="12700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>
              <a:latin typeface="HY견고딕" charset="0"/>
              <a:ea typeface="HY견고딕" charset="0"/>
            </a:endParaRPr>
          </a:p>
        </p:txBody>
      </p:sp>
      <p:sp>
        <p:nvSpPr>
          <p:cNvPr id="12" name="직사각형 52"/>
          <p:cNvSpPr/>
          <p:nvPr userDrawn="1"/>
        </p:nvSpPr>
        <p:spPr>
          <a:xfrm>
            <a:off x="0" y="6693709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7152005" y="65849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1BA9C9-ACA8-4929-8E38-3AE1CAD68ED2}" type="slidenum">
              <a:rPr lang="ko-KR" altLang="en-US" sz="1400" smtClean="0"/>
              <a:pPr/>
              <a:t>‹#›</a:t>
            </a:fld>
            <a:endParaRPr lang="ko-KR" altLang="en-US" sz="1400" dirty="0"/>
          </a:p>
        </p:txBody>
      </p:sp>
      <p:sp>
        <p:nvSpPr>
          <p:cNvPr id="24" name="육각형 23"/>
          <p:cNvSpPr/>
          <p:nvPr userDrawn="1"/>
        </p:nvSpPr>
        <p:spPr>
          <a:xfrm>
            <a:off x="421640" y="1477645"/>
            <a:ext cx="159385" cy="137160"/>
          </a:xfrm>
          <a:prstGeom prst="hexagon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35" name="그룹 8"/>
          <p:cNvGrpSpPr/>
          <p:nvPr/>
        </p:nvGrpSpPr>
        <p:grpSpPr>
          <a:xfrm>
            <a:off x="0" y="716280"/>
            <a:ext cx="9144635" cy="337185"/>
            <a:chOff x="0" y="716280"/>
            <a:chExt cx="9144635" cy="337185"/>
          </a:xfrm>
        </p:grpSpPr>
        <p:sp>
          <p:nvSpPr>
            <p:cNvPr id="7" name="직사각형 6"/>
            <p:cNvSpPr>
              <a:spLocks/>
            </p:cNvSpPr>
            <p:nvPr userDrawn="1"/>
          </p:nvSpPr>
          <p:spPr>
            <a:xfrm>
              <a:off x="0" y="716280"/>
              <a:ext cx="9144635" cy="1016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 cap="flat" cmpd="sng">
              <a:solidFill>
                <a:schemeClr val="bg1">
                  <a:lumMod val="95000"/>
                  <a:alpha val="10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>
                <a:solidFill>
                  <a:schemeClr val="accent5">
                    <a:lumMod val="50000"/>
                  </a:schemeClr>
                </a:solidFill>
                <a:latin typeface="HY견고딕" charset="0"/>
                <a:ea typeface="HY견고딕" charset="0"/>
              </a:endParaRPr>
            </a:p>
          </p:txBody>
        </p:sp>
        <p:grpSp>
          <p:nvGrpSpPr>
            <p:cNvPr id="22" name="그룹 21"/>
            <p:cNvGrpSpPr/>
            <p:nvPr userDrawn="1"/>
          </p:nvGrpSpPr>
          <p:grpSpPr>
            <a:xfrm>
              <a:off x="2675255" y="805180"/>
              <a:ext cx="6451600" cy="248285"/>
              <a:chOff x="2675255" y="805180"/>
              <a:chExt cx="6451600" cy="248285"/>
            </a:xfrm>
          </p:grpSpPr>
          <p:sp>
            <p:nvSpPr>
              <p:cNvPr id="29" name="직사각형 28"/>
              <p:cNvSpPr>
                <a:spLocks/>
              </p:cNvSpPr>
              <p:nvPr userDrawn="1"/>
            </p:nvSpPr>
            <p:spPr>
              <a:xfrm>
                <a:off x="4824730" y="806450"/>
                <a:ext cx="2149475" cy="247015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  <a:defRPr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Hard Margin</a:t>
                </a: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18" name="직사각형 17"/>
              <p:cNvSpPr>
                <a:spLocks/>
              </p:cNvSpPr>
              <p:nvPr userDrawn="1"/>
            </p:nvSpPr>
            <p:spPr>
              <a:xfrm>
                <a:off x="6977380" y="805180"/>
                <a:ext cx="2149475" cy="247015"/>
              </a:xfrm>
              <a:prstGeom prst="rect">
                <a:avLst/>
              </a:prstGeom>
              <a:solidFill>
                <a:srgbClr val="1F4E79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Soft Margin</a:t>
                </a: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8C6513CF-1BDC-4525-A773-5ABE5E78A776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2675255" y="806450"/>
                <a:ext cx="2149475" cy="247015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  <a:defRPr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SVM</a:t>
                </a: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</p:grpSp>
      </p:grpSp>
      <p:sp>
        <p:nvSpPr>
          <p:cNvPr id="32" name="텍스트 개체 틀 21"/>
          <p:cNvSpPr txBox="1">
            <a:spLocks noGrp="1"/>
          </p:cNvSpPr>
          <p:nvPr>
            <p:ph type="body" sz="quarter" idx="11"/>
          </p:nvPr>
        </p:nvSpPr>
        <p:spPr>
          <a:xfrm>
            <a:off x="-3810" y="194945"/>
            <a:ext cx="4898390" cy="32004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latinLnBrk="0">
              <a:buFontTx/>
              <a:buNone/>
              <a:defRPr/>
            </a:pPr>
            <a:endParaRPr lang="ko-KR" altLang="en-US" sz="1600" b="1">
              <a:latin typeface="Arial Black" charset="0"/>
            </a:endParaRPr>
          </a:p>
        </p:txBody>
      </p:sp>
      <p:sp>
        <p:nvSpPr>
          <p:cNvPr id="34" name="텍스트 상자 3"/>
          <p:cNvSpPr txBox="1">
            <a:spLocks/>
          </p:cNvSpPr>
          <p:nvPr/>
        </p:nvSpPr>
        <p:spPr>
          <a:xfrm>
            <a:off x="306705" y="1547495"/>
            <a:ext cx="7265670" cy="370205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254000" indent="-254000" algn="l" hangingPunct="1">
              <a:buFont typeface="Wingdings"/>
              <a:buChar char="Ø"/>
            </a:pP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36" name="도형 9"/>
          <p:cNvSpPr>
            <a:spLocks/>
          </p:cNvSpPr>
          <p:nvPr/>
        </p:nvSpPr>
        <p:spPr>
          <a:xfrm>
            <a:off x="0" y="507365"/>
            <a:ext cx="4980305" cy="88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1116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>
            <a:spLocks/>
          </p:cNvSpPr>
          <p:nvPr userDrawn="1"/>
        </p:nvSpPr>
        <p:spPr>
          <a:xfrm>
            <a:off x="0" y="0"/>
            <a:ext cx="9144635" cy="71564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E6F0FA"/>
              </a:gs>
            </a:gsLst>
            <a:lin ang="10800000" scaled="1"/>
          </a:gradFill>
          <a:ln w="12700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>
              <a:latin typeface="HY견고딕" charset="0"/>
              <a:ea typeface="HY견고딕" charset="0"/>
            </a:endParaRPr>
          </a:p>
        </p:txBody>
      </p:sp>
      <p:sp>
        <p:nvSpPr>
          <p:cNvPr id="12" name="직사각형 52"/>
          <p:cNvSpPr/>
          <p:nvPr userDrawn="1"/>
        </p:nvSpPr>
        <p:spPr>
          <a:xfrm>
            <a:off x="0" y="6693709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7152005" y="65849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1BA9C9-ACA8-4929-8E38-3AE1CAD68ED2}" type="slidenum">
              <a:rPr lang="ko-KR" altLang="en-US" sz="1400" smtClean="0"/>
              <a:pPr/>
              <a:t>‹#›</a:t>
            </a:fld>
            <a:endParaRPr lang="ko-KR" altLang="en-US" sz="1400" dirty="0"/>
          </a:p>
        </p:txBody>
      </p:sp>
      <p:sp>
        <p:nvSpPr>
          <p:cNvPr id="24" name="육각형 23"/>
          <p:cNvSpPr/>
          <p:nvPr userDrawn="1"/>
        </p:nvSpPr>
        <p:spPr>
          <a:xfrm>
            <a:off x="421640" y="1477645"/>
            <a:ext cx="159385" cy="137160"/>
          </a:xfrm>
          <a:prstGeom prst="hexagon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35" name="그룹 8"/>
          <p:cNvGrpSpPr/>
          <p:nvPr/>
        </p:nvGrpSpPr>
        <p:grpSpPr>
          <a:xfrm>
            <a:off x="0" y="716280"/>
            <a:ext cx="9144635" cy="337185"/>
            <a:chOff x="0" y="716280"/>
            <a:chExt cx="9144635" cy="337185"/>
          </a:xfrm>
        </p:grpSpPr>
        <p:sp>
          <p:nvSpPr>
            <p:cNvPr id="7" name="직사각형 6"/>
            <p:cNvSpPr>
              <a:spLocks/>
            </p:cNvSpPr>
            <p:nvPr userDrawn="1"/>
          </p:nvSpPr>
          <p:spPr>
            <a:xfrm>
              <a:off x="0" y="716280"/>
              <a:ext cx="9144635" cy="1016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 cap="flat" cmpd="sng">
              <a:solidFill>
                <a:schemeClr val="bg1">
                  <a:lumMod val="95000"/>
                  <a:alpha val="10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>
                <a:solidFill>
                  <a:schemeClr val="accent5">
                    <a:lumMod val="50000"/>
                  </a:schemeClr>
                </a:solidFill>
                <a:latin typeface="HY견고딕" charset="0"/>
                <a:ea typeface="HY견고딕" charset="0"/>
              </a:endParaRPr>
            </a:p>
          </p:txBody>
        </p:sp>
        <p:grpSp>
          <p:nvGrpSpPr>
            <p:cNvPr id="22" name="그룹 21"/>
            <p:cNvGrpSpPr/>
            <p:nvPr userDrawn="1"/>
          </p:nvGrpSpPr>
          <p:grpSpPr>
            <a:xfrm>
              <a:off x="2675255" y="805180"/>
              <a:ext cx="6451600" cy="248285"/>
              <a:chOff x="2675255" y="805180"/>
              <a:chExt cx="6451600" cy="248285"/>
            </a:xfrm>
          </p:grpSpPr>
          <p:sp>
            <p:nvSpPr>
              <p:cNvPr id="29" name="직사각형 28"/>
              <p:cNvSpPr>
                <a:spLocks/>
              </p:cNvSpPr>
              <p:nvPr userDrawn="1"/>
            </p:nvSpPr>
            <p:spPr>
              <a:xfrm>
                <a:off x="4824730" y="806450"/>
                <a:ext cx="2149475" cy="247015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  <a:defRPr/>
                </a:pPr>
                <a:r>
                  <a:rPr lang="en-US" altLang="ko-KR" sz="16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Hard Margin</a:t>
                </a:r>
                <a:endParaRPr lang="ko-KR" altLang="en-US" sz="16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18" name="직사각형 17"/>
              <p:cNvSpPr>
                <a:spLocks/>
              </p:cNvSpPr>
              <p:nvPr userDrawn="1"/>
            </p:nvSpPr>
            <p:spPr>
              <a:xfrm>
                <a:off x="6977380" y="805180"/>
                <a:ext cx="2149475" cy="247015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r>
                  <a:rPr lang="en-US" altLang="ko-KR" sz="16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Soft Margin</a:t>
                </a:r>
                <a:endParaRPr lang="ko-KR" altLang="en-US" sz="16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8C6513CF-1BDC-4525-A773-5ABE5E78A776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2675255" y="806450"/>
                <a:ext cx="2149475" cy="247015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  <a:defRPr/>
                </a:pPr>
                <a:r>
                  <a:rPr lang="en-US" altLang="ko-KR" sz="16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SVM</a:t>
                </a:r>
                <a:endParaRPr lang="ko-KR" altLang="en-US" sz="16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</p:grpSp>
      </p:grpSp>
      <p:sp>
        <p:nvSpPr>
          <p:cNvPr id="32" name="텍스트 개체 틀 21"/>
          <p:cNvSpPr txBox="1">
            <a:spLocks noGrp="1"/>
          </p:cNvSpPr>
          <p:nvPr>
            <p:ph type="body" sz="quarter" idx="11"/>
          </p:nvPr>
        </p:nvSpPr>
        <p:spPr>
          <a:xfrm>
            <a:off x="-3810" y="194945"/>
            <a:ext cx="4898390" cy="32004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latinLnBrk="0">
              <a:buFontTx/>
              <a:buNone/>
              <a:defRPr/>
            </a:pPr>
            <a:endParaRPr lang="ko-KR" altLang="en-US" sz="1600" b="1">
              <a:latin typeface="Arial Black" charset="0"/>
            </a:endParaRPr>
          </a:p>
        </p:txBody>
      </p:sp>
      <p:sp>
        <p:nvSpPr>
          <p:cNvPr id="34" name="텍스트 상자 3"/>
          <p:cNvSpPr txBox="1">
            <a:spLocks/>
          </p:cNvSpPr>
          <p:nvPr/>
        </p:nvSpPr>
        <p:spPr>
          <a:xfrm>
            <a:off x="306705" y="1547495"/>
            <a:ext cx="7265670" cy="370205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254000" indent="-254000" algn="l" hangingPunct="1">
              <a:buFont typeface="Wingdings"/>
              <a:buChar char="Ø"/>
            </a:pP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36" name="도형 9"/>
          <p:cNvSpPr>
            <a:spLocks/>
          </p:cNvSpPr>
          <p:nvPr/>
        </p:nvSpPr>
        <p:spPr>
          <a:xfrm>
            <a:off x="0" y="507365"/>
            <a:ext cx="4980305" cy="88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0631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>
          <a:xfrm>
            <a:off x="0" y="6451600"/>
            <a:ext cx="9144000" cy="19558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5" name="직사각형 4"/>
          <p:cNvSpPr/>
          <p:nvPr userDrawn="1"/>
        </p:nvSpPr>
        <p:spPr>
          <a:xfrm>
            <a:off x="0" y="6677025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6" name="자유형 5"/>
          <p:cNvSpPr/>
          <p:nvPr userDrawn="1"/>
        </p:nvSpPr>
        <p:spPr>
          <a:xfrm>
            <a:off x="-220345" y="1868170"/>
            <a:ext cx="9144000" cy="2581910"/>
          </a:xfrm>
          <a:custGeom>
            <a:avLst/>
            <a:gdLst>
              <a:gd name="connsiteX0" fmla="*/ 55340 w 7037470"/>
              <a:gd name="connsiteY0" fmla="*/ 1044433 h 1987223"/>
              <a:gd name="connsiteX1" fmla="*/ 3421995 w 7037470"/>
              <a:gd name="connsiteY1" fmla="*/ 470855 h 1987223"/>
              <a:gd name="connsiteX2" fmla="*/ 5466926 w 7037470"/>
              <a:gd name="connsiteY2" fmla="*/ 445917 h 1987223"/>
              <a:gd name="connsiteX3" fmla="*/ 3704628 w 7037470"/>
              <a:gd name="connsiteY3" fmla="*/ 1318753 h 1987223"/>
              <a:gd name="connsiteX4" fmla="*/ 1776075 w 7037470"/>
              <a:gd name="connsiteY4" fmla="*/ 1967146 h 1987223"/>
              <a:gd name="connsiteX5" fmla="*/ 6306511 w 7037470"/>
              <a:gd name="connsiteY5" fmla="*/ 545670 h 1987223"/>
              <a:gd name="connsiteX6" fmla="*/ 6389639 w 7037470"/>
              <a:gd name="connsiteY6" fmla="*/ 13655 h 1987223"/>
              <a:gd name="connsiteX7" fmla="*/ 55340 w 7037470"/>
              <a:gd name="connsiteY7" fmla="*/ 1044433 h 1987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37470" h="1987223">
                <a:moveTo>
                  <a:pt x="55340" y="1044433"/>
                </a:moveTo>
                <a:cubicBezTo>
                  <a:pt x="-439267" y="1120633"/>
                  <a:pt x="2520064" y="570608"/>
                  <a:pt x="3421995" y="470855"/>
                </a:cubicBezTo>
                <a:cubicBezTo>
                  <a:pt x="4323926" y="371102"/>
                  <a:pt x="5419821" y="304601"/>
                  <a:pt x="5466926" y="445917"/>
                </a:cubicBezTo>
                <a:cubicBezTo>
                  <a:pt x="5514032" y="587233"/>
                  <a:pt x="4319770" y="1065215"/>
                  <a:pt x="3704628" y="1318753"/>
                </a:cubicBezTo>
                <a:cubicBezTo>
                  <a:pt x="3089486" y="1572291"/>
                  <a:pt x="1342428" y="2095993"/>
                  <a:pt x="1776075" y="1967146"/>
                </a:cubicBezTo>
                <a:cubicBezTo>
                  <a:pt x="2209722" y="1838299"/>
                  <a:pt x="5537584" y="871252"/>
                  <a:pt x="6306511" y="545670"/>
                </a:cubicBezTo>
                <a:cubicBezTo>
                  <a:pt x="7075438" y="220088"/>
                  <a:pt x="7432886" y="-66701"/>
                  <a:pt x="6389639" y="13655"/>
                </a:cubicBezTo>
                <a:cubicBezTo>
                  <a:pt x="5346392" y="94011"/>
                  <a:pt x="549947" y="968233"/>
                  <a:pt x="55340" y="1044433"/>
                </a:cubicBezTo>
                <a:close/>
              </a:path>
            </a:pathLst>
          </a:custGeom>
          <a:gradFill>
            <a:gsLst>
              <a:gs pos="71000">
                <a:schemeClr val="accent1">
                  <a:lumMod val="40000"/>
                  <a:lumOff val="60000"/>
                </a:schemeClr>
              </a:gs>
              <a:gs pos="0">
                <a:schemeClr val="bg1"/>
              </a:gs>
              <a:gs pos="9000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/>
          </a:p>
        </p:txBody>
      </p:sp>
      <p:sp>
        <p:nvSpPr>
          <p:cNvPr id="7" name="TextBox 6"/>
          <p:cNvSpPr txBox="1"/>
          <p:nvPr userDrawn="1"/>
        </p:nvSpPr>
        <p:spPr>
          <a:xfrm>
            <a:off x="1285240" y="2482215"/>
            <a:ext cx="6777990" cy="769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 latinLnBrk="0"/>
            <a:r>
              <a:rPr lang="ko-KR" altLang="en-US" sz="44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감사합니다</a:t>
            </a:r>
            <a:r>
              <a:rPr lang="en-US" altLang="ko-KR" sz="44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  <a:endParaRPr lang="ko-KR" altLang="en-US" sz="3200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06721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8D494E-9A8C-4064-A675-DDDE52517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205" y="1710055"/>
            <a:ext cx="7886700" cy="28524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886235-E225-44F2-AEE7-6594F1FE60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4205" y="4589780"/>
            <a:ext cx="7886700" cy="149987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E81B25-1300-449B-BED3-50A8067F4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8035" cy="365760"/>
          </a:xfrm>
        </p:spPr>
        <p:txBody>
          <a:bodyPr/>
          <a:lstStyle/>
          <a:p>
            <a:fld id="{886427A3-7A7B-471F-9052-B4F6CB5735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8178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E11BA9C9-ACA8-4929-8E38-3AE1CAD68ED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941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33" r:id="rId4"/>
    <p:sldLayoutId id="2147483728" r:id="rId5"/>
    <p:sldLayoutId id="2147483734" r:id="rId6"/>
    <p:sldLayoutId id="2147483729" r:id="rId7"/>
    <p:sldLayoutId id="2147483735" r:id="rId8"/>
    <p:sldLayoutId id="2147483730" r:id="rId9"/>
    <p:sldLayoutId id="2147483731" r:id="rId10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0.png"/><Relationship Id="rId13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image" Target="../media/image410.png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11" Type="http://schemas.openxmlformats.org/officeDocument/2006/relationships/image" Target="../media/image8.png"/><Relationship Id="rId5" Type="http://schemas.openxmlformats.org/officeDocument/2006/relationships/image" Target="../media/image5.png"/><Relationship Id="rId10" Type="http://schemas.openxmlformats.org/officeDocument/2006/relationships/image" Target="../media/image7.png"/><Relationship Id="rId4" Type="http://schemas.openxmlformats.org/officeDocument/2006/relationships/image" Target="../media/image4.png"/><Relationship Id="rId9" Type="http://schemas.openxmlformats.org/officeDocument/2006/relationships/image" Target="../media/image6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12.png"/><Relationship Id="rId9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9" Type="http://schemas.openxmlformats.org/officeDocument/2006/relationships/comments" Target="../comments/commen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11" Type="http://schemas.openxmlformats.org/officeDocument/2006/relationships/comments" Target="../comments/comment2.xml"/><Relationship Id="rId5" Type="http://schemas.openxmlformats.org/officeDocument/2006/relationships/image" Target="../media/image54.png"/><Relationship Id="rId10" Type="http://schemas.openxmlformats.org/officeDocument/2006/relationships/image" Target="../media/image59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0.png"/><Relationship Id="rId13" Type="http://schemas.openxmlformats.org/officeDocument/2006/relationships/image" Target="../media/image620.png"/><Relationship Id="rId3" Type="http://schemas.openxmlformats.org/officeDocument/2006/relationships/image" Target="../media/image520.png"/><Relationship Id="rId7" Type="http://schemas.openxmlformats.org/officeDocument/2006/relationships/image" Target="../media/image560.png"/><Relationship Id="rId12" Type="http://schemas.openxmlformats.org/officeDocument/2006/relationships/image" Target="../media/image6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0.png"/><Relationship Id="rId11" Type="http://schemas.openxmlformats.org/officeDocument/2006/relationships/image" Target="../media/image600.png"/><Relationship Id="rId5" Type="http://schemas.openxmlformats.org/officeDocument/2006/relationships/image" Target="../media/image540.png"/><Relationship Id="rId15" Type="http://schemas.openxmlformats.org/officeDocument/2006/relationships/image" Target="../media/image640.png"/><Relationship Id="rId10" Type="http://schemas.openxmlformats.org/officeDocument/2006/relationships/image" Target="../media/image590.png"/><Relationship Id="rId4" Type="http://schemas.openxmlformats.org/officeDocument/2006/relationships/image" Target="../media/image530.png"/><Relationship Id="rId9" Type="http://schemas.openxmlformats.org/officeDocument/2006/relationships/image" Target="../media/image580.png"/><Relationship Id="rId14" Type="http://schemas.openxmlformats.org/officeDocument/2006/relationships/image" Target="../media/image6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>
            <a:spLocks/>
          </p:cNvSpPr>
          <p:nvPr/>
        </p:nvSpPr>
        <p:spPr>
          <a:xfrm>
            <a:off x="6600825" y="5478145"/>
            <a:ext cx="2542540" cy="496570"/>
          </a:xfrm>
          <a:prstGeom prst="rect">
            <a:avLst/>
          </a:prstGeom>
          <a:noFill/>
          <a:ln w="0"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r>
              <a:rPr lang="ko-KR" altLang="en-US" sz="1400">
                <a:solidFill>
                  <a:schemeClr val="tx1"/>
                </a:solidFill>
              </a:rPr>
              <a:t>UST21 부설 연구소 </a:t>
            </a:r>
          </a:p>
          <a:p>
            <a:pPr marL="0" indent="0" algn="ctr" latinLnBrk="0">
              <a:buFontTx/>
              <a:buNone/>
            </a:pPr>
            <a:r>
              <a:rPr lang="ko-KR" altLang="en-US" sz="1400">
                <a:solidFill>
                  <a:schemeClr val="tx1"/>
                </a:solidFill>
              </a:rPr>
              <a:t>김지훈</a:t>
            </a:r>
          </a:p>
        </p:txBody>
      </p:sp>
      <p:sp>
        <p:nvSpPr>
          <p:cNvPr id="5" name="직사각형 4"/>
          <p:cNvSpPr>
            <a:spLocks/>
          </p:cNvSpPr>
          <p:nvPr/>
        </p:nvSpPr>
        <p:spPr>
          <a:xfrm>
            <a:off x="0" y="2234565"/>
            <a:ext cx="9145270" cy="1419225"/>
          </a:xfrm>
          <a:prstGeom prst="rect">
            <a:avLst/>
          </a:prstGeom>
          <a:noFill/>
          <a:ln w="0"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r>
              <a:rPr lang="en-US" altLang="ko-KR" sz="6000">
                <a:solidFill>
                  <a:schemeClr val="tx1"/>
                </a:solidFill>
              </a:rPr>
              <a:t>Linear </a:t>
            </a:r>
            <a:r>
              <a:rPr lang="en-US" altLang="ko-KR" sz="6000" b="0">
                <a:solidFill>
                  <a:schemeClr val="tx1"/>
                </a:solidFill>
              </a:rPr>
              <a:t>SVM</a:t>
            </a:r>
            <a:endParaRPr lang="ko-KR" altLang="en-US" sz="6000" b="0">
              <a:solidFill>
                <a:schemeClr val="tx1"/>
              </a:solidFill>
            </a:endParaRPr>
          </a:p>
          <a:p>
            <a:pPr marL="0" indent="0" algn="ctr" latinLnBrk="0">
              <a:buFontTx/>
              <a:buNone/>
            </a:pPr>
            <a:r>
              <a:rPr lang="en-US" altLang="ko-KR" sz="6000" b="0">
                <a:solidFill>
                  <a:schemeClr val="tx1"/>
                </a:solidFill>
              </a:rPr>
              <a:t>(Support Vector Machine)</a:t>
            </a:r>
            <a:endParaRPr lang="ko-KR" altLang="en-US" sz="6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0255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상자 6"/>
          <p:cNvSpPr txBox="1">
            <a:spLocks/>
          </p:cNvSpPr>
          <p:nvPr/>
        </p:nvSpPr>
        <p:spPr>
          <a:xfrm>
            <a:off x="3890645" y="5037455"/>
            <a:ext cx="3508375" cy="370205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l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95A8B6C-64EB-49EA-B8E4-B4CEECCF632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90645" y="2102801"/>
            <a:ext cx="3721100" cy="370205"/>
          </a:xfrm>
        </p:spPr>
        <p:txBody>
          <a:bodyPr/>
          <a:lstStyle/>
          <a:p>
            <a:r>
              <a:rPr lang="en-US" altLang="ko-KR" sz="2400"/>
              <a:t>SVM</a:t>
            </a:r>
            <a:endParaRPr lang="ko-KR" altLang="en-US" sz="2400"/>
          </a:p>
        </p:txBody>
      </p:sp>
      <p:sp>
        <p:nvSpPr>
          <p:cNvPr id="14" name="텍스트 개체 틀 6">
            <a:extLst>
              <a:ext uri="{FF2B5EF4-FFF2-40B4-BE49-F238E27FC236}">
                <a16:creationId xmlns:a16="http://schemas.microsoft.com/office/drawing/2014/main" id="{055F7001-F83D-4CFE-A15C-2A9E1C8B702D}"/>
              </a:ext>
            </a:extLst>
          </p:cNvPr>
          <p:cNvSpPr txBox="1">
            <a:spLocks/>
          </p:cNvSpPr>
          <p:nvPr/>
        </p:nvSpPr>
        <p:spPr>
          <a:xfrm>
            <a:off x="3890645" y="2994341"/>
            <a:ext cx="3721100" cy="37020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/>
              <a:t>Hard Margin</a:t>
            </a:r>
            <a:endParaRPr lang="ko-KR" altLang="en-US" sz="2400"/>
          </a:p>
        </p:txBody>
      </p:sp>
      <p:sp>
        <p:nvSpPr>
          <p:cNvPr id="15" name="텍스트 개체 틀 6">
            <a:extLst>
              <a:ext uri="{FF2B5EF4-FFF2-40B4-BE49-F238E27FC236}">
                <a16:creationId xmlns:a16="http://schemas.microsoft.com/office/drawing/2014/main" id="{0848AE5B-1115-44CA-B0EE-2DA9F36489C1}"/>
              </a:ext>
            </a:extLst>
          </p:cNvPr>
          <p:cNvSpPr txBox="1">
            <a:spLocks/>
          </p:cNvSpPr>
          <p:nvPr/>
        </p:nvSpPr>
        <p:spPr>
          <a:xfrm>
            <a:off x="3890645" y="3885881"/>
            <a:ext cx="3721100" cy="37020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/>
              <a:t>Soft Margin</a:t>
            </a:r>
            <a:endParaRPr lang="ko-KR" altLang="en-US"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E824DE98-FD2E-476C-A225-9B48EC87AD7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lang="ko-KR" altLang="en-US" b="1"/>
              <a:t>알맞은 형태는 무엇일까</a:t>
            </a:r>
          </a:p>
          <a:p>
            <a:pPr>
              <a:buNone/>
            </a:pPr>
            <a:endParaRPr lang="ko-KR" altLang="en-US" sz="1600" b="0">
              <a:solidFill>
                <a:schemeClr val="tx1"/>
              </a:solidFill>
            </a:endParaRPr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8AFD3E6C-C216-4FBF-AC4F-241919A18904}"/>
              </a:ext>
            </a:extLst>
          </p:cNvPr>
          <p:cNvGrpSpPr/>
          <p:nvPr/>
        </p:nvGrpSpPr>
        <p:grpSpPr>
          <a:xfrm>
            <a:off x="2122170" y="1690669"/>
            <a:ext cx="4461310" cy="3760017"/>
            <a:chOff x="3209545" y="1946231"/>
            <a:chExt cx="2705195" cy="2309146"/>
          </a:xfrm>
        </p:grpSpPr>
        <p:sp>
          <p:nvSpPr>
            <p:cNvPr id="28" name="이등변 삼각형 27">
              <a:extLst>
                <a:ext uri="{FF2B5EF4-FFF2-40B4-BE49-F238E27FC236}">
                  <a16:creationId xmlns:a16="http://schemas.microsoft.com/office/drawing/2014/main" id="{87731B53-F884-4525-8073-747DA700CB58}"/>
                </a:ext>
              </a:extLst>
            </p:cNvPr>
            <p:cNvSpPr/>
            <p:nvPr/>
          </p:nvSpPr>
          <p:spPr>
            <a:xfrm>
              <a:off x="4484270" y="2517660"/>
              <a:ext cx="112796" cy="117511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이등변 삼각형 28">
              <a:extLst>
                <a:ext uri="{FF2B5EF4-FFF2-40B4-BE49-F238E27FC236}">
                  <a16:creationId xmlns:a16="http://schemas.microsoft.com/office/drawing/2014/main" id="{BC06C463-AAED-4A57-9B81-51C3FCAD1539}"/>
                </a:ext>
              </a:extLst>
            </p:cNvPr>
            <p:cNvSpPr/>
            <p:nvPr/>
          </p:nvSpPr>
          <p:spPr>
            <a:xfrm>
              <a:off x="4640088" y="2888141"/>
              <a:ext cx="112796" cy="117511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이등변 삼각형 29">
              <a:extLst>
                <a:ext uri="{FF2B5EF4-FFF2-40B4-BE49-F238E27FC236}">
                  <a16:creationId xmlns:a16="http://schemas.microsoft.com/office/drawing/2014/main" id="{34B7FF45-CD18-4D9F-851C-7C8C4C6706F3}"/>
                </a:ext>
              </a:extLst>
            </p:cNvPr>
            <p:cNvSpPr/>
            <p:nvPr/>
          </p:nvSpPr>
          <p:spPr>
            <a:xfrm>
              <a:off x="4958619" y="3014396"/>
              <a:ext cx="112796" cy="117511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이등변 삼각형 30">
              <a:extLst>
                <a:ext uri="{FF2B5EF4-FFF2-40B4-BE49-F238E27FC236}">
                  <a16:creationId xmlns:a16="http://schemas.microsoft.com/office/drawing/2014/main" id="{26ADA9B8-FE9E-4ABC-B84F-866C1948B1D5}"/>
                </a:ext>
              </a:extLst>
            </p:cNvPr>
            <p:cNvSpPr/>
            <p:nvPr/>
          </p:nvSpPr>
          <p:spPr>
            <a:xfrm>
              <a:off x="5284868" y="3078921"/>
              <a:ext cx="112796" cy="117511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이등변 삼각형 31">
              <a:extLst>
                <a:ext uri="{FF2B5EF4-FFF2-40B4-BE49-F238E27FC236}">
                  <a16:creationId xmlns:a16="http://schemas.microsoft.com/office/drawing/2014/main" id="{99E81962-B8E9-4542-A57E-E73E95EB9AAA}"/>
                </a:ext>
              </a:extLst>
            </p:cNvPr>
            <p:cNvSpPr/>
            <p:nvPr/>
          </p:nvSpPr>
          <p:spPr>
            <a:xfrm>
              <a:off x="4945568" y="2643972"/>
              <a:ext cx="112796" cy="117511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0FAA306E-7F04-4793-94F7-2ECDD9BB9E5F}"/>
                </a:ext>
              </a:extLst>
            </p:cNvPr>
            <p:cNvGrpSpPr/>
            <p:nvPr/>
          </p:nvGrpSpPr>
          <p:grpSpPr>
            <a:xfrm>
              <a:off x="3254082" y="1994007"/>
              <a:ext cx="2660658" cy="2261370"/>
              <a:chOff x="3431097" y="1987172"/>
              <a:chExt cx="3482605" cy="2744220"/>
            </a:xfrm>
          </p:grpSpPr>
          <p:cxnSp>
            <p:nvCxnSpPr>
              <p:cNvPr id="26" name="직선 화살표 연결선 25">
                <a:extLst>
                  <a:ext uri="{FF2B5EF4-FFF2-40B4-BE49-F238E27FC236}">
                    <a16:creationId xmlns:a16="http://schemas.microsoft.com/office/drawing/2014/main" id="{4177FD04-22DD-4377-AA15-F02601BD28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31097" y="4731391"/>
                <a:ext cx="348260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" name="직선 화살표 연결선 26">
                <a:extLst>
                  <a:ext uri="{FF2B5EF4-FFF2-40B4-BE49-F238E27FC236}">
                    <a16:creationId xmlns:a16="http://schemas.microsoft.com/office/drawing/2014/main" id="{1A46220E-6F57-4E50-A227-F79FDFFA42B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436689" y="1987172"/>
                <a:ext cx="0" cy="274422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17F17DD7-8B13-4F6D-B175-F556EF887EFB}"/>
                </a:ext>
              </a:extLst>
            </p:cNvPr>
            <p:cNvCxnSpPr>
              <a:cxnSpLocks/>
            </p:cNvCxnSpPr>
            <p:nvPr/>
          </p:nvCxnSpPr>
          <p:spPr>
            <a:xfrm>
              <a:off x="3743758" y="2385429"/>
              <a:ext cx="1518890" cy="1693669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A4046A54-D1CF-47EA-9607-FDC44E84B152}"/>
                </a:ext>
              </a:extLst>
            </p:cNvPr>
            <p:cNvSpPr/>
            <p:nvPr/>
          </p:nvSpPr>
          <p:spPr>
            <a:xfrm>
              <a:off x="3695692" y="3166168"/>
              <a:ext cx="96133" cy="105415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3FED39B9-121C-49A8-93AB-712767B2EDD9}"/>
                </a:ext>
              </a:extLst>
            </p:cNvPr>
            <p:cNvSpPr/>
            <p:nvPr/>
          </p:nvSpPr>
          <p:spPr>
            <a:xfrm>
              <a:off x="3797163" y="3499983"/>
              <a:ext cx="96133" cy="105415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BE5257A1-C33B-4FA0-8A92-17CE7653F871}"/>
                </a:ext>
              </a:extLst>
            </p:cNvPr>
            <p:cNvSpPr/>
            <p:nvPr/>
          </p:nvSpPr>
          <p:spPr>
            <a:xfrm>
              <a:off x="3877903" y="3848221"/>
              <a:ext cx="96133" cy="105415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13705084-25D6-4BDD-8CF4-E990B92D8129}"/>
                </a:ext>
              </a:extLst>
            </p:cNvPr>
            <p:cNvSpPr/>
            <p:nvPr/>
          </p:nvSpPr>
          <p:spPr>
            <a:xfrm>
              <a:off x="4264428" y="3593258"/>
              <a:ext cx="96133" cy="105415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BA4C84DE-E1A0-4224-8687-68E9946CA69F}"/>
                </a:ext>
              </a:extLst>
            </p:cNvPr>
            <p:cNvSpPr/>
            <p:nvPr/>
          </p:nvSpPr>
          <p:spPr>
            <a:xfrm>
              <a:off x="3985672" y="3152291"/>
              <a:ext cx="96133" cy="105415"/>
            </a:xfrm>
            <a:prstGeom prst="rect">
              <a:avLst/>
            </a:prstGeom>
            <a:solidFill>
              <a:srgbClr val="2C6F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D313A19F-6A8B-40A6-A726-9C6C08EBD566}"/>
                </a:ext>
              </a:extLst>
            </p:cNvPr>
            <p:cNvCxnSpPr>
              <a:cxnSpLocks/>
            </p:cNvCxnSpPr>
            <p:nvPr/>
          </p:nvCxnSpPr>
          <p:spPr>
            <a:xfrm>
              <a:off x="4154510" y="2205805"/>
              <a:ext cx="533645" cy="195755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49C036D1-7006-4DCF-BE49-69BA818CCD0E}"/>
                </a:ext>
              </a:extLst>
            </p:cNvPr>
            <p:cNvCxnSpPr>
              <a:cxnSpLocks/>
            </p:cNvCxnSpPr>
            <p:nvPr/>
          </p:nvCxnSpPr>
          <p:spPr>
            <a:xfrm>
              <a:off x="3426716" y="2785350"/>
              <a:ext cx="2227903" cy="783802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08DE1EF-BA01-4C5A-A3D6-C0CF61FDC907}"/>
                </a:ext>
              </a:extLst>
            </p:cNvPr>
            <p:cNvSpPr txBox="1"/>
            <p:nvPr/>
          </p:nvSpPr>
          <p:spPr>
            <a:xfrm>
              <a:off x="3209545" y="2594821"/>
              <a:ext cx="16408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100"/>
                <a:t>1</a:t>
              </a:r>
              <a:endParaRPr lang="ko-KR" altLang="en-US" sz="110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1E53F3F-8EEE-4C7B-B1E2-2E1B8B7531F8}"/>
                </a:ext>
              </a:extLst>
            </p:cNvPr>
            <p:cNvSpPr txBox="1"/>
            <p:nvPr/>
          </p:nvSpPr>
          <p:spPr>
            <a:xfrm>
              <a:off x="3531603" y="2180628"/>
              <a:ext cx="16408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100"/>
                <a:t>2</a:t>
              </a:r>
              <a:endParaRPr lang="ko-KR" altLang="en-US" sz="110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31E0EAB8-48CF-4BE4-A6EE-5EA0777BE309}"/>
                </a:ext>
              </a:extLst>
            </p:cNvPr>
            <p:cNvSpPr txBox="1"/>
            <p:nvPr/>
          </p:nvSpPr>
          <p:spPr>
            <a:xfrm>
              <a:off x="3963635" y="1946231"/>
              <a:ext cx="16408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100"/>
                <a:t>3</a:t>
              </a:r>
              <a:endParaRPr lang="ko-KR" altLang="en-US" sz="1100"/>
            </a:p>
          </p:txBody>
        </p:sp>
      </p:grpSp>
    </p:spTree>
    <p:extLst>
      <p:ext uri="{BB962C8B-B14F-4D97-AF65-F5344CB8AC3E}">
        <p14:creationId xmlns:p14="http://schemas.microsoft.com/office/powerpoint/2010/main" val="2988344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87731B53-F884-4525-8073-747DA700CB58}"/>
              </a:ext>
            </a:extLst>
          </p:cNvPr>
          <p:cNvSpPr/>
          <p:nvPr/>
        </p:nvSpPr>
        <p:spPr>
          <a:xfrm>
            <a:off x="4224400" y="2621135"/>
            <a:ext cx="186019" cy="191345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이등변 삼각형 28">
            <a:extLst>
              <a:ext uri="{FF2B5EF4-FFF2-40B4-BE49-F238E27FC236}">
                <a16:creationId xmlns:a16="http://schemas.microsoft.com/office/drawing/2014/main" id="{BC06C463-AAED-4A57-9B81-51C3FCAD1539}"/>
              </a:ext>
            </a:extLst>
          </p:cNvPr>
          <p:cNvSpPr/>
          <p:nvPr/>
        </p:nvSpPr>
        <p:spPr>
          <a:xfrm>
            <a:off x="4481370" y="3224395"/>
            <a:ext cx="186019" cy="191345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이등변 삼각형 29">
            <a:extLst>
              <a:ext uri="{FF2B5EF4-FFF2-40B4-BE49-F238E27FC236}">
                <a16:creationId xmlns:a16="http://schemas.microsoft.com/office/drawing/2014/main" id="{34B7FF45-CD18-4D9F-851C-7C8C4C6706F3}"/>
              </a:ext>
            </a:extLst>
          </p:cNvPr>
          <p:cNvSpPr/>
          <p:nvPr/>
        </p:nvSpPr>
        <p:spPr>
          <a:xfrm>
            <a:off x="5006680" y="3429978"/>
            <a:ext cx="186019" cy="191345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이등변 삼각형 30">
            <a:extLst>
              <a:ext uri="{FF2B5EF4-FFF2-40B4-BE49-F238E27FC236}">
                <a16:creationId xmlns:a16="http://schemas.microsoft.com/office/drawing/2014/main" id="{26ADA9B8-FE9E-4ABC-B84F-866C1948B1D5}"/>
              </a:ext>
            </a:extLst>
          </p:cNvPr>
          <p:cNvSpPr/>
          <p:nvPr/>
        </p:nvSpPr>
        <p:spPr>
          <a:xfrm>
            <a:off x="5544718" y="3535045"/>
            <a:ext cx="186019" cy="191345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이등변 삼각형 31">
            <a:extLst>
              <a:ext uri="{FF2B5EF4-FFF2-40B4-BE49-F238E27FC236}">
                <a16:creationId xmlns:a16="http://schemas.microsoft.com/office/drawing/2014/main" id="{99E81962-B8E9-4542-A57E-E73E95EB9AAA}"/>
              </a:ext>
            </a:extLst>
          </p:cNvPr>
          <p:cNvSpPr/>
          <p:nvPr/>
        </p:nvSpPr>
        <p:spPr>
          <a:xfrm>
            <a:off x="4985157" y="2826811"/>
            <a:ext cx="186019" cy="191345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0FAA306E-7F04-4793-94F7-2ECDD9BB9E5F}"/>
              </a:ext>
            </a:extLst>
          </p:cNvPr>
          <p:cNvGrpSpPr/>
          <p:nvPr/>
        </p:nvGrpSpPr>
        <p:grpSpPr>
          <a:xfrm>
            <a:off x="2195619" y="1768463"/>
            <a:ext cx="4387861" cy="3682223"/>
            <a:chOff x="3431097" y="1987172"/>
            <a:chExt cx="3482605" cy="2744220"/>
          </a:xfrm>
        </p:grpSpPr>
        <p:cxnSp>
          <p:nvCxnSpPr>
            <p:cNvPr id="26" name="직선 화살표 연결선 25">
              <a:extLst>
                <a:ext uri="{FF2B5EF4-FFF2-40B4-BE49-F238E27FC236}">
                  <a16:creationId xmlns:a16="http://schemas.microsoft.com/office/drawing/2014/main" id="{4177FD04-22DD-4377-AA15-F02601BD2862}"/>
                </a:ext>
              </a:extLst>
            </p:cNvPr>
            <p:cNvCxnSpPr>
              <a:cxnSpLocks/>
            </p:cNvCxnSpPr>
            <p:nvPr/>
          </p:nvCxnSpPr>
          <p:spPr>
            <a:xfrm>
              <a:off x="3431097" y="4731391"/>
              <a:ext cx="348260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직선 화살표 연결선 26">
              <a:extLst>
                <a:ext uri="{FF2B5EF4-FFF2-40B4-BE49-F238E27FC236}">
                  <a16:creationId xmlns:a16="http://schemas.microsoft.com/office/drawing/2014/main" id="{1A46220E-6F57-4E50-A227-F79FDFFA42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36689" y="1987172"/>
              <a:ext cx="0" cy="274422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7F17DD7-8B13-4F6D-B175-F556EF887EFB}"/>
              </a:ext>
            </a:extLst>
          </p:cNvPr>
          <p:cNvCxnSpPr>
            <a:cxnSpLocks/>
          </p:cNvCxnSpPr>
          <p:nvPr/>
        </p:nvCxnSpPr>
        <p:spPr>
          <a:xfrm>
            <a:off x="3003175" y="2405822"/>
            <a:ext cx="2504899" cy="275782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4046A54-D1CF-47EA-9607-FDC44E84B152}"/>
              </a:ext>
            </a:extLst>
          </p:cNvPr>
          <p:cNvSpPr/>
          <p:nvPr/>
        </p:nvSpPr>
        <p:spPr>
          <a:xfrm>
            <a:off x="2923906" y="3677111"/>
            <a:ext cx="158539" cy="171649"/>
          </a:xfrm>
          <a:prstGeom prst="rect">
            <a:avLst/>
          </a:prstGeom>
          <a:solidFill>
            <a:srgbClr val="2C6FA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FED39B9-121C-49A8-93AB-712767B2EDD9}"/>
              </a:ext>
            </a:extLst>
          </p:cNvPr>
          <p:cNvSpPr/>
          <p:nvPr/>
        </p:nvSpPr>
        <p:spPr>
          <a:xfrm>
            <a:off x="3091248" y="4220667"/>
            <a:ext cx="158539" cy="171649"/>
          </a:xfrm>
          <a:prstGeom prst="rect">
            <a:avLst/>
          </a:prstGeom>
          <a:solidFill>
            <a:srgbClr val="2C6FA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E5257A1-C33B-4FA0-8A92-17CE7653F871}"/>
              </a:ext>
            </a:extLst>
          </p:cNvPr>
          <p:cNvSpPr/>
          <p:nvPr/>
        </p:nvSpPr>
        <p:spPr>
          <a:xfrm>
            <a:off x="3224402" y="4787708"/>
            <a:ext cx="158539" cy="171649"/>
          </a:xfrm>
          <a:prstGeom prst="rect">
            <a:avLst/>
          </a:prstGeom>
          <a:solidFill>
            <a:srgbClr val="2C6FA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3705084-25D6-4BDD-8CF4-E990B92D8129}"/>
              </a:ext>
            </a:extLst>
          </p:cNvPr>
          <p:cNvSpPr/>
          <p:nvPr/>
        </p:nvSpPr>
        <p:spPr>
          <a:xfrm>
            <a:off x="3861845" y="4372548"/>
            <a:ext cx="158539" cy="171649"/>
          </a:xfrm>
          <a:prstGeom prst="rect">
            <a:avLst/>
          </a:prstGeom>
          <a:solidFill>
            <a:srgbClr val="2C6FA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A4C84DE-E1A0-4224-8687-68E9946CA69F}"/>
              </a:ext>
            </a:extLst>
          </p:cNvPr>
          <p:cNvSpPr/>
          <p:nvPr/>
        </p:nvSpPr>
        <p:spPr>
          <a:xfrm>
            <a:off x="3402131" y="3654515"/>
            <a:ext cx="158539" cy="171649"/>
          </a:xfrm>
          <a:prstGeom prst="rect">
            <a:avLst/>
          </a:prstGeom>
          <a:solidFill>
            <a:srgbClr val="2C6FA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1E53F3F-8EEE-4C7B-B1E2-2E1B8B7531F8}"/>
              </a:ext>
            </a:extLst>
          </p:cNvPr>
          <p:cNvSpPr txBox="1"/>
          <p:nvPr/>
        </p:nvSpPr>
        <p:spPr>
          <a:xfrm>
            <a:off x="2653296" y="2072341"/>
            <a:ext cx="270610" cy="425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/>
              <a:t>2</a:t>
            </a:r>
            <a:endParaRPr lang="ko-KR" altLang="en-US" sz="1100"/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4A8647E0-25B4-42A2-89C9-37BFA1EC8A2A}"/>
              </a:ext>
            </a:extLst>
          </p:cNvPr>
          <p:cNvCxnSpPr>
            <a:cxnSpLocks/>
          </p:cNvCxnSpPr>
          <p:nvPr/>
        </p:nvCxnSpPr>
        <p:spPr>
          <a:xfrm flipV="1">
            <a:off x="3552624" y="3354225"/>
            <a:ext cx="324675" cy="31093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E5F70127-E4EE-4516-BF90-76D6A48948D4}"/>
              </a:ext>
            </a:extLst>
          </p:cNvPr>
          <p:cNvCxnSpPr>
            <a:cxnSpLocks/>
          </p:cNvCxnSpPr>
          <p:nvPr/>
        </p:nvCxnSpPr>
        <p:spPr>
          <a:xfrm flipV="1">
            <a:off x="4188619" y="3415740"/>
            <a:ext cx="292751" cy="28703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1ED2E010-F5E0-4D66-B76D-8DEBF5D273B8}"/>
              </a:ext>
            </a:extLst>
          </p:cNvPr>
          <p:cNvSpPr txBox="1"/>
          <p:nvPr/>
        </p:nvSpPr>
        <p:spPr>
          <a:xfrm>
            <a:off x="3183517" y="3335155"/>
            <a:ext cx="6347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/>
              <a:t>Margin</a:t>
            </a:r>
            <a:endParaRPr lang="ko-KR" altLang="en-US" sz="110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4E0FE65-E7D0-4C54-9571-5E9543618DCE}"/>
              </a:ext>
            </a:extLst>
          </p:cNvPr>
          <p:cNvSpPr txBox="1"/>
          <p:nvPr/>
        </p:nvSpPr>
        <p:spPr>
          <a:xfrm>
            <a:off x="4301388" y="3550228"/>
            <a:ext cx="6347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/>
              <a:t>Margin</a:t>
            </a:r>
            <a:endParaRPr lang="ko-KR" altLang="en-US" sz="1100"/>
          </a:p>
        </p:txBody>
      </p:sp>
      <p:sp>
        <p:nvSpPr>
          <p:cNvPr id="53" name="텍스트 개체 틀 52">
            <a:extLst>
              <a:ext uri="{FF2B5EF4-FFF2-40B4-BE49-F238E27FC236}">
                <a16:creationId xmlns:a16="http://schemas.microsoft.com/office/drawing/2014/main" id="{D2724B42-A1F3-4C8E-BCE6-F09EFDEFB23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lang="ko-KR" altLang="en-US"/>
              <a:t>알맞은 형태는 무엇일까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F10FB32-2146-4E40-A872-8175AE73E8B0}"/>
              </a:ext>
            </a:extLst>
          </p:cNvPr>
          <p:cNvSpPr txBox="1"/>
          <p:nvPr/>
        </p:nvSpPr>
        <p:spPr>
          <a:xfrm>
            <a:off x="5607050" y="4959357"/>
            <a:ext cx="218439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 Optimal Hyperplane</a:t>
            </a:r>
            <a:endParaRPr lang="ko-KR" altLang="en-US" sz="1100"/>
          </a:p>
          <a:p>
            <a:pPr algn="l"/>
            <a:r>
              <a:rPr lang="en-US" altLang="ko-KR" sz="1100"/>
              <a:t>/Decision Boundary</a:t>
            </a:r>
            <a:endParaRPr lang="ko-KR" altLang="en-US" sz="1100"/>
          </a:p>
        </p:txBody>
      </p:sp>
    </p:spTree>
    <p:extLst>
      <p:ext uri="{BB962C8B-B14F-4D97-AF65-F5344CB8AC3E}">
        <p14:creationId xmlns:p14="http://schemas.microsoft.com/office/powerpoint/2010/main" val="35309161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21"/>
          <p:cNvSpPr txBox="1">
            <a:spLocks noGrp="1"/>
          </p:cNvSpPr>
          <p:nvPr>
            <p:ph type="body" sz="quarter" idx="11" hasCustomPrompt="1"/>
          </p:nvPr>
        </p:nvSpPr>
        <p:spPr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 latinLnBrk="0">
              <a:buFontTx/>
              <a:buNone/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ko-KR" altLang="en-US"/>
              <a:t>SVM</a:t>
            </a:r>
            <a:r>
              <a:rPr lang="en-US" altLang="ko-KR" sz="1600" b="0">
                <a:solidFill>
                  <a:schemeClr val="tx1"/>
                </a:solidFill>
              </a:rPr>
              <a:t>(Support Vector Machine)</a:t>
            </a:r>
            <a:r>
              <a:rPr lang="ko-KR" altLang="en-US" sz="1600" b="0">
                <a:solidFill>
                  <a:schemeClr val="tx1"/>
                </a:solidFill>
              </a:rPr>
              <a:t>이란</a:t>
            </a:r>
          </a:p>
          <a:p>
            <a:pPr marL="0" indent="0" rtl="0" latinLnBrk="0">
              <a:buFontTx/>
              <a:buNone/>
            </a:pPr>
            <a:endParaRPr lang="ko-KR" alt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A33A71A-D0AD-4694-9544-5F3769C146AD}"/>
              </a:ext>
            </a:extLst>
          </p:cNvPr>
          <p:cNvSpPr txBox="1"/>
          <p:nvPr/>
        </p:nvSpPr>
        <p:spPr>
          <a:xfrm>
            <a:off x="273380" y="3422970"/>
            <a:ext cx="8215770" cy="26052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>
                <a:latin typeface="+mn-ea"/>
              </a:rPr>
              <a:t>두 클래스로부터 최대한 멀리 떨어져 있는 </a:t>
            </a:r>
            <a:r>
              <a:rPr lang="en-US" altLang="ko-KR" sz="1100">
                <a:latin typeface="+mn-ea"/>
              </a:rPr>
              <a:t>Decision Boundary</a:t>
            </a:r>
            <a:r>
              <a:rPr lang="ko-KR" altLang="en-US" sz="1100">
                <a:latin typeface="+mn-ea"/>
              </a:rPr>
              <a:t>를 찾는 분류기</a:t>
            </a:r>
            <a:endParaRPr lang="en-US" altLang="ko-KR" sz="1100">
              <a:latin typeface="+mn-ea"/>
            </a:endParaRP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>
                <a:latin typeface="+mn-ea"/>
              </a:rPr>
              <a:t>특정 조건을 만족하는 동시에 클래스를 분류하는것을 목표</a:t>
            </a:r>
            <a:r>
              <a:rPr lang="en-US" altLang="ko-KR" sz="1100">
                <a:latin typeface="+mn-ea"/>
              </a:rPr>
              <a:t>(ex) </a:t>
            </a:r>
            <a:r>
              <a:rPr lang="ko-KR" altLang="en-US" sz="1100">
                <a:latin typeface="+mn-ea"/>
              </a:rPr>
              <a:t>짜장</a:t>
            </a:r>
            <a:r>
              <a:rPr lang="en-US" altLang="ko-KR" sz="1100">
                <a:latin typeface="+mn-ea"/>
              </a:rPr>
              <a:t>, </a:t>
            </a:r>
            <a:r>
              <a:rPr lang="ko-KR" altLang="en-US" sz="1100">
                <a:latin typeface="+mn-ea"/>
              </a:rPr>
              <a:t>짬뽕 </a:t>
            </a:r>
            <a:r>
              <a:rPr lang="en-US" altLang="ko-KR" sz="1100">
                <a:latin typeface="+mn-ea"/>
              </a:rPr>
              <a:t>- &gt; </a:t>
            </a:r>
            <a:r>
              <a:rPr lang="ko-KR" altLang="en-US" sz="1100">
                <a:latin typeface="+mn-ea"/>
              </a:rPr>
              <a:t>고춧가루양</a:t>
            </a:r>
            <a:r>
              <a:rPr lang="en-US" altLang="ko-KR" sz="1100">
                <a:latin typeface="+mn-ea"/>
              </a:rPr>
              <a:t>, </a:t>
            </a:r>
            <a:r>
              <a:rPr lang="ko-KR" altLang="en-US" sz="1100">
                <a:latin typeface="+mn-ea"/>
              </a:rPr>
              <a:t>국물의양</a:t>
            </a:r>
            <a:r>
              <a:rPr lang="en-US" altLang="ko-KR" sz="1100">
                <a:latin typeface="+mn-ea"/>
              </a:rPr>
              <a:t>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>
                <a:latin typeface="+mn-ea"/>
              </a:rPr>
              <a:t>Hyperplane</a:t>
            </a:r>
            <a:r>
              <a:rPr lang="ko-KR" altLang="en-US" sz="1100">
                <a:latin typeface="+mn-ea"/>
              </a:rPr>
              <a:t>이란 어떤 </a:t>
            </a:r>
            <a:r>
              <a:rPr lang="en-US" altLang="ko-KR" sz="1100">
                <a:latin typeface="+mn-ea"/>
              </a:rPr>
              <a:t>N</a:t>
            </a:r>
            <a:r>
              <a:rPr lang="ko-KR" altLang="en-US" sz="1100">
                <a:latin typeface="+mn-ea"/>
              </a:rPr>
              <a:t>차원 공간에서 한 차원이 낮은 </a:t>
            </a:r>
            <a:r>
              <a:rPr lang="en-US" altLang="ko-KR" sz="1100">
                <a:latin typeface="+mn-ea"/>
              </a:rPr>
              <a:t>N-1</a:t>
            </a:r>
            <a:r>
              <a:rPr lang="ko-KR" altLang="en-US" sz="1100">
                <a:latin typeface="+mn-ea"/>
              </a:rPr>
              <a:t>차원의 </a:t>
            </a:r>
            <a:r>
              <a:rPr lang="en-US" altLang="ko-KR" sz="1100">
                <a:latin typeface="+mn-ea"/>
              </a:rPr>
              <a:t>subspace</a:t>
            </a:r>
            <a:r>
              <a:rPr lang="ko-KR" altLang="en-US" sz="1100">
                <a:latin typeface="+mn-ea"/>
              </a:rPr>
              <a:t>를 말함</a:t>
            </a:r>
            <a:r>
              <a:rPr lang="en-US" altLang="ko-KR" sz="1100">
                <a:latin typeface="+mn-ea"/>
              </a:rPr>
              <a:t>                                   </a:t>
            </a:r>
          </a:p>
          <a:p>
            <a:pPr>
              <a:lnSpc>
                <a:spcPct val="150000"/>
              </a:lnSpc>
            </a:pPr>
            <a:r>
              <a:rPr lang="en-US" altLang="ko-KR" sz="1100">
                <a:latin typeface="+mn-ea"/>
              </a:rPr>
              <a:t>     (ex. 2</a:t>
            </a:r>
            <a:r>
              <a:rPr lang="ko-KR" altLang="en-US" sz="1100">
                <a:latin typeface="+mn-ea"/>
              </a:rPr>
              <a:t>차원인 경우 선</a:t>
            </a:r>
            <a:r>
              <a:rPr lang="en-US" altLang="ko-KR" sz="1100">
                <a:latin typeface="+mn-ea"/>
              </a:rPr>
              <a:t>,</a:t>
            </a:r>
            <a:r>
              <a:rPr lang="ko-KR" altLang="en-US" sz="1100">
                <a:latin typeface="+mn-ea"/>
              </a:rPr>
              <a:t> </a:t>
            </a:r>
            <a:r>
              <a:rPr lang="en-US" altLang="ko-KR" sz="1100">
                <a:latin typeface="+mn-ea"/>
              </a:rPr>
              <a:t>3</a:t>
            </a:r>
            <a:r>
              <a:rPr lang="ko-KR" altLang="en-US" sz="1100">
                <a:latin typeface="+mn-ea"/>
              </a:rPr>
              <a:t>차원의 경우 면을 뜻함</a:t>
            </a:r>
            <a:r>
              <a:rPr lang="en-US" altLang="ko-KR" sz="1100">
                <a:latin typeface="+mn-ea"/>
              </a:rPr>
              <a:t>)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>
                <a:latin typeface="+mn-ea"/>
              </a:rPr>
              <a:t>Decision Boundary</a:t>
            </a:r>
            <a:r>
              <a:rPr lang="ko-KR" altLang="en-US" sz="1100">
                <a:latin typeface="+mn-ea"/>
              </a:rPr>
              <a:t>를 통해 어느 쪽에 속하는지 판단</a:t>
            </a:r>
            <a:r>
              <a:rPr lang="en-US" altLang="ko-KR" sz="1100">
                <a:latin typeface="+mn-ea"/>
              </a:rPr>
              <a:t>, </a:t>
            </a:r>
            <a:r>
              <a:rPr lang="ko-KR" altLang="en-US" sz="1100">
                <a:latin typeface="+mn-ea"/>
              </a:rPr>
              <a:t>선형이나비선형 분류</a:t>
            </a:r>
            <a:r>
              <a:rPr lang="en-US" altLang="ko-KR" sz="1100">
                <a:latin typeface="+mn-ea"/>
              </a:rPr>
              <a:t>, </a:t>
            </a:r>
            <a:r>
              <a:rPr lang="ko-KR" altLang="en-US" sz="1100">
                <a:latin typeface="+mn-ea"/>
              </a:rPr>
              <a:t>회귀</a:t>
            </a:r>
            <a:r>
              <a:rPr lang="en-US" altLang="ko-KR" sz="1100">
                <a:latin typeface="+mn-ea"/>
              </a:rPr>
              <a:t>, </a:t>
            </a:r>
            <a:r>
              <a:rPr lang="ko-KR" altLang="en-US" sz="1100">
                <a:latin typeface="+mn-ea"/>
              </a:rPr>
              <a:t>이상치 탐색에도 사용가능한 지도 학습 모델</a:t>
            </a:r>
            <a:endParaRPr lang="en-US" altLang="ko-KR" sz="1100">
              <a:latin typeface="+mn-ea"/>
            </a:endParaRP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>
                <a:latin typeface="+mn-ea"/>
              </a:rPr>
              <a:t>Decision Boundary</a:t>
            </a:r>
            <a:r>
              <a:rPr lang="ko-KR" altLang="en-US" sz="1100">
                <a:latin typeface="+mn-ea"/>
              </a:rPr>
              <a:t>와 가장 가까이 있는 데이터들이 </a:t>
            </a:r>
            <a:r>
              <a:rPr lang="en-US" altLang="ko-KR" sz="1100">
                <a:latin typeface="+mn-ea"/>
              </a:rPr>
              <a:t>margin</a:t>
            </a:r>
            <a:r>
              <a:rPr lang="ko-KR" altLang="en-US" sz="1100">
                <a:latin typeface="+mn-ea"/>
              </a:rPr>
              <a:t>을 결정하고 이를 </a:t>
            </a:r>
            <a:r>
              <a:rPr lang="en-US" altLang="ko-KR" sz="1100">
                <a:latin typeface="+mn-ea"/>
              </a:rPr>
              <a:t>Support Vector</a:t>
            </a:r>
            <a:r>
              <a:rPr lang="ko-KR" altLang="en-US" sz="1100">
                <a:latin typeface="+mn-ea"/>
              </a:rPr>
              <a:t>라고 함</a:t>
            </a:r>
            <a:endParaRPr lang="en-US" altLang="ko-KR" sz="1100">
              <a:latin typeface="+mn-ea"/>
            </a:endParaRP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>
                <a:latin typeface="+mn-ea"/>
              </a:rPr>
              <a:t>Hyperplane </a:t>
            </a:r>
            <a:r>
              <a:rPr lang="ko-KR" altLang="en-US" sz="1100">
                <a:latin typeface="+mn-ea"/>
              </a:rPr>
              <a:t>밖에 데이터가 추가되면 </a:t>
            </a:r>
            <a:r>
              <a:rPr lang="en-US" altLang="ko-KR" sz="1100">
                <a:latin typeface="+mn-ea"/>
              </a:rPr>
              <a:t>Decision Boundary</a:t>
            </a:r>
            <a:r>
              <a:rPr lang="ko-KR" altLang="en-US" sz="1100">
                <a:latin typeface="+mn-ea"/>
              </a:rPr>
              <a:t>에</a:t>
            </a:r>
            <a:r>
              <a:rPr lang="en-US" altLang="ko-KR" sz="1100">
                <a:latin typeface="+mn-ea"/>
              </a:rPr>
              <a:t> </a:t>
            </a:r>
            <a:r>
              <a:rPr lang="ko-KR" altLang="en-US" sz="1100">
                <a:latin typeface="+mn-ea"/>
              </a:rPr>
              <a:t>영향을 미치지 않지만 데이터가 </a:t>
            </a:r>
            <a:r>
              <a:rPr lang="en-US" altLang="ko-KR" sz="1100">
                <a:latin typeface="+mn-ea"/>
              </a:rPr>
              <a:t>Hyper plane </a:t>
            </a:r>
            <a:r>
              <a:rPr lang="ko-KR" altLang="en-US" sz="1100">
                <a:latin typeface="+mn-ea"/>
              </a:rPr>
              <a:t>범위 안에 들어온다면 영향을 미치게 되어 </a:t>
            </a:r>
            <a:r>
              <a:rPr lang="en-US" altLang="ko-KR" sz="1100">
                <a:latin typeface="+mn-ea"/>
              </a:rPr>
              <a:t>Margin</a:t>
            </a:r>
            <a:r>
              <a:rPr lang="ko-KR" altLang="en-US" sz="1100">
                <a:latin typeface="+mn-ea"/>
              </a:rPr>
              <a:t>이 달라질 수 있음</a:t>
            </a:r>
            <a:endParaRPr lang="en-US" altLang="ko-KR" sz="1100">
              <a:latin typeface="+mn-ea"/>
            </a:endParaRP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100">
              <a:latin typeface="+mn-ea"/>
            </a:endParaRP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en-US" sz="1100">
              <a:latin typeface="+mn-ea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E330D77A-8F30-4AA2-A613-03754056F7FB}"/>
              </a:ext>
            </a:extLst>
          </p:cNvPr>
          <p:cNvGrpSpPr/>
          <p:nvPr/>
        </p:nvGrpSpPr>
        <p:grpSpPr>
          <a:xfrm>
            <a:off x="4783264" y="1511138"/>
            <a:ext cx="3828983" cy="1964443"/>
            <a:chOff x="4783264" y="1511138"/>
            <a:chExt cx="3828983" cy="1964443"/>
          </a:xfrm>
        </p:grpSpPr>
        <p:pic>
          <p:nvPicPr>
            <p:cNvPr id="55" name="그림 54">
              <a:extLst>
                <a:ext uri="{FF2B5EF4-FFF2-40B4-BE49-F238E27FC236}">
                  <a16:creationId xmlns:a16="http://schemas.microsoft.com/office/drawing/2014/main" id="{4CAF8C00-DCC2-4F59-921A-F0F03069A4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83264" y="1511138"/>
              <a:ext cx="3828983" cy="1441655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F5F4690-2C95-4D62-8057-A982FE2EAA59}"/>
                </a:ext>
              </a:extLst>
            </p:cNvPr>
            <p:cNvSpPr txBox="1"/>
            <p:nvPr/>
          </p:nvSpPr>
          <p:spPr>
            <a:xfrm>
              <a:off x="5950305" y="3213971"/>
              <a:ext cx="221167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/>
                <a:t>&lt; Hyperplane</a:t>
              </a:r>
              <a:r>
                <a:rPr lang="en-US" altLang="ko-KR" sz="1100" b="0">
                  <a:solidFill>
                    <a:schemeClr val="tx1"/>
                  </a:solidFill>
                </a:rPr>
                <a:t> &gt;</a:t>
              </a:r>
              <a:endParaRPr lang="ko-KR" altLang="en-US" sz="1100" b="0">
                <a:solidFill>
                  <a:schemeClr val="tx1"/>
                </a:solidFill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C970DAA0-EF69-4C5A-92F1-9A02D81F1F94}"/>
              </a:ext>
            </a:extLst>
          </p:cNvPr>
          <p:cNvGrpSpPr/>
          <p:nvPr/>
        </p:nvGrpSpPr>
        <p:grpSpPr>
          <a:xfrm>
            <a:off x="805343" y="1247437"/>
            <a:ext cx="3198916" cy="2228144"/>
            <a:chOff x="805343" y="1247437"/>
            <a:chExt cx="3198916" cy="2228144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DA9FEE90-43AD-4044-BB3C-2398977C4800}"/>
                </a:ext>
              </a:extLst>
            </p:cNvPr>
            <p:cNvSpPr txBox="1"/>
            <p:nvPr/>
          </p:nvSpPr>
          <p:spPr>
            <a:xfrm>
              <a:off x="1500477" y="3213971"/>
              <a:ext cx="221167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/>
                <a:t>&lt; SVM</a:t>
              </a:r>
              <a:r>
                <a:rPr lang="en-US" altLang="ko-KR" sz="1100" b="0">
                  <a:solidFill>
                    <a:schemeClr val="tx1"/>
                  </a:solidFill>
                </a:rPr>
                <a:t>(Support Vector Machine) &gt;</a:t>
              </a:r>
              <a:endParaRPr lang="ko-KR" altLang="en-US" sz="1100" b="0">
                <a:solidFill>
                  <a:schemeClr val="tx1"/>
                </a:solidFill>
              </a:endParaRPr>
            </a:p>
          </p:txBody>
        </p:sp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8C5148B2-010A-4B81-A7F7-F0F5EC687FE8}"/>
                </a:ext>
              </a:extLst>
            </p:cNvPr>
            <p:cNvGrpSpPr/>
            <p:nvPr/>
          </p:nvGrpSpPr>
          <p:grpSpPr>
            <a:xfrm>
              <a:off x="805343" y="1247437"/>
              <a:ext cx="3198916" cy="1892523"/>
              <a:chOff x="4346891" y="1126960"/>
              <a:chExt cx="3780704" cy="2317762"/>
            </a:xfrm>
          </p:grpSpPr>
          <p:grpSp>
            <p:nvGrpSpPr>
              <p:cNvPr id="34" name="그룹 33">
                <a:extLst>
                  <a:ext uri="{FF2B5EF4-FFF2-40B4-BE49-F238E27FC236}">
                    <a16:creationId xmlns:a16="http://schemas.microsoft.com/office/drawing/2014/main" id="{03958524-AA06-4917-A650-2FCD297F4715}"/>
                  </a:ext>
                </a:extLst>
              </p:cNvPr>
              <p:cNvGrpSpPr/>
              <p:nvPr/>
            </p:nvGrpSpPr>
            <p:grpSpPr>
              <a:xfrm>
                <a:off x="6600696" y="1552199"/>
                <a:ext cx="873554" cy="645957"/>
                <a:chOff x="4837649" y="3782504"/>
                <a:chExt cx="1143417" cy="783882"/>
              </a:xfrm>
              <a:solidFill>
                <a:srgbClr val="FF0000"/>
              </a:solidFill>
            </p:grpSpPr>
            <p:sp>
              <p:nvSpPr>
                <p:cNvPr id="66" name="이등변 삼각형 65">
                  <a:extLst>
                    <a:ext uri="{FF2B5EF4-FFF2-40B4-BE49-F238E27FC236}">
                      <a16:creationId xmlns:a16="http://schemas.microsoft.com/office/drawing/2014/main" id="{47583E2B-1031-49BB-9B53-48E3706871D6}"/>
                    </a:ext>
                  </a:extLst>
                </p:cNvPr>
                <p:cNvSpPr/>
                <p:nvPr/>
              </p:nvSpPr>
              <p:spPr>
                <a:xfrm>
                  <a:off x="5019988" y="3846814"/>
                  <a:ext cx="147642" cy="142602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7" name="이등변 삼각형 66">
                  <a:extLst>
                    <a:ext uri="{FF2B5EF4-FFF2-40B4-BE49-F238E27FC236}">
                      <a16:creationId xmlns:a16="http://schemas.microsoft.com/office/drawing/2014/main" id="{741C89BA-3AEF-408F-8DA2-BB2713B418C7}"/>
                    </a:ext>
                  </a:extLst>
                </p:cNvPr>
                <p:cNvSpPr/>
                <p:nvPr/>
              </p:nvSpPr>
              <p:spPr>
                <a:xfrm>
                  <a:off x="4837649" y="4423784"/>
                  <a:ext cx="147642" cy="142602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8" name="이등변 삼각형 67">
                  <a:extLst>
                    <a:ext uri="{FF2B5EF4-FFF2-40B4-BE49-F238E27FC236}">
                      <a16:creationId xmlns:a16="http://schemas.microsoft.com/office/drawing/2014/main" id="{173719F8-3BF9-4C98-BBA0-2AE37B371BBA}"/>
                    </a:ext>
                  </a:extLst>
                </p:cNvPr>
                <p:cNvSpPr/>
                <p:nvPr/>
              </p:nvSpPr>
              <p:spPr>
                <a:xfrm>
                  <a:off x="5398595" y="4099675"/>
                  <a:ext cx="147642" cy="142602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9" name="이등변 삼각형 68">
                  <a:extLst>
                    <a:ext uri="{FF2B5EF4-FFF2-40B4-BE49-F238E27FC236}">
                      <a16:creationId xmlns:a16="http://schemas.microsoft.com/office/drawing/2014/main" id="{CF2F0991-BC7E-4837-9D82-86463D43FB01}"/>
                    </a:ext>
                  </a:extLst>
                </p:cNvPr>
                <p:cNvSpPr/>
                <p:nvPr/>
              </p:nvSpPr>
              <p:spPr>
                <a:xfrm>
                  <a:off x="5833424" y="4342919"/>
                  <a:ext cx="147642" cy="142602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70" name="이등변 삼각형 69">
                  <a:extLst>
                    <a:ext uri="{FF2B5EF4-FFF2-40B4-BE49-F238E27FC236}">
                      <a16:creationId xmlns:a16="http://schemas.microsoft.com/office/drawing/2014/main" id="{90411FB3-8684-4E1E-A15D-EF1138ECA1F2}"/>
                    </a:ext>
                  </a:extLst>
                </p:cNvPr>
                <p:cNvSpPr/>
                <p:nvPr/>
              </p:nvSpPr>
              <p:spPr>
                <a:xfrm>
                  <a:off x="5833424" y="3782504"/>
                  <a:ext cx="147642" cy="142602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36" name="그룹 35">
                <a:extLst>
                  <a:ext uri="{FF2B5EF4-FFF2-40B4-BE49-F238E27FC236}">
                    <a16:creationId xmlns:a16="http://schemas.microsoft.com/office/drawing/2014/main" id="{5D2E1718-1DD8-4850-AF1B-1DF23A4CCAB0}"/>
                  </a:ext>
                </a:extLst>
              </p:cNvPr>
              <p:cNvGrpSpPr/>
              <p:nvPr/>
            </p:nvGrpSpPr>
            <p:grpSpPr>
              <a:xfrm>
                <a:off x="5248902" y="1126960"/>
                <a:ext cx="2660658" cy="2261370"/>
                <a:chOff x="3431097" y="1987172"/>
                <a:chExt cx="3482605" cy="2744220"/>
              </a:xfrm>
            </p:grpSpPr>
            <p:cxnSp>
              <p:nvCxnSpPr>
                <p:cNvPr id="64" name="직선 화살표 연결선 63">
                  <a:extLst>
                    <a:ext uri="{FF2B5EF4-FFF2-40B4-BE49-F238E27FC236}">
                      <a16:creationId xmlns:a16="http://schemas.microsoft.com/office/drawing/2014/main" id="{9C5014CB-D43E-4E49-9F53-2B73709BD9E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431097" y="4731391"/>
                  <a:ext cx="3482605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직선 화살표 연결선 64">
                  <a:extLst>
                    <a:ext uri="{FF2B5EF4-FFF2-40B4-BE49-F238E27FC236}">
                      <a16:creationId xmlns:a16="http://schemas.microsoft.com/office/drawing/2014/main" id="{4053977E-A5AE-4D7E-BF83-EC3AEAD84C9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436689" y="1987172"/>
                  <a:ext cx="0" cy="274422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9" name="직선 연결선 38">
                <a:extLst>
                  <a:ext uri="{FF2B5EF4-FFF2-40B4-BE49-F238E27FC236}">
                    <a16:creationId xmlns:a16="http://schemas.microsoft.com/office/drawing/2014/main" id="{6AA6252D-D78A-4012-B8D3-B41E9E9E9C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04435" y="1552199"/>
                <a:ext cx="1566956" cy="1693669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1" name="직선 연결선 40">
                <a:extLst>
                  <a:ext uri="{FF2B5EF4-FFF2-40B4-BE49-F238E27FC236}">
                    <a16:creationId xmlns:a16="http://schemas.microsoft.com/office/drawing/2014/main" id="{7D61243B-CEC7-4FB1-8650-6D7447D505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75208" y="1366856"/>
                <a:ext cx="1566956" cy="1693669"/>
              </a:xfrm>
              <a:prstGeom prst="line">
                <a:avLst/>
              </a:prstGeom>
              <a:ln w="9525" cap="flat" cmpd="sng" algn="ctr">
                <a:solidFill>
                  <a:schemeClr val="dk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grpSp>
            <p:nvGrpSpPr>
              <p:cNvPr id="43" name="그룹 42">
                <a:extLst>
                  <a:ext uri="{FF2B5EF4-FFF2-40B4-BE49-F238E27FC236}">
                    <a16:creationId xmlns:a16="http://schemas.microsoft.com/office/drawing/2014/main" id="{C1C0ED11-B5F5-4AA3-ABAA-45BCB5A7EA2B}"/>
                  </a:ext>
                </a:extLst>
              </p:cNvPr>
              <p:cNvGrpSpPr/>
              <p:nvPr/>
            </p:nvGrpSpPr>
            <p:grpSpPr>
              <a:xfrm>
                <a:off x="5416754" y="2400752"/>
                <a:ext cx="583218" cy="881414"/>
                <a:chOff x="3665996" y="2686332"/>
                <a:chExt cx="763389" cy="1069614"/>
              </a:xfrm>
              <a:solidFill>
                <a:srgbClr val="2C6FAD"/>
              </a:solidFill>
            </p:grpSpPr>
            <p:sp>
              <p:nvSpPr>
                <p:cNvPr id="59" name="직사각형 58">
                  <a:extLst>
                    <a:ext uri="{FF2B5EF4-FFF2-40B4-BE49-F238E27FC236}">
                      <a16:creationId xmlns:a16="http://schemas.microsoft.com/office/drawing/2014/main" id="{EA1A1119-7731-4365-AB7F-A8D369D220EC}"/>
                    </a:ext>
                  </a:extLst>
                </p:cNvPr>
                <p:cNvSpPr/>
                <p:nvPr/>
              </p:nvSpPr>
              <p:spPr>
                <a:xfrm>
                  <a:off x="3758272" y="3045312"/>
                  <a:ext cx="125831" cy="12792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0" name="직사각형 59">
                  <a:extLst>
                    <a:ext uri="{FF2B5EF4-FFF2-40B4-BE49-F238E27FC236}">
                      <a16:creationId xmlns:a16="http://schemas.microsoft.com/office/drawing/2014/main" id="{A18799D7-0A3B-46C8-94F5-B74EAE1E426C}"/>
                    </a:ext>
                  </a:extLst>
                </p:cNvPr>
                <p:cNvSpPr/>
                <p:nvPr/>
              </p:nvSpPr>
              <p:spPr>
                <a:xfrm>
                  <a:off x="3665996" y="3628023"/>
                  <a:ext cx="125831" cy="12792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1" name="직사각형 60">
                  <a:extLst>
                    <a:ext uri="{FF2B5EF4-FFF2-40B4-BE49-F238E27FC236}">
                      <a16:creationId xmlns:a16="http://schemas.microsoft.com/office/drawing/2014/main" id="{2B5AC2BD-C538-43E1-A348-3031D498437C}"/>
                    </a:ext>
                  </a:extLst>
                </p:cNvPr>
                <p:cNvSpPr/>
                <p:nvPr/>
              </p:nvSpPr>
              <p:spPr>
                <a:xfrm>
                  <a:off x="4177723" y="3482638"/>
                  <a:ext cx="125831" cy="12792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2" name="직사각형 61">
                  <a:extLst>
                    <a:ext uri="{FF2B5EF4-FFF2-40B4-BE49-F238E27FC236}">
                      <a16:creationId xmlns:a16="http://schemas.microsoft.com/office/drawing/2014/main" id="{4896A143-F225-49C8-8DC7-B90DE5115F55}"/>
                    </a:ext>
                  </a:extLst>
                </p:cNvPr>
                <p:cNvSpPr/>
                <p:nvPr/>
              </p:nvSpPr>
              <p:spPr>
                <a:xfrm>
                  <a:off x="4211277" y="3119517"/>
                  <a:ext cx="125831" cy="12792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3" name="직사각형 62">
                  <a:extLst>
                    <a:ext uri="{FF2B5EF4-FFF2-40B4-BE49-F238E27FC236}">
                      <a16:creationId xmlns:a16="http://schemas.microsoft.com/office/drawing/2014/main" id="{F4F8B009-6E0F-4601-9ACC-D55246101F2C}"/>
                    </a:ext>
                  </a:extLst>
                </p:cNvPr>
                <p:cNvSpPr/>
                <p:nvPr/>
              </p:nvSpPr>
              <p:spPr>
                <a:xfrm>
                  <a:off x="4303554" y="2686332"/>
                  <a:ext cx="125831" cy="12792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cxnSp>
            <p:nvCxnSpPr>
              <p:cNvPr id="44" name="직선 화살표 연결선 43">
                <a:extLst>
                  <a:ext uri="{FF2B5EF4-FFF2-40B4-BE49-F238E27FC236}">
                    <a16:creationId xmlns:a16="http://schemas.microsoft.com/office/drawing/2014/main" id="{11619681-E8A6-4CF9-85AF-57B170C0C08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924142" y="3055776"/>
                <a:ext cx="498512" cy="388946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" name="직선 화살표 연결선 44">
                <a:extLst>
                  <a:ext uri="{FF2B5EF4-FFF2-40B4-BE49-F238E27FC236}">
                    <a16:creationId xmlns:a16="http://schemas.microsoft.com/office/drawing/2014/main" id="{B55FA048-9400-4690-B9D2-7AA49D726EF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098383" y="2076079"/>
                <a:ext cx="822041" cy="2264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A3EE710E-2AE5-44B2-999B-A92913810DF8}"/>
                  </a:ext>
                </a:extLst>
              </p:cNvPr>
              <p:cNvSpPr txBox="1"/>
              <p:nvPr/>
            </p:nvSpPr>
            <p:spPr>
              <a:xfrm>
                <a:off x="4522210" y="1926574"/>
                <a:ext cx="923017" cy="2155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1100"/>
                  <a:t>margin</a:t>
                </a:r>
                <a:endParaRPr lang="ko-KR" altLang="en-US" sz="11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4ECACA61-5D47-45FE-B603-07C778484256}"/>
                      </a:ext>
                    </a:extLst>
                  </p:cNvPr>
                  <p:cNvSpPr txBox="1"/>
                  <p:nvPr/>
                </p:nvSpPr>
                <p:spPr>
                  <a:xfrm>
                    <a:off x="7292636" y="3136190"/>
                    <a:ext cx="209288" cy="247760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altLang="ko-KR" sz="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ko-KR" sz="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</m:d>
                            </m:den>
                          </m:f>
                        </m:oMath>
                      </m:oMathPara>
                    </a14:m>
                    <a:endParaRPr lang="ko-KR" altLang="en-US" sz="80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4ECACA61-5D47-45FE-B603-07C77848425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292636" y="3136190"/>
                    <a:ext cx="209288" cy="24776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t="-2439" b="-2439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2" name="직선 연결선 51">
                <a:extLst>
                  <a:ext uri="{FF2B5EF4-FFF2-40B4-BE49-F238E27FC236}">
                    <a16:creationId xmlns:a16="http://schemas.microsoft.com/office/drawing/2014/main" id="{8ECF55F6-3064-4962-BB69-CE8BE110AF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17911" y="1725463"/>
                <a:ext cx="1566956" cy="1693669"/>
              </a:xfrm>
              <a:prstGeom prst="line">
                <a:avLst/>
              </a:prstGeom>
              <a:ln w="9525" cap="flat" cmpd="sng" algn="ctr">
                <a:solidFill>
                  <a:schemeClr val="dk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53" name="직선 화살표 연결선 52">
                <a:extLst>
                  <a:ext uri="{FF2B5EF4-FFF2-40B4-BE49-F238E27FC236}">
                    <a16:creationId xmlns:a16="http://schemas.microsoft.com/office/drawing/2014/main" id="{81380374-697E-47F2-97CB-6F1EE89B2AD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807154" y="1833506"/>
                <a:ext cx="498512" cy="388946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4C71CB3-0980-4EA9-9DCF-9CBB62093A8A}"/>
                  </a:ext>
                </a:extLst>
              </p:cNvPr>
              <p:cNvSpPr txBox="1"/>
              <p:nvPr/>
            </p:nvSpPr>
            <p:spPr>
              <a:xfrm>
                <a:off x="4346891" y="1183488"/>
                <a:ext cx="2128516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1100"/>
                  <a:t>Optimal Hyperplane</a:t>
                </a:r>
              </a:p>
              <a:p>
                <a:pPr algn="l"/>
                <a:r>
                  <a:rPr lang="en-US" altLang="ko-KR" sz="1100"/>
                  <a:t>/Decision Boundary</a:t>
                </a:r>
                <a:endParaRPr lang="ko-KR" altLang="en-US" sz="1100"/>
              </a:p>
            </p:txBody>
          </p:sp>
          <p:cxnSp>
            <p:nvCxnSpPr>
              <p:cNvPr id="56" name="직선 화살표 연결선 55">
                <a:extLst>
                  <a:ext uri="{FF2B5EF4-FFF2-40B4-BE49-F238E27FC236}">
                    <a16:creationId xmlns:a16="http://schemas.microsoft.com/office/drawing/2014/main" id="{C8A81E8D-360F-459D-BB9A-49E766E3E1C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59538" y="2187352"/>
                <a:ext cx="576589" cy="19614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7" name="직선 화살표 연결선 56">
                <a:extLst>
                  <a:ext uri="{FF2B5EF4-FFF2-40B4-BE49-F238E27FC236}">
                    <a16:creationId xmlns:a16="http://schemas.microsoft.com/office/drawing/2014/main" id="{C4689A4C-C87E-4FF3-961E-8FAC3783A4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50526" y="2452558"/>
                <a:ext cx="1267552" cy="5036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C2F1E5E4-1243-4AC7-9E17-9E160BA72F1D}"/>
                  </a:ext>
                </a:extLst>
              </p:cNvPr>
              <p:cNvSpPr txBox="1"/>
              <p:nvPr/>
            </p:nvSpPr>
            <p:spPr>
              <a:xfrm>
                <a:off x="7256395" y="2275317"/>
                <a:ext cx="8712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1100"/>
                  <a:t>Support</a:t>
                </a:r>
              </a:p>
              <a:p>
                <a:pPr algn="l"/>
                <a:r>
                  <a:rPr lang="en-US" altLang="ko-KR" sz="1100"/>
                  <a:t>Vector</a:t>
                </a:r>
                <a:endParaRPr lang="ko-KR" altLang="en-US" sz="11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832091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21"/>
          <p:cNvSpPr txBox="1">
            <a:spLocks noGrp="1"/>
          </p:cNvSpPr>
          <p:nvPr>
            <p:ph type="body" sz="quarter" idx="11" hasCustomPrompt="1"/>
          </p:nvPr>
        </p:nvSpPr>
        <p:spPr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 latinLnBrk="0">
              <a:buFontTx/>
              <a:buNone/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rtl="0" latinLnBrk="0">
              <a:buFontTx/>
              <a:buNone/>
            </a:pPr>
            <a:r>
              <a:rPr lang="en-US" altLang="ko-KR"/>
              <a:t>SVM</a:t>
            </a:r>
            <a:r>
              <a:rPr lang="ko-KR" altLang="en-US"/>
              <a:t>의 수식화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20B2A80-2DBC-4D6E-A609-92F9D067B732}"/>
                  </a:ext>
                </a:extLst>
              </p:cNvPr>
              <p:cNvSpPr txBox="1"/>
              <p:nvPr/>
            </p:nvSpPr>
            <p:spPr>
              <a:xfrm>
                <a:off x="250552" y="3300151"/>
                <a:ext cx="8224303" cy="34601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100">
                    <a:highlight>
                      <a:srgbClr val="FFFF00"/>
                    </a:highlight>
                    <a:latin typeface="+mn-ea"/>
                  </a:rPr>
                  <a:t>Decision Boundary</a:t>
                </a:r>
                <a:r>
                  <a:rPr lang="ko-KR" altLang="en-US" sz="1100">
                    <a:highlight>
                      <a:srgbClr val="FFFF00"/>
                    </a:highlight>
                    <a:latin typeface="+mn-ea"/>
                  </a:rPr>
                  <a:t>에 수직인 임의의 벡타 </a:t>
                </a:r>
                <a:r>
                  <a:rPr lang="en-US" altLang="ko-KR" sz="1100">
                    <a:highlight>
                      <a:srgbClr val="FFFF00"/>
                    </a:highlight>
                    <a:latin typeface="+mn-ea"/>
                  </a:rPr>
                  <a:t>w </a:t>
                </a:r>
                <a:r>
                  <a:rPr lang="ko-KR" altLang="en-US" sz="1100">
                    <a:highlight>
                      <a:srgbClr val="FFFF00"/>
                    </a:highlight>
                    <a:latin typeface="+mn-ea"/>
                  </a:rPr>
                  <a:t>와 임의의 점</a:t>
                </a:r>
                <a:r>
                  <a:rPr lang="en-US" altLang="ko-KR" sz="1100">
                    <a:highlight>
                      <a:srgbClr val="FFFF00"/>
                    </a:highlight>
                    <a:latin typeface="+mn-ea"/>
                  </a:rPr>
                  <a:t>(</a:t>
                </a:r>
                <a:r>
                  <a:rPr lang="ko-KR" altLang="en-US" sz="1100">
                    <a:highlight>
                      <a:srgbClr val="FFFF00"/>
                    </a:highlight>
                    <a:latin typeface="+mn-ea"/>
                  </a:rPr>
                  <a:t>데이터</a:t>
                </a:r>
                <a:r>
                  <a:rPr lang="en-US" altLang="ko-KR" sz="1100">
                    <a:highlight>
                      <a:srgbClr val="FFFF00"/>
                    </a:highlight>
                    <a:latin typeface="+mn-ea"/>
                  </a:rPr>
                  <a:t>)</a:t>
                </a:r>
                <a:r>
                  <a:rPr lang="ko-KR" altLang="en-US" sz="1100">
                    <a:highlight>
                      <a:srgbClr val="FFFF00"/>
                    </a:highlight>
                    <a:latin typeface="+mn-ea"/>
                  </a:rPr>
                  <a:t>을 향해가는 임의의 벡타 </a:t>
                </a:r>
                <a:r>
                  <a:rPr lang="en-US" altLang="ko-KR" sz="1100">
                    <a:highlight>
                      <a:srgbClr val="FFFF00"/>
                    </a:highlight>
                    <a:latin typeface="+mn-ea"/>
                  </a:rPr>
                  <a:t>u</a:t>
                </a: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ko-KR" altLang="en-US" sz="1100" i="1" smtClean="0">
                            <a:solidFill>
                              <a:schemeClr val="tx1"/>
                            </a:solidFill>
                            <a:latin typeface="+mn-ea"/>
                          </a:rPr>
                        </m:ctrlPr>
                      </m:accPr>
                      <m:e>
                        <m:r>
                          <a:rPr lang="ko-KR" altLang="en-US" sz="1100" i="1" smtClean="0">
                            <a:solidFill>
                              <a:schemeClr val="tx1"/>
                            </a:solidFill>
                            <a:latin typeface="+mn-ea"/>
                          </a:rPr>
                          <m:t>𝑤</m:t>
                        </m:r>
                      </m:e>
                    </m:acc>
                    <m:r>
                      <a:rPr lang="ko-KR" altLang="en-US" sz="1100" i="1" smtClean="0">
                        <a:solidFill>
                          <a:schemeClr val="tx1"/>
                        </a:solidFill>
                        <a:latin typeface="+mn-ea"/>
                      </a:rPr>
                      <m:t>⋅</m:t>
                    </m:r>
                    <m:acc>
                      <m:accPr>
                        <m:chr m:val="⃗"/>
                        <m:ctrlPr>
                          <a:rPr lang="ko-KR" altLang="en-US" sz="1100" i="1" smtClean="0">
                            <a:solidFill>
                              <a:schemeClr val="tx1"/>
                            </a:solidFill>
                            <a:latin typeface="+mn-ea"/>
                          </a:rPr>
                        </m:ctrlPr>
                      </m:accPr>
                      <m:e>
                        <m:r>
                          <a:rPr lang="ko-KR" altLang="en-US" sz="1100" i="1" smtClean="0">
                            <a:solidFill>
                              <a:schemeClr val="tx1"/>
                            </a:solidFill>
                            <a:latin typeface="+mn-ea"/>
                          </a:rPr>
                          <m:t>𝑢</m:t>
                        </m:r>
                      </m:e>
                    </m:acc>
                    <m:r>
                      <a:rPr lang="en-US" altLang="ko-KR" sz="1100" b="0" i="1" smtClean="0">
                        <a:solidFill>
                          <a:schemeClr val="tx1"/>
                        </a:solidFill>
                        <a:latin typeface="+mn-ea"/>
                      </a:rPr>
                      <m:t> </m:t>
                    </m:r>
                  </m:oMath>
                </a14:m>
                <a:r>
                  <a:rPr lang="ko-KR" altLang="en-US" sz="1100">
                    <a:solidFill>
                      <a:schemeClr val="tx1"/>
                    </a:solidFill>
                    <a:latin typeface="+mn-ea"/>
                  </a:rPr>
                  <a:t>하게되면 선이 생기는데 짧으면 </a:t>
                </a:r>
                <a:r>
                  <a:rPr lang="en-US" altLang="ko-KR" sz="1100">
                    <a:solidFill>
                      <a:schemeClr val="tx1"/>
                    </a:solidFill>
                    <a:latin typeface="+mn-ea"/>
                  </a:rPr>
                  <a:t>-, </a:t>
                </a:r>
                <a:r>
                  <a:rPr lang="ko-KR" altLang="en-US" sz="1100">
                    <a:solidFill>
                      <a:schemeClr val="tx1"/>
                    </a:solidFill>
                    <a:latin typeface="+mn-ea"/>
                  </a:rPr>
                  <a:t>크면 </a:t>
                </a:r>
                <a:r>
                  <a:rPr lang="en-US" altLang="ko-KR" sz="1100">
                    <a:solidFill>
                      <a:schemeClr val="tx1"/>
                    </a:solidFill>
                    <a:latin typeface="+mn-ea"/>
                  </a:rPr>
                  <a:t>+</a:t>
                </a:r>
                <a:r>
                  <a:rPr lang="ko-KR" altLang="en-US" sz="1100">
                    <a:solidFill>
                      <a:schemeClr val="tx1"/>
                    </a:solidFill>
                    <a:latin typeface="+mn-ea"/>
                  </a:rPr>
                  <a:t>로 설정</a:t>
                </a:r>
                <a:endParaRPr lang="en-US" altLang="ko-KR" sz="1100">
                  <a:solidFill>
                    <a:schemeClr val="tx1"/>
                  </a:solidFill>
                  <a:latin typeface="+mn-ea"/>
                </a:endParaRP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ko-KR" altLang="en-US" sz="1100" i="1" smtClean="0">
                            <a:solidFill>
                              <a:schemeClr val="tx1"/>
                            </a:solidFill>
                            <a:latin typeface="+mn-ea"/>
                          </a:rPr>
                        </m:ctrlPr>
                      </m:accPr>
                      <m:e>
                        <m:r>
                          <a:rPr lang="ko-KR" altLang="en-US" sz="1100" i="1">
                            <a:solidFill>
                              <a:schemeClr val="tx1"/>
                            </a:solidFill>
                            <a:latin typeface="+mn-ea"/>
                          </a:rPr>
                          <m:t>𝑤</m:t>
                        </m:r>
                      </m:e>
                    </m:acc>
                    <m:r>
                      <a:rPr lang="ko-KR" altLang="en-US" sz="1100" i="1">
                        <a:solidFill>
                          <a:schemeClr val="tx1"/>
                        </a:solidFill>
                        <a:latin typeface="+mn-ea"/>
                      </a:rPr>
                      <m:t>⋅</m:t>
                    </m:r>
                    <m:acc>
                      <m:accPr>
                        <m:chr m:val="⃗"/>
                        <m:ctrlPr>
                          <a:rPr lang="ko-KR" altLang="en-US" sz="1100" i="1">
                            <a:solidFill>
                              <a:schemeClr val="tx1"/>
                            </a:solidFill>
                            <a:latin typeface="+mn-ea"/>
                          </a:rPr>
                        </m:ctrlPr>
                      </m:accPr>
                      <m:e>
                        <m:r>
                          <a:rPr lang="ko-KR" altLang="en-US" sz="1100" i="1">
                            <a:solidFill>
                              <a:schemeClr val="tx1"/>
                            </a:solidFill>
                            <a:latin typeface="+mn-ea"/>
                          </a:rPr>
                          <m:t>𝑢</m:t>
                        </m:r>
                      </m:e>
                    </m:acc>
                  </m:oMath>
                </a14:m>
                <a:r>
                  <a:rPr lang="ko-KR" altLang="en-US" sz="1100">
                    <a:solidFill>
                      <a:schemeClr val="tx1"/>
                    </a:solidFill>
                    <a:latin typeface="+mn-ea"/>
                  </a:rPr>
                  <a:t>하여 일정한 </a:t>
                </a:r>
                <a:r>
                  <a:rPr lang="en-US" altLang="ko-KR" sz="1100">
                    <a:solidFill>
                      <a:schemeClr val="tx1"/>
                    </a:solidFill>
                    <a:latin typeface="+mn-ea"/>
                  </a:rPr>
                  <a:t>contstant</a:t>
                </a:r>
                <a:r>
                  <a:rPr lang="ko-KR" altLang="en-US" sz="1100">
                    <a:solidFill>
                      <a:schemeClr val="tx1"/>
                    </a:solidFill>
                    <a:latin typeface="+mn-ea"/>
                  </a:rPr>
                  <a:t>값보다 크면 </a:t>
                </a:r>
                <a:r>
                  <a:rPr lang="en-US" altLang="ko-KR" sz="1100">
                    <a:solidFill>
                      <a:schemeClr val="tx1"/>
                    </a:solidFill>
                    <a:latin typeface="+mn-ea"/>
                  </a:rPr>
                  <a:t>+</a:t>
                </a:r>
                <a:r>
                  <a:rPr lang="ko-KR" altLang="en-US" sz="1100">
                    <a:solidFill>
                      <a:schemeClr val="tx1"/>
                    </a:solidFill>
                    <a:latin typeface="+mn-ea"/>
                  </a:rPr>
                  <a:t>영역</a:t>
                </a:r>
                <a:r>
                  <a:rPr lang="en-US" altLang="ko-KR" sz="1100">
                    <a:solidFill>
                      <a:schemeClr val="tx1"/>
                    </a:solidFill>
                    <a:latin typeface="+mn-ea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>
                            <a:solidFill>
                              <a:schemeClr val="tx1"/>
                            </a:solidFill>
                            <a:latin typeface="+mn-ea"/>
                          </a:rPr>
                        </m:ctrlPr>
                      </m:sSubPr>
                      <m:e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+mn-ea"/>
                          </a:rPr>
                          <m:t>𝑥</m:t>
                        </m:r>
                      </m:e>
                      <m:sub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+mn-ea"/>
                          </a:rPr>
                          <m:t>+</m:t>
                        </m:r>
                      </m:sub>
                    </m:sSub>
                    <m:r>
                      <a:rPr lang="en-US" altLang="ko-KR" sz="1100" i="1">
                        <a:solidFill>
                          <a:schemeClr val="tx1"/>
                        </a:solidFill>
                        <a:latin typeface="+mn-ea"/>
                      </a:rPr>
                      <m:t> </m:t>
                    </m:r>
                  </m:oMath>
                </a14:m>
                <a:r>
                  <a:rPr lang="en-US" altLang="ko-KR" sz="1100">
                    <a:solidFill>
                      <a:schemeClr val="tx1"/>
                    </a:solidFill>
                    <a:latin typeface="+mn-ea"/>
                  </a:rPr>
                  <a:t>)</a:t>
                </a:r>
                <a:r>
                  <a:rPr lang="ko-KR" altLang="en-US" sz="1100">
                    <a:solidFill>
                      <a:schemeClr val="tx1"/>
                    </a:solidFill>
                    <a:latin typeface="+mn-ea"/>
                  </a:rPr>
                  <a:t>으로 설정 </a:t>
                </a:r>
                <a:r>
                  <a:rPr lang="en-US" altLang="ko-KR" sz="1100">
                    <a:latin typeface="+mn-ea"/>
                  </a:rPr>
                  <a:t>=&gt;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100" i="1">
                            <a:latin typeface="+mn-ea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100">
                            <a:latin typeface="+mn-ea"/>
                          </a:rPr>
                          <m:t>w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sz="1100">
                            <a:latin typeface="+mn-ea"/>
                          </a:rPr>
                          <m:t>T</m:t>
                        </m:r>
                      </m:sup>
                    </m:sSup>
                    <m:r>
                      <a:rPr lang="en-US" altLang="ko-KR" sz="1100">
                        <a:latin typeface="+mn-ea"/>
                      </a:rPr>
                      <m:t>⋅</m:t>
                    </m:r>
                    <m:r>
                      <m:rPr>
                        <m:sty m:val="p"/>
                      </m:rPr>
                      <a:rPr lang="en-US" altLang="ko-KR" sz="1100">
                        <a:latin typeface="+mn-ea"/>
                      </a:rPr>
                      <m:t>u</m:t>
                    </m:r>
                    <m:r>
                      <a:rPr lang="en-US" altLang="ko-KR" sz="1100">
                        <a:latin typeface="+mn-ea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100">
                        <a:latin typeface="+mn-ea"/>
                      </a:rPr>
                      <m:t>b</m:t>
                    </m:r>
                    <m:r>
                      <a:rPr lang="en-US" altLang="ko-KR" sz="1100" b="0" i="1" smtClean="0">
                        <a:solidFill>
                          <a:schemeClr val="tx1"/>
                        </a:solidFill>
                        <a:latin typeface="+mn-ea"/>
                      </a:rPr>
                      <m:t>≥</m:t>
                    </m:r>
                    <m:r>
                      <a:rPr lang="en-US" altLang="ko-KR" sz="1100" b="0" i="1" smtClean="0">
                        <a:solidFill>
                          <a:schemeClr val="tx1"/>
                        </a:solidFill>
                        <a:latin typeface="+mn-ea"/>
                      </a:rPr>
                      <m:t>𝑐</m:t>
                    </m:r>
                    <m:r>
                      <a:rPr lang="en-US" altLang="ko-KR" sz="1100" b="0" i="1" smtClean="0">
                        <a:solidFill>
                          <a:schemeClr val="tx1"/>
                        </a:solidFill>
                        <a:latin typeface="+mn-ea"/>
                      </a:rPr>
                      <m:t> </m:t>
                    </m:r>
                  </m:oMath>
                </a14:m>
                <a:r>
                  <a:rPr lang="en-US" altLang="ko-KR" sz="1100" b="0">
                    <a:solidFill>
                      <a:schemeClr val="tx1"/>
                    </a:solidFill>
                    <a:latin typeface="+mn-ea"/>
                  </a:rPr>
                  <a:t> </a:t>
                </a:r>
                <a:r>
                  <a:rPr lang="ko-KR" altLang="en-US" sz="1100" b="0">
                    <a:solidFill>
                      <a:schemeClr val="tx1"/>
                    </a:solidFill>
                    <a:latin typeface="+mn-ea"/>
                  </a:rPr>
                  <a:t>작으면 </a:t>
                </a:r>
                <a:r>
                  <a:rPr lang="en-US" altLang="ko-KR" sz="1100">
                    <a:latin typeface="+mn-ea"/>
                  </a:rPr>
                  <a:t>–</a:t>
                </a:r>
                <a:r>
                  <a:rPr lang="ko-KR" altLang="en-US" sz="1100">
                    <a:latin typeface="+mn-ea"/>
                  </a:rPr>
                  <a:t>영역</a:t>
                </a:r>
                <a:r>
                  <a:rPr lang="en-US" altLang="ko-KR" sz="1100">
                    <a:latin typeface="+mn-ea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>
                            <a:latin typeface="+mn-ea"/>
                          </a:rPr>
                        </m:ctrlPr>
                      </m:sSubPr>
                      <m:e>
                        <m:r>
                          <a:rPr lang="en-US" altLang="ko-KR" sz="1100" i="1">
                            <a:latin typeface="+mn-ea"/>
                          </a:rPr>
                          <m:t>𝑥</m:t>
                        </m:r>
                      </m:e>
                      <m:sub>
                        <m:r>
                          <a:rPr lang="en-US" altLang="ko-KR" sz="1100" i="1">
                            <a:latin typeface="+mn-ea"/>
                          </a:rPr>
                          <m:t>−</m:t>
                        </m:r>
                      </m:sub>
                    </m:sSub>
                    <m:r>
                      <a:rPr lang="en-US" altLang="ko-KR" sz="1100" i="1">
                        <a:latin typeface="+mn-ea"/>
                      </a:rPr>
                      <m:t> </m:t>
                    </m:r>
                  </m:oMath>
                </a14:m>
                <a:r>
                  <a:rPr lang="en-US" altLang="ko-KR" sz="1100">
                    <a:latin typeface="+mn-ea"/>
                  </a:rPr>
                  <a:t>)</a:t>
                </a:r>
                <a:r>
                  <a:rPr lang="ko-KR" altLang="en-US" sz="1100">
                    <a:latin typeface="+mn-ea"/>
                  </a:rPr>
                  <a:t>으로 설정 </a:t>
                </a:r>
                <a:r>
                  <a:rPr lang="en-US" altLang="ko-KR" sz="1100">
                    <a:latin typeface="+mn-ea"/>
                  </a:rPr>
                  <a:t>=&gt;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100" i="1">
                            <a:latin typeface="+mn-ea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100">
                            <a:latin typeface="+mn-ea"/>
                          </a:rPr>
                          <m:t>w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sz="1100">
                            <a:latin typeface="+mn-ea"/>
                          </a:rPr>
                          <m:t>T</m:t>
                        </m:r>
                      </m:sup>
                    </m:sSup>
                    <m:r>
                      <a:rPr lang="en-US" altLang="ko-KR" sz="1100">
                        <a:latin typeface="+mn-ea"/>
                      </a:rPr>
                      <m:t>⋅</m:t>
                    </m:r>
                    <m:r>
                      <m:rPr>
                        <m:sty m:val="p"/>
                      </m:rPr>
                      <a:rPr lang="en-US" altLang="ko-KR" sz="1100">
                        <a:latin typeface="+mn-ea"/>
                      </a:rPr>
                      <m:t>u</m:t>
                    </m:r>
                    <m:r>
                      <a:rPr lang="en-US" altLang="ko-KR" sz="1100">
                        <a:latin typeface="+mn-ea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100">
                        <a:latin typeface="+mn-ea"/>
                      </a:rPr>
                      <m:t>b</m:t>
                    </m:r>
                    <m:r>
                      <a:rPr lang="en-US" altLang="ko-KR" sz="1100" i="1">
                        <a:latin typeface="+mn-ea"/>
                      </a:rPr>
                      <m:t>≤</m:t>
                    </m:r>
                    <m:r>
                      <a:rPr lang="en-US" altLang="ko-KR" sz="1100" i="1">
                        <a:latin typeface="+mn-ea"/>
                      </a:rPr>
                      <m:t>𝑐</m:t>
                    </m:r>
                  </m:oMath>
                </a14:m>
                <a:endParaRPr lang="en-US" altLang="ko-KR" sz="1100" b="0">
                  <a:solidFill>
                    <a:schemeClr val="tx1"/>
                  </a:solidFill>
                  <a:latin typeface="+mn-ea"/>
                </a:endParaRP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100" b="0">
                    <a:solidFill>
                      <a:schemeClr val="tx1"/>
                    </a:solidFill>
                    <a:latin typeface="+mn-ea"/>
                  </a:rPr>
                  <a:t>c</a:t>
                </a:r>
                <a:r>
                  <a:rPr lang="ko-KR" altLang="en-US" sz="1100" b="0">
                    <a:solidFill>
                      <a:schemeClr val="tx1"/>
                    </a:solidFill>
                    <a:latin typeface="+mn-ea"/>
                  </a:rPr>
                  <a:t>를 보통 </a:t>
                </a:r>
                <a:r>
                  <a:rPr lang="en-US" altLang="ko-KR" sz="1100" b="0">
                    <a:solidFill>
                      <a:schemeClr val="tx1"/>
                    </a:solidFill>
                    <a:latin typeface="+mn-ea"/>
                  </a:rPr>
                  <a:t>b(bias)</a:t>
                </a:r>
                <a:r>
                  <a:rPr lang="ko-KR" altLang="en-US" sz="1100" b="0">
                    <a:solidFill>
                      <a:schemeClr val="tx1"/>
                    </a:solidFill>
                    <a:latin typeface="+mn-ea"/>
                  </a:rPr>
                  <a:t>로  표기하는데 계산하기 편하기 위해 </a:t>
                </a:r>
                <a:r>
                  <a:rPr lang="en-US" altLang="ko-KR" sz="1100" b="0">
                    <a:solidFill>
                      <a:schemeClr val="tx1"/>
                    </a:solidFill>
                    <a:latin typeface="+mn-ea"/>
                  </a:rPr>
                  <a:t>c = -b</a:t>
                </a:r>
                <a:r>
                  <a:rPr lang="ko-KR" altLang="en-US" sz="1100" b="0">
                    <a:solidFill>
                      <a:schemeClr val="tx1"/>
                    </a:solidFill>
                    <a:latin typeface="+mn-ea"/>
                  </a:rPr>
                  <a:t>로 표시</a:t>
                </a:r>
                <a:r>
                  <a:rPr lang="en-US" altLang="ko-KR" sz="1100" b="0">
                    <a:solidFill>
                      <a:schemeClr val="tx1"/>
                    </a:solidFill>
                    <a:latin typeface="+mn-ea"/>
                  </a:rPr>
                  <a:t>,</a:t>
                </a:r>
                <a:r>
                  <a:rPr lang="ko-KR" altLang="en-US" sz="1100" b="0">
                    <a:solidFill>
                      <a:schemeClr val="tx1"/>
                    </a:solidFill>
                    <a:latin typeface="+mn-ea"/>
                  </a:rPr>
                  <a:t>일반화시켜서 표현하면</a:t>
                </a:r>
                <a:endParaRPr lang="en-US" altLang="ko-KR" sz="1100" b="0">
                  <a:solidFill>
                    <a:schemeClr val="tx1"/>
                  </a:solidFill>
                  <a:latin typeface="+mn-ea"/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100" i="1">
                              <a:latin typeface="+mn-ea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ko-KR" sz="1100">
                              <a:latin typeface="+mn-ea"/>
                            </a:rPr>
                            <m:t>w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ko-KR" sz="1100">
                              <a:latin typeface="+mn-ea"/>
                            </a:rPr>
                            <m:t>T</m:t>
                          </m:r>
                        </m:sup>
                      </m:sSup>
                      <m:r>
                        <a:rPr lang="en-US" altLang="ko-KR" sz="1100">
                          <a:latin typeface="+mn-ea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 altLang="ko-KR" sz="1100">
                          <a:latin typeface="+mn-ea"/>
                        </a:rPr>
                        <m:t>u</m:t>
                      </m:r>
                      <m:r>
                        <a:rPr lang="en-US" altLang="ko-KR" sz="1100">
                          <a:latin typeface="+mn-ea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ko-KR" sz="1100">
                          <a:latin typeface="+mn-ea"/>
                        </a:rPr>
                        <m:t>b</m:t>
                      </m:r>
                      <m:r>
                        <a:rPr lang="en-US" altLang="ko-KR" sz="1100" b="0" i="1" smtClean="0">
                          <a:solidFill>
                            <a:schemeClr val="tx1"/>
                          </a:solidFill>
                          <a:latin typeface="+mn-ea"/>
                        </a:rPr>
                        <m:t>≥0, </m:t>
                      </m:r>
                      <m:r>
                        <a:rPr lang="en-US" altLang="ko-KR" sz="1100" b="0" i="1" smtClean="0">
                          <a:solidFill>
                            <a:schemeClr val="tx1"/>
                          </a:solidFill>
                          <a:latin typeface="+mn-ea"/>
                        </a:rPr>
                        <m:t>𝑡h𝑒𝑛</m:t>
                      </m:r>
                      <m:sSub>
                        <m:sSubPr>
                          <m:ctrlPr>
                            <a:rPr lang="en-US" altLang="ko-KR" sz="1100" i="1">
                              <a:latin typeface="+mn-ea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atin typeface="+mn-ea"/>
                            </a:rPr>
                            <m:t> </m:t>
                          </m:r>
                          <m:r>
                            <a:rPr lang="en-US" altLang="ko-KR" sz="1100" i="1">
                              <a:latin typeface="+mn-ea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100" i="1">
                              <a:latin typeface="+mn-ea"/>
                            </a:rPr>
                            <m:t>+</m:t>
                          </m:r>
                        </m:sub>
                      </m:sSub>
                    </m:oMath>
                  </m:oMathPara>
                </a14:m>
                <a:endParaRPr lang="en-US" altLang="ko-KR" sz="1100" b="0">
                  <a:solidFill>
                    <a:schemeClr val="tx1"/>
                  </a:solidFill>
                  <a:latin typeface="+mn-ea"/>
                </a:endParaRP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100" b="0">
                    <a:solidFill>
                      <a:schemeClr val="tx1"/>
                    </a:solidFill>
                    <a:latin typeface="+mn-ea"/>
                  </a:rPr>
                  <a:t>위의 식을 </a:t>
                </a:r>
                <a:r>
                  <a:rPr lang="en-US" altLang="ko-KR" sz="1100" b="0">
                    <a:solidFill>
                      <a:schemeClr val="tx1"/>
                    </a:solidFill>
                    <a:latin typeface="+mn-ea"/>
                  </a:rPr>
                  <a:t>Decision Rule</a:t>
                </a:r>
                <a:r>
                  <a:rPr lang="ko-KR" altLang="en-US" sz="1100" b="0">
                    <a:solidFill>
                      <a:schemeClr val="tx1"/>
                    </a:solidFill>
                    <a:latin typeface="+mn-ea"/>
                  </a:rPr>
                  <a:t>이며 </a:t>
                </a:r>
                <a:r>
                  <a:rPr lang="en-US" altLang="ko-KR" sz="1100">
                    <a:latin typeface="+mn-ea"/>
                  </a:rPr>
                  <a:t>Decision Boundary</a:t>
                </a:r>
                <a:r>
                  <a:rPr lang="ko-KR" altLang="en-US" sz="1100">
                    <a:latin typeface="+mn-ea"/>
                  </a:rPr>
                  <a:t>는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100" i="1">
                            <a:latin typeface="+mn-ea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100">
                            <a:latin typeface="+mn-ea"/>
                          </a:rPr>
                          <m:t>w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sz="1100">
                            <a:latin typeface="+mn-ea"/>
                          </a:rPr>
                          <m:t>T</m:t>
                        </m:r>
                      </m:sup>
                    </m:sSup>
                    <m:r>
                      <a:rPr lang="en-US" altLang="ko-KR" sz="1100">
                        <a:latin typeface="+mn-ea"/>
                      </a:rPr>
                      <m:t>⋅</m:t>
                    </m:r>
                    <m:r>
                      <m:rPr>
                        <m:sty m:val="p"/>
                      </m:rPr>
                      <a:rPr lang="en-US" altLang="ko-KR" sz="1100">
                        <a:latin typeface="+mn-ea"/>
                      </a:rPr>
                      <m:t>u</m:t>
                    </m:r>
                    <m:r>
                      <a:rPr lang="en-US" altLang="ko-KR" sz="1100">
                        <a:latin typeface="+mn-ea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100">
                        <a:latin typeface="+mn-ea"/>
                      </a:rPr>
                      <m:t>b</m:t>
                    </m:r>
                    <m:r>
                      <a:rPr lang="en-US" altLang="ko-KR" sz="1100" b="0" i="1" smtClean="0">
                        <a:latin typeface="+mn-ea"/>
                      </a:rPr>
                      <m:t>=0</m:t>
                    </m:r>
                  </m:oMath>
                </a14:m>
                <a:endParaRPr lang="en-US" altLang="ko-KR" sz="1100" b="0">
                  <a:solidFill>
                    <a:schemeClr val="tx1"/>
                  </a:solidFill>
                  <a:latin typeface="+mn-ea"/>
                </a:endParaRP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100" b="0">
                    <a:solidFill>
                      <a:schemeClr val="tx1"/>
                    </a:solidFill>
                    <a:latin typeface="+mn-ea"/>
                  </a:rPr>
                  <a:t>Decision boundary</a:t>
                </a:r>
                <a:r>
                  <a:rPr lang="ko-KR" altLang="en-US" sz="1100" b="0">
                    <a:solidFill>
                      <a:schemeClr val="tx1"/>
                    </a:solidFill>
                    <a:latin typeface="+mn-ea"/>
                  </a:rPr>
                  <a:t>와 각 </a:t>
                </a:r>
                <a:r>
                  <a:rPr lang="en-US" altLang="ko-KR" sz="1100">
                    <a:solidFill>
                      <a:schemeClr val="tx1"/>
                    </a:solidFill>
                    <a:latin typeface="+mn-ea"/>
                  </a:rPr>
                  <a:t>Support Vector</a:t>
                </a:r>
                <a:r>
                  <a:rPr lang="ko-KR" altLang="en-US" sz="1100">
                    <a:solidFill>
                      <a:schemeClr val="tx1"/>
                    </a:solidFill>
                    <a:latin typeface="+mn-ea"/>
                  </a:rPr>
                  <a:t>사이의 거리를 </a:t>
                </a:r>
                <a:r>
                  <a:rPr lang="en-US" altLang="ko-KR" sz="1100">
                    <a:solidFill>
                      <a:schemeClr val="tx1"/>
                    </a:solidFill>
                    <a:latin typeface="+mn-ea"/>
                  </a:rPr>
                  <a:t>1</a:t>
                </a:r>
                <a:r>
                  <a:rPr lang="ko-KR" altLang="en-US" sz="1100">
                    <a:solidFill>
                      <a:schemeClr val="tx1"/>
                    </a:solidFill>
                    <a:latin typeface="+mn-ea"/>
                  </a:rPr>
                  <a:t>이라 가정</a:t>
                </a:r>
                <a:endParaRPr lang="en-US" altLang="ko-KR" sz="1100">
                  <a:solidFill>
                    <a:schemeClr val="tx1"/>
                  </a:solidFill>
                  <a:latin typeface="+mn-ea"/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>
                            <a:solidFill>
                              <a:schemeClr val="tx1"/>
                            </a:solidFill>
                            <a:latin typeface="+mn-ea"/>
                          </a:rPr>
                        </m:ctrlPr>
                      </m:sSubPr>
                      <m:e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+mn-ea"/>
                          </a:rPr>
                          <m:t>𝑥</m:t>
                        </m:r>
                      </m:e>
                      <m:sub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+mn-ea"/>
                          </a:rPr>
                          <m:t>+</m:t>
                        </m:r>
                      </m:sub>
                    </m:sSub>
                    <m:r>
                      <m:rPr>
                        <m:nor/>
                      </m:rPr>
                      <a:rPr lang="en-US" altLang="ko-KR" sz="1100">
                        <a:solidFill>
                          <a:schemeClr val="tx1"/>
                        </a:solidFill>
                        <a:latin typeface="+mn-ea"/>
                      </a:rPr>
                      <m:t> </m:t>
                    </m:r>
                    <m:r>
                      <a:rPr lang="en-US" altLang="ko-KR" sz="1100" b="0" i="1" smtClean="0">
                        <a:solidFill>
                          <a:schemeClr val="tx1"/>
                        </a:solidFill>
                        <a:latin typeface="+mn-ea"/>
                      </a:rPr>
                      <m:t>⇒</m:t>
                    </m:r>
                    <m:sSup>
                      <m:sSupPr>
                        <m:ctrlPr>
                          <a:rPr lang="en-US" altLang="ko-KR" sz="1100" i="1">
                            <a:latin typeface="+mn-ea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100">
                            <a:latin typeface="+mn-ea"/>
                          </a:rPr>
                          <m:t>w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sz="1100">
                            <a:latin typeface="+mn-ea"/>
                          </a:rPr>
                          <m:t>T</m:t>
                        </m:r>
                      </m:sup>
                    </m:sSup>
                    <m:r>
                      <a:rPr lang="en-US" altLang="ko-KR" sz="1100">
                        <a:latin typeface="+mn-ea"/>
                      </a:rPr>
                      <m:t>⋅</m:t>
                    </m:r>
                    <m:sSub>
                      <m:sSubPr>
                        <m:ctrlPr>
                          <a:rPr lang="en-US" altLang="ko-KR" sz="1100" b="0" i="0" smtClean="0">
                            <a:latin typeface="+mn-ea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100" b="0" i="0" smtClean="0">
                            <a:latin typeface="+mn-ea"/>
                          </a:rPr>
                          <m:t>x</m:t>
                        </m:r>
                      </m:e>
                      <m:sub>
                        <m:r>
                          <a:rPr lang="en-US" altLang="ko-KR" sz="1100" b="0" i="0" smtClean="0">
                            <a:latin typeface="+mn-ea"/>
                          </a:rPr>
                          <m:t>+</m:t>
                        </m:r>
                      </m:sub>
                    </m:sSub>
                    <m:r>
                      <a:rPr lang="en-US" altLang="ko-KR" sz="1100">
                        <a:latin typeface="+mn-ea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100">
                        <a:latin typeface="+mn-ea"/>
                      </a:rPr>
                      <m:t>b</m:t>
                    </m:r>
                    <m:r>
                      <a:rPr lang="en-US" altLang="ko-KR" sz="1100" i="1">
                        <a:solidFill>
                          <a:schemeClr val="tx1"/>
                        </a:solidFill>
                        <a:latin typeface="+mn-ea"/>
                      </a:rPr>
                      <m:t>≥1,</m:t>
                    </m:r>
                  </m:oMath>
                </a14:m>
                <a:r>
                  <a:rPr lang="en-US" altLang="ko-KR" sz="1100">
                    <a:solidFill>
                      <a:schemeClr val="tx1"/>
                    </a:solidFill>
                    <a:latin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>
                            <a:solidFill>
                              <a:schemeClr val="tx1"/>
                            </a:solidFill>
                            <a:latin typeface="+mn-ea"/>
                          </a:rPr>
                        </m:ctrlPr>
                      </m:sSubPr>
                      <m:e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+mn-ea"/>
                          </a:rPr>
                          <m:t>𝑥</m:t>
                        </m:r>
                      </m:e>
                      <m:sub>
                        <m:r>
                          <a:rPr lang="en-US" altLang="ko-KR" sz="1100" b="0" i="1" smtClean="0">
                            <a:solidFill>
                              <a:schemeClr val="tx1"/>
                            </a:solidFill>
                            <a:latin typeface="+mn-ea"/>
                          </a:rPr>
                          <m:t>−</m:t>
                        </m:r>
                      </m:sub>
                    </m:sSub>
                    <m:r>
                      <m:rPr>
                        <m:nor/>
                      </m:rPr>
                      <a:rPr lang="en-US" altLang="ko-KR" sz="1100">
                        <a:solidFill>
                          <a:schemeClr val="tx1"/>
                        </a:solidFill>
                        <a:latin typeface="+mn-ea"/>
                      </a:rPr>
                      <m:t> </m:t>
                    </m:r>
                    <m:r>
                      <m:rPr>
                        <m:nor/>
                      </m:rPr>
                      <a:rPr lang="en-US" altLang="ko-KR" sz="1100" b="0" i="0" smtClean="0">
                        <a:solidFill>
                          <a:schemeClr val="tx1"/>
                        </a:solidFill>
                        <a:latin typeface="+mn-ea"/>
                      </a:rPr>
                      <m:t>=</m:t>
                    </m:r>
                    <m:r>
                      <m:rPr>
                        <m:nor/>
                      </m:rPr>
                      <a:rPr lang="en-US" altLang="ko-KR" sz="1100">
                        <a:solidFill>
                          <a:schemeClr val="tx1"/>
                        </a:solidFill>
                        <a:latin typeface="+mn-ea"/>
                      </a:rPr>
                      <m:t>&gt;</m:t>
                    </m:r>
                    <m:sSup>
                      <m:sSupPr>
                        <m:ctrlPr>
                          <a:rPr lang="en-US" altLang="ko-KR" sz="1100" i="1">
                            <a:latin typeface="+mn-ea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100">
                            <a:latin typeface="+mn-ea"/>
                          </a:rPr>
                          <m:t>w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sz="1100">
                            <a:latin typeface="+mn-ea"/>
                          </a:rPr>
                          <m:t>T</m:t>
                        </m:r>
                      </m:sup>
                    </m:sSup>
                    <m:r>
                      <a:rPr lang="en-US" altLang="ko-KR" sz="1100">
                        <a:latin typeface="+mn-ea"/>
                      </a:rPr>
                      <m:t>⋅</m:t>
                    </m:r>
                    <m:sSub>
                      <m:sSubPr>
                        <m:ctrlPr>
                          <a:rPr lang="en-US" altLang="ko-KR" sz="1100" i="1">
                            <a:latin typeface="+mn-ea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100">
                            <a:latin typeface="+mn-ea"/>
                          </a:rPr>
                          <m:t>x</m:t>
                        </m:r>
                      </m:e>
                      <m:sub>
                        <m:r>
                          <a:rPr lang="en-US" altLang="ko-KR" sz="1100" b="0" i="0" smtClean="0">
                            <a:latin typeface="+mn-ea"/>
                          </a:rPr>
                          <m:t>−</m:t>
                        </m:r>
                      </m:sub>
                    </m:sSub>
                    <m:r>
                      <a:rPr lang="en-US" altLang="ko-KR" sz="1100">
                        <a:latin typeface="+mn-ea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100">
                        <a:latin typeface="+mn-ea"/>
                      </a:rPr>
                      <m:t>b</m:t>
                    </m:r>
                    <m:r>
                      <a:rPr lang="en-US" altLang="ko-KR" sz="1100" i="1">
                        <a:solidFill>
                          <a:schemeClr val="tx1"/>
                        </a:solidFill>
                        <a:latin typeface="+mn-ea"/>
                      </a:rPr>
                      <m:t>≤1</m:t>
                    </m:r>
                  </m:oMath>
                </a14:m>
                <a:endParaRPr lang="en-US" altLang="ko-KR" sz="1100">
                  <a:solidFill>
                    <a:schemeClr val="tx1"/>
                  </a:solidFill>
                  <a:latin typeface="+mn-ea"/>
                </a:endParaRP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100">
                    <a:solidFill>
                      <a:schemeClr val="tx1"/>
                    </a:solidFill>
                    <a:latin typeface="+mn-ea"/>
                  </a:rPr>
                  <a:t>위의 두 식을 하나로 만들기 위해 변수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 smtClean="0">
                            <a:solidFill>
                              <a:schemeClr val="tx1"/>
                            </a:solidFill>
                            <a:latin typeface="+mn-ea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solidFill>
                              <a:schemeClr val="tx1"/>
                            </a:solidFill>
                            <a:latin typeface="+mn-ea"/>
                          </a:rPr>
                          <m:t>𝑦</m:t>
                        </m:r>
                      </m:e>
                      <m:sub>
                        <m:r>
                          <a:rPr lang="en-US" altLang="ko-KR" sz="1100" b="0" i="1" smtClean="0">
                            <a:solidFill>
                              <a:schemeClr val="tx1"/>
                            </a:solidFill>
                            <a:latin typeface="+mn-ea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sz="1100">
                    <a:solidFill>
                      <a:schemeClr val="tx1"/>
                    </a:solidFill>
                    <a:latin typeface="+mn-ea"/>
                  </a:rPr>
                  <a:t>설정</a:t>
                </a:r>
                <a:r>
                  <a:rPr lang="en-US" altLang="ko-KR" sz="1100">
                    <a:solidFill>
                      <a:schemeClr val="tx1"/>
                    </a:solidFill>
                    <a:latin typeface="+mn-ea"/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 smtClean="0">
                            <a:solidFill>
                              <a:schemeClr val="tx1"/>
                            </a:solidFill>
                            <a:latin typeface="+mn-ea"/>
                          </a:rPr>
                        </m:ctrlPr>
                      </m:sSubPr>
                      <m:e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+mn-ea"/>
                          </a:rPr>
                          <m:t>𝑦</m:t>
                        </m:r>
                      </m:e>
                      <m:sub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+mn-ea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sz="1100">
                    <a:solidFill>
                      <a:schemeClr val="tx1"/>
                    </a:solidFill>
                    <a:latin typeface="+mn-ea"/>
                  </a:rPr>
                  <a:t>의값이 </a:t>
                </a:r>
                <a:r>
                  <a:rPr lang="en-US" altLang="ko-KR" sz="1100">
                    <a:solidFill>
                      <a:schemeClr val="tx1"/>
                    </a:solidFill>
                    <a:latin typeface="+mn-ea"/>
                  </a:rPr>
                  <a:t>+1</a:t>
                </a:r>
                <a:r>
                  <a:rPr lang="ko-KR" altLang="en-US" sz="1100">
                    <a:solidFill>
                      <a:schemeClr val="tx1"/>
                    </a:solidFill>
                    <a:latin typeface="+mn-ea"/>
                  </a:rPr>
                  <a:t>이면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>
                            <a:solidFill>
                              <a:schemeClr val="tx1"/>
                            </a:solidFill>
                            <a:latin typeface="+mn-ea"/>
                          </a:rPr>
                        </m:ctrlPr>
                      </m:sSubPr>
                      <m:e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+mn-ea"/>
                          </a:rPr>
                          <m:t>𝑥</m:t>
                        </m:r>
                      </m:e>
                      <m:sub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+mn-ea"/>
                          </a:rPr>
                          <m:t>+</m:t>
                        </m:r>
                      </m:sub>
                    </m:sSub>
                    <m:r>
                      <a:rPr lang="en-US" altLang="ko-KR" sz="1100" b="0" i="0" smtClean="0">
                        <a:solidFill>
                          <a:schemeClr val="tx1"/>
                        </a:solidFill>
                        <a:latin typeface="+mn-ea"/>
                      </a:rPr>
                      <m:t>,</m:t>
                    </m:r>
                  </m:oMath>
                </a14:m>
                <a:r>
                  <a:rPr lang="ko-KR" altLang="en-US" sz="1100">
                    <a:solidFill>
                      <a:schemeClr val="tx1"/>
                    </a:solidFill>
                    <a:latin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100" b="0" i="0" smtClean="0">
                        <a:solidFill>
                          <a:schemeClr val="tx1"/>
                        </a:solidFill>
                        <a:latin typeface="+mn-ea"/>
                      </a:rPr>
                      <m:t> </m:t>
                    </m:r>
                    <m:sSub>
                      <m:sSubPr>
                        <m:ctrlPr>
                          <a:rPr lang="en-US" altLang="ko-KR" sz="1100" i="1">
                            <a:solidFill>
                              <a:schemeClr val="tx1"/>
                            </a:solidFill>
                            <a:latin typeface="+mn-ea"/>
                          </a:rPr>
                        </m:ctrlPr>
                      </m:sSubPr>
                      <m:e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+mn-ea"/>
                          </a:rPr>
                          <m:t>𝑦</m:t>
                        </m:r>
                      </m:e>
                      <m:sub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+mn-ea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sz="1100">
                    <a:solidFill>
                      <a:schemeClr val="tx1"/>
                    </a:solidFill>
                    <a:latin typeface="+mn-ea"/>
                  </a:rPr>
                  <a:t>의값이 </a:t>
                </a:r>
                <a:r>
                  <a:rPr lang="en-US" altLang="ko-KR" sz="1100">
                    <a:solidFill>
                      <a:schemeClr val="tx1"/>
                    </a:solidFill>
                    <a:latin typeface="+mn-ea"/>
                  </a:rPr>
                  <a:t>-1</a:t>
                </a:r>
                <a:r>
                  <a:rPr lang="ko-KR" altLang="en-US" sz="1100">
                    <a:solidFill>
                      <a:schemeClr val="tx1"/>
                    </a:solidFill>
                    <a:latin typeface="+mn-ea"/>
                  </a:rPr>
                  <a:t>이면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>
                            <a:solidFill>
                              <a:schemeClr val="tx1"/>
                            </a:solidFill>
                            <a:latin typeface="+mn-ea"/>
                          </a:rPr>
                        </m:ctrlPr>
                      </m:sSubPr>
                      <m:e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+mn-ea"/>
                          </a:rPr>
                          <m:t>𝑥</m:t>
                        </m:r>
                      </m:e>
                      <m:sub>
                        <m:r>
                          <a:rPr lang="en-US" altLang="ko-KR" sz="1100" b="0" i="1" smtClean="0">
                            <a:solidFill>
                              <a:schemeClr val="tx1"/>
                            </a:solidFill>
                            <a:latin typeface="+mn-ea"/>
                          </a:rPr>
                          <m:t>−</m:t>
                        </m:r>
                      </m:sub>
                    </m:sSub>
                  </m:oMath>
                </a14:m>
                <a:r>
                  <a:rPr lang="en-US" altLang="ko-KR" sz="1100">
                    <a:solidFill>
                      <a:schemeClr val="tx1"/>
                    </a:solidFill>
                    <a:latin typeface="+mn-ea"/>
                  </a:rPr>
                  <a:t>)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100" i="1">
                              <a:solidFill>
                                <a:schemeClr val="tx1"/>
                              </a:solidFill>
                              <a:latin typeface="+mn-ea"/>
                            </a:rPr>
                          </m:ctrlPr>
                        </m:sSubPr>
                        <m:e>
                          <m:r>
                            <a:rPr lang="en-US" altLang="ko-KR" sz="1100" i="1">
                              <a:solidFill>
                                <a:schemeClr val="tx1"/>
                              </a:solidFill>
                              <a:latin typeface="+mn-ea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100" i="1">
                              <a:solidFill>
                                <a:schemeClr val="tx1"/>
                              </a:solidFill>
                              <a:latin typeface="+mn-ea"/>
                            </a:rPr>
                            <m:t>+</m:t>
                          </m:r>
                        </m:sub>
                      </m:sSub>
                      <m:r>
                        <m:rPr>
                          <m:nor/>
                        </m:rPr>
                        <a:rPr lang="en-US" altLang="ko-KR" sz="1100">
                          <a:solidFill>
                            <a:schemeClr val="tx1"/>
                          </a:solidFill>
                          <a:latin typeface="+mn-ea"/>
                        </a:rPr>
                        <m:t> </m:t>
                      </m:r>
                      <m:r>
                        <a:rPr lang="en-US" altLang="ko-KR" sz="1100" i="1">
                          <a:solidFill>
                            <a:schemeClr val="tx1"/>
                          </a:solidFill>
                          <a:latin typeface="+mn-ea"/>
                        </a:rPr>
                        <m:t>⇒</m:t>
                      </m:r>
                      <m:sSub>
                        <m:sSubPr>
                          <m:ctrlPr>
                            <a:rPr lang="en-US" altLang="ko-KR" sz="1100" b="0" i="1" smtClean="0">
                              <a:solidFill>
                                <a:schemeClr val="tx1"/>
                              </a:solidFill>
                              <a:latin typeface="+mn-ea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solidFill>
                                <a:schemeClr val="tx1"/>
                              </a:solidFill>
                              <a:latin typeface="+mn-ea"/>
                            </a:rPr>
                            <m:t>𝑦</m:t>
                          </m:r>
                        </m:e>
                        <m:sub>
                          <m:r>
                            <a:rPr lang="en-US" altLang="ko-KR" sz="1100" b="0" i="1" smtClean="0">
                              <a:solidFill>
                                <a:schemeClr val="tx1"/>
                              </a:solidFill>
                              <a:latin typeface="+mn-ea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ko-KR" sz="1100" b="0" i="1" smtClean="0">
                              <a:solidFill>
                                <a:schemeClr val="tx1"/>
                              </a:solidFill>
                              <a:latin typeface="+mn-ea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sz="1100" i="1">
                                  <a:latin typeface="+mn-ea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100">
                                  <a:latin typeface="+mn-ea"/>
                                </a:rPr>
                                <m:t>w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ko-KR" sz="1100">
                                  <a:latin typeface="+mn-ea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altLang="ko-KR" sz="1100">
                              <a:latin typeface="+mn-ea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altLang="ko-KR" sz="1100" i="1">
                                  <a:latin typeface="+mn-ea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100">
                                  <a:latin typeface="+mn-ea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altLang="ko-KR" sz="1100">
                                  <a:latin typeface="+mn-ea"/>
                                </a:rPr>
                                <m:t>+</m:t>
                              </m:r>
                            </m:sub>
                          </m:sSub>
                          <m:r>
                            <a:rPr lang="en-US" altLang="ko-KR" sz="1100">
                              <a:latin typeface="+mn-ea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altLang="ko-KR" sz="1100">
                              <a:latin typeface="+mn-ea"/>
                            </a:rPr>
                            <m:t>b</m:t>
                          </m:r>
                        </m:e>
                      </m:d>
                      <m:r>
                        <a:rPr lang="en-US" altLang="ko-KR" sz="1100" i="1">
                          <a:solidFill>
                            <a:schemeClr val="tx1"/>
                          </a:solidFill>
                          <a:latin typeface="+mn-ea"/>
                        </a:rPr>
                        <m:t>≥1</m:t>
                      </m:r>
                      <m:r>
                        <a:rPr lang="en-US" altLang="ko-KR" sz="1100" b="0" i="1" smtClean="0">
                          <a:solidFill>
                            <a:schemeClr val="tx1"/>
                          </a:solidFill>
                          <a:latin typeface="+mn-ea"/>
                        </a:rPr>
                        <m:t>,</m:t>
                      </m:r>
                    </m:oMath>
                  </m:oMathPara>
                </a14:m>
                <a:endParaRPr lang="en-US" altLang="ko-KR" sz="1100" b="0" i="1">
                  <a:solidFill>
                    <a:schemeClr val="tx1"/>
                  </a:solidFill>
                  <a:latin typeface="+mn-ea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100" i="1">
                              <a:solidFill>
                                <a:schemeClr val="tx1"/>
                              </a:solidFill>
                              <a:latin typeface="+mn-ea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solidFill>
                                <a:schemeClr val="tx1"/>
                              </a:solidFill>
                              <a:latin typeface="+mn-ea"/>
                            </a:rPr>
                            <m:t> </m:t>
                          </m:r>
                          <m:r>
                            <a:rPr lang="en-US" altLang="ko-KR" sz="1100" i="1">
                              <a:solidFill>
                                <a:schemeClr val="tx1"/>
                              </a:solidFill>
                              <a:latin typeface="+mn-ea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100" b="0" i="1" smtClean="0">
                              <a:solidFill>
                                <a:schemeClr val="tx1"/>
                              </a:solidFill>
                              <a:latin typeface="+mn-ea"/>
                            </a:rPr>
                            <m:t>−</m:t>
                          </m:r>
                        </m:sub>
                      </m:sSub>
                      <m:r>
                        <a:rPr lang="en-US" altLang="ko-KR" sz="1100" i="1">
                          <a:solidFill>
                            <a:schemeClr val="tx1"/>
                          </a:solidFill>
                          <a:latin typeface="+mn-ea"/>
                        </a:rPr>
                        <m:t>⇒</m:t>
                      </m:r>
                      <m:sSub>
                        <m:sSubPr>
                          <m:ctrlPr>
                            <a:rPr lang="en-US" altLang="ko-KR" sz="1100" i="1">
                              <a:solidFill>
                                <a:schemeClr val="tx1"/>
                              </a:solidFill>
                              <a:latin typeface="+mn-ea"/>
                            </a:rPr>
                          </m:ctrlPr>
                        </m:sSubPr>
                        <m:e>
                          <m:r>
                            <a:rPr lang="en-US" altLang="ko-KR" sz="1100" i="1">
                              <a:solidFill>
                                <a:schemeClr val="tx1"/>
                              </a:solidFill>
                              <a:latin typeface="+mn-ea"/>
                            </a:rPr>
                            <m:t>𝑦</m:t>
                          </m:r>
                        </m:e>
                        <m:sub>
                          <m:r>
                            <a:rPr lang="en-US" altLang="ko-KR" sz="1100" i="1">
                              <a:solidFill>
                                <a:schemeClr val="tx1"/>
                              </a:solidFill>
                              <a:latin typeface="+mn-ea"/>
                            </a:rPr>
                            <m:t>𝑖</m:t>
                          </m:r>
                        </m:sub>
                      </m:sSub>
                      <m:r>
                        <a:rPr lang="en-US" altLang="ko-KR" sz="1100" i="1">
                          <a:solidFill>
                            <a:schemeClr val="tx1"/>
                          </a:solidFill>
                          <a:latin typeface="+mn-ea"/>
                        </a:rPr>
                        <m:t>(</m:t>
                      </m:r>
                      <m:sSup>
                        <m:sSupPr>
                          <m:ctrlPr>
                            <a:rPr lang="en-US" altLang="ko-KR" sz="1100" i="1">
                              <a:latin typeface="+mn-ea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ko-KR" sz="1100">
                              <a:latin typeface="+mn-ea"/>
                            </a:rPr>
                            <m:t>w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ko-KR" sz="1100">
                              <a:latin typeface="+mn-ea"/>
                            </a:rPr>
                            <m:t>T</m:t>
                          </m:r>
                        </m:sup>
                      </m:sSup>
                      <m:r>
                        <a:rPr lang="en-US" altLang="ko-KR" sz="1100">
                          <a:latin typeface="+mn-ea"/>
                        </a:rPr>
                        <m:t>⋅</m:t>
                      </m:r>
                      <m:sSub>
                        <m:sSubPr>
                          <m:ctrlPr>
                            <a:rPr lang="en-US" altLang="ko-KR" sz="1100" i="1">
                              <a:latin typeface="+mn-ea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100">
                              <a:latin typeface="+mn-ea"/>
                            </a:rPr>
                            <m:t>x</m:t>
                          </m:r>
                        </m:e>
                        <m:sub>
                          <m:r>
                            <a:rPr lang="en-US" altLang="ko-KR" sz="1100" b="0" i="0" smtClean="0">
                              <a:latin typeface="+mn-ea"/>
                            </a:rPr>
                            <m:t>−</m:t>
                          </m:r>
                        </m:sub>
                      </m:sSub>
                      <m:r>
                        <a:rPr lang="en-US" altLang="ko-KR" sz="1100">
                          <a:latin typeface="+mn-ea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ko-KR" sz="1100">
                          <a:latin typeface="+mn-ea"/>
                        </a:rPr>
                        <m:t>b</m:t>
                      </m:r>
                      <m:r>
                        <a:rPr lang="en-US" altLang="ko-KR" sz="1100" i="1">
                          <a:solidFill>
                            <a:schemeClr val="tx1"/>
                          </a:solidFill>
                          <a:latin typeface="+mn-ea"/>
                        </a:rPr>
                        <m:t>) ≥1</m:t>
                      </m:r>
                    </m:oMath>
                  </m:oMathPara>
                </a14:m>
                <a:endParaRPr lang="en-US" altLang="ko-KR" sz="1100">
                  <a:solidFill>
                    <a:schemeClr val="tx1"/>
                  </a:solidFill>
                  <a:latin typeface="+mn-ea"/>
                </a:endParaRP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100">
                    <a:solidFill>
                      <a:schemeClr val="tx1"/>
                    </a:solidFill>
                    <a:latin typeface="+mn-ea"/>
                  </a:rPr>
                  <a:t>즉</a:t>
                </a:r>
                <a:r>
                  <a:rPr lang="en-US" altLang="ko-KR" sz="1100">
                    <a:latin typeface="+mn-ea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>
                            <a:solidFill>
                              <a:schemeClr val="tx1"/>
                            </a:solidFill>
                            <a:latin typeface="+mn-ea"/>
                          </a:rPr>
                        </m:ctrlPr>
                      </m:sSubPr>
                      <m:e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+mn-ea"/>
                          </a:rPr>
                          <m:t>𝑥</m:t>
                        </m:r>
                      </m:e>
                      <m:sub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+mn-ea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US" altLang="ko-KR" sz="1100">
                    <a:latin typeface="+mn-ea"/>
                  </a:rPr>
                  <a:t> </a:t>
                </a:r>
                <a:r>
                  <a:rPr lang="ko-KR" altLang="en-US" sz="1100">
                    <a:latin typeface="+mn-ea"/>
                  </a:rPr>
                  <a:t>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>
                            <a:latin typeface="+mn-ea"/>
                          </a:rPr>
                        </m:ctrlPr>
                      </m:sSubPr>
                      <m:e>
                        <m:r>
                          <a:rPr lang="en-US" altLang="ko-KR" sz="1100" i="1">
                            <a:latin typeface="+mn-ea"/>
                          </a:rPr>
                          <m:t>𝑥</m:t>
                        </m:r>
                      </m:e>
                      <m:sub>
                        <m:r>
                          <a:rPr lang="en-US" altLang="ko-KR" sz="1100" b="0" i="1" smtClean="0">
                            <a:latin typeface="+mn-ea"/>
                          </a:rPr>
                          <m:t>−</m:t>
                        </m:r>
                      </m:sub>
                    </m:sSub>
                  </m:oMath>
                </a14:m>
                <a:r>
                  <a:rPr lang="ko-KR" altLang="en-US" sz="1100">
                    <a:solidFill>
                      <a:schemeClr val="tx1"/>
                    </a:solidFill>
                    <a:latin typeface="+mn-ea"/>
                  </a:rPr>
                  <a:t>의 식을 하나의 식인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>
                            <a:latin typeface="+mn-ea"/>
                          </a:rPr>
                        </m:ctrlPr>
                      </m:sSubPr>
                      <m:e>
                        <m:r>
                          <a:rPr lang="en-US" altLang="ko-KR" sz="1100" i="1">
                            <a:latin typeface="+mn-ea"/>
                          </a:rPr>
                          <m:t>𝑦</m:t>
                        </m:r>
                      </m:e>
                      <m:sub>
                        <m:r>
                          <a:rPr lang="en-US" altLang="ko-KR" sz="1100" i="1">
                            <a:latin typeface="+mn-ea"/>
                          </a:rPr>
                          <m:t>𝑖</m:t>
                        </m:r>
                      </m:sub>
                    </m:sSub>
                    <m:r>
                      <a:rPr lang="en-US" altLang="ko-KR" sz="1100" i="1">
                        <a:latin typeface="+mn-ea"/>
                      </a:rPr>
                      <m:t>(</m:t>
                    </m:r>
                    <m:sSup>
                      <m:sSupPr>
                        <m:ctrlPr>
                          <a:rPr lang="en-US" altLang="ko-KR" sz="1100" i="1">
                            <a:latin typeface="+mn-ea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100">
                            <a:latin typeface="+mn-ea"/>
                          </a:rPr>
                          <m:t>w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sz="1100">
                            <a:latin typeface="+mn-ea"/>
                          </a:rPr>
                          <m:t>T</m:t>
                        </m:r>
                      </m:sup>
                    </m:sSup>
                    <m:r>
                      <a:rPr lang="en-US" altLang="ko-KR" sz="1100">
                        <a:latin typeface="+mn-ea"/>
                      </a:rPr>
                      <m:t>⋅</m:t>
                    </m:r>
                    <m:sSub>
                      <m:sSubPr>
                        <m:ctrlPr>
                          <a:rPr lang="en-US" altLang="ko-KR" sz="1100" i="1">
                            <a:latin typeface="+mn-ea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100">
                            <a:latin typeface="+mn-ea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100" b="0" i="0" smtClean="0">
                            <a:latin typeface="+mn-ea"/>
                          </a:rPr>
                          <m:t>i</m:t>
                        </m:r>
                      </m:sub>
                    </m:sSub>
                    <m:r>
                      <a:rPr lang="en-US" altLang="ko-KR" sz="1100">
                        <a:latin typeface="+mn-ea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100">
                        <a:latin typeface="+mn-ea"/>
                      </a:rPr>
                      <m:t>b</m:t>
                    </m:r>
                    <m:r>
                      <a:rPr lang="en-US" altLang="ko-KR" sz="1100" i="1">
                        <a:latin typeface="+mn-ea"/>
                      </a:rPr>
                      <m:t>) ≥1</m:t>
                    </m:r>
                  </m:oMath>
                </a14:m>
                <a:r>
                  <a:rPr lang="ko-KR" altLang="en-US" sz="1100">
                    <a:solidFill>
                      <a:schemeClr val="tx1"/>
                    </a:solidFill>
                    <a:latin typeface="+mn-ea"/>
                  </a:rPr>
                  <a:t>로 나타 냄</a:t>
                </a:r>
                <a:endParaRPr lang="en-US" altLang="ko-KR" sz="1100">
                  <a:solidFill>
                    <a:schemeClr val="tx1"/>
                  </a:solidFill>
                  <a:latin typeface="+mn-ea"/>
                </a:endParaRP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100">
                    <a:solidFill>
                      <a:schemeClr val="tx1"/>
                    </a:solidFill>
                    <a:latin typeface="+mn-ea"/>
                  </a:rPr>
                  <a:t>또한 </a:t>
                </a:r>
                <a:r>
                  <a:rPr lang="en-US" altLang="ko-KR" sz="1100">
                    <a:latin typeface="+mn-ea"/>
                  </a:rPr>
                  <a:t>Support Vector</a:t>
                </a:r>
                <a:r>
                  <a:rPr lang="ko-KR" altLang="en-US" sz="1100">
                    <a:latin typeface="+mn-ea"/>
                  </a:rPr>
                  <a:t>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 smtClean="0">
                            <a:latin typeface="+mn-ea"/>
                          </a:rPr>
                        </m:ctrlPr>
                      </m:sSubPr>
                      <m:e>
                        <m:r>
                          <a:rPr lang="en-US" altLang="ko-KR" sz="1100" i="1">
                            <a:latin typeface="+mn-ea"/>
                          </a:rPr>
                          <m:t>𝑦</m:t>
                        </m:r>
                      </m:e>
                      <m:sub>
                        <m:r>
                          <a:rPr lang="en-US" altLang="ko-KR" sz="1100" i="1">
                            <a:latin typeface="+mn-ea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ko-KR" sz="1100" i="1">
                            <a:latin typeface="+mn-ea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100" i="1">
                                <a:latin typeface="+mn-ea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sz="1100">
                                <a:latin typeface="+mn-ea"/>
                              </a:rPr>
                              <m:t>w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ko-KR" sz="1100">
                                <a:latin typeface="+mn-ea"/>
                              </a:rPr>
                              <m:t>T</m:t>
                            </m:r>
                          </m:sup>
                        </m:sSup>
                        <m:r>
                          <a:rPr lang="en-US" altLang="ko-KR" sz="1100">
                            <a:latin typeface="+mn-ea"/>
                          </a:rPr>
                          <m:t>⋅</m:t>
                        </m:r>
                        <m:sSub>
                          <m:sSubPr>
                            <m:ctrlPr>
                              <a:rPr lang="en-US" altLang="ko-KR" sz="1100" i="1">
                                <a:latin typeface="+mn-ea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100">
                                <a:latin typeface="+mn-ea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atin typeface="+mn-ea"/>
                              </a:rPr>
                              <m:t>i</m:t>
                            </m:r>
                          </m:sub>
                        </m:sSub>
                        <m:r>
                          <a:rPr lang="en-US" altLang="ko-KR" sz="1100">
                            <a:latin typeface="+mn-ea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altLang="ko-KR" sz="1100">
                            <a:latin typeface="+mn-ea"/>
                          </a:rPr>
                          <m:t>b</m:t>
                        </m:r>
                      </m:e>
                    </m:d>
                    <m:r>
                      <a:rPr lang="en-US" altLang="ko-KR" sz="1100" b="0" i="1" smtClean="0">
                        <a:latin typeface="+mn-ea"/>
                      </a:rPr>
                      <m:t>−1=0</m:t>
                    </m:r>
                  </m:oMath>
                </a14:m>
                <a:r>
                  <a:rPr lang="ko-KR" altLang="en-US" sz="1100">
                    <a:solidFill>
                      <a:schemeClr val="tx1"/>
                    </a:solidFill>
                    <a:latin typeface="+mn-ea"/>
                  </a:rPr>
                  <a:t>으로 냄</a:t>
                </a:r>
                <a:endParaRPr lang="en-US" altLang="ko-KR" sz="1100">
                  <a:solidFill>
                    <a:schemeClr val="tx1"/>
                  </a:solidFill>
                  <a:latin typeface="+mn-ea"/>
                </a:endParaRPr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20B2A80-2DBC-4D6E-A609-92F9D067B7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552" y="3300151"/>
                <a:ext cx="8224303" cy="346017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5" name="TextBox 124">
            <a:extLst>
              <a:ext uri="{FF2B5EF4-FFF2-40B4-BE49-F238E27FC236}">
                <a16:creationId xmlns:a16="http://schemas.microsoft.com/office/drawing/2014/main" id="{A9E3FD79-8512-4E64-9C88-09122E8C3A08}"/>
              </a:ext>
            </a:extLst>
          </p:cNvPr>
          <p:cNvSpPr txBox="1"/>
          <p:nvPr/>
        </p:nvSpPr>
        <p:spPr>
          <a:xfrm>
            <a:off x="4156173" y="1405846"/>
            <a:ext cx="78439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/>
              <a:t>Margin</a:t>
            </a:r>
            <a:endParaRPr lang="ko-KR" altLang="en-US" sz="1100"/>
          </a:p>
        </p:txBody>
      </p:sp>
      <p:grpSp>
        <p:nvGrpSpPr>
          <p:cNvPr id="215" name="그룹 214">
            <a:extLst>
              <a:ext uri="{FF2B5EF4-FFF2-40B4-BE49-F238E27FC236}">
                <a16:creationId xmlns:a16="http://schemas.microsoft.com/office/drawing/2014/main" id="{18B1BAE7-99F2-4374-B99D-477EE7D8E6E8}"/>
              </a:ext>
            </a:extLst>
          </p:cNvPr>
          <p:cNvGrpSpPr/>
          <p:nvPr/>
        </p:nvGrpSpPr>
        <p:grpSpPr>
          <a:xfrm>
            <a:off x="4794098" y="1088749"/>
            <a:ext cx="3632806" cy="2226288"/>
            <a:chOff x="4709924" y="1098167"/>
            <a:chExt cx="3632806" cy="2226288"/>
          </a:xfrm>
        </p:grpSpPr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DC37BDDE-7A06-4DFC-AFC4-96C4D6A808AD}"/>
                </a:ext>
              </a:extLst>
            </p:cNvPr>
            <p:cNvSpPr txBox="1"/>
            <p:nvPr/>
          </p:nvSpPr>
          <p:spPr>
            <a:xfrm>
              <a:off x="6142215" y="3105505"/>
              <a:ext cx="1468585" cy="2189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100"/>
                <a:t>&lt; SVM&gt;</a:t>
              </a:r>
              <a:endParaRPr lang="ko-KR" altLang="en-US" sz="1100"/>
            </a:p>
          </p:txBody>
        </p:sp>
        <p:grpSp>
          <p:nvGrpSpPr>
            <p:cNvPr id="119" name="그룹 118">
              <a:extLst>
                <a:ext uri="{FF2B5EF4-FFF2-40B4-BE49-F238E27FC236}">
                  <a16:creationId xmlns:a16="http://schemas.microsoft.com/office/drawing/2014/main" id="{ABAA890C-6149-40F6-8755-E123B5618E75}"/>
                </a:ext>
              </a:extLst>
            </p:cNvPr>
            <p:cNvGrpSpPr/>
            <p:nvPr/>
          </p:nvGrpSpPr>
          <p:grpSpPr>
            <a:xfrm>
              <a:off x="5183397" y="1098167"/>
              <a:ext cx="2261055" cy="1892614"/>
              <a:chOff x="3431097" y="1987172"/>
              <a:chExt cx="3482605" cy="2744220"/>
            </a:xfrm>
          </p:grpSpPr>
          <p:cxnSp>
            <p:nvCxnSpPr>
              <p:cNvPr id="144" name="직선 화살표 연결선 143">
                <a:extLst>
                  <a:ext uri="{FF2B5EF4-FFF2-40B4-BE49-F238E27FC236}">
                    <a16:creationId xmlns:a16="http://schemas.microsoft.com/office/drawing/2014/main" id="{F4E1DFC1-B255-4A82-80BE-6CCE32E138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31097" y="4731391"/>
                <a:ext cx="348260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5" name="직선 화살표 연결선 144">
                <a:extLst>
                  <a:ext uri="{FF2B5EF4-FFF2-40B4-BE49-F238E27FC236}">
                    <a16:creationId xmlns:a16="http://schemas.microsoft.com/office/drawing/2014/main" id="{ECB06377-2D81-49F4-A156-E1B48FB58D7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436689" y="1987172"/>
                <a:ext cx="0" cy="274422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20" name="직선 연결선 119">
              <a:extLst>
                <a:ext uri="{FF2B5EF4-FFF2-40B4-BE49-F238E27FC236}">
                  <a16:creationId xmlns:a16="http://schemas.microsoft.com/office/drawing/2014/main" id="{EAE73CED-B888-423F-8BC6-1B56686CE79D}"/>
                </a:ext>
              </a:extLst>
            </p:cNvPr>
            <p:cNvCxnSpPr>
              <a:cxnSpLocks/>
            </p:cNvCxnSpPr>
            <p:nvPr/>
          </p:nvCxnSpPr>
          <p:spPr>
            <a:xfrm>
              <a:off x="5485533" y="1454063"/>
              <a:ext cx="1331616" cy="1417486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1" name="직선 연결선 120">
              <a:extLst>
                <a:ext uri="{FF2B5EF4-FFF2-40B4-BE49-F238E27FC236}">
                  <a16:creationId xmlns:a16="http://schemas.microsoft.com/office/drawing/2014/main" id="{132F5AE5-AFBC-4F7C-80A9-55C3104D1FEE}"/>
                </a:ext>
              </a:extLst>
            </p:cNvPr>
            <p:cNvCxnSpPr>
              <a:cxnSpLocks/>
            </p:cNvCxnSpPr>
            <p:nvPr/>
          </p:nvCxnSpPr>
          <p:spPr>
            <a:xfrm>
              <a:off x="5715639" y="1298944"/>
              <a:ext cx="1331616" cy="1417486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24" name="직선 화살표 연결선 123">
              <a:extLst>
                <a:ext uri="{FF2B5EF4-FFF2-40B4-BE49-F238E27FC236}">
                  <a16:creationId xmlns:a16="http://schemas.microsoft.com/office/drawing/2014/main" id="{8807ED95-5448-4D96-BCB6-BD1FEC533A7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09924" y="1562700"/>
              <a:ext cx="716049" cy="914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7" name="직선 연결선 126">
              <a:extLst>
                <a:ext uri="{FF2B5EF4-FFF2-40B4-BE49-F238E27FC236}">
                  <a16:creationId xmlns:a16="http://schemas.microsoft.com/office/drawing/2014/main" id="{83DFDB76-A7EC-4D3F-9577-C4F4B3718EC4}"/>
                </a:ext>
              </a:extLst>
            </p:cNvPr>
            <p:cNvCxnSpPr>
              <a:cxnSpLocks/>
            </p:cNvCxnSpPr>
            <p:nvPr/>
          </p:nvCxnSpPr>
          <p:spPr>
            <a:xfrm>
              <a:off x="5242042" y="1599074"/>
              <a:ext cx="1331616" cy="1417486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28" name="직선 화살표 연결선 127">
              <a:extLst>
                <a:ext uri="{FF2B5EF4-FFF2-40B4-BE49-F238E27FC236}">
                  <a16:creationId xmlns:a16="http://schemas.microsoft.com/office/drawing/2014/main" id="{FE0499E2-CAFC-4A24-8541-8C8CCD47B5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47900" y="1348468"/>
              <a:ext cx="423641" cy="325521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6" name="직선 화살표 연결선 135">
              <a:extLst>
                <a:ext uri="{FF2B5EF4-FFF2-40B4-BE49-F238E27FC236}">
                  <a16:creationId xmlns:a16="http://schemas.microsoft.com/office/drawing/2014/main" id="{D6FF6353-E0EC-4E38-8717-E99357F40340}"/>
                </a:ext>
              </a:extLst>
            </p:cNvPr>
            <p:cNvCxnSpPr>
              <a:cxnSpLocks/>
            </p:cNvCxnSpPr>
            <p:nvPr/>
          </p:nvCxnSpPr>
          <p:spPr>
            <a:xfrm>
              <a:off x="6662558" y="2650909"/>
              <a:ext cx="841336" cy="1022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id="{A7075CF8-F4CC-420F-9A47-84559A40E64D}"/>
                    </a:ext>
                  </a:extLst>
                </p:cNvPr>
                <p:cNvSpPr txBox="1"/>
                <p:nvPr/>
              </p:nvSpPr>
              <p:spPr>
                <a:xfrm>
                  <a:off x="7533352" y="2570337"/>
                  <a:ext cx="658705" cy="12522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8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altLang="ko-KR" sz="8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altLang="ko-KR" sz="800" i="1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altLang="ko-KR" sz="800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ko-KR" sz="8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800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ko-KR" sz="8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ko-KR" altLang="en-US" sz="800" i="1"/>
                </a:p>
              </p:txBody>
            </p:sp>
          </mc:Choice>
          <mc:Fallback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id="{A7075CF8-F4CC-420F-9A47-84559A40E6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33352" y="2570337"/>
                  <a:ext cx="658705" cy="125227"/>
                </a:xfrm>
                <a:prstGeom prst="rect">
                  <a:avLst/>
                </a:prstGeom>
                <a:blipFill>
                  <a:blip r:embed="rId4"/>
                  <a:stretch>
                    <a:fillRect l="-2778" r="-3704" b="-9524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6" name="직선 화살표 연결선 145">
              <a:extLst>
                <a:ext uri="{FF2B5EF4-FFF2-40B4-BE49-F238E27FC236}">
                  <a16:creationId xmlns:a16="http://schemas.microsoft.com/office/drawing/2014/main" id="{62548654-48C6-45C1-B874-45A50D567F58}"/>
                </a:ext>
              </a:extLst>
            </p:cNvPr>
            <p:cNvCxnSpPr/>
            <p:nvPr/>
          </p:nvCxnSpPr>
          <p:spPr>
            <a:xfrm>
              <a:off x="6829650" y="2411807"/>
              <a:ext cx="67424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7" name="TextBox 146">
                  <a:extLst>
                    <a:ext uri="{FF2B5EF4-FFF2-40B4-BE49-F238E27FC236}">
                      <a16:creationId xmlns:a16="http://schemas.microsoft.com/office/drawing/2014/main" id="{38B1E292-3FC7-4D84-8C8E-80A37AF4D785}"/>
                    </a:ext>
                  </a:extLst>
                </p:cNvPr>
                <p:cNvSpPr txBox="1"/>
                <p:nvPr/>
              </p:nvSpPr>
              <p:spPr>
                <a:xfrm>
                  <a:off x="7533352" y="2316737"/>
                  <a:ext cx="625428" cy="12522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ko-KR" sz="80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ko-KR" sz="800" i="0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ko-KR" sz="800" i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altLang="ko-KR" sz="800" i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 altLang="ko-KR" sz="800" i="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ko-KR" sz="8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ko-KR" sz="800" i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altLang="ko-KR" sz="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altLang="ko-KR" sz="800"/>
                    <a:t> 1</a:t>
                  </a:r>
                  <a:endParaRPr lang="ko-KR" altLang="en-US" sz="800"/>
                </a:p>
              </p:txBody>
            </p:sp>
          </mc:Choice>
          <mc:Fallback>
            <p:sp>
              <p:nvSpPr>
                <p:cNvPr id="147" name="TextBox 146">
                  <a:extLst>
                    <a:ext uri="{FF2B5EF4-FFF2-40B4-BE49-F238E27FC236}">
                      <a16:creationId xmlns:a16="http://schemas.microsoft.com/office/drawing/2014/main" id="{38B1E292-3FC7-4D84-8C8E-80A37AF4D7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33352" y="2316737"/>
                  <a:ext cx="625428" cy="125227"/>
                </a:xfrm>
                <a:prstGeom prst="rect">
                  <a:avLst/>
                </a:prstGeom>
                <a:blipFill>
                  <a:blip r:embed="rId5"/>
                  <a:stretch>
                    <a:fillRect l="-4902" t="-19048" r="-10784" b="-52381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8" name="직선 화살표 연결선 147">
              <a:extLst>
                <a:ext uri="{FF2B5EF4-FFF2-40B4-BE49-F238E27FC236}">
                  <a16:creationId xmlns:a16="http://schemas.microsoft.com/office/drawing/2014/main" id="{19B95C55-8E7C-42BB-9E5F-B428A1191DF4}"/>
                </a:ext>
              </a:extLst>
            </p:cNvPr>
            <p:cNvCxnSpPr>
              <a:cxnSpLocks/>
            </p:cNvCxnSpPr>
            <p:nvPr/>
          </p:nvCxnSpPr>
          <p:spPr>
            <a:xfrm>
              <a:off x="6507952" y="2884529"/>
              <a:ext cx="1014398" cy="1442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9" name="TextBox 148">
                  <a:extLst>
                    <a:ext uri="{FF2B5EF4-FFF2-40B4-BE49-F238E27FC236}">
                      <a16:creationId xmlns:a16="http://schemas.microsoft.com/office/drawing/2014/main" id="{0FEC58E3-5E80-4B1A-8DD2-417FAE593044}"/>
                    </a:ext>
                  </a:extLst>
                </p:cNvPr>
                <p:cNvSpPr txBox="1"/>
                <p:nvPr/>
              </p:nvSpPr>
              <p:spPr>
                <a:xfrm>
                  <a:off x="7551808" y="2805330"/>
                  <a:ext cx="790922" cy="12522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ko-KR" sz="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8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ko-KR" sz="8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ko-KR" sz="800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ko-KR" sz="800" i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altLang="ko-KR" sz="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80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ko-KR" sz="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</m:oMath>
                  </a14:m>
                  <a:r>
                    <a:rPr lang="en-US" altLang="ko-KR" sz="800" i="1"/>
                    <a:t> 1</a:t>
                  </a:r>
                  <a:endParaRPr lang="ko-KR" altLang="en-US" sz="800" i="1"/>
                </a:p>
              </p:txBody>
            </p:sp>
          </mc:Choice>
          <mc:Fallback>
            <p:sp>
              <p:nvSpPr>
                <p:cNvPr id="149" name="TextBox 148">
                  <a:extLst>
                    <a:ext uri="{FF2B5EF4-FFF2-40B4-BE49-F238E27FC236}">
                      <a16:creationId xmlns:a16="http://schemas.microsoft.com/office/drawing/2014/main" id="{0FEC58E3-5E80-4B1A-8DD2-417FAE5930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51808" y="2805330"/>
                  <a:ext cx="790922" cy="125227"/>
                </a:xfrm>
                <a:prstGeom prst="rect">
                  <a:avLst/>
                </a:prstGeom>
                <a:blipFill>
                  <a:blip r:embed="rId6"/>
                  <a:stretch>
                    <a:fillRect l="-3876" t="-25000" b="-55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73" name="그룹 172">
              <a:extLst>
                <a:ext uri="{FF2B5EF4-FFF2-40B4-BE49-F238E27FC236}">
                  <a16:creationId xmlns:a16="http://schemas.microsoft.com/office/drawing/2014/main" id="{7BB1330E-FF20-4383-840F-E8C9E94CED1B}"/>
                </a:ext>
              </a:extLst>
            </p:cNvPr>
            <p:cNvGrpSpPr/>
            <p:nvPr/>
          </p:nvGrpSpPr>
          <p:grpSpPr>
            <a:xfrm>
              <a:off x="5739500" y="1786559"/>
              <a:ext cx="502347" cy="457335"/>
              <a:chOff x="5459368" y="1475837"/>
              <a:chExt cx="502347" cy="457335"/>
            </a:xfrm>
          </p:grpSpPr>
          <p:cxnSp>
            <p:nvCxnSpPr>
              <p:cNvPr id="166" name="직선 화살표 연결선 165">
                <a:extLst>
                  <a:ext uri="{FF2B5EF4-FFF2-40B4-BE49-F238E27FC236}">
                    <a16:creationId xmlns:a16="http://schemas.microsoft.com/office/drawing/2014/main" id="{9047934B-103A-4080-B15C-218A3D13266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68163" y="1475837"/>
                <a:ext cx="211821" cy="158615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8" name="직선 화살표 연결선 167">
                <a:extLst>
                  <a:ext uri="{FF2B5EF4-FFF2-40B4-BE49-F238E27FC236}">
                    <a16:creationId xmlns:a16="http://schemas.microsoft.com/office/drawing/2014/main" id="{106A6387-DA96-4E7B-BA30-CDAE1BDEA02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459368" y="1640277"/>
                <a:ext cx="211821" cy="158615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F96BAE14-0AAC-40B3-A2A2-F58E96B39A75}"/>
                  </a:ext>
                </a:extLst>
              </p:cNvPr>
              <p:cNvSpPr txBox="1"/>
              <p:nvPr/>
            </p:nvSpPr>
            <p:spPr>
              <a:xfrm>
                <a:off x="5718171" y="1498648"/>
                <a:ext cx="24354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1100"/>
                  <a:t>1</a:t>
                </a:r>
                <a:endParaRPr lang="ko-KR" altLang="en-US" sz="1100"/>
              </a:p>
            </p:txBody>
          </p:sp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C7FD18CC-7275-41D2-A463-CFD2725554BA}"/>
                  </a:ext>
                </a:extLst>
              </p:cNvPr>
              <p:cNvSpPr txBox="1"/>
              <p:nvPr/>
            </p:nvSpPr>
            <p:spPr>
              <a:xfrm>
                <a:off x="5495956" y="1671562"/>
                <a:ext cx="24354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1100"/>
                  <a:t>1</a:t>
                </a:r>
                <a:endParaRPr lang="ko-KR" altLang="en-US" sz="1100"/>
              </a:p>
            </p:txBody>
          </p:sp>
        </p:grpSp>
        <p:grpSp>
          <p:nvGrpSpPr>
            <p:cNvPr id="201" name="그룹 200">
              <a:extLst>
                <a:ext uri="{FF2B5EF4-FFF2-40B4-BE49-F238E27FC236}">
                  <a16:creationId xmlns:a16="http://schemas.microsoft.com/office/drawing/2014/main" id="{35086EEA-6AD4-4703-9E8D-C540C54EE7F9}"/>
                </a:ext>
              </a:extLst>
            </p:cNvPr>
            <p:cNvGrpSpPr/>
            <p:nvPr/>
          </p:nvGrpSpPr>
          <p:grpSpPr>
            <a:xfrm>
              <a:off x="5763325" y="1806232"/>
              <a:ext cx="1887917" cy="498946"/>
              <a:chOff x="5744275" y="1799882"/>
              <a:chExt cx="1887917" cy="498946"/>
            </a:xfrm>
          </p:grpSpPr>
          <p:sp>
            <p:nvSpPr>
              <p:cNvPr id="190" name="이등변 삼각형 189">
                <a:extLst>
                  <a:ext uri="{FF2B5EF4-FFF2-40B4-BE49-F238E27FC236}">
                    <a16:creationId xmlns:a16="http://schemas.microsoft.com/office/drawing/2014/main" id="{133F8B83-66E9-4816-998E-5D8113A2B85E}"/>
                  </a:ext>
                </a:extLst>
              </p:cNvPr>
              <p:cNvSpPr/>
              <p:nvPr/>
            </p:nvSpPr>
            <p:spPr>
              <a:xfrm>
                <a:off x="6336471" y="1942695"/>
                <a:ext cx="95855" cy="98349"/>
              </a:xfrm>
              <a:prstGeom prst="triangl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" name="직사각형 190">
                <a:extLst>
                  <a:ext uri="{FF2B5EF4-FFF2-40B4-BE49-F238E27FC236}">
                    <a16:creationId xmlns:a16="http://schemas.microsoft.com/office/drawing/2014/main" id="{E8EEC359-C5B8-437D-975E-5F312D0A2F04}"/>
                  </a:ext>
                </a:extLst>
              </p:cNvPr>
              <p:cNvSpPr/>
              <p:nvPr/>
            </p:nvSpPr>
            <p:spPr>
              <a:xfrm>
                <a:off x="5744275" y="2210603"/>
                <a:ext cx="81695" cy="88225"/>
              </a:xfrm>
              <a:prstGeom prst="rect">
                <a:avLst/>
              </a:prstGeom>
              <a:solidFill>
                <a:srgbClr val="2C6FAD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92" name="직선 화살표 연결선 191">
                <a:extLst>
                  <a:ext uri="{FF2B5EF4-FFF2-40B4-BE49-F238E27FC236}">
                    <a16:creationId xmlns:a16="http://schemas.microsoft.com/office/drawing/2014/main" id="{E25AB05A-CFF9-4146-9583-A56B284DDED3}"/>
                  </a:ext>
                </a:extLst>
              </p:cNvPr>
              <p:cNvCxnSpPr>
                <a:cxnSpLocks/>
                <a:stCxn id="190" idx="5"/>
                <a:endCxn id="194" idx="1"/>
              </p:cNvCxnSpPr>
              <p:nvPr/>
            </p:nvCxnSpPr>
            <p:spPr>
              <a:xfrm flipV="1">
                <a:off x="6408362" y="1980194"/>
                <a:ext cx="483475" cy="1167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3" name="직선 화살표 연결선 192">
                <a:extLst>
                  <a:ext uri="{FF2B5EF4-FFF2-40B4-BE49-F238E27FC236}">
                    <a16:creationId xmlns:a16="http://schemas.microsoft.com/office/drawing/2014/main" id="{F9492A09-7CFA-49B9-9789-F41A530E9DAF}"/>
                  </a:ext>
                </a:extLst>
              </p:cNvPr>
              <p:cNvCxnSpPr>
                <a:cxnSpLocks/>
                <a:endCxn id="194" idx="1"/>
              </p:cNvCxnSpPr>
              <p:nvPr/>
            </p:nvCxnSpPr>
            <p:spPr>
              <a:xfrm flipV="1">
                <a:off x="5783950" y="1980194"/>
                <a:ext cx="1107887" cy="27376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94" name="TextBox 193">
                <a:extLst>
                  <a:ext uri="{FF2B5EF4-FFF2-40B4-BE49-F238E27FC236}">
                    <a16:creationId xmlns:a16="http://schemas.microsoft.com/office/drawing/2014/main" id="{497E33F3-3F49-46C0-964F-CD37BF90232C}"/>
                  </a:ext>
                </a:extLst>
              </p:cNvPr>
              <p:cNvSpPr txBox="1"/>
              <p:nvPr/>
            </p:nvSpPr>
            <p:spPr>
              <a:xfrm>
                <a:off x="6891837" y="1799882"/>
                <a:ext cx="740355" cy="3606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1100"/>
                  <a:t>Support</a:t>
                </a:r>
              </a:p>
              <a:p>
                <a:pPr algn="l"/>
                <a:r>
                  <a:rPr lang="en-US" altLang="ko-KR" sz="1100"/>
                  <a:t>Vector</a:t>
                </a:r>
                <a:endParaRPr lang="ko-KR" altLang="en-US" sz="1100"/>
              </a:p>
            </p:txBody>
          </p:sp>
        </p:grpSp>
        <p:grpSp>
          <p:nvGrpSpPr>
            <p:cNvPr id="207" name="그룹 206">
              <a:extLst>
                <a:ext uri="{FF2B5EF4-FFF2-40B4-BE49-F238E27FC236}">
                  <a16:creationId xmlns:a16="http://schemas.microsoft.com/office/drawing/2014/main" id="{547BDEE4-E66C-4DD2-8AA4-82682A12BACA}"/>
                </a:ext>
              </a:extLst>
            </p:cNvPr>
            <p:cNvGrpSpPr/>
            <p:nvPr/>
          </p:nvGrpSpPr>
          <p:grpSpPr>
            <a:xfrm>
              <a:off x="7313391" y="1268957"/>
              <a:ext cx="633878" cy="491364"/>
              <a:chOff x="5215256" y="1171736"/>
              <a:chExt cx="633878" cy="491364"/>
            </a:xfrm>
          </p:grpSpPr>
          <p:sp>
            <p:nvSpPr>
              <p:cNvPr id="208" name="직사각형 207">
                <a:extLst>
                  <a:ext uri="{FF2B5EF4-FFF2-40B4-BE49-F238E27FC236}">
                    <a16:creationId xmlns:a16="http://schemas.microsoft.com/office/drawing/2014/main" id="{D5649961-A93C-4D5D-9D92-880344FD2529}"/>
                  </a:ext>
                </a:extLst>
              </p:cNvPr>
              <p:cNvSpPr/>
              <p:nvPr/>
            </p:nvSpPr>
            <p:spPr>
              <a:xfrm>
                <a:off x="5386273" y="1302680"/>
                <a:ext cx="67516" cy="72914"/>
              </a:xfrm>
              <a:prstGeom prst="rect">
                <a:avLst/>
              </a:prstGeom>
              <a:solidFill>
                <a:srgbClr val="2C6FAD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9" name="이등변 삼각형 208">
                <a:extLst>
                  <a:ext uri="{FF2B5EF4-FFF2-40B4-BE49-F238E27FC236}">
                    <a16:creationId xmlns:a16="http://schemas.microsoft.com/office/drawing/2014/main" id="{D1BFB65C-5693-45B3-81E0-49D0CA0A6403}"/>
                  </a:ext>
                </a:extLst>
              </p:cNvPr>
              <p:cNvSpPr/>
              <p:nvPr/>
            </p:nvSpPr>
            <p:spPr>
              <a:xfrm>
                <a:off x="5379758" y="1473476"/>
                <a:ext cx="79219" cy="81280"/>
              </a:xfrm>
              <a:prstGeom prst="triangl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D4288E6F-9FD5-4E7E-84DB-9951118F4259}"/>
                  </a:ext>
                </a:extLst>
              </p:cNvPr>
              <p:cNvSpPr txBox="1"/>
              <p:nvPr/>
            </p:nvSpPr>
            <p:spPr>
              <a:xfrm>
                <a:off x="5507551" y="1176513"/>
                <a:ext cx="27975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1400"/>
                  <a:t>-</a:t>
                </a:r>
                <a:endParaRPr lang="ko-KR" altLang="en-US" sz="1400"/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D08F10EF-5E20-4148-BA3E-66A3E685EEAE}"/>
                  </a:ext>
                </a:extLst>
              </p:cNvPr>
              <p:cNvSpPr txBox="1"/>
              <p:nvPr/>
            </p:nvSpPr>
            <p:spPr>
              <a:xfrm>
                <a:off x="5496753" y="1355323"/>
                <a:ext cx="27975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1400"/>
                  <a:t>+</a:t>
                </a:r>
                <a:endParaRPr lang="ko-KR" altLang="en-US" sz="1400"/>
              </a:p>
            </p:txBody>
          </p:sp>
          <p:sp>
            <p:nvSpPr>
              <p:cNvPr id="212" name="직사각형 211">
                <a:extLst>
                  <a:ext uri="{FF2B5EF4-FFF2-40B4-BE49-F238E27FC236}">
                    <a16:creationId xmlns:a16="http://schemas.microsoft.com/office/drawing/2014/main" id="{C2AA854A-59F9-492B-B615-F61DE65C5E78}"/>
                  </a:ext>
                </a:extLst>
              </p:cNvPr>
              <p:cNvSpPr/>
              <p:nvPr/>
            </p:nvSpPr>
            <p:spPr>
              <a:xfrm>
                <a:off x="5215256" y="1171736"/>
                <a:ext cx="633878" cy="4913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noFill/>
                </a:endParaRPr>
              </a:p>
            </p:txBody>
          </p:sp>
        </p:grp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454AFE48-FA93-4576-B839-68367371E450}"/>
              </a:ext>
            </a:extLst>
          </p:cNvPr>
          <p:cNvGrpSpPr/>
          <p:nvPr/>
        </p:nvGrpSpPr>
        <p:grpSpPr>
          <a:xfrm>
            <a:off x="367349" y="1096043"/>
            <a:ext cx="3713038" cy="2216571"/>
            <a:chOff x="216996" y="1061793"/>
            <a:chExt cx="3713038" cy="2216571"/>
          </a:xfrm>
        </p:grpSpPr>
        <p:grpSp>
          <p:nvGrpSpPr>
            <p:cNvPr id="214" name="그룹 213">
              <a:extLst>
                <a:ext uri="{FF2B5EF4-FFF2-40B4-BE49-F238E27FC236}">
                  <a16:creationId xmlns:a16="http://schemas.microsoft.com/office/drawing/2014/main" id="{0F16966E-DBF8-4237-A50B-792DAE18D672}"/>
                </a:ext>
              </a:extLst>
            </p:cNvPr>
            <p:cNvGrpSpPr/>
            <p:nvPr/>
          </p:nvGrpSpPr>
          <p:grpSpPr>
            <a:xfrm>
              <a:off x="216996" y="1061793"/>
              <a:ext cx="3713038" cy="2216571"/>
              <a:chOff x="216996" y="1061793"/>
              <a:chExt cx="3713038" cy="2216571"/>
            </a:xfrm>
          </p:grpSpPr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71E0F467-4510-4764-BB0E-F49485A0969F}"/>
                  </a:ext>
                </a:extLst>
              </p:cNvPr>
              <p:cNvSpPr txBox="1"/>
              <p:nvPr/>
            </p:nvSpPr>
            <p:spPr>
              <a:xfrm>
                <a:off x="1754258" y="3059414"/>
                <a:ext cx="1468585" cy="2189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1100"/>
                  <a:t>&lt; SVM&gt;</a:t>
                </a:r>
                <a:endParaRPr lang="ko-KR" altLang="en-US" sz="1100"/>
              </a:p>
            </p:txBody>
          </p:sp>
          <p:grpSp>
            <p:nvGrpSpPr>
              <p:cNvPr id="213" name="그룹 212">
                <a:extLst>
                  <a:ext uri="{FF2B5EF4-FFF2-40B4-BE49-F238E27FC236}">
                    <a16:creationId xmlns:a16="http://schemas.microsoft.com/office/drawing/2014/main" id="{85772E36-85A5-468F-BBEA-9C74091A88E9}"/>
                  </a:ext>
                </a:extLst>
              </p:cNvPr>
              <p:cNvGrpSpPr/>
              <p:nvPr/>
            </p:nvGrpSpPr>
            <p:grpSpPr>
              <a:xfrm>
                <a:off x="216996" y="1061793"/>
                <a:ext cx="3713038" cy="1939810"/>
                <a:chOff x="216996" y="1061793"/>
                <a:chExt cx="3713038" cy="1939810"/>
              </a:xfrm>
            </p:grpSpPr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4EDC491E-B2EB-4176-AF03-54DF6027DEC3}"/>
                    </a:ext>
                  </a:extLst>
                </p:cNvPr>
                <p:cNvSpPr txBox="1"/>
                <p:nvPr/>
              </p:nvSpPr>
              <p:spPr>
                <a:xfrm>
                  <a:off x="216996" y="1096043"/>
                  <a:ext cx="1808835" cy="36062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:r>
                    <a:rPr lang="en-US" altLang="ko-KR" sz="1100"/>
                    <a:t>Optimal Hyperplane</a:t>
                  </a:r>
                </a:p>
                <a:p>
                  <a:pPr algn="l"/>
                  <a:r>
                    <a:rPr lang="en-US" altLang="ko-KR" sz="1100"/>
                    <a:t>/Decision Boundary</a:t>
                  </a:r>
                  <a:endParaRPr lang="ko-KR" altLang="en-US" sz="1100"/>
                </a:p>
              </p:txBody>
            </p:sp>
            <p:sp>
              <p:nvSpPr>
                <p:cNvPr id="27" name="이등변 삼각형 26">
                  <a:extLst>
                    <a:ext uri="{FF2B5EF4-FFF2-40B4-BE49-F238E27FC236}">
                      <a16:creationId xmlns:a16="http://schemas.microsoft.com/office/drawing/2014/main" id="{0514C41C-99A5-4BF0-B7D0-8CF3FCAB6258}"/>
                    </a:ext>
                  </a:extLst>
                </p:cNvPr>
                <p:cNvSpPr/>
                <p:nvPr/>
              </p:nvSpPr>
              <p:spPr>
                <a:xfrm>
                  <a:off x="2320427" y="1859963"/>
                  <a:ext cx="95855" cy="98349"/>
                </a:xfrm>
                <a:prstGeom prst="triangl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grpSp>
              <p:nvGrpSpPr>
                <p:cNvPr id="5" name="그룹 4">
                  <a:extLst>
                    <a:ext uri="{FF2B5EF4-FFF2-40B4-BE49-F238E27FC236}">
                      <a16:creationId xmlns:a16="http://schemas.microsoft.com/office/drawing/2014/main" id="{EB8814C6-2B40-40AF-9D2F-8E9A0661493C}"/>
                    </a:ext>
                  </a:extLst>
                </p:cNvPr>
                <p:cNvGrpSpPr/>
                <p:nvPr/>
              </p:nvGrpSpPr>
              <p:grpSpPr>
                <a:xfrm>
                  <a:off x="1171658" y="1061793"/>
                  <a:ext cx="2261055" cy="1892614"/>
                  <a:chOff x="3431097" y="1987172"/>
                  <a:chExt cx="3482605" cy="2744220"/>
                </a:xfrm>
              </p:grpSpPr>
              <p:cxnSp>
                <p:nvCxnSpPr>
                  <p:cNvPr id="24" name="직선 화살표 연결선 23">
                    <a:extLst>
                      <a:ext uri="{FF2B5EF4-FFF2-40B4-BE49-F238E27FC236}">
                        <a16:creationId xmlns:a16="http://schemas.microsoft.com/office/drawing/2014/main" id="{E19BA2E3-5493-4004-9929-BF8B8C81E16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31097" y="4731391"/>
                    <a:ext cx="3482605" cy="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" name="직선 화살표 연결선 24">
                    <a:extLst>
                      <a:ext uri="{FF2B5EF4-FFF2-40B4-BE49-F238E27FC236}">
                        <a16:creationId xmlns:a16="http://schemas.microsoft.com/office/drawing/2014/main" id="{250F95FF-3226-4337-B885-D1963A4630F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436689" y="1987172"/>
                    <a:ext cx="0" cy="274422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6" name="직선 연결선 5">
                  <a:extLst>
                    <a:ext uri="{FF2B5EF4-FFF2-40B4-BE49-F238E27FC236}">
                      <a16:creationId xmlns:a16="http://schemas.microsoft.com/office/drawing/2014/main" id="{63C6221A-D106-4CB7-9179-AAC8E9AEBEF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73794" y="1417689"/>
                  <a:ext cx="1331616" cy="1417486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7" name="직선 연결선 6">
                  <a:extLst>
                    <a:ext uri="{FF2B5EF4-FFF2-40B4-BE49-F238E27FC236}">
                      <a16:creationId xmlns:a16="http://schemas.microsoft.com/office/drawing/2014/main" id="{76FAB278-2C37-4AE0-97E9-A2928663223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03900" y="1262570"/>
                  <a:ext cx="1331616" cy="1417486"/>
                </a:xfrm>
                <a:prstGeom prst="line">
                  <a:avLst/>
                </a:prstGeom>
                <a:ln w="9525" cap="flat" cmpd="sng" algn="ctr">
                  <a:solidFill>
                    <a:schemeClr val="dk1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sp>
              <p:nvSpPr>
                <p:cNvPr id="23" name="직사각형 22">
                  <a:extLst>
                    <a:ext uri="{FF2B5EF4-FFF2-40B4-BE49-F238E27FC236}">
                      <a16:creationId xmlns:a16="http://schemas.microsoft.com/office/drawing/2014/main" id="{E8564090-029A-4FB6-84FD-6BEF5D1051A3}"/>
                    </a:ext>
                  </a:extLst>
                </p:cNvPr>
                <p:cNvSpPr/>
                <p:nvPr/>
              </p:nvSpPr>
              <p:spPr>
                <a:xfrm>
                  <a:off x="1728231" y="2127871"/>
                  <a:ext cx="81695" cy="88225"/>
                </a:xfrm>
                <a:prstGeom prst="rect">
                  <a:avLst/>
                </a:prstGeom>
                <a:solidFill>
                  <a:srgbClr val="2C6FAD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16" name="직선 화살표 연결선 15">
                  <a:extLst>
                    <a:ext uri="{FF2B5EF4-FFF2-40B4-BE49-F238E27FC236}">
                      <a16:creationId xmlns:a16="http://schemas.microsoft.com/office/drawing/2014/main" id="{D8FC73B5-0772-475F-8DBA-9BB00EB508F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595295" y="2676082"/>
                  <a:ext cx="423641" cy="325521"/>
                </a:xfrm>
                <a:prstGeom prst="straightConnector1">
                  <a:avLst/>
                </a:prstGeom>
                <a:ln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직선 화살표 연결선 16">
                  <a:extLst>
                    <a:ext uri="{FF2B5EF4-FFF2-40B4-BE49-F238E27FC236}">
                      <a16:creationId xmlns:a16="http://schemas.microsoft.com/office/drawing/2014/main" id="{12229F0A-0D66-45E7-BE2E-3C73DBF2126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043746" y="1856141"/>
                  <a:ext cx="698579" cy="1895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49699EE5-F841-4552-94D1-3ABDB574CC93}"/>
                    </a:ext>
                  </a:extLst>
                </p:cNvPr>
                <p:cNvSpPr txBox="1"/>
                <p:nvPr/>
              </p:nvSpPr>
              <p:spPr>
                <a:xfrm>
                  <a:off x="554108" y="1731016"/>
                  <a:ext cx="784390" cy="18042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:r>
                    <a:rPr lang="en-US" altLang="ko-KR" sz="1100"/>
                    <a:t>margin</a:t>
                  </a:r>
                  <a:endParaRPr lang="ko-KR" altLang="en-US" sz="1100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5" name="TextBox 34">
                      <a:extLst>
                        <a:ext uri="{FF2B5EF4-FFF2-40B4-BE49-F238E27FC236}">
                          <a16:creationId xmlns:a16="http://schemas.microsoft.com/office/drawing/2014/main" id="{CB5E73EF-48A9-4F43-95BC-476047419D2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908445" y="2743383"/>
                      <a:ext cx="209288" cy="247760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 algn="l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f>
                              <m:fPr>
                                <m:ctrlPr>
                                  <a:rPr lang="en-US" altLang="ko-KR" sz="8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ko-KR" sz="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d>
                                  <m:dPr>
                                    <m:begChr m:val="‖"/>
                                    <m:endChr m:val="‖"/>
                                    <m:ctrlPr>
                                      <a:rPr lang="en-US" altLang="ko-KR" sz="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</m:d>
                              </m:den>
                            </m:f>
                          </m:oMath>
                        </m:oMathPara>
                      </a14:m>
                      <a:endParaRPr lang="ko-KR" altLang="en-US" sz="80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35" name="TextBox 34">
                      <a:extLst>
                        <a:ext uri="{FF2B5EF4-FFF2-40B4-BE49-F238E27FC236}">
                          <a16:creationId xmlns:a16="http://schemas.microsoft.com/office/drawing/2014/main" id="{CB5E73EF-48A9-4F43-95BC-476047419D2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908445" y="2743383"/>
                      <a:ext cx="209288" cy="247760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t="-2439" b="-243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12" name="직선 연결선 111">
                  <a:extLst>
                    <a:ext uri="{FF2B5EF4-FFF2-40B4-BE49-F238E27FC236}">
                      <a16:creationId xmlns:a16="http://schemas.microsoft.com/office/drawing/2014/main" id="{C73A29AF-8985-4AC1-805D-79DD8F7F536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30303" y="1562700"/>
                  <a:ext cx="1331616" cy="1417486"/>
                </a:xfrm>
                <a:prstGeom prst="line">
                  <a:avLst/>
                </a:prstGeom>
                <a:ln w="9525" cap="flat" cmpd="sng" algn="ctr">
                  <a:solidFill>
                    <a:schemeClr val="dk1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116" name="직선 화살표 연결선 115">
                  <a:extLst>
                    <a:ext uri="{FF2B5EF4-FFF2-40B4-BE49-F238E27FC236}">
                      <a16:creationId xmlns:a16="http://schemas.microsoft.com/office/drawing/2014/main" id="{1F9DDF25-86DD-43C0-8483-F52245EF6C8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46067" y="1653124"/>
                  <a:ext cx="423641" cy="325521"/>
                </a:xfrm>
                <a:prstGeom prst="straightConnector1">
                  <a:avLst/>
                </a:prstGeom>
                <a:ln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5" name="직선 화살표 연결선 104">
                  <a:extLst>
                    <a:ext uri="{FF2B5EF4-FFF2-40B4-BE49-F238E27FC236}">
                      <a16:creationId xmlns:a16="http://schemas.microsoft.com/office/drawing/2014/main" id="{B9B6AF5A-E462-4C9B-A1F7-7A45368F0ED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70432" y="1949269"/>
                  <a:ext cx="489991" cy="164162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6" name="직선 화살표 연결선 105">
                  <a:extLst>
                    <a:ext uri="{FF2B5EF4-FFF2-40B4-BE49-F238E27FC236}">
                      <a16:creationId xmlns:a16="http://schemas.microsoft.com/office/drawing/2014/main" id="{7832C2E1-9D4C-4565-8E20-AFE1A72A95F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67906" y="2171229"/>
                  <a:ext cx="1077179" cy="4215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E00676D4-FDB4-4CC0-BE5F-2180CB09D180}"/>
                    </a:ext>
                  </a:extLst>
                </p:cNvPr>
                <p:cNvSpPr txBox="1"/>
                <p:nvPr/>
              </p:nvSpPr>
              <p:spPr>
                <a:xfrm>
                  <a:off x="2877647" y="2022890"/>
                  <a:ext cx="740355" cy="36062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:r>
                    <a:rPr lang="en-US" altLang="ko-KR" sz="1100"/>
                    <a:t>Support</a:t>
                  </a:r>
                </a:p>
                <a:p>
                  <a:pPr algn="l"/>
                  <a:r>
                    <a:rPr lang="en-US" altLang="ko-KR" sz="1100"/>
                    <a:t>Vector</a:t>
                  </a:r>
                  <a:endParaRPr lang="ko-KR" altLang="en-US" sz="1100"/>
                </a:p>
              </p:txBody>
            </p:sp>
            <p:cxnSp>
              <p:nvCxnSpPr>
                <p:cNvPr id="37" name="직선 화살표 연결선 36">
                  <a:extLst>
                    <a:ext uri="{FF2B5EF4-FFF2-40B4-BE49-F238E27FC236}">
                      <a16:creationId xmlns:a16="http://schemas.microsoft.com/office/drawing/2014/main" id="{868C5CFB-6594-46A5-8F2A-B0450FFF400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473794" y="2632173"/>
                  <a:ext cx="273139" cy="203003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4"/>
                </a:lnRef>
                <a:fillRef idx="0">
                  <a:schemeClr val="accent4"/>
                </a:fillRef>
                <a:effectRef idx="1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직선 화살표 연결선 38">
                  <a:extLst>
                    <a:ext uri="{FF2B5EF4-FFF2-40B4-BE49-F238E27FC236}">
                      <a16:creationId xmlns:a16="http://schemas.microsoft.com/office/drawing/2014/main" id="{60F8564D-6287-4B4F-A43D-925A184C734D}"/>
                    </a:ext>
                  </a:extLst>
                </p:cNvPr>
                <p:cNvCxnSpPr>
                  <a:endCxn id="23" idx="2"/>
                </p:cNvCxnSpPr>
                <p:nvPr/>
              </p:nvCxnSpPr>
              <p:spPr>
                <a:xfrm flipV="1">
                  <a:off x="1473794" y="2216096"/>
                  <a:ext cx="295284" cy="61908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4"/>
                </a:lnRef>
                <a:fillRef idx="0">
                  <a:schemeClr val="accent4"/>
                </a:fillRef>
                <a:effectRef idx="0">
                  <a:schemeClr val="accent4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1" name="TextBox 40">
                      <a:extLst>
                        <a:ext uri="{FF2B5EF4-FFF2-40B4-BE49-F238E27FC236}">
                          <a16:creationId xmlns:a16="http://schemas.microsoft.com/office/drawing/2014/main" id="{9828B568-B99D-4028-92A1-355D70FAF34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537112" y="2703884"/>
                      <a:ext cx="217909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l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acc>
                              <m:accPr>
                                <m:chr m:val="⃗"/>
                                <m:ctrlPr>
                                  <a:rPr lang="ko-KR" altLang="en-US" sz="1100" i="1" smtClean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ko-KR" altLang="en-US" sz="110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</m:acc>
                          </m:oMath>
                        </m:oMathPara>
                      </a14:m>
                      <a:endParaRPr lang="ko-KR" altLang="en-US" sz="1100"/>
                    </a:p>
                  </p:txBody>
                </p:sp>
              </mc:Choice>
              <mc:Fallback xmlns="">
                <p:sp>
                  <p:nvSpPr>
                    <p:cNvPr id="41" name="TextBox 40">
                      <a:extLst>
                        <a:ext uri="{FF2B5EF4-FFF2-40B4-BE49-F238E27FC236}">
                          <a16:creationId xmlns:a16="http://schemas.microsoft.com/office/drawing/2014/main" id="{9828B568-B99D-4028-92A1-355D70FAF34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537112" y="2703884"/>
                      <a:ext cx="217909" cy="261610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r="-555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7" name="TextBox 106">
                      <a:extLst>
                        <a:ext uri="{FF2B5EF4-FFF2-40B4-BE49-F238E27FC236}">
                          <a16:creationId xmlns:a16="http://schemas.microsoft.com/office/drawing/2014/main" id="{C98F6DA1-AB28-464A-A9AF-09B029AF74E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373455" y="2447376"/>
                      <a:ext cx="217909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l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acc>
                              <m:accPr>
                                <m:chr m:val="⃗"/>
                                <m:ctrlPr>
                                  <a:rPr lang="ko-KR" altLang="en-US" sz="1100" i="1" smtClean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ko-KR" altLang="en-US" sz="110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acc>
                          </m:oMath>
                        </m:oMathPara>
                      </a14:m>
                      <a:endParaRPr lang="ko-KR" altLang="en-US" sz="1100"/>
                    </a:p>
                  </p:txBody>
                </p:sp>
              </mc:Choice>
              <mc:Fallback xmlns="">
                <p:sp>
                  <p:nvSpPr>
                    <p:cNvPr id="107" name="TextBox 106">
                      <a:extLst>
                        <a:ext uri="{FF2B5EF4-FFF2-40B4-BE49-F238E27FC236}">
                          <a16:creationId xmlns:a16="http://schemas.microsoft.com/office/drawing/2014/main" id="{C98F6DA1-AB28-464A-A9AF-09B029AF74E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373455" y="2447376"/>
                      <a:ext cx="217909" cy="261610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45" name="직선 화살표 연결선 44">
                  <a:extLst>
                    <a:ext uri="{FF2B5EF4-FFF2-40B4-BE49-F238E27FC236}">
                      <a16:creationId xmlns:a16="http://schemas.microsoft.com/office/drawing/2014/main" id="{53E60B2F-F7F8-4ACE-BD3C-20B2D43C3555}"/>
                    </a:ext>
                  </a:extLst>
                </p:cNvPr>
                <p:cNvCxnSpPr/>
                <p:nvPr/>
              </p:nvCxnSpPr>
              <p:spPr>
                <a:xfrm>
                  <a:off x="2561919" y="2525635"/>
                  <a:ext cx="674244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47" name="TextBox 46">
                      <a:extLst>
                        <a:ext uri="{FF2B5EF4-FFF2-40B4-BE49-F238E27FC236}">
                          <a16:creationId xmlns:a16="http://schemas.microsoft.com/office/drawing/2014/main" id="{45586196-B257-4D37-BE3A-D81CB243B38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265621" y="2430565"/>
                      <a:ext cx="664413" cy="123111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 algn="l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US" altLang="ko-KR" sz="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p>
                                <m:r>
                                  <a:rPr lang="en-US" altLang="ko-KR" sz="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altLang="ko-KR" sz="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US" altLang="ko-KR" sz="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US" altLang="ko-KR" sz="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ko-KR" sz="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ko-KR" sz="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=0</m:t>
                            </m:r>
                          </m:oMath>
                        </m:oMathPara>
                      </a14:m>
                      <a:endParaRPr lang="ko-KR" altLang="en-US" sz="800" i="1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>
                <p:sp>
                  <p:nvSpPr>
                    <p:cNvPr id="47" name="TextBox 46">
                      <a:extLst>
                        <a:ext uri="{FF2B5EF4-FFF2-40B4-BE49-F238E27FC236}">
                          <a16:creationId xmlns:a16="http://schemas.microsoft.com/office/drawing/2014/main" id="{45586196-B257-4D37-BE3A-D81CB243B38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265621" y="2430565"/>
                      <a:ext cx="664413" cy="123111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 l="-1835" r="-2752" b="-9524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63" name="그룹 62">
                  <a:extLst>
                    <a:ext uri="{FF2B5EF4-FFF2-40B4-BE49-F238E27FC236}">
                      <a16:creationId xmlns:a16="http://schemas.microsoft.com/office/drawing/2014/main" id="{DCAAF969-50A4-482C-B302-E2D3C2BDE6F0}"/>
                    </a:ext>
                  </a:extLst>
                </p:cNvPr>
                <p:cNvGrpSpPr/>
                <p:nvPr/>
              </p:nvGrpSpPr>
              <p:grpSpPr>
                <a:xfrm>
                  <a:off x="3018936" y="1290969"/>
                  <a:ext cx="633878" cy="491364"/>
                  <a:chOff x="5215256" y="1171736"/>
                  <a:chExt cx="633878" cy="491364"/>
                </a:xfrm>
              </p:grpSpPr>
              <p:sp>
                <p:nvSpPr>
                  <p:cNvPr id="109" name="직사각형 108">
                    <a:extLst>
                      <a:ext uri="{FF2B5EF4-FFF2-40B4-BE49-F238E27FC236}">
                        <a16:creationId xmlns:a16="http://schemas.microsoft.com/office/drawing/2014/main" id="{EFFCF7D6-32AA-47B2-9386-D34DD1016067}"/>
                      </a:ext>
                    </a:extLst>
                  </p:cNvPr>
                  <p:cNvSpPr/>
                  <p:nvPr/>
                </p:nvSpPr>
                <p:spPr>
                  <a:xfrm>
                    <a:off x="5386273" y="1302680"/>
                    <a:ext cx="67516" cy="72914"/>
                  </a:xfrm>
                  <a:prstGeom prst="rect">
                    <a:avLst/>
                  </a:prstGeom>
                  <a:solidFill>
                    <a:srgbClr val="2C6FAD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08" name="이등변 삼각형 107">
                    <a:extLst>
                      <a:ext uri="{FF2B5EF4-FFF2-40B4-BE49-F238E27FC236}">
                        <a16:creationId xmlns:a16="http://schemas.microsoft.com/office/drawing/2014/main" id="{8F5AB225-DABB-4EEE-8BB1-ABFA803285FB}"/>
                      </a:ext>
                    </a:extLst>
                  </p:cNvPr>
                  <p:cNvSpPr/>
                  <p:nvPr/>
                </p:nvSpPr>
                <p:spPr>
                  <a:xfrm>
                    <a:off x="5379758" y="1473476"/>
                    <a:ext cx="79219" cy="81280"/>
                  </a:xfrm>
                  <a:prstGeom prst="triangle">
                    <a:avLst/>
                  </a:prstGeom>
                  <a:solidFill>
                    <a:srgbClr val="FF00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52" name="TextBox 51">
                    <a:extLst>
                      <a:ext uri="{FF2B5EF4-FFF2-40B4-BE49-F238E27FC236}">
                        <a16:creationId xmlns:a16="http://schemas.microsoft.com/office/drawing/2014/main" id="{80BEDB2C-BF15-4330-8B7B-0165AFEDA312}"/>
                      </a:ext>
                    </a:extLst>
                  </p:cNvPr>
                  <p:cNvSpPr txBox="1"/>
                  <p:nvPr/>
                </p:nvSpPr>
                <p:spPr>
                  <a:xfrm>
                    <a:off x="5507551" y="1176513"/>
                    <a:ext cx="279755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l"/>
                    <a:r>
                      <a:rPr lang="en-US" altLang="ko-KR" sz="1400"/>
                      <a:t>-</a:t>
                    </a:r>
                    <a:endParaRPr lang="ko-KR" altLang="en-US" sz="1400"/>
                  </a:p>
                </p:txBody>
              </p:sp>
              <p:sp>
                <p:nvSpPr>
                  <p:cNvPr id="110" name="TextBox 109">
                    <a:extLst>
                      <a:ext uri="{FF2B5EF4-FFF2-40B4-BE49-F238E27FC236}">
                        <a16:creationId xmlns:a16="http://schemas.microsoft.com/office/drawing/2014/main" id="{B9B272F5-482A-4515-83F6-CFE7B6AAFC5F}"/>
                      </a:ext>
                    </a:extLst>
                  </p:cNvPr>
                  <p:cNvSpPr txBox="1"/>
                  <p:nvPr/>
                </p:nvSpPr>
                <p:spPr>
                  <a:xfrm>
                    <a:off x="5496753" y="1355323"/>
                    <a:ext cx="279755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l"/>
                    <a:r>
                      <a:rPr lang="en-US" altLang="ko-KR" sz="1400"/>
                      <a:t>+</a:t>
                    </a:r>
                    <a:endParaRPr lang="ko-KR" altLang="en-US" sz="1400"/>
                  </a:p>
                </p:txBody>
              </p:sp>
              <p:sp>
                <p:nvSpPr>
                  <p:cNvPr id="57" name="직사각형 56">
                    <a:extLst>
                      <a:ext uri="{FF2B5EF4-FFF2-40B4-BE49-F238E27FC236}">
                        <a16:creationId xmlns:a16="http://schemas.microsoft.com/office/drawing/2014/main" id="{06541DED-702D-4B1F-BDED-57908D10D2E2}"/>
                      </a:ext>
                    </a:extLst>
                  </p:cNvPr>
                  <p:cNvSpPr/>
                  <p:nvPr/>
                </p:nvSpPr>
                <p:spPr>
                  <a:xfrm>
                    <a:off x="5215256" y="1171736"/>
                    <a:ext cx="633878" cy="491364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noFill/>
                    </a:endParaRPr>
                  </a:p>
                </p:txBody>
              </p:sp>
            </p:grpSp>
          </p:grpSp>
        </p:grpSp>
        <p:cxnSp>
          <p:nvCxnSpPr>
            <p:cNvPr id="217" name="직선 화살표 연결선 216">
              <a:extLst>
                <a:ext uri="{FF2B5EF4-FFF2-40B4-BE49-F238E27FC236}">
                  <a16:creationId xmlns:a16="http://schemas.microsoft.com/office/drawing/2014/main" id="{15A8F63A-5E26-48F2-A12A-A6485603FC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68374" y="2413867"/>
              <a:ext cx="571768" cy="41343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직선 화살표 연결선 218">
              <a:extLst>
                <a:ext uri="{FF2B5EF4-FFF2-40B4-BE49-F238E27FC236}">
                  <a16:creationId xmlns:a16="http://schemas.microsoft.com/office/drawing/2014/main" id="{4A6B7FB0-AA87-444B-B6A7-D98072827F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67552" y="2094036"/>
              <a:ext cx="1012684" cy="74205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1" name="TextBox 220">
                  <a:extLst>
                    <a:ext uri="{FF2B5EF4-FFF2-40B4-BE49-F238E27FC236}">
                      <a16:creationId xmlns:a16="http://schemas.microsoft.com/office/drawing/2014/main" id="{924E7BB6-2F43-4A20-9CDB-519E5B823FE0}"/>
                    </a:ext>
                  </a:extLst>
                </p:cNvPr>
                <p:cNvSpPr txBox="1"/>
                <p:nvPr/>
              </p:nvSpPr>
              <p:spPr>
                <a:xfrm>
                  <a:off x="1835833" y="2574893"/>
                  <a:ext cx="187231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1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>
            <p:sp>
              <p:nvSpPr>
                <p:cNvPr id="221" name="TextBox 220">
                  <a:extLst>
                    <a:ext uri="{FF2B5EF4-FFF2-40B4-BE49-F238E27FC236}">
                      <a16:creationId xmlns:a16="http://schemas.microsoft.com/office/drawing/2014/main" id="{924E7BB6-2F43-4A20-9CDB-519E5B823F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35833" y="2574893"/>
                  <a:ext cx="187231" cy="169277"/>
                </a:xfrm>
                <a:prstGeom prst="rect">
                  <a:avLst/>
                </a:prstGeom>
                <a:blipFill>
                  <a:blip r:embed="rId11"/>
                  <a:stretch>
                    <a:fillRect l="-9677" b="-10714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2" name="TextBox 221">
                  <a:extLst>
                    <a:ext uri="{FF2B5EF4-FFF2-40B4-BE49-F238E27FC236}">
                      <a16:creationId xmlns:a16="http://schemas.microsoft.com/office/drawing/2014/main" id="{8628FB0C-56ED-408C-ABEA-46C06E3A3B3D}"/>
                    </a:ext>
                  </a:extLst>
                </p:cNvPr>
                <p:cNvSpPr txBox="1"/>
                <p:nvPr/>
              </p:nvSpPr>
              <p:spPr>
                <a:xfrm>
                  <a:off x="2185985" y="2356108"/>
                  <a:ext cx="187231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1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>
            <p:sp>
              <p:nvSpPr>
                <p:cNvPr id="222" name="TextBox 221">
                  <a:extLst>
                    <a:ext uri="{FF2B5EF4-FFF2-40B4-BE49-F238E27FC236}">
                      <a16:creationId xmlns:a16="http://schemas.microsoft.com/office/drawing/2014/main" id="{8628FB0C-56ED-408C-ABEA-46C06E3A3B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85985" y="2356108"/>
                  <a:ext cx="187231" cy="169277"/>
                </a:xfrm>
                <a:prstGeom prst="rect">
                  <a:avLst/>
                </a:prstGeom>
                <a:blipFill>
                  <a:blip r:embed="rId12"/>
                  <a:stretch>
                    <a:fillRect l="-9677" r="-6452" b="-1785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27" name="직사각형 226">
            <a:extLst>
              <a:ext uri="{FF2B5EF4-FFF2-40B4-BE49-F238E27FC236}">
                <a16:creationId xmlns:a16="http://schemas.microsoft.com/office/drawing/2014/main" id="{8643091B-F94D-4B29-8749-AE71567791EE}"/>
              </a:ext>
            </a:extLst>
          </p:cNvPr>
          <p:cNvSpPr/>
          <p:nvPr/>
        </p:nvSpPr>
        <p:spPr>
          <a:xfrm>
            <a:off x="6105111" y="-80566"/>
            <a:ext cx="2992125" cy="12967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/>
              <a:t>Decision Rule</a:t>
            </a:r>
            <a:r>
              <a:rPr lang="ko-KR" altLang="en-US" sz="1100"/>
              <a:t>이란 새로운 입력 벡터</a:t>
            </a:r>
            <a:r>
              <a:rPr lang="en-US" altLang="ko-KR" sz="1100"/>
              <a:t>u</a:t>
            </a:r>
            <a:r>
              <a:rPr lang="ko-KR" altLang="en-US" sz="1100"/>
              <a:t>에 대해서 이 입력의 </a:t>
            </a:r>
            <a:r>
              <a:rPr lang="en-US" altLang="ko-KR" sz="1100"/>
              <a:t>class</a:t>
            </a:r>
            <a:r>
              <a:rPr lang="ko-KR" altLang="en-US" sz="1100"/>
              <a:t>가 </a:t>
            </a:r>
            <a:r>
              <a:rPr lang="en-US" altLang="ko-KR" sz="1100"/>
              <a:t>+</a:t>
            </a:r>
            <a:r>
              <a:rPr lang="ko-KR" altLang="en-US" sz="1100"/>
              <a:t>인지 </a:t>
            </a:r>
            <a:r>
              <a:rPr lang="en-US" altLang="ko-KR" sz="1100"/>
              <a:t>–</a:t>
            </a:r>
            <a:r>
              <a:rPr lang="ko-KR" altLang="en-US" sz="1100"/>
              <a:t>인지 결정하는 방법에 대한것</a:t>
            </a:r>
            <a:endParaRPr lang="en-US" altLang="ko-KR" sz="1100"/>
          </a:p>
          <a:p>
            <a:pPr algn="ctr"/>
            <a:endParaRPr lang="en-US" altLang="ko-KR" sz="1100"/>
          </a:p>
          <a:p>
            <a:pPr algn="ctr"/>
            <a:r>
              <a:rPr lang="en-US" altLang="ko-KR" sz="1100"/>
              <a:t>Decision</a:t>
            </a:r>
            <a:r>
              <a:rPr lang="ko-KR" altLang="en-US" sz="1100"/>
              <a:t> </a:t>
            </a:r>
            <a:r>
              <a:rPr lang="en-US" altLang="ko-KR" sz="1100"/>
              <a:t>Rule</a:t>
            </a:r>
            <a:r>
              <a:rPr lang="ko-KR" altLang="en-US" sz="1100"/>
              <a:t>에 대한 내용 추가</a:t>
            </a:r>
          </a:p>
        </p:txBody>
      </p:sp>
      <p:pic>
        <p:nvPicPr>
          <p:cNvPr id="229" name="그림 228">
            <a:extLst>
              <a:ext uri="{FF2B5EF4-FFF2-40B4-BE49-F238E27FC236}">
                <a16:creationId xmlns:a16="http://schemas.microsoft.com/office/drawing/2014/main" id="{B381E497-F7D3-4560-9B12-D803EC39F71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764" y="881472"/>
            <a:ext cx="9144000" cy="58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429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21"/>
          <p:cNvSpPr txBox="1">
            <a:spLocks noGrp="1"/>
          </p:cNvSpPr>
          <p:nvPr>
            <p:ph type="body" sz="quarter" idx="11" hasCustomPrompt="1"/>
          </p:nvPr>
        </p:nvSpPr>
        <p:spPr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 latinLnBrk="0">
              <a:buFontTx/>
              <a:buNone/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rtl="0" latinLnBrk="0">
              <a:buFontTx/>
              <a:buNone/>
            </a:pPr>
            <a:r>
              <a:rPr lang="en-US" altLang="ko-KR"/>
              <a:t>Maximize Margin</a:t>
            </a:r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20B2A80-2DBC-4D6E-A609-92F9D067B732}"/>
                  </a:ext>
                </a:extLst>
              </p:cNvPr>
              <p:cNvSpPr txBox="1"/>
              <p:nvPr/>
            </p:nvSpPr>
            <p:spPr>
              <a:xfrm>
                <a:off x="291220" y="3438117"/>
                <a:ext cx="8191245" cy="27383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100">
                    <a:latin typeface="+mn-ea"/>
                  </a:rPr>
                  <a:t>아래는 </a:t>
                </a:r>
                <a:r>
                  <a:rPr lang="en-US" altLang="ko-KR" sz="1100">
                    <a:latin typeface="+mn-ea"/>
                  </a:rPr>
                  <a:t>Support Vector</a:t>
                </a:r>
                <a:r>
                  <a:rPr lang="ko-KR" altLang="en-US" sz="1100">
                    <a:latin typeface="+mn-ea"/>
                  </a:rPr>
                  <a:t>의 수식</a:t>
                </a:r>
                <a:endParaRPr lang="en-US" altLang="ko-KR" sz="1100">
                  <a:latin typeface="+mn-ea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100" i="1" smtClean="0">
                              <a:latin typeface="+mn-ea"/>
                            </a:rPr>
                          </m:ctrlPr>
                        </m:sSubPr>
                        <m:e>
                          <m:r>
                            <a:rPr lang="en-US" altLang="ko-KR" sz="1100" i="1">
                              <a:latin typeface="+mn-ea"/>
                            </a:rPr>
                            <m:t>𝑦</m:t>
                          </m:r>
                        </m:e>
                        <m:sub>
                          <m:r>
                            <a:rPr lang="en-US" altLang="ko-KR" sz="1100" i="1">
                              <a:latin typeface="+mn-ea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ko-KR" sz="1100" i="1" smtClean="0">
                              <a:latin typeface="+mn-ea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sz="1100" i="1">
                                  <a:latin typeface="+mn-ea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100">
                                  <a:latin typeface="+mn-ea"/>
                                </a:rPr>
                                <m:t>w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ko-KR" sz="1100">
                                  <a:latin typeface="+mn-ea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altLang="ko-KR" sz="1100">
                              <a:latin typeface="+mn-ea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altLang="ko-KR" sz="1100" i="1">
                                  <a:latin typeface="+mn-ea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100">
                                  <a:latin typeface="+mn-ea"/>
                                </a:rPr>
                                <m:t>x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sz="1100">
                                  <a:latin typeface="+mn-ea"/>
                                </a:rPr>
                                <m:t>i</m:t>
                              </m:r>
                            </m:sub>
                          </m:sSub>
                          <m:r>
                            <a:rPr lang="en-US" altLang="ko-KR" sz="1100">
                              <a:latin typeface="+mn-ea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altLang="ko-KR" sz="1100">
                              <a:latin typeface="+mn-ea"/>
                            </a:rPr>
                            <m:t>b</m:t>
                          </m:r>
                        </m:e>
                      </m:d>
                      <m:r>
                        <a:rPr lang="en-US" altLang="ko-KR" sz="1100" b="0" i="1" smtClean="0">
                          <a:latin typeface="+mn-ea"/>
                        </a:rPr>
                        <m:t>−1=0</m:t>
                      </m:r>
                    </m:oMath>
                  </m:oMathPara>
                </a14:m>
                <a:endParaRPr lang="en-US" altLang="ko-KR" sz="1100" b="0">
                  <a:latin typeface="+mn-ea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en-US" altLang="ko-KR" sz="1100">
                    <a:solidFill>
                      <a:schemeClr val="tx1"/>
                    </a:solidFill>
                    <a:latin typeface="+mn-ea"/>
                  </a:rPr>
                  <a:t>Max Margin</a:t>
                </a:r>
                <a:r>
                  <a:rPr lang="ko-KR" altLang="en-US" sz="1100">
                    <a:solidFill>
                      <a:schemeClr val="tx1"/>
                    </a:solidFill>
                    <a:latin typeface="+mn-ea"/>
                  </a:rPr>
                  <a:t> </a:t>
                </a:r>
                <a:r>
                  <a:rPr lang="en-US" altLang="ko-KR" sz="1100">
                    <a:solidFill>
                      <a:schemeClr val="tx1"/>
                    </a:solidFill>
                    <a:latin typeface="+mn-ea"/>
                  </a:rPr>
                  <a:t>= </a:t>
                </a:r>
                <a:r>
                  <a:rPr lang="ko-KR" altLang="en-US" sz="1100">
                    <a:solidFill>
                      <a:schemeClr val="tx1"/>
                    </a:solidFill>
                    <a:latin typeface="+mn-ea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ko-KR" altLang="en-US" sz="1100" i="1" smtClean="0">
                            <a:solidFill>
                              <a:schemeClr val="tx1"/>
                            </a:solidFill>
                            <a:latin typeface="+mn-ea"/>
                          </a:rPr>
                        </m:ctrlPr>
                      </m:fPr>
                      <m:num>
                        <m:r>
                          <a:rPr lang="ko-KR" altLang="en-US" sz="1100" i="1" smtClean="0">
                            <a:solidFill>
                              <a:schemeClr val="tx1"/>
                            </a:solidFill>
                            <a:latin typeface="+mn-ea"/>
                          </a:rPr>
                          <m:t>𝑤</m:t>
                        </m:r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ko-KR" altLang="en-US" sz="1100" i="1" smtClean="0">
                                <a:solidFill>
                                  <a:schemeClr val="tx1"/>
                                </a:solidFill>
                                <a:latin typeface="+mn-ea"/>
                              </a:rPr>
                            </m:ctrlPr>
                          </m:dPr>
                          <m:e>
                            <m:r>
                              <a:rPr lang="ko-KR" altLang="en-US" sz="1100" i="1" smtClean="0">
                                <a:solidFill>
                                  <a:schemeClr val="tx1"/>
                                </a:solidFill>
                                <a:latin typeface="+mn-ea"/>
                              </a:rPr>
                              <m:t>𝑤</m:t>
                            </m:r>
                          </m:e>
                        </m:d>
                      </m:den>
                    </m:f>
                    <m:r>
                      <a:rPr lang="ko-KR" altLang="en-US" sz="1100" i="1" smtClean="0">
                        <a:solidFill>
                          <a:schemeClr val="tx1"/>
                        </a:solidFill>
                        <a:latin typeface="+mn-ea"/>
                      </a:rPr>
                      <m:t>⋅</m:t>
                    </m:r>
                    <m:d>
                      <m:dPr>
                        <m:ctrlPr>
                          <a:rPr lang="ko-KR" altLang="en-US" sz="1100" i="1" smtClean="0">
                            <a:solidFill>
                              <a:schemeClr val="tx1"/>
                            </a:solidFill>
                            <a:latin typeface="+mn-ea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ko-KR" altLang="en-US" sz="1100" i="1">
                                <a:solidFill>
                                  <a:schemeClr val="tx1"/>
                                </a:solidFill>
                                <a:latin typeface="+mn-ea"/>
                              </a:rPr>
                            </m:ctrlPr>
                          </m:sSubPr>
                          <m:e>
                            <m:r>
                              <a:rPr lang="ko-KR" altLang="en-US" sz="1100" i="1">
                                <a:solidFill>
                                  <a:schemeClr val="tx1"/>
                                </a:solidFill>
                                <a:latin typeface="+mn-ea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solidFill>
                                  <a:schemeClr val="tx1"/>
                                </a:solidFill>
                                <a:latin typeface="+mn-ea"/>
                              </a:rPr>
                              <m:t>+</m:t>
                            </m:r>
                          </m:sub>
                        </m:sSub>
                        <m:r>
                          <a:rPr lang="ko-KR" altLang="en-US" sz="1100" i="1" smtClean="0">
                            <a:solidFill>
                              <a:schemeClr val="tx1"/>
                            </a:solidFill>
                            <a:latin typeface="+mn-ea"/>
                          </a:rPr>
                          <m:t>−</m:t>
                        </m:r>
                        <m:sSub>
                          <m:sSubPr>
                            <m:ctrlPr>
                              <a:rPr lang="ko-KR" altLang="en-US" sz="1100" i="1" smtClean="0">
                                <a:solidFill>
                                  <a:schemeClr val="tx1"/>
                                </a:solidFill>
                                <a:latin typeface="+mn-ea"/>
                              </a:rPr>
                            </m:ctrlPr>
                          </m:sSubPr>
                          <m:e>
                            <m:r>
                              <a:rPr lang="ko-KR" altLang="en-US" sz="1100" i="1" smtClean="0">
                                <a:solidFill>
                                  <a:schemeClr val="tx1"/>
                                </a:solidFill>
                                <a:latin typeface="+mn-ea"/>
                              </a:rPr>
                              <m:t>𝑥</m:t>
                            </m:r>
                          </m:e>
                          <m:sub>
                            <m:r>
                              <a:rPr lang="ko-KR" altLang="en-US" sz="1100" i="1" smtClean="0">
                                <a:solidFill>
                                  <a:schemeClr val="tx1"/>
                                </a:solidFill>
                                <a:latin typeface="+mn-ea"/>
                              </a:rPr>
                              <m:t>−</m:t>
                            </m:r>
                          </m:sub>
                        </m:sSub>
                      </m:e>
                    </m:d>
                  </m:oMath>
                </a14:m>
                <a:endParaRPr lang="en-US" altLang="ko-KR" sz="1100">
                  <a:solidFill>
                    <a:schemeClr val="tx1"/>
                  </a:solidFill>
                  <a:latin typeface="+mn-ea"/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ko-KR" altLang="en-US" sz="1100" i="1" smtClean="0">
                            <a:solidFill>
                              <a:schemeClr val="tx1"/>
                            </a:solidFill>
                            <a:latin typeface="+mn-ea"/>
                          </a:rPr>
                        </m:ctrlPr>
                      </m:fPr>
                      <m:num>
                        <m:r>
                          <a:rPr lang="ko-KR" altLang="en-US" sz="1100" i="1" smtClean="0">
                            <a:solidFill>
                              <a:schemeClr val="tx1"/>
                            </a:solidFill>
                            <a:latin typeface="+mn-ea"/>
                          </a:rPr>
                          <m:t>𝑤</m:t>
                        </m:r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ko-KR" altLang="en-US" sz="1100" i="1" smtClean="0">
                                <a:solidFill>
                                  <a:schemeClr val="tx1"/>
                                </a:solidFill>
                                <a:latin typeface="+mn-ea"/>
                              </a:rPr>
                            </m:ctrlPr>
                          </m:dPr>
                          <m:e>
                            <m:r>
                              <a:rPr lang="ko-KR" altLang="en-US" sz="1100" i="1" smtClean="0">
                                <a:solidFill>
                                  <a:schemeClr val="tx1"/>
                                </a:solidFill>
                                <a:latin typeface="+mn-ea"/>
                              </a:rPr>
                              <m:t>𝑤</m:t>
                            </m:r>
                          </m:e>
                        </m:d>
                      </m:den>
                    </m:f>
                    <m:r>
                      <a:rPr lang="ko-KR" altLang="en-US" sz="1100" i="1" smtClean="0">
                        <a:solidFill>
                          <a:schemeClr val="tx1"/>
                        </a:solidFill>
                        <a:latin typeface="+mn-ea"/>
                      </a:rPr>
                      <m:t>⋅</m:t>
                    </m:r>
                    <m:d>
                      <m:dPr>
                        <m:ctrlPr>
                          <a:rPr lang="ko-KR" altLang="en-US" sz="1100" i="1" smtClean="0">
                            <a:solidFill>
                              <a:schemeClr val="tx1"/>
                            </a:solidFill>
                            <a:latin typeface="+mn-ea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ko-KR" altLang="en-US" sz="1100" i="1">
                                <a:solidFill>
                                  <a:schemeClr val="tx1"/>
                                </a:solidFill>
                                <a:latin typeface="+mn-ea"/>
                              </a:rPr>
                            </m:ctrlPr>
                          </m:sSubPr>
                          <m:e>
                            <m:r>
                              <a:rPr lang="ko-KR" altLang="en-US" sz="1100" i="1">
                                <a:solidFill>
                                  <a:schemeClr val="tx1"/>
                                </a:solidFill>
                                <a:latin typeface="+mn-ea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solidFill>
                                  <a:schemeClr val="tx1"/>
                                </a:solidFill>
                                <a:latin typeface="+mn-ea"/>
                              </a:rPr>
                              <m:t>+</m:t>
                            </m:r>
                          </m:sub>
                        </m:sSub>
                        <m:r>
                          <a:rPr lang="ko-KR" altLang="en-US" sz="1100" i="1" smtClean="0">
                            <a:solidFill>
                              <a:schemeClr val="tx1"/>
                            </a:solidFill>
                            <a:latin typeface="+mn-ea"/>
                          </a:rPr>
                          <m:t>−</m:t>
                        </m:r>
                        <m:sSub>
                          <m:sSubPr>
                            <m:ctrlPr>
                              <a:rPr lang="ko-KR" altLang="en-US" sz="1100" i="1" smtClean="0">
                                <a:solidFill>
                                  <a:schemeClr val="tx1"/>
                                </a:solidFill>
                                <a:latin typeface="+mn-ea"/>
                              </a:rPr>
                            </m:ctrlPr>
                          </m:sSubPr>
                          <m:e>
                            <m:r>
                              <a:rPr lang="ko-KR" altLang="en-US" sz="1100" i="1" smtClean="0">
                                <a:solidFill>
                                  <a:schemeClr val="tx1"/>
                                </a:solidFill>
                                <a:latin typeface="+mn-ea"/>
                              </a:rPr>
                              <m:t>𝑥</m:t>
                            </m:r>
                          </m:e>
                          <m:sub>
                            <m:r>
                              <a:rPr lang="ko-KR" altLang="en-US" sz="1100" i="1" smtClean="0">
                                <a:solidFill>
                                  <a:schemeClr val="tx1"/>
                                </a:solidFill>
                                <a:latin typeface="+mn-ea"/>
                              </a:rPr>
                              <m:t>−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ko-KR" sz="1100">
                    <a:solidFill>
                      <a:schemeClr val="tx1"/>
                    </a:solidFill>
                    <a:latin typeface="+mn-ea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ko-KR" altLang="en-US" sz="1100" i="1">
                            <a:solidFill>
                              <a:schemeClr val="tx1"/>
                            </a:solidFill>
                            <a:latin typeface="+mn-ea"/>
                          </a:rPr>
                        </m:ctrlPr>
                      </m:fPr>
                      <m:num>
                        <m:r>
                          <a:rPr lang="ko-KR" altLang="en-US" sz="1100" i="1">
                            <a:solidFill>
                              <a:schemeClr val="tx1"/>
                            </a:solidFill>
                            <a:latin typeface="+mn-ea"/>
                          </a:rPr>
                          <m:t>𝑤</m:t>
                        </m:r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ko-KR" altLang="en-US" sz="1100" i="1">
                                <a:solidFill>
                                  <a:schemeClr val="tx1"/>
                                </a:solidFill>
                                <a:latin typeface="+mn-ea"/>
                              </a:rPr>
                            </m:ctrlPr>
                          </m:dPr>
                          <m:e>
                            <m:r>
                              <a:rPr lang="ko-KR" altLang="en-US" sz="1100" i="1">
                                <a:solidFill>
                                  <a:schemeClr val="tx1"/>
                                </a:solidFill>
                                <a:latin typeface="+mn-ea"/>
                              </a:rPr>
                              <m:t>𝑤</m:t>
                            </m:r>
                          </m:e>
                        </m:d>
                      </m:den>
                    </m:f>
                    <m:r>
                      <a:rPr lang="ko-KR" altLang="en-US" sz="1100" i="1">
                        <a:solidFill>
                          <a:schemeClr val="tx1"/>
                        </a:solidFill>
                        <a:latin typeface="+mn-ea"/>
                      </a:rPr>
                      <m:t>⋅</m:t>
                    </m:r>
                    <m:d>
                      <m:dPr>
                        <m:ctrlPr>
                          <a:rPr lang="ko-KR" altLang="en-US" sz="1100" i="1" smtClean="0">
                            <a:solidFill>
                              <a:schemeClr val="tx1"/>
                            </a:solidFill>
                            <a:latin typeface="+mn-ea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ko-KR" altLang="en-US" sz="1100" i="1">
                                <a:solidFill>
                                  <a:schemeClr val="tx1"/>
                                </a:solidFill>
                                <a:latin typeface="+mn-ea"/>
                              </a:rPr>
                            </m:ctrlPr>
                          </m:sSubPr>
                          <m:e>
                            <m:r>
                              <a:rPr lang="ko-KR" altLang="en-US" sz="1100" i="1">
                                <a:solidFill>
                                  <a:schemeClr val="tx1"/>
                                </a:solidFill>
                                <a:latin typeface="+mn-ea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100" i="1">
                                <a:solidFill>
                                  <a:schemeClr val="tx1"/>
                                </a:solidFill>
                                <a:latin typeface="+mn-ea"/>
                              </a:rPr>
                              <m:t>+</m:t>
                            </m:r>
                          </m:sub>
                        </m:sSub>
                      </m:e>
                    </m:d>
                    <m:r>
                      <a:rPr lang="en-US" altLang="ko-KR" sz="1100" b="0" i="1" smtClean="0">
                        <a:solidFill>
                          <a:schemeClr val="tx1"/>
                        </a:solidFill>
                        <a:latin typeface="+mn-ea"/>
                      </a:rPr>
                      <m:t> −</m:t>
                    </m:r>
                    <m:f>
                      <m:fPr>
                        <m:ctrlPr>
                          <a:rPr lang="ko-KR" altLang="en-US" sz="1100" i="1">
                            <a:solidFill>
                              <a:schemeClr val="tx1"/>
                            </a:solidFill>
                            <a:latin typeface="+mn-ea"/>
                          </a:rPr>
                        </m:ctrlPr>
                      </m:fPr>
                      <m:num>
                        <m:r>
                          <a:rPr lang="ko-KR" altLang="en-US" sz="1100" i="1">
                            <a:solidFill>
                              <a:schemeClr val="tx1"/>
                            </a:solidFill>
                            <a:latin typeface="+mn-ea"/>
                          </a:rPr>
                          <m:t>𝑤</m:t>
                        </m:r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ko-KR" altLang="en-US" sz="1100" i="1">
                                <a:solidFill>
                                  <a:schemeClr val="tx1"/>
                                </a:solidFill>
                                <a:latin typeface="+mn-ea"/>
                              </a:rPr>
                            </m:ctrlPr>
                          </m:dPr>
                          <m:e>
                            <m:r>
                              <a:rPr lang="ko-KR" altLang="en-US" sz="1100" i="1">
                                <a:solidFill>
                                  <a:schemeClr val="tx1"/>
                                </a:solidFill>
                                <a:latin typeface="+mn-ea"/>
                              </a:rPr>
                              <m:t>𝑤</m:t>
                            </m:r>
                          </m:e>
                        </m:d>
                      </m:den>
                    </m:f>
                    <m:r>
                      <a:rPr lang="ko-KR" altLang="en-US" sz="1100" i="1">
                        <a:solidFill>
                          <a:schemeClr val="tx1"/>
                        </a:solidFill>
                        <a:latin typeface="+mn-ea"/>
                      </a:rPr>
                      <m:t>⋅</m:t>
                    </m:r>
                    <m:d>
                      <m:dPr>
                        <m:ctrlPr>
                          <a:rPr lang="ko-KR" altLang="en-US" sz="1100" i="1">
                            <a:solidFill>
                              <a:schemeClr val="tx1"/>
                            </a:solidFill>
                            <a:latin typeface="+mn-ea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ko-KR" altLang="en-US" sz="1100" i="1">
                                <a:solidFill>
                                  <a:schemeClr val="tx1"/>
                                </a:solidFill>
                                <a:latin typeface="+mn-ea"/>
                              </a:rPr>
                            </m:ctrlPr>
                          </m:sSubPr>
                          <m:e>
                            <m:r>
                              <a:rPr lang="ko-KR" altLang="en-US" sz="1100" i="1">
                                <a:solidFill>
                                  <a:schemeClr val="tx1"/>
                                </a:solidFill>
                                <a:latin typeface="+mn-ea"/>
                              </a:rPr>
                              <m:t>𝑥</m:t>
                            </m:r>
                          </m:e>
                          <m:sub>
                            <m:r>
                              <a:rPr lang="ko-KR" altLang="en-US" sz="1100" i="1">
                                <a:solidFill>
                                  <a:schemeClr val="tx1"/>
                                </a:solidFill>
                                <a:latin typeface="+mn-ea"/>
                              </a:rPr>
                              <m:t>−</m:t>
                            </m:r>
                          </m:sub>
                        </m:sSub>
                      </m:e>
                    </m:d>
                  </m:oMath>
                </a14:m>
                <a:endParaRPr lang="en-US" altLang="ko-KR" sz="1100">
                  <a:solidFill>
                    <a:schemeClr val="tx1"/>
                  </a:solidFill>
                  <a:latin typeface="+mn-ea"/>
                </a:endParaRP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 smtClean="0">
                            <a:solidFill>
                              <a:schemeClr val="tx1"/>
                            </a:solidFill>
                            <a:latin typeface="+mn-ea"/>
                          </a:rPr>
                        </m:ctrlPr>
                      </m:sSubPr>
                      <m:e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+mn-ea"/>
                          </a:rPr>
                          <m:t>𝑦</m:t>
                        </m:r>
                      </m:e>
                      <m:sub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+mn-ea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sz="1100">
                    <a:solidFill>
                      <a:schemeClr val="tx1"/>
                    </a:solidFill>
                    <a:latin typeface="+mn-ea"/>
                  </a:rPr>
                  <a:t>가 </a:t>
                </a:r>
                <a:r>
                  <a:rPr lang="en-US" altLang="ko-KR" sz="1100">
                    <a:solidFill>
                      <a:schemeClr val="tx1"/>
                    </a:solidFill>
                    <a:latin typeface="+mn-ea"/>
                  </a:rPr>
                  <a:t>+1</a:t>
                </a:r>
                <a:r>
                  <a:rPr lang="ko-KR" altLang="en-US" sz="1100">
                    <a:solidFill>
                      <a:schemeClr val="tx1"/>
                    </a:solidFill>
                    <a:latin typeface="+mn-ea"/>
                  </a:rPr>
                  <a:t>일 경우</a:t>
                </a:r>
                <a:r>
                  <a:rPr lang="en-US" altLang="ko-KR" sz="1100">
                    <a:solidFill>
                      <a:schemeClr val="tx1"/>
                    </a:solidFill>
                    <a:latin typeface="+mn-ea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solidFill>
                          <a:schemeClr val="tx1"/>
                        </a:solidFill>
                        <a:latin typeface="+mn-ea"/>
                      </a:rPr>
                      <m:t>𝑤</m:t>
                    </m:r>
                    <m:r>
                      <a:rPr lang="en-US" altLang="ko-KR" sz="1100" b="0" i="1" smtClean="0">
                        <a:solidFill>
                          <a:schemeClr val="tx1"/>
                        </a:solidFill>
                        <a:latin typeface="+mn-ea"/>
                      </a:rPr>
                      <m:t>⋅</m:t>
                    </m:r>
                    <m:sSub>
                      <m:sSubPr>
                        <m:ctrlPr>
                          <a:rPr lang="en-US" altLang="ko-KR" sz="1100" b="0" i="1" smtClean="0">
                            <a:solidFill>
                              <a:schemeClr val="tx1"/>
                            </a:solidFill>
                            <a:latin typeface="+mn-ea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solidFill>
                              <a:schemeClr val="tx1"/>
                            </a:solidFill>
                            <a:latin typeface="+mn-ea"/>
                          </a:rPr>
                          <m:t>𝑥</m:t>
                        </m:r>
                      </m:e>
                      <m:sub>
                        <m:r>
                          <a:rPr lang="en-US" altLang="ko-KR" sz="1100" b="0" i="1" smtClean="0">
                            <a:solidFill>
                              <a:schemeClr val="tx1"/>
                            </a:solidFill>
                            <a:latin typeface="+mn-ea"/>
                          </a:rPr>
                          <m:t>+</m:t>
                        </m:r>
                      </m:sub>
                    </m:sSub>
                    <m:r>
                      <a:rPr lang="en-US" altLang="ko-KR" sz="1100" b="0" i="1" smtClean="0">
                        <a:solidFill>
                          <a:schemeClr val="tx1"/>
                        </a:solidFill>
                        <a:latin typeface="+mn-ea"/>
                      </a:rPr>
                      <m:t>=1−</m:t>
                    </m:r>
                    <m:r>
                      <a:rPr lang="en-US" altLang="ko-KR" sz="1100" b="0" i="1" smtClean="0">
                        <a:solidFill>
                          <a:schemeClr val="tx1"/>
                        </a:solidFill>
                        <a:latin typeface="+mn-ea"/>
                      </a:rPr>
                      <m:t>𝑏</m:t>
                    </m:r>
                  </m:oMath>
                </a14:m>
                <a:r>
                  <a:rPr lang="ko-KR" altLang="en-US" sz="1100">
                    <a:solidFill>
                      <a:schemeClr val="tx1"/>
                    </a:solidFill>
                    <a:latin typeface="+mn-ea"/>
                  </a:rPr>
                  <a:t>이고 </a:t>
                </a:r>
                <a:r>
                  <a:rPr lang="en-US" altLang="ko-KR" sz="1100">
                    <a:solidFill>
                      <a:schemeClr val="tx1"/>
                    </a:solidFill>
                    <a:latin typeface="+mn-ea"/>
                  </a:rPr>
                  <a:t> -1</a:t>
                </a:r>
                <a:r>
                  <a:rPr lang="ko-KR" altLang="en-US" sz="1100">
                    <a:solidFill>
                      <a:schemeClr val="tx1"/>
                    </a:solidFill>
                    <a:latin typeface="+mn-ea"/>
                  </a:rPr>
                  <a:t>일 경우</a:t>
                </a:r>
                <a:r>
                  <a:rPr lang="en-US" altLang="ko-KR" sz="1100">
                    <a:solidFill>
                      <a:schemeClr val="tx1"/>
                    </a:solidFill>
                    <a:latin typeface="+mn-ea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ko-KR" sz="1100" i="1">
                        <a:solidFill>
                          <a:schemeClr val="tx1"/>
                        </a:solidFill>
                        <a:latin typeface="+mn-ea"/>
                      </a:rPr>
                      <m:t>𝑤</m:t>
                    </m:r>
                    <m:r>
                      <a:rPr lang="en-US" altLang="ko-KR" sz="1100" i="1">
                        <a:solidFill>
                          <a:schemeClr val="tx1"/>
                        </a:solidFill>
                        <a:latin typeface="+mn-ea"/>
                      </a:rPr>
                      <m:t>⋅</m:t>
                    </m:r>
                    <m:sSub>
                      <m:sSubPr>
                        <m:ctrlPr>
                          <a:rPr lang="en-US" altLang="ko-KR" sz="1100" i="1">
                            <a:solidFill>
                              <a:schemeClr val="tx1"/>
                            </a:solidFill>
                            <a:latin typeface="+mn-ea"/>
                          </a:rPr>
                        </m:ctrlPr>
                      </m:sSubPr>
                      <m:e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+mn-ea"/>
                          </a:rPr>
                          <m:t>𝑥</m:t>
                        </m:r>
                      </m:e>
                      <m:sub>
                        <m:r>
                          <a:rPr lang="en-US" altLang="ko-KR" sz="1100" b="0" i="1" smtClean="0">
                            <a:solidFill>
                              <a:schemeClr val="tx1"/>
                            </a:solidFill>
                            <a:latin typeface="+mn-ea"/>
                          </a:rPr>
                          <m:t>−</m:t>
                        </m:r>
                      </m:sub>
                    </m:sSub>
                    <m:r>
                      <a:rPr lang="en-US" altLang="ko-KR" sz="1100" i="1">
                        <a:solidFill>
                          <a:schemeClr val="tx1"/>
                        </a:solidFill>
                        <a:latin typeface="+mn-ea"/>
                      </a:rPr>
                      <m:t>=</m:t>
                    </m:r>
                    <m:r>
                      <a:rPr lang="en-US" altLang="ko-KR" sz="1100" b="0" i="1" smtClean="0">
                        <a:solidFill>
                          <a:schemeClr val="tx1"/>
                        </a:solidFill>
                        <a:latin typeface="+mn-ea"/>
                      </a:rPr>
                      <m:t>−</m:t>
                    </m:r>
                    <m:d>
                      <m:dPr>
                        <m:ctrlPr>
                          <a:rPr lang="en-US" altLang="ko-KR" sz="1100" b="0" i="1" smtClean="0">
                            <a:solidFill>
                              <a:schemeClr val="tx1"/>
                            </a:solidFill>
                            <a:latin typeface="+mn-ea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solidFill>
                              <a:schemeClr val="tx1"/>
                            </a:solidFill>
                            <a:latin typeface="+mn-ea"/>
                          </a:rPr>
                          <m:t>1+</m:t>
                        </m:r>
                        <m:r>
                          <a:rPr lang="en-US" altLang="ko-KR" sz="1100" b="0" i="1" smtClean="0">
                            <a:solidFill>
                              <a:schemeClr val="tx1"/>
                            </a:solidFill>
                            <a:latin typeface="+mn-ea"/>
                          </a:rPr>
                          <m:t>𝑏</m:t>
                        </m:r>
                      </m:e>
                    </m:d>
                  </m:oMath>
                </a14:m>
                <a:endParaRPr lang="en-US" altLang="ko-KR" sz="1100" b="0">
                  <a:solidFill>
                    <a:schemeClr val="tx1"/>
                  </a:solidFill>
                  <a:latin typeface="+mn-ea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ko-KR" altLang="en-US" sz="1100">
                    <a:solidFill>
                      <a:schemeClr val="tx1"/>
                    </a:solidFill>
                    <a:latin typeface="+mn-ea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ko-KR" altLang="en-US" sz="1100" i="1">
                            <a:solidFill>
                              <a:schemeClr val="tx1"/>
                            </a:solidFill>
                            <a:latin typeface="+mn-ea"/>
                          </a:rPr>
                        </m:ctrlPr>
                      </m:fPr>
                      <m:num>
                        <m:r>
                          <a:rPr lang="en-US" altLang="ko-KR" sz="1100" b="0" i="1" smtClean="0">
                            <a:solidFill>
                              <a:schemeClr val="tx1"/>
                            </a:solidFill>
                            <a:latin typeface="+mn-ea"/>
                          </a:rPr>
                          <m:t>1−</m:t>
                        </m:r>
                        <m:r>
                          <a:rPr lang="en-US" altLang="ko-KR" sz="1100" b="0" i="1" smtClean="0">
                            <a:solidFill>
                              <a:schemeClr val="tx1"/>
                            </a:solidFill>
                            <a:latin typeface="+mn-ea"/>
                          </a:rPr>
                          <m:t>𝑏</m:t>
                        </m:r>
                        <m:r>
                          <a:rPr lang="en-US" altLang="ko-KR" sz="1100" b="0" i="1" smtClean="0">
                            <a:solidFill>
                              <a:schemeClr val="tx1"/>
                            </a:solidFill>
                            <a:latin typeface="+mn-ea"/>
                          </a:rPr>
                          <m:t>−(−1−</m:t>
                        </m:r>
                        <m:r>
                          <a:rPr lang="en-US" altLang="ko-KR" sz="1100" b="0" i="1" smtClean="0">
                            <a:solidFill>
                              <a:schemeClr val="tx1"/>
                            </a:solidFill>
                            <a:latin typeface="+mn-ea"/>
                          </a:rPr>
                          <m:t>𝑏</m:t>
                        </m:r>
                        <m:r>
                          <a:rPr lang="en-US" altLang="ko-KR" sz="1100" b="0" i="1" smtClean="0">
                            <a:solidFill>
                              <a:schemeClr val="tx1"/>
                            </a:solidFill>
                            <a:latin typeface="+mn-ea"/>
                          </a:rPr>
                          <m:t>)</m:t>
                        </m:r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ko-KR" altLang="en-US" sz="1100" i="1">
                                <a:solidFill>
                                  <a:schemeClr val="tx1"/>
                                </a:solidFill>
                                <a:latin typeface="+mn-ea"/>
                              </a:rPr>
                            </m:ctrlPr>
                          </m:dPr>
                          <m:e>
                            <m:r>
                              <a:rPr lang="ko-KR" altLang="en-US" sz="1100" i="1">
                                <a:solidFill>
                                  <a:schemeClr val="tx1"/>
                                </a:solidFill>
                                <a:latin typeface="+mn-ea"/>
                              </a:rPr>
                              <m:t>𝑤</m:t>
                            </m:r>
                          </m:e>
                        </m:d>
                      </m:den>
                    </m:f>
                    <m:r>
                      <a:rPr lang="en-US" altLang="ko-KR" sz="1100" b="0" i="1" smtClean="0">
                        <a:solidFill>
                          <a:schemeClr val="tx1"/>
                        </a:solidFill>
                        <a:latin typeface="+mn-ea"/>
                      </a:rPr>
                      <m:t>=</m:t>
                    </m:r>
                    <m:f>
                      <m:fPr>
                        <m:ctrlPr>
                          <a:rPr lang="ko-KR" altLang="en-US" sz="1100" i="1">
                            <a:solidFill>
                              <a:schemeClr val="tx1"/>
                            </a:solidFill>
                            <a:latin typeface="+mn-ea"/>
                          </a:rPr>
                        </m:ctrlPr>
                      </m:fPr>
                      <m:num>
                        <m:r>
                          <a:rPr lang="en-US" altLang="ko-KR" sz="1100" b="0" i="1" smtClean="0">
                            <a:solidFill>
                              <a:schemeClr val="tx1"/>
                            </a:solidFill>
                            <a:latin typeface="+mn-ea"/>
                          </a:rPr>
                          <m:t>2</m:t>
                        </m:r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ko-KR" altLang="en-US" sz="1100" i="1">
                                <a:solidFill>
                                  <a:schemeClr val="tx1"/>
                                </a:solidFill>
                                <a:latin typeface="+mn-ea"/>
                              </a:rPr>
                            </m:ctrlPr>
                          </m:dPr>
                          <m:e>
                            <m:r>
                              <a:rPr lang="ko-KR" altLang="en-US" sz="1100" i="1">
                                <a:solidFill>
                                  <a:schemeClr val="tx1"/>
                                </a:solidFill>
                                <a:latin typeface="+mn-ea"/>
                              </a:rPr>
                              <m:t>𝑤</m:t>
                            </m:r>
                          </m:e>
                        </m:d>
                      </m:den>
                    </m:f>
                  </m:oMath>
                </a14:m>
                <a:r>
                  <a:rPr lang="ko-KR" altLang="en-US" sz="1100">
                    <a:solidFill>
                      <a:schemeClr val="tx1"/>
                    </a:solidFill>
                    <a:latin typeface="+mn-ea"/>
                  </a:rPr>
                  <a:t> </a:t>
                </a:r>
                <a:r>
                  <a:rPr lang="en-US" altLang="ko-KR" sz="1100">
                    <a:solidFill>
                      <a:schemeClr val="tx1"/>
                    </a:solidFill>
                    <a:latin typeface="+mn-ea"/>
                  </a:rPr>
                  <a:t>, Max Margrin = </a:t>
                </a:r>
                <a:r>
                  <a:rPr lang="ko-KR" altLang="en-US" sz="1100">
                    <a:solidFill>
                      <a:schemeClr val="tx1"/>
                    </a:solidFill>
                    <a:latin typeface="+mn-ea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ko-KR" altLang="en-US" sz="1100" i="1">
                            <a:solidFill>
                              <a:schemeClr val="tx1"/>
                            </a:solidFill>
                            <a:latin typeface="+mn-ea"/>
                          </a:rPr>
                        </m:ctrlPr>
                      </m:fPr>
                      <m:num>
                        <m:r>
                          <a:rPr lang="en-US" altLang="ko-KR" sz="1100" i="1">
                            <a:solidFill>
                              <a:schemeClr val="tx1"/>
                            </a:solidFill>
                            <a:latin typeface="+mn-ea"/>
                          </a:rPr>
                          <m:t>2</m:t>
                        </m:r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ko-KR" altLang="en-US" sz="1100" i="1">
                                <a:solidFill>
                                  <a:schemeClr val="tx1"/>
                                </a:solidFill>
                                <a:latin typeface="+mn-ea"/>
                              </a:rPr>
                            </m:ctrlPr>
                          </m:dPr>
                          <m:e>
                            <m:r>
                              <a:rPr lang="ko-KR" altLang="en-US" sz="1100" i="1">
                                <a:solidFill>
                                  <a:schemeClr val="tx1"/>
                                </a:solidFill>
                                <a:latin typeface="+mn-ea"/>
                              </a:rPr>
                              <m:t>𝑤</m:t>
                            </m:r>
                          </m:e>
                        </m:d>
                      </m:den>
                    </m:f>
                  </m:oMath>
                </a14:m>
                <a:endParaRPr lang="en-US" altLang="ko-KR" sz="1100">
                  <a:solidFill>
                    <a:schemeClr val="tx1"/>
                  </a:solidFill>
                  <a:latin typeface="+mn-ea"/>
                </a:endParaRP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100">
                    <a:latin typeface="+mn-ea"/>
                  </a:rPr>
                  <a:t>Margin</a:t>
                </a:r>
                <a:r>
                  <a:rPr lang="ko-KR" altLang="en-US" sz="1100">
                    <a:latin typeface="+mn-ea"/>
                  </a:rPr>
                  <a:t>이 넓으면 좋은이유</a:t>
                </a:r>
                <a:endParaRPr lang="en-US" altLang="ko-KR" sz="1100">
                  <a:latin typeface="+mn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1100">
                    <a:latin typeface="+mn-ea"/>
                  </a:rPr>
                  <a:t>	-  </a:t>
                </a:r>
                <a:r>
                  <a:rPr lang="ko-KR" altLang="en-US" sz="1100">
                    <a:latin typeface="+mn-ea"/>
                  </a:rPr>
                  <a:t>새로운 데이터에 대해 예측</a:t>
                </a:r>
                <a:endParaRPr lang="en-US" altLang="ko-KR" sz="1100">
                  <a:latin typeface="+mn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1100">
                    <a:latin typeface="+mn-ea"/>
                  </a:rPr>
                  <a:t>	-  </a:t>
                </a:r>
                <a:r>
                  <a:rPr lang="ko-KR" altLang="en-US" sz="1100">
                    <a:latin typeface="+mn-ea"/>
                  </a:rPr>
                  <a:t>영역군이 확실함</a:t>
                </a:r>
                <a:endParaRPr lang="en-US" altLang="ko-KR" sz="1100">
                  <a:latin typeface="+mn-ea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100">
                  <a:latin typeface="+mn-ea"/>
                </a:endParaRPr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20B2A80-2DBC-4D6E-A609-92F9D067B7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220" y="3438117"/>
                <a:ext cx="8191245" cy="273837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7" name="TextBox 116">
            <a:extLst>
              <a:ext uri="{FF2B5EF4-FFF2-40B4-BE49-F238E27FC236}">
                <a16:creationId xmlns:a16="http://schemas.microsoft.com/office/drawing/2014/main" id="{DC37BDDE-7A06-4DFC-AFC4-96C4D6A808AD}"/>
              </a:ext>
            </a:extLst>
          </p:cNvPr>
          <p:cNvSpPr txBox="1"/>
          <p:nvPr/>
        </p:nvSpPr>
        <p:spPr>
          <a:xfrm>
            <a:off x="4386843" y="3082634"/>
            <a:ext cx="1468585" cy="2189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/>
              <a:t>&lt; SVM&gt;</a:t>
            </a:r>
            <a:endParaRPr lang="ko-KR" altLang="en-US" sz="1100"/>
          </a:p>
        </p:txBody>
      </p:sp>
      <p:grpSp>
        <p:nvGrpSpPr>
          <p:cNvPr id="119" name="그룹 118">
            <a:extLst>
              <a:ext uri="{FF2B5EF4-FFF2-40B4-BE49-F238E27FC236}">
                <a16:creationId xmlns:a16="http://schemas.microsoft.com/office/drawing/2014/main" id="{ABAA890C-6149-40F6-8755-E123B5618E75}"/>
              </a:ext>
            </a:extLst>
          </p:cNvPr>
          <p:cNvGrpSpPr/>
          <p:nvPr/>
        </p:nvGrpSpPr>
        <p:grpSpPr>
          <a:xfrm>
            <a:off x="3790923" y="1117588"/>
            <a:ext cx="2261055" cy="1892614"/>
            <a:chOff x="3431097" y="1987172"/>
            <a:chExt cx="3482605" cy="2744220"/>
          </a:xfrm>
        </p:grpSpPr>
        <p:cxnSp>
          <p:nvCxnSpPr>
            <p:cNvPr id="144" name="직선 화살표 연결선 143">
              <a:extLst>
                <a:ext uri="{FF2B5EF4-FFF2-40B4-BE49-F238E27FC236}">
                  <a16:creationId xmlns:a16="http://schemas.microsoft.com/office/drawing/2014/main" id="{F4E1DFC1-B255-4A82-80BE-6CCE32E138A3}"/>
                </a:ext>
              </a:extLst>
            </p:cNvPr>
            <p:cNvCxnSpPr>
              <a:cxnSpLocks/>
            </p:cNvCxnSpPr>
            <p:nvPr/>
          </p:nvCxnSpPr>
          <p:spPr>
            <a:xfrm>
              <a:off x="3431097" y="4731391"/>
              <a:ext cx="348260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5" name="직선 화살표 연결선 144">
              <a:extLst>
                <a:ext uri="{FF2B5EF4-FFF2-40B4-BE49-F238E27FC236}">
                  <a16:creationId xmlns:a16="http://schemas.microsoft.com/office/drawing/2014/main" id="{ECB06377-2D81-49F4-A156-E1B48FB58D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36689" y="1987172"/>
              <a:ext cx="0" cy="274422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EAE73CED-B888-423F-8BC6-1B56686CE79D}"/>
              </a:ext>
            </a:extLst>
          </p:cNvPr>
          <p:cNvCxnSpPr>
            <a:cxnSpLocks/>
          </p:cNvCxnSpPr>
          <p:nvPr/>
        </p:nvCxnSpPr>
        <p:spPr>
          <a:xfrm>
            <a:off x="4093059" y="1473484"/>
            <a:ext cx="1331616" cy="141748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132F5AE5-AFBC-4F7C-80A9-55C3104D1FEE}"/>
              </a:ext>
            </a:extLst>
          </p:cNvPr>
          <p:cNvCxnSpPr>
            <a:cxnSpLocks/>
          </p:cNvCxnSpPr>
          <p:nvPr/>
        </p:nvCxnSpPr>
        <p:spPr>
          <a:xfrm>
            <a:off x="4323165" y="1318365"/>
            <a:ext cx="1331616" cy="1417486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4" name="직선 화살표 연결선 123">
            <a:extLst>
              <a:ext uri="{FF2B5EF4-FFF2-40B4-BE49-F238E27FC236}">
                <a16:creationId xmlns:a16="http://schemas.microsoft.com/office/drawing/2014/main" id="{8807ED95-5448-4D96-BCB6-BD1FEC533A7F}"/>
              </a:ext>
            </a:extLst>
          </p:cNvPr>
          <p:cNvCxnSpPr>
            <a:cxnSpLocks/>
          </p:cNvCxnSpPr>
          <p:nvPr/>
        </p:nvCxnSpPr>
        <p:spPr>
          <a:xfrm flipH="1" flipV="1">
            <a:off x="3317450" y="1582121"/>
            <a:ext cx="716049" cy="91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A9E3FD79-8512-4E64-9C88-09122E8C3A08}"/>
              </a:ext>
            </a:extLst>
          </p:cNvPr>
          <p:cNvSpPr txBox="1"/>
          <p:nvPr/>
        </p:nvSpPr>
        <p:spPr>
          <a:xfrm>
            <a:off x="2774228" y="1310969"/>
            <a:ext cx="78439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/>
              <a:t>Margin</a:t>
            </a:r>
            <a:endParaRPr lang="ko-KR" altLang="en-US" sz="11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FA8E9BCB-74A8-4809-9484-5E0C6BD41D16}"/>
                  </a:ext>
                </a:extLst>
              </p:cNvPr>
              <p:cNvSpPr txBox="1"/>
              <p:nvPr/>
            </p:nvSpPr>
            <p:spPr>
              <a:xfrm>
                <a:off x="3020629" y="1534028"/>
                <a:ext cx="209288" cy="2477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ko-KR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ko-KR" altLang="en-US" sz="8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FA8E9BCB-74A8-4809-9484-5E0C6BD41D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0629" y="1534028"/>
                <a:ext cx="209288" cy="247760"/>
              </a:xfrm>
              <a:prstGeom prst="rect">
                <a:avLst/>
              </a:prstGeom>
              <a:blipFill>
                <a:blip r:embed="rId5"/>
                <a:stretch>
                  <a:fillRect t="-5000" b="-25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83DFDB76-A7EC-4D3F-9577-C4F4B3718EC4}"/>
              </a:ext>
            </a:extLst>
          </p:cNvPr>
          <p:cNvCxnSpPr>
            <a:cxnSpLocks/>
          </p:cNvCxnSpPr>
          <p:nvPr/>
        </p:nvCxnSpPr>
        <p:spPr>
          <a:xfrm>
            <a:off x="3849568" y="1618495"/>
            <a:ext cx="1331616" cy="1417486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8" name="직선 화살표 연결선 127">
            <a:extLst>
              <a:ext uri="{FF2B5EF4-FFF2-40B4-BE49-F238E27FC236}">
                <a16:creationId xmlns:a16="http://schemas.microsoft.com/office/drawing/2014/main" id="{FE0499E2-CAFC-4A24-8541-8C8CCD47B5E5}"/>
              </a:ext>
            </a:extLst>
          </p:cNvPr>
          <p:cNvCxnSpPr>
            <a:cxnSpLocks/>
          </p:cNvCxnSpPr>
          <p:nvPr/>
        </p:nvCxnSpPr>
        <p:spPr>
          <a:xfrm flipV="1">
            <a:off x="3955426" y="1367889"/>
            <a:ext cx="423641" cy="32552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" name="직선 화살표 연결선 131">
            <a:extLst>
              <a:ext uri="{FF2B5EF4-FFF2-40B4-BE49-F238E27FC236}">
                <a16:creationId xmlns:a16="http://schemas.microsoft.com/office/drawing/2014/main" id="{5758BFBF-5ECF-4FE1-9AD0-30FCB94408A9}"/>
              </a:ext>
            </a:extLst>
          </p:cNvPr>
          <p:cNvCxnSpPr>
            <a:cxnSpLocks/>
          </p:cNvCxnSpPr>
          <p:nvPr/>
        </p:nvCxnSpPr>
        <p:spPr>
          <a:xfrm flipV="1">
            <a:off x="4028382" y="2065203"/>
            <a:ext cx="1004256" cy="7455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33" name="직선 화살표 연결선 132">
            <a:extLst>
              <a:ext uri="{FF2B5EF4-FFF2-40B4-BE49-F238E27FC236}">
                <a16:creationId xmlns:a16="http://schemas.microsoft.com/office/drawing/2014/main" id="{E838B0E8-CE9D-4D90-924D-530408F90245}"/>
              </a:ext>
            </a:extLst>
          </p:cNvPr>
          <p:cNvCxnSpPr>
            <a:cxnSpLocks/>
          </p:cNvCxnSpPr>
          <p:nvPr/>
        </p:nvCxnSpPr>
        <p:spPr>
          <a:xfrm flipV="1">
            <a:off x="4028382" y="2085536"/>
            <a:ext cx="249942" cy="7252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62" name="직선 화살표 연결선 161">
            <a:extLst>
              <a:ext uri="{FF2B5EF4-FFF2-40B4-BE49-F238E27FC236}">
                <a16:creationId xmlns:a16="http://schemas.microsoft.com/office/drawing/2014/main" id="{DB58CD8A-4432-4CB0-8C94-3CC7443A52A8}"/>
              </a:ext>
            </a:extLst>
          </p:cNvPr>
          <p:cNvCxnSpPr>
            <a:cxnSpLocks/>
          </p:cNvCxnSpPr>
          <p:nvPr/>
        </p:nvCxnSpPr>
        <p:spPr>
          <a:xfrm flipV="1">
            <a:off x="4278715" y="2065203"/>
            <a:ext cx="726562" cy="15714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7726B2B8-5510-4329-89F1-8CF67ED468E8}"/>
                  </a:ext>
                </a:extLst>
              </p:cNvPr>
              <p:cNvSpPr txBox="1"/>
              <p:nvPr/>
            </p:nvSpPr>
            <p:spPr>
              <a:xfrm>
                <a:off x="3847719" y="2172244"/>
                <a:ext cx="466164" cy="2672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1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</m:sub>
                      </m:sSub>
                    </m:oMath>
                  </m:oMathPara>
                </a14:m>
                <a:endParaRPr lang="ko-KR" altLang="en-US" sz="1100"/>
              </a:p>
            </p:txBody>
          </p:sp>
        </mc:Choice>
        <mc:Fallback xmlns=""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7726B2B8-5510-4329-89F1-8CF67ED468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7719" y="2172244"/>
                <a:ext cx="466164" cy="26725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F4F5C710-858B-4875-B5A5-814341F620F0}"/>
                  </a:ext>
                </a:extLst>
              </p:cNvPr>
              <p:cNvSpPr txBox="1"/>
              <p:nvPr/>
            </p:nvSpPr>
            <p:spPr>
              <a:xfrm>
                <a:off x="4292703" y="2451962"/>
                <a:ext cx="46616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1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</m:oMath>
                  </m:oMathPara>
                </a14:m>
                <a:endParaRPr lang="ko-KR" altLang="en-US" sz="1100"/>
              </a:p>
            </p:txBody>
          </p:sp>
        </mc:Choice>
        <mc:Fallback xmlns=""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F4F5C710-858B-4875-B5A5-814341F620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2703" y="2451962"/>
                <a:ext cx="466164" cy="2616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6B0ED189-E98A-432E-A345-5C827FD27DDF}"/>
                  </a:ext>
                </a:extLst>
              </p:cNvPr>
              <p:cNvSpPr txBox="1"/>
              <p:nvPr/>
            </p:nvSpPr>
            <p:spPr>
              <a:xfrm>
                <a:off x="4191395" y="1987250"/>
                <a:ext cx="879559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1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en-US" altLang="ko-KR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</m:sub>
                      </m:sSub>
                    </m:oMath>
                  </m:oMathPara>
                </a14:m>
                <a:endParaRPr lang="ko-KR" altLang="en-US" sz="1100"/>
              </a:p>
            </p:txBody>
          </p:sp>
        </mc:Choice>
        <mc:Fallback xmlns=""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6B0ED189-E98A-432E-A345-5C827FD27D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395" y="1987250"/>
                <a:ext cx="879559" cy="2616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0" name="직선 화살표 연결선 179">
            <a:extLst>
              <a:ext uri="{FF2B5EF4-FFF2-40B4-BE49-F238E27FC236}">
                <a16:creationId xmlns:a16="http://schemas.microsoft.com/office/drawing/2014/main" id="{6EB6E71C-5D17-4EAA-920E-C25A4F1F91F8}"/>
              </a:ext>
            </a:extLst>
          </p:cNvPr>
          <p:cNvCxnSpPr>
            <a:cxnSpLocks/>
          </p:cNvCxnSpPr>
          <p:nvPr/>
        </p:nvCxnSpPr>
        <p:spPr>
          <a:xfrm flipV="1">
            <a:off x="4292703" y="1966404"/>
            <a:ext cx="152659" cy="1191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114F2F9A-F2AA-46B0-80D0-3480A4F3BB8D}"/>
              </a:ext>
            </a:extLst>
          </p:cNvPr>
          <p:cNvCxnSpPr>
            <a:cxnSpLocks/>
          </p:cNvCxnSpPr>
          <p:nvPr/>
        </p:nvCxnSpPr>
        <p:spPr>
          <a:xfrm flipV="1">
            <a:off x="4279355" y="1744928"/>
            <a:ext cx="442664" cy="3471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29D76DF9-A34D-46C3-B8D0-44FD1C0026B2}"/>
                  </a:ext>
                </a:extLst>
              </p:cNvPr>
              <p:cNvSpPr txBox="1"/>
              <p:nvPr/>
            </p:nvSpPr>
            <p:spPr>
              <a:xfrm>
                <a:off x="4192341" y="1793249"/>
                <a:ext cx="130824" cy="2264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ko-KR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ko-KR" altLang="en-US" sz="8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29D76DF9-A34D-46C3-B8D0-44FD1C0026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2341" y="1793249"/>
                <a:ext cx="130824" cy="226472"/>
              </a:xfrm>
              <a:prstGeom prst="rect">
                <a:avLst/>
              </a:prstGeom>
              <a:blipFill>
                <a:blip r:embed="rId9"/>
                <a:stretch>
                  <a:fillRect l="-4762" r="-42857" b="-540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직사각형 14">
            <a:extLst>
              <a:ext uri="{FF2B5EF4-FFF2-40B4-BE49-F238E27FC236}">
                <a16:creationId xmlns:a16="http://schemas.microsoft.com/office/drawing/2014/main" id="{5EF36941-4AB8-45E2-AF85-821DC17F111B}"/>
              </a:ext>
            </a:extLst>
          </p:cNvPr>
          <p:cNvSpPr/>
          <p:nvPr/>
        </p:nvSpPr>
        <p:spPr>
          <a:xfrm>
            <a:off x="449580" y="1572579"/>
            <a:ext cx="2310269" cy="12381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Minimize </a:t>
            </a:r>
            <a:r>
              <a:rPr lang="ko-KR" altLang="en-US" sz="900"/>
              <a:t>하는 이유</a:t>
            </a:r>
            <a:endParaRPr lang="en-US" altLang="ko-KR" sz="900"/>
          </a:p>
          <a:p>
            <a:pPr algn="ctr"/>
            <a:r>
              <a:rPr lang="ko-KR" altLang="en-US" sz="900"/>
              <a:t>계산상 편의를 위해</a:t>
            </a:r>
            <a:endParaRPr lang="en-US" altLang="ko-KR" sz="900"/>
          </a:p>
          <a:p>
            <a:pPr algn="ctr"/>
            <a:r>
              <a:rPr lang="ko-KR" altLang="en-US" sz="900"/>
              <a:t>문제의 본질은 변하지않음</a:t>
            </a:r>
            <a:endParaRPr lang="en-US" altLang="ko-KR" sz="900"/>
          </a:p>
          <a:p>
            <a:pPr algn="ctr"/>
            <a:r>
              <a:rPr lang="ko-KR" altLang="en-US" sz="900" b="0" i="0">
                <a:solidFill>
                  <a:srgbClr val="555555"/>
                </a:solidFill>
                <a:effectLst/>
                <a:latin typeface="AppleSDGothicNeo"/>
              </a:rPr>
              <a:t> </a:t>
            </a:r>
            <a:r>
              <a:rPr lang="en-US" altLang="ko-KR" sz="900" b="0" i="0">
                <a:solidFill>
                  <a:srgbClr val="555555"/>
                </a:solidFill>
                <a:effectLst/>
                <a:latin typeface="MJXc-TeX-main-R"/>
              </a:rPr>
              <a:t>12</a:t>
            </a:r>
            <a:r>
              <a:rPr lang="en-US" altLang="ko-KR" sz="900" b="0" i="0">
                <a:solidFill>
                  <a:srgbClr val="555555"/>
                </a:solidFill>
                <a:effectLst/>
                <a:latin typeface="AppleSDGothicNeo"/>
              </a:rPr>
              <a:t>12</a:t>
            </a:r>
            <a:r>
              <a:rPr lang="ko-KR" altLang="en-US" sz="900" b="0" i="0">
                <a:solidFill>
                  <a:srgbClr val="555555"/>
                </a:solidFill>
                <a:effectLst/>
                <a:latin typeface="AppleSDGothicNeo"/>
              </a:rPr>
              <a:t>같은 경우는 미분해서 해를 찾다보니까 미분했을 때 앞에 숫자가 </a:t>
            </a:r>
            <a:r>
              <a:rPr lang="en-US" altLang="ko-KR" sz="900" b="0" i="0">
                <a:solidFill>
                  <a:srgbClr val="555555"/>
                </a:solidFill>
                <a:effectLst/>
                <a:latin typeface="AppleSDGothicNeo"/>
              </a:rPr>
              <a:t>1</a:t>
            </a:r>
            <a:r>
              <a:rPr lang="ko-KR" altLang="en-US" sz="900" b="0" i="0">
                <a:solidFill>
                  <a:srgbClr val="555555"/>
                </a:solidFill>
                <a:effectLst/>
                <a:latin typeface="AppleSDGothicNeo"/>
              </a:rPr>
              <a:t>이 되기 위해 관습적으로 쓰는 것이다</a:t>
            </a:r>
            <a:r>
              <a:rPr lang="en-US" altLang="ko-KR" sz="900" b="0" i="0">
                <a:solidFill>
                  <a:srgbClr val="555555"/>
                </a:solidFill>
                <a:effectLst/>
                <a:latin typeface="AppleSDGothicNeo"/>
              </a:rPr>
              <a:t>.</a:t>
            </a:r>
            <a:endParaRPr lang="ko-KR" altLang="en-US" sz="9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4DAEC2EE-4665-4870-B1B6-C2DFE0FCEC1B}"/>
                  </a:ext>
                </a:extLst>
              </p:cNvPr>
              <p:cNvSpPr/>
              <p:nvPr/>
            </p:nvSpPr>
            <p:spPr>
              <a:xfrm>
                <a:off x="6221410" y="1183330"/>
                <a:ext cx="2261055" cy="102015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100"/>
                  <a:t>임의의 벡터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ko-KR" altLang="en-US" sz="1100"/>
                  <a:t>에</a:t>
                </a:r>
                <a:r>
                  <a:rPr lang="en-US" altLang="ko-KR" sz="1100"/>
                  <a:t> </a:t>
                </a:r>
                <a:r>
                  <a:rPr lang="ko-KR" altLang="en-US" sz="1100"/>
                  <a:t>대해서 단위벡터는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1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en-US" altLang="ko-KR" sz="110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100" b="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den>
                    </m:f>
                  </m:oMath>
                </a14:m>
                <a:r>
                  <a:rPr lang="ko-KR" altLang="en-US" sz="1100"/>
                  <a:t>으로 표기</a:t>
                </a:r>
              </a:p>
            </p:txBody>
          </p:sp>
        </mc:Choice>
        <mc:Fallback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4DAEC2EE-4665-4870-B1B6-C2DFE0FCEC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1410" y="1183330"/>
                <a:ext cx="2261055" cy="102015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직사각형 2">
            <a:extLst>
              <a:ext uri="{FF2B5EF4-FFF2-40B4-BE49-F238E27FC236}">
                <a16:creationId xmlns:a16="http://schemas.microsoft.com/office/drawing/2014/main" id="{05863971-6D58-44A3-A559-08605145CDA3}"/>
              </a:ext>
            </a:extLst>
          </p:cNvPr>
          <p:cNvSpPr/>
          <p:nvPr/>
        </p:nvSpPr>
        <p:spPr>
          <a:xfrm>
            <a:off x="6150314" y="2248860"/>
            <a:ext cx="4370664" cy="10201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/>
              <a:t>단위 벡터 사용하는 이유는 곱셈이 단순해짐</a:t>
            </a:r>
            <a:endParaRPr lang="en-US" altLang="ko-KR" sz="1100"/>
          </a:p>
          <a:p>
            <a:pPr algn="ctr"/>
            <a:r>
              <a:rPr lang="ko-KR" altLang="en-US" sz="1100"/>
              <a:t>벡터를 단위형태로 변환하는 것을 정규화</a:t>
            </a:r>
            <a:r>
              <a:rPr lang="en-US" altLang="ko-KR" sz="1100"/>
              <a:t>(norm)</a:t>
            </a:r>
            <a:r>
              <a:rPr lang="ko-KR" altLang="en-US" sz="1100"/>
              <a:t>이라한다</a:t>
            </a:r>
            <a:endParaRPr lang="en-US" altLang="ko-KR" sz="1100"/>
          </a:p>
          <a:p>
            <a:pPr algn="ctr"/>
            <a:endParaRPr lang="en-US" altLang="ko-KR" sz="1100"/>
          </a:p>
          <a:p>
            <a:pPr algn="ctr"/>
            <a:r>
              <a:rPr lang="ko-KR" altLang="en-US" sz="1100"/>
              <a:t>단위벡터는 길이가 </a:t>
            </a:r>
            <a:r>
              <a:rPr lang="en-US" altLang="ko-KR" sz="1100"/>
              <a:t>1</a:t>
            </a:r>
            <a:r>
              <a:rPr lang="ko-KR" altLang="en-US" sz="1100"/>
              <a:t>인 벡터를 의미하며 길이가 </a:t>
            </a:r>
            <a:r>
              <a:rPr lang="en-US" altLang="ko-KR" sz="1100"/>
              <a:t>1</a:t>
            </a:r>
            <a:r>
              <a:rPr lang="ko-KR" altLang="en-US" sz="1100"/>
              <a:t>이기떄문에 방향성분만 나타낸다</a:t>
            </a:r>
            <a:endParaRPr lang="en-US" altLang="ko-KR" sz="1100"/>
          </a:p>
          <a:p>
            <a:pPr algn="ctr"/>
            <a:endParaRPr lang="en-US" altLang="ko-KR" sz="1100"/>
          </a:p>
        </p:txBody>
      </p:sp>
    </p:spTree>
    <p:extLst>
      <p:ext uri="{BB962C8B-B14F-4D97-AF65-F5344CB8AC3E}">
        <p14:creationId xmlns:p14="http://schemas.microsoft.com/office/powerpoint/2010/main" val="41391043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21"/>
          <p:cNvSpPr txBox="1">
            <a:spLocks noGrp="1"/>
          </p:cNvSpPr>
          <p:nvPr>
            <p:ph type="body" sz="quarter" idx="11" hasCustomPrompt="1"/>
          </p:nvPr>
        </p:nvSpPr>
        <p:spPr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 latinLnBrk="0">
              <a:buFontTx/>
              <a:buNone/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rtl="0" latinLnBrk="0">
              <a:buFontTx/>
              <a:buNone/>
            </a:pPr>
            <a:r>
              <a:rPr lang="en-US" altLang="ko-KR"/>
              <a:t>Lagrangian Multiplier Method</a:t>
            </a:r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BDA8C80-7D80-4B7B-B5FD-82E457F43846}"/>
                  </a:ext>
                </a:extLst>
              </p:cNvPr>
              <p:cNvSpPr txBox="1"/>
              <p:nvPr/>
            </p:nvSpPr>
            <p:spPr>
              <a:xfrm>
                <a:off x="259080" y="1291678"/>
                <a:ext cx="8884920" cy="17421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100">
                    <a:latin typeface="+mn-ea"/>
                  </a:rPr>
                  <a:t>SVM</a:t>
                </a:r>
                <a:r>
                  <a:rPr lang="ko-KR" altLang="en-US" sz="1100">
                    <a:latin typeface="+mn-ea"/>
                  </a:rPr>
                  <a:t>의 목적은 </a:t>
                </a:r>
                <a:r>
                  <a:rPr lang="en-US" altLang="ko-KR" sz="1100">
                    <a:latin typeface="+mn-ea"/>
                  </a:rPr>
                  <a:t>Margin</a:t>
                </a:r>
                <a:r>
                  <a:rPr lang="ko-KR" altLang="en-US" sz="1100">
                    <a:latin typeface="+mn-ea"/>
                  </a:rPr>
                  <a:t>을 최대화 하는 </a:t>
                </a:r>
                <a:r>
                  <a:rPr lang="en-US" altLang="ko-KR" sz="1100">
                    <a:latin typeface="+mn-ea"/>
                  </a:rPr>
                  <a:t>Decision Boundary</a:t>
                </a:r>
                <a:r>
                  <a:rPr lang="ko-KR" altLang="en-US" sz="1100">
                    <a:latin typeface="+mn-ea"/>
                  </a:rPr>
                  <a:t>를 찾는 것</a:t>
                </a:r>
                <a:endParaRPr lang="en-US" altLang="ko-KR" sz="1100">
                  <a:latin typeface="+mn-ea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100">
                    <a:latin typeface="+mn-ea"/>
                  </a:rPr>
                  <a:t>Max Margin</a:t>
                </a:r>
                <a:r>
                  <a:rPr lang="ko-KR" altLang="en-US" sz="1100">
                    <a:latin typeface="+mn-ea"/>
                  </a:rPr>
                  <a:t>을 계산상의 편의를 위해 역수를 취하면 </a:t>
                </a:r>
                <a:r>
                  <a:rPr lang="en-US" altLang="ko-KR" sz="1100">
                    <a:latin typeface="+mn-ea"/>
                  </a:rPr>
                  <a:t>Min Margin</a:t>
                </a:r>
                <a:r>
                  <a:rPr lang="ko-KR" altLang="en-US" sz="1100">
                    <a:latin typeface="+mn-ea"/>
                  </a:rPr>
                  <a:t>이 되며  </a:t>
                </a:r>
                <a:r>
                  <a:rPr lang="en-US" altLang="ko-KR" sz="1100">
                    <a:latin typeface="+mn-ea"/>
                  </a:rPr>
                  <a:t>Min Margin = </a:t>
                </a:r>
                <a:r>
                  <a:rPr lang="ko-KR" altLang="en-US" sz="1100">
                    <a:latin typeface="+mn-ea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100" i="1" smtClean="0">
                            <a:latin typeface="+mn-ea"/>
                          </a:rPr>
                        </m:ctrlPr>
                      </m:fPr>
                      <m:num>
                        <m:r>
                          <a:rPr lang="en-US" altLang="ko-KR" sz="1100" b="0" i="1" smtClean="0">
                            <a:latin typeface="+mn-ea"/>
                          </a:rPr>
                          <m:t>1</m:t>
                        </m:r>
                      </m:num>
                      <m:den>
                        <m:r>
                          <a:rPr lang="en-US" altLang="ko-KR" sz="1100" b="0" i="1" smtClean="0">
                            <a:latin typeface="+mn-ea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ko-KR" sz="1100" i="1" smtClean="0">
                            <a:solidFill>
                              <a:srgbClr val="836967"/>
                            </a:solidFill>
                            <a:latin typeface="+mn-ea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ko-KR" sz="1100" i="1">
                                <a:solidFill>
                                  <a:srgbClr val="836967"/>
                                </a:solidFill>
                                <a:latin typeface="+mn-ea"/>
                              </a:rPr>
                            </m:ctrlPr>
                          </m:dPr>
                          <m:e>
                            <m:r>
                              <a:rPr lang="en-US" altLang="ko-KR" sz="1100" i="1">
                                <a:latin typeface="+mn-ea"/>
                              </a:rPr>
                              <m:t>𝑤</m:t>
                            </m:r>
                          </m:e>
                        </m:d>
                      </m:e>
                      <m:sup>
                        <m:r>
                          <a:rPr lang="en-US" altLang="ko-KR" sz="1100" i="0">
                            <a:latin typeface="+mn-ea"/>
                          </a:rPr>
                          <m:t>2</m:t>
                        </m:r>
                      </m:sup>
                    </m:sSup>
                  </m:oMath>
                </a14:m>
                <a:endParaRPr lang="en-US" altLang="ko-KR" sz="1100">
                  <a:latin typeface="+mn-ea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100">
                    <a:latin typeface="+mn-ea"/>
                  </a:rPr>
                  <a:t>제약조건은 </a:t>
                </a:r>
                <a:r>
                  <a:rPr lang="en-US" altLang="ko-KR" sz="1100">
                    <a:latin typeface="+mn-ea"/>
                  </a:rPr>
                  <a:t>+</a:t>
                </a:r>
                <a:r>
                  <a:rPr lang="ko-KR" altLang="en-US" sz="1100">
                    <a:latin typeface="+mn-ea"/>
                  </a:rPr>
                  <a:t>영역과 </a:t>
                </a:r>
                <a:r>
                  <a:rPr lang="en-US" altLang="ko-KR" sz="1100">
                    <a:latin typeface="+mn-ea"/>
                  </a:rPr>
                  <a:t>–</a:t>
                </a:r>
                <a:r>
                  <a:rPr lang="ko-KR" altLang="en-US" sz="1100">
                    <a:latin typeface="+mn-ea"/>
                  </a:rPr>
                  <a:t>영역의 위에 있는 관측치 </a:t>
                </a:r>
                <a:r>
                  <a:rPr lang="en-US" altLang="ko-KR" sz="1100">
                    <a:latin typeface="+mn-ea"/>
                  </a:rPr>
                  <a:t>=&gt;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 smtClean="0">
                            <a:latin typeface="+mn-ea"/>
                          </a:rPr>
                        </m:ctrlPr>
                      </m:sSubPr>
                      <m:e>
                        <m:r>
                          <a:rPr lang="en-US" altLang="ko-KR" sz="1100" i="1">
                            <a:latin typeface="+mn-ea"/>
                          </a:rPr>
                          <m:t>𝑦</m:t>
                        </m:r>
                      </m:e>
                      <m:sub>
                        <m:r>
                          <a:rPr lang="en-US" altLang="ko-KR" sz="1100" i="1">
                            <a:latin typeface="+mn-ea"/>
                          </a:rPr>
                          <m:t>𝑖</m:t>
                        </m:r>
                      </m:sub>
                    </m:sSub>
                    <m:r>
                      <a:rPr lang="en-US" altLang="ko-KR" sz="1100" i="1">
                        <a:latin typeface="+mn-ea"/>
                      </a:rPr>
                      <m:t>(</m:t>
                    </m:r>
                    <m:sSup>
                      <m:sSupPr>
                        <m:ctrlPr>
                          <a:rPr lang="en-US" altLang="ko-KR" sz="1100" i="1">
                            <a:latin typeface="+mn-ea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100">
                            <a:latin typeface="+mn-ea"/>
                          </a:rPr>
                          <m:t>w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sz="1100">
                            <a:latin typeface="+mn-ea"/>
                          </a:rPr>
                          <m:t>T</m:t>
                        </m:r>
                      </m:sup>
                    </m:sSup>
                    <m:r>
                      <a:rPr lang="en-US" altLang="ko-KR" sz="1100">
                        <a:latin typeface="+mn-ea"/>
                      </a:rPr>
                      <m:t>⋅</m:t>
                    </m:r>
                    <m:sSub>
                      <m:sSubPr>
                        <m:ctrlPr>
                          <a:rPr lang="en-US" altLang="ko-KR" sz="1100" i="1">
                            <a:latin typeface="+mn-ea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100">
                            <a:latin typeface="+mn-ea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100">
                            <a:latin typeface="+mn-ea"/>
                          </a:rPr>
                          <m:t>i</m:t>
                        </m:r>
                      </m:sub>
                    </m:sSub>
                    <m:r>
                      <a:rPr lang="en-US" altLang="ko-KR" sz="1100">
                        <a:latin typeface="+mn-ea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100">
                        <a:latin typeface="+mn-ea"/>
                      </a:rPr>
                      <m:t>b</m:t>
                    </m:r>
                    <m:r>
                      <a:rPr lang="en-US" altLang="ko-KR" sz="1100" i="1">
                        <a:latin typeface="+mn-ea"/>
                      </a:rPr>
                      <m:t>) ≥1</m:t>
                    </m:r>
                  </m:oMath>
                </a14:m>
                <a:endParaRPr lang="en-US" altLang="ko-KR" sz="1100">
                  <a:latin typeface="+mn-ea"/>
                </a:endParaRP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100">
                    <a:latin typeface="+mn-ea"/>
                  </a:rPr>
                  <a:t>라그랑주 승수법이란 제약이 있는 최적화 문제를 푸는 방법 중 하나로</a:t>
                </a:r>
                <a:r>
                  <a:rPr lang="en-US" altLang="ko-KR" sz="1100">
                    <a:latin typeface="+mn-ea"/>
                  </a:rPr>
                  <a:t>, </a:t>
                </a:r>
                <a:r>
                  <a:rPr lang="ko-KR" altLang="en-US" sz="1100">
                    <a:latin typeface="+mn-ea"/>
                  </a:rPr>
                  <a:t>모든 제약식에 라그랑주 승수 </a:t>
                </a:r>
                <a14:m>
                  <m:oMath xmlns:m="http://schemas.openxmlformats.org/officeDocument/2006/math">
                    <m:r>
                      <a:rPr lang="ko-KR" altLang="en-US" sz="1100" i="1" smtClean="0">
                        <a:latin typeface="+mn-ea"/>
                      </a:rPr>
                      <m:t>𝜆</m:t>
                    </m:r>
                  </m:oMath>
                </a14:m>
                <a:r>
                  <a:rPr lang="ko-KR" altLang="en-US" sz="1100">
                    <a:latin typeface="+mn-ea"/>
                  </a:rPr>
                  <a:t>를 곱하고 등식 제약이 있는 문제를 제약 없는 문제로 바꾸어 해결하는 방법</a:t>
                </a:r>
                <a:endParaRPr lang="en-US" altLang="ko-KR" sz="1100">
                  <a:latin typeface="+mn-ea"/>
                </a:endParaRP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100">
                    <a:latin typeface="+mn-ea"/>
                  </a:rPr>
                  <a:t>만약 부등식의 제약이 있는 문제면 </a:t>
                </a:r>
                <a:r>
                  <a:rPr lang="en-US" altLang="ko-KR" sz="1100">
                    <a:latin typeface="+mn-ea"/>
                  </a:rPr>
                  <a:t>KKT(Karush-Kuhn-Tucker)</a:t>
                </a:r>
                <a:r>
                  <a:rPr lang="ko-KR" altLang="en-US" sz="1100">
                    <a:latin typeface="+mn-ea"/>
                  </a:rPr>
                  <a:t>조건을 만족하는 문제일 때 라그랑주 승수법으로 문제를 해결 할 수 있음</a:t>
                </a:r>
                <a:endParaRPr lang="en-US" altLang="ko-KR" sz="1100">
                  <a:latin typeface="+mn-ea"/>
                </a:endParaRP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100">
                    <a:latin typeface="+mn-ea"/>
                  </a:rPr>
                  <a:t>라그랑주 함수 식은 다음과 같음</a:t>
                </a:r>
                <a:endParaRPr lang="en-US" altLang="ko-KR" sz="1100" i="1">
                  <a:latin typeface="+mn-ea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BDA8C80-7D80-4B7B-B5FD-82E457F438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80" y="1291678"/>
                <a:ext cx="8884920" cy="1742144"/>
              </a:xfrm>
              <a:prstGeom prst="rect">
                <a:avLst/>
              </a:prstGeom>
              <a:blipFill>
                <a:blip r:embed="rId3"/>
                <a:stretch>
                  <a:fillRect b="-174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표 4">
                <a:extLst>
                  <a:ext uri="{FF2B5EF4-FFF2-40B4-BE49-F238E27FC236}">
                    <a16:creationId xmlns:a16="http://schemas.microsoft.com/office/drawing/2014/main" id="{6BBCD2E1-0183-4556-888F-2F0E16891FA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8254186"/>
                  </p:ext>
                </p:extLst>
              </p:nvPr>
            </p:nvGraphicFramePr>
            <p:xfrm>
              <a:off x="3131820" y="3068472"/>
              <a:ext cx="2179320" cy="28067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179320">
                      <a:extLst>
                        <a:ext uri="{9D8B030D-6E8A-4147-A177-3AD203B41FA5}">
                          <a16:colId xmlns:a16="http://schemas.microsoft.com/office/drawing/2014/main" val="434076671"/>
                        </a:ext>
                      </a:extLst>
                    </a:gridCol>
                  </a:tblGrid>
                  <a:tr h="24130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ko-KR" altLang="en-US" sz="1100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d>
                                  <m:dPr>
                                    <m:ctrlPr>
                                      <a:rPr lang="ko-KR" altLang="en-US" sz="11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ko-KR" altLang="en-US" sz="110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ko-KR" altLang="en-US" sz="110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ko-KR" altLang="en-US" sz="1100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ko-KR" altLang="en-US" sz="110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ko-KR" altLang="en-US" sz="1100" smtClean="0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</m:d>
                                <m:r>
                                  <a:rPr lang="ko-KR" altLang="en-US" sz="110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ko-KR" altLang="en-US" sz="1100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ko-KR" altLang="en-US" sz="11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ko-KR" altLang="en-US" sz="110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ko-KR" altLang="en-US" sz="110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ko-KR" altLang="en-US" sz="1100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d>
                                <m:r>
                                  <a:rPr lang="ko-KR" altLang="en-US" sz="110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d>
                                  <m:dPr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d>
                                      <m:d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ko-KR" altLang="en-US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9003501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표 4">
                <a:extLst>
                  <a:ext uri="{FF2B5EF4-FFF2-40B4-BE49-F238E27FC236}">
                    <a16:creationId xmlns:a16="http://schemas.microsoft.com/office/drawing/2014/main" id="{6BBCD2E1-0183-4556-888F-2F0E16891FA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8254186"/>
                  </p:ext>
                </p:extLst>
              </p:nvPr>
            </p:nvGraphicFramePr>
            <p:xfrm>
              <a:off x="3131820" y="3068472"/>
              <a:ext cx="2179320" cy="28067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179320">
                      <a:extLst>
                        <a:ext uri="{9D8B030D-6E8A-4147-A177-3AD203B41FA5}">
                          <a16:colId xmlns:a16="http://schemas.microsoft.com/office/drawing/2014/main" val="434076671"/>
                        </a:ext>
                      </a:extLst>
                    </a:gridCol>
                  </a:tblGrid>
                  <a:tr h="28067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b="-212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9003501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표 5">
                <a:extLst>
                  <a:ext uri="{FF2B5EF4-FFF2-40B4-BE49-F238E27FC236}">
                    <a16:creationId xmlns:a16="http://schemas.microsoft.com/office/drawing/2014/main" id="{3758F02B-2272-426E-8CEB-9A354278158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1862649"/>
                  </p:ext>
                </p:extLst>
              </p:nvPr>
            </p:nvGraphicFramePr>
            <p:xfrm>
              <a:off x="3123431" y="4483720"/>
              <a:ext cx="4549140" cy="125933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750573">
                      <a:extLst>
                        <a:ext uri="{9D8B030D-6E8A-4147-A177-3AD203B41FA5}">
                          <a16:colId xmlns:a16="http://schemas.microsoft.com/office/drawing/2014/main" val="2624930935"/>
                        </a:ext>
                      </a:extLst>
                    </a:gridCol>
                    <a:gridCol w="2798567">
                      <a:extLst>
                        <a:ext uri="{9D8B030D-6E8A-4147-A177-3AD203B41FA5}">
                          <a16:colId xmlns:a16="http://schemas.microsoft.com/office/drawing/2014/main" val="404173033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ko-KR" altLang="en-US" sz="11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ko-KR" altLang="en-US" sz="1100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ko-KR" altLang="en-US" sz="1100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num>
                                  <m:den>
                                    <m:r>
                                      <a:rPr lang="ko-KR" altLang="en-US" sz="1100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ko-KR" altLang="en-US" sz="110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  <m:r>
                                  <a:rPr lang="ko-KR" altLang="en-US" sz="110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US" altLang="ko-KR" sz="11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>
                            <a:lnSpc>
                              <a:spcPct val="150000"/>
                            </a:lnSpc>
                          </a:pPr>
                          <a:r>
                            <a:rPr lang="en-US" altLang="ko-KR" sz="1100"/>
                            <a:t>(1)</a:t>
                          </a:r>
                          <a:endParaRPr lang="ko-KR" altLang="en-US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727907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ko-KR" altLang="en-US" sz="11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ko-KR" altLang="en-US" sz="1100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ko-KR" altLang="en-US" sz="1100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num>
                                  <m:den>
                                    <m:r>
                                      <a:rPr lang="ko-KR" altLang="en-US" sz="1100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den>
                                </m:f>
                                <m:r>
                                  <a:rPr lang="ko-KR" altLang="en-US" sz="110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2−2</m:t>
                                </m:r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ko-KR" altLang="en-US" sz="1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>
                            <a:lnSpc>
                              <a:spcPct val="150000"/>
                            </a:lnSpc>
                          </a:pPr>
                          <a:r>
                            <a:rPr lang="en-US" altLang="ko-KR" sz="1100"/>
                            <a:t>(2)</a:t>
                          </a:r>
                          <a:endParaRPr lang="ko-KR" altLang="en-US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072463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ko-KR" altLang="en-US" sz="11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ko-KR" altLang="en-US" sz="1100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ko-KR" altLang="en-US" sz="1100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num>
                                  <m:den>
                                    <m:r>
                                      <a:rPr lang="ko-KR" altLang="en-US" sz="1100" smtClean="0">
                                        <a:latin typeface="Cambria Math" panose="02040503050406030204" pitchFamily="18" charset="0"/>
                                      </a:rPr>
                                      <m:t>𝜕𝛼</m:t>
                                    </m:r>
                                  </m:den>
                                </m:f>
                                <m:r>
                                  <a:rPr lang="ko-KR" altLang="en-US" sz="110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−1=0</m:t>
                                </m:r>
                              </m:oMath>
                            </m:oMathPara>
                          </a14:m>
                          <a:endParaRPr lang="ko-KR" altLang="en-US" sz="1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>
                            <a:lnSpc>
                              <a:spcPct val="150000"/>
                            </a:lnSpc>
                          </a:pPr>
                          <a:r>
                            <a:rPr lang="en-US" altLang="ko-KR" sz="1100"/>
                            <a:t>(3)</a:t>
                          </a:r>
                          <a:endParaRPr lang="ko-KR" altLang="en-US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3717218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표 5">
                <a:extLst>
                  <a:ext uri="{FF2B5EF4-FFF2-40B4-BE49-F238E27FC236}">
                    <a16:creationId xmlns:a16="http://schemas.microsoft.com/office/drawing/2014/main" id="{3758F02B-2272-426E-8CEB-9A354278158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1862649"/>
                  </p:ext>
                </p:extLst>
              </p:nvPr>
            </p:nvGraphicFramePr>
            <p:xfrm>
              <a:off x="3123431" y="4483720"/>
              <a:ext cx="4549140" cy="125933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750573">
                      <a:extLst>
                        <a:ext uri="{9D8B030D-6E8A-4147-A177-3AD203B41FA5}">
                          <a16:colId xmlns:a16="http://schemas.microsoft.com/office/drawing/2014/main" val="2624930935"/>
                        </a:ext>
                      </a:extLst>
                    </a:gridCol>
                    <a:gridCol w="2798567">
                      <a:extLst>
                        <a:ext uri="{9D8B030D-6E8A-4147-A177-3AD203B41FA5}">
                          <a16:colId xmlns:a16="http://schemas.microsoft.com/office/drawing/2014/main" val="4041730334"/>
                        </a:ext>
                      </a:extLst>
                    </a:gridCol>
                  </a:tblGrid>
                  <a:tr h="41021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r="-160279" b="-2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>
                            <a:lnSpc>
                              <a:spcPct val="150000"/>
                            </a:lnSpc>
                          </a:pPr>
                          <a:r>
                            <a:rPr lang="en-US" altLang="ko-KR" sz="1100"/>
                            <a:t>(1)</a:t>
                          </a:r>
                          <a:endParaRPr lang="ko-KR" altLang="en-US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72790739"/>
                      </a:ext>
                    </a:extLst>
                  </a:tr>
                  <a:tr h="43891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t="-94444" r="-160279" b="-9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>
                            <a:lnSpc>
                              <a:spcPct val="150000"/>
                            </a:lnSpc>
                          </a:pPr>
                          <a:r>
                            <a:rPr lang="en-US" altLang="ko-KR" sz="1100"/>
                            <a:t>(2)</a:t>
                          </a:r>
                          <a:endParaRPr lang="ko-KR" altLang="en-US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07246344"/>
                      </a:ext>
                    </a:extLst>
                  </a:tr>
                  <a:tr h="41021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t="-205882" r="-160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>
                            <a:lnSpc>
                              <a:spcPct val="150000"/>
                            </a:lnSpc>
                          </a:pPr>
                          <a:r>
                            <a:rPr lang="en-US" altLang="ko-KR" sz="1100"/>
                            <a:t>(3)</a:t>
                          </a:r>
                          <a:endParaRPr lang="ko-KR" altLang="en-US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3717218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표 6">
                <a:extLst>
                  <a:ext uri="{FF2B5EF4-FFF2-40B4-BE49-F238E27FC236}">
                    <a16:creationId xmlns:a16="http://schemas.microsoft.com/office/drawing/2014/main" id="{5DC7EAC5-5B0D-4DDA-8B72-69B8F6BED43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72864326"/>
                  </p:ext>
                </p:extLst>
              </p:nvPr>
            </p:nvGraphicFramePr>
            <p:xfrm>
              <a:off x="3131820" y="4145528"/>
              <a:ext cx="2788920" cy="2590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788920">
                      <a:extLst>
                        <a:ext uri="{9D8B030D-6E8A-4147-A177-3AD203B41FA5}">
                          <a16:colId xmlns:a16="http://schemas.microsoft.com/office/drawing/2014/main" val="2238900808"/>
                        </a:ext>
                      </a:extLst>
                    </a:gridCol>
                  </a:tblGrid>
                  <a:tr h="25781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d>
                                  <m:dPr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ko-KR" altLang="en-US" sz="1100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d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sSup>
                                  <m:sSupPr>
                                    <m:ctrlPr>
                                      <a:rPr lang="ko-KR" altLang="en-US" sz="11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ko-KR" altLang="en-US" sz="110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ko-KR" altLang="en-US" sz="11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ko-KR" altLang="en-US" sz="1100">
                                    <a:latin typeface="Cambria Math" panose="02040503050406030204" pitchFamily="18" charset="0"/>
                                  </a:rPr>
                                  <m:t>+2</m:t>
                                </m:r>
                                <m:r>
                                  <a:rPr lang="ko-KR" altLang="en-US" sz="110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d>
                                  <m:dPr>
                                    <m:ctrlPr>
                                      <a:rPr lang="ko-KR" altLang="en-US" sz="11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ko-KR" altLang="en-US" sz="110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ko-KR" altLang="en-US" sz="110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ko-KR" altLang="en-US" sz="1100">
                                        <a:latin typeface="Cambria Math" panose="02040503050406030204" pitchFamily="18" charset="0"/>
                                      </a:rPr>
                                      <m:t>+2</m:t>
                                    </m:r>
                                    <m:r>
                                      <a:rPr lang="ko-KR" altLang="en-US" sz="110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ko-KR" altLang="en-US" sz="110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altLang="ko-KR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1252039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표 6">
                <a:extLst>
                  <a:ext uri="{FF2B5EF4-FFF2-40B4-BE49-F238E27FC236}">
                    <a16:creationId xmlns:a16="http://schemas.microsoft.com/office/drawing/2014/main" id="{5DC7EAC5-5B0D-4DDA-8B72-69B8F6BED43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72864326"/>
                  </p:ext>
                </p:extLst>
              </p:nvPr>
            </p:nvGraphicFramePr>
            <p:xfrm>
              <a:off x="3131820" y="4145528"/>
              <a:ext cx="2788920" cy="2590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788920">
                      <a:extLst>
                        <a:ext uri="{9D8B030D-6E8A-4147-A177-3AD203B41FA5}">
                          <a16:colId xmlns:a16="http://schemas.microsoft.com/office/drawing/2014/main" val="2238900808"/>
                        </a:ext>
                      </a:extLst>
                    </a:gridCol>
                  </a:tblGrid>
                  <a:tr h="2590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6"/>
                          <a:stretch>
                            <a:fillRect b="-46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252039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B253674-110E-41CC-830F-F13C1C55EA26}"/>
                  </a:ext>
                </a:extLst>
              </p:cNvPr>
              <p:cNvSpPr txBox="1"/>
              <p:nvPr/>
            </p:nvSpPr>
            <p:spPr>
              <a:xfrm>
                <a:off x="259080" y="3429000"/>
                <a:ext cx="7903408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ko-KR" altLang="en-US" sz="1100" i="1" smtClean="0">
                        <a:latin typeface="+mn-ea"/>
                      </a:rPr>
                      <m:t>𝑓</m:t>
                    </m:r>
                    <m:d>
                      <m:dPr>
                        <m:ctrlPr>
                          <a:rPr lang="ko-KR" altLang="en-US" sz="1100" i="1" smtClean="0">
                            <a:solidFill>
                              <a:srgbClr val="836967"/>
                            </a:solidFill>
                            <a:latin typeface="+mn-ea"/>
                          </a:rPr>
                        </m:ctrlPr>
                      </m:dPr>
                      <m:e>
                        <m:r>
                          <a:rPr lang="ko-KR" altLang="en-US" sz="1100" i="1" smtClean="0">
                            <a:latin typeface="+mn-ea"/>
                          </a:rPr>
                          <m:t>𝑥</m:t>
                        </m:r>
                        <m:r>
                          <a:rPr lang="ko-KR" altLang="en-US" sz="1100" i="1" smtClean="0">
                            <a:latin typeface="+mn-ea"/>
                          </a:rPr>
                          <m:t>,</m:t>
                        </m:r>
                        <m:r>
                          <a:rPr lang="ko-KR" altLang="en-US" sz="1100" i="1" smtClean="0">
                            <a:latin typeface="+mn-ea"/>
                          </a:rPr>
                          <m:t>𝑦</m:t>
                        </m:r>
                      </m:e>
                    </m:d>
                  </m:oMath>
                </a14:m>
                <a:r>
                  <a:rPr lang="ko-KR" altLang="en-US" sz="1100" b="0">
                    <a:latin typeface="+mn-ea"/>
                  </a:rPr>
                  <a:t>은 목적함수 이며</a:t>
                </a:r>
                <a:r>
                  <a:rPr lang="en-US" altLang="ko-KR" sz="1100" b="0">
                    <a:latin typeface="+mn-ea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sz="1100" b="0" i="0" smtClean="0">
                        <a:latin typeface="+mn-ea"/>
                      </a:rPr>
                      <m:t> </m:t>
                    </m:r>
                    <m:r>
                      <a:rPr lang="en-US" altLang="ko-KR" sz="1100" b="0" i="1" smtClean="0">
                        <a:latin typeface="+mn-ea"/>
                      </a:rPr>
                      <m:t>𝑔</m:t>
                    </m:r>
                    <m:d>
                      <m:dPr>
                        <m:ctrlPr>
                          <a:rPr lang="en-US" altLang="ko-KR" sz="1100" b="0" i="1" smtClean="0">
                            <a:latin typeface="+mn-ea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atin typeface="+mn-ea"/>
                          </a:rPr>
                          <m:t>𝑥</m:t>
                        </m:r>
                        <m:r>
                          <a:rPr lang="en-US" altLang="ko-KR" sz="1100" b="0" i="1" smtClean="0">
                            <a:latin typeface="+mn-ea"/>
                          </a:rPr>
                          <m:t>,</m:t>
                        </m:r>
                        <m:r>
                          <a:rPr lang="en-US" altLang="ko-KR" sz="1100" b="0" i="1" smtClean="0">
                            <a:latin typeface="+mn-ea"/>
                          </a:rPr>
                          <m:t>𝑦</m:t>
                        </m:r>
                      </m:e>
                    </m:d>
                  </m:oMath>
                </a14:m>
                <a:r>
                  <a:rPr lang="ko-KR" altLang="en-US" sz="1100" b="0">
                    <a:latin typeface="+mn-ea"/>
                  </a:rPr>
                  <a:t>은 제약조건임</a:t>
                </a:r>
                <a:endParaRPr lang="en-US" altLang="ko-KR" sz="1100" b="0">
                  <a:latin typeface="+mn-ea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100" b="0">
                  <a:latin typeface="+mn-ea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100">
                    <a:latin typeface="+mn-ea"/>
                  </a:rPr>
                  <a:t>예를 들어</a:t>
                </a:r>
                <a14:m>
                  <m:oMath xmlns:m="http://schemas.openxmlformats.org/officeDocument/2006/math">
                    <m:r>
                      <a:rPr lang="en-US" altLang="ko-KR" sz="1100" i="1">
                        <a:latin typeface="+mn-ea"/>
                      </a:rPr>
                      <m:t>𝑓</m:t>
                    </m:r>
                    <m:d>
                      <m:dPr>
                        <m:ctrlPr>
                          <a:rPr lang="en-US" altLang="ko-KR" sz="1100" i="1">
                            <a:latin typeface="+mn-ea"/>
                          </a:rPr>
                        </m:ctrlPr>
                      </m:dPr>
                      <m:e>
                        <m:r>
                          <a:rPr lang="en-US" altLang="ko-KR" sz="1100" i="1">
                            <a:latin typeface="+mn-ea"/>
                          </a:rPr>
                          <m:t>𝑥</m:t>
                        </m:r>
                        <m:r>
                          <a:rPr lang="en-US" altLang="ko-KR" sz="1100" i="1">
                            <a:latin typeface="+mn-ea"/>
                          </a:rPr>
                          <m:t>,</m:t>
                        </m:r>
                        <m:r>
                          <a:rPr lang="en-US" altLang="ko-KR" sz="1100" i="1">
                            <a:latin typeface="+mn-ea"/>
                          </a:rPr>
                          <m:t>𝑦</m:t>
                        </m:r>
                      </m:e>
                    </m:d>
                    <m:r>
                      <a:rPr lang="en-US" altLang="ko-KR" sz="1100" i="1">
                        <a:latin typeface="+mn-ea"/>
                      </a:rPr>
                      <m:t>= </m:t>
                    </m:r>
                    <m:sSup>
                      <m:sSupPr>
                        <m:ctrlPr>
                          <a:rPr lang="en-US" altLang="ko-KR" sz="1100" i="1">
                            <a:solidFill>
                              <a:srgbClr val="836967"/>
                            </a:solidFill>
                            <a:latin typeface="+mn-ea"/>
                          </a:rPr>
                        </m:ctrlPr>
                      </m:sSupPr>
                      <m:e>
                        <m:r>
                          <a:rPr lang="en-US" altLang="ko-KR" sz="1100" i="1">
                            <a:latin typeface="+mn-ea"/>
                          </a:rPr>
                          <m:t>𝑥</m:t>
                        </m:r>
                      </m:e>
                      <m:sup>
                        <m:r>
                          <a:rPr lang="en-US" altLang="ko-KR" sz="1100" i="1">
                            <a:latin typeface="+mn-ea"/>
                          </a:rPr>
                          <m:t>2</m:t>
                        </m:r>
                      </m:sup>
                    </m:sSup>
                    <m:r>
                      <a:rPr lang="en-US" altLang="ko-KR" sz="1100" i="1">
                        <a:latin typeface="+mn-ea"/>
                      </a:rPr>
                      <m:t>+2</m:t>
                    </m:r>
                    <m:r>
                      <a:rPr lang="en-US" altLang="ko-KR" sz="1100" i="1">
                        <a:latin typeface="+mn-ea"/>
                      </a:rPr>
                      <m:t>𝑦</m:t>
                    </m:r>
                  </m:oMath>
                </a14:m>
                <a:r>
                  <a:rPr lang="ko-KR" altLang="en-US" sz="1100">
                    <a:latin typeface="+mn-ea"/>
                  </a:rPr>
                  <a:t>이며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+mn-ea"/>
                      </a:rPr>
                      <m:t>𝑔</m:t>
                    </m:r>
                    <m:d>
                      <m:dPr>
                        <m:ctrlPr>
                          <a:rPr lang="en-US" altLang="ko-KR" sz="1100" b="0" i="1" smtClean="0">
                            <a:latin typeface="+mn-ea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atin typeface="+mn-ea"/>
                          </a:rPr>
                          <m:t>𝑥</m:t>
                        </m:r>
                        <m:r>
                          <a:rPr lang="en-US" altLang="ko-KR" sz="1100" b="0" i="1" smtClean="0">
                            <a:latin typeface="+mn-ea"/>
                          </a:rPr>
                          <m:t>,</m:t>
                        </m:r>
                        <m:r>
                          <a:rPr lang="en-US" altLang="ko-KR" sz="1100" b="0" i="1" smtClean="0">
                            <a:latin typeface="+mn-ea"/>
                          </a:rPr>
                          <m:t>𝑦</m:t>
                        </m:r>
                      </m:e>
                    </m:d>
                    <m:r>
                      <a:rPr lang="en-US" altLang="ko-KR" sz="1100" b="0" i="1" smtClean="0">
                        <a:latin typeface="+mn-ea"/>
                      </a:rPr>
                      <m:t>=3</m:t>
                    </m:r>
                    <m:r>
                      <a:rPr lang="en-US" altLang="ko-KR" sz="1100" b="0" i="1" smtClean="0">
                        <a:latin typeface="+mn-ea"/>
                      </a:rPr>
                      <m:t>𝑥</m:t>
                    </m:r>
                    <m:r>
                      <a:rPr lang="en-US" altLang="ko-KR" sz="1100" b="0" i="1" smtClean="0">
                        <a:latin typeface="+mn-ea"/>
                      </a:rPr>
                      <m:t>+2</m:t>
                    </m:r>
                    <m:r>
                      <a:rPr lang="en-US" altLang="ko-KR" sz="1100" b="0" i="1" smtClean="0">
                        <a:latin typeface="+mn-ea"/>
                      </a:rPr>
                      <m:t>𝑦</m:t>
                    </m:r>
                    <m:r>
                      <a:rPr lang="en-US" altLang="ko-KR" sz="1100" b="0" i="1" smtClean="0">
                        <a:latin typeface="+mn-ea"/>
                      </a:rPr>
                      <m:t>+1=0</m:t>
                    </m:r>
                  </m:oMath>
                </a14:m>
                <a:r>
                  <a:rPr lang="ko-KR" altLang="en-US" sz="1100" b="0">
                    <a:latin typeface="+mn-ea"/>
                  </a:rPr>
                  <a:t>을 계산할 때 수식은 다음과 같음</a:t>
                </a:r>
                <a:endParaRPr lang="en-US" altLang="ko-KR" sz="1100" b="0">
                  <a:latin typeface="+mn-ea"/>
                </a:endParaRPr>
              </a:p>
              <a:p>
                <a:pPr algn="l"/>
                <a:endParaRPr lang="ko-KR" altLang="en-US" sz="1100">
                  <a:latin typeface="+mn-ea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B253674-110E-41CC-830F-F13C1C55EA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80" y="3429000"/>
                <a:ext cx="7903408" cy="769441"/>
              </a:xfrm>
              <a:prstGeom prst="rect">
                <a:avLst/>
              </a:prstGeom>
              <a:blipFill>
                <a:blip r:embed="rId7"/>
                <a:stretch>
                  <a:fillRect t="-79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B5A8E21-6D93-4449-983D-2E446E6FE94B}"/>
                  </a:ext>
                </a:extLst>
              </p:cNvPr>
              <p:cNvSpPr txBox="1"/>
              <p:nvPr/>
            </p:nvSpPr>
            <p:spPr>
              <a:xfrm>
                <a:off x="259080" y="5972961"/>
                <a:ext cx="4312920" cy="3359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100">
                    <a:latin typeface="+mn-ea"/>
                  </a:rPr>
                  <a:t>위의 </a:t>
                </a:r>
                <a:r>
                  <a:rPr lang="en-US" altLang="ko-KR" sz="1100">
                    <a:latin typeface="+mn-ea"/>
                  </a:rPr>
                  <a:t>3</a:t>
                </a:r>
                <a:r>
                  <a:rPr lang="ko-KR" altLang="en-US" sz="1100">
                    <a:latin typeface="+mn-ea"/>
                  </a:rPr>
                  <a:t>가지 식을 연립하면 </a:t>
                </a:r>
                <a14:m>
                  <m:oMath xmlns:m="http://schemas.openxmlformats.org/officeDocument/2006/math">
                    <m:r>
                      <a:rPr lang="ko-KR" altLang="en-US" sz="1100" i="1" smtClean="0">
                        <a:latin typeface="+mn-ea"/>
                      </a:rPr>
                      <m:t>𝛼</m:t>
                    </m:r>
                    <m:r>
                      <a:rPr lang="en-US" altLang="ko-KR" sz="1100" b="0" i="1" smtClean="0">
                        <a:latin typeface="+mn-ea"/>
                      </a:rPr>
                      <m:t>=1, </m:t>
                    </m:r>
                    <m:r>
                      <a:rPr lang="en-US" altLang="ko-KR" sz="1100" b="0" i="1" smtClean="0">
                        <a:latin typeface="+mn-ea"/>
                      </a:rPr>
                      <m:t>𝑥</m:t>
                    </m:r>
                    <m:r>
                      <a:rPr lang="en-US" altLang="ko-KR" sz="1100" b="0" i="1" smtClean="0">
                        <a:latin typeface="+mn-ea"/>
                      </a:rPr>
                      <m:t>=</m:t>
                    </m:r>
                    <m:f>
                      <m:fPr>
                        <m:ctrlPr>
                          <a:rPr lang="en-US" altLang="ko-KR" sz="1100" b="0" i="1" smtClean="0">
                            <a:latin typeface="+mn-ea"/>
                          </a:rPr>
                        </m:ctrlPr>
                      </m:fPr>
                      <m:num>
                        <m:r>
                          <a:rPr lang="en-US" altLang="ko-KR" sz="1100" b="0" i="1" smtClean="0">
                            <a:latin typeface="+mn-ea"/>
                          </a:rPr>
                          <m:t>3</m:t>
                        </m:r>
                      </m:num>
                      <m:den>
                        <m:r>
                          <a:rPr lang="en-US" altLang="ko-KR" sz="1100" b="0" i="1" smtClean="0">
                            <a:latin typeface="+mn-ea"/>
                          </a:rPr>
                          <m:t>2</m:t>
                        </m:r>
                      </m:den>
                    </m:f>
                    <m:r>
                      <a:rPr lang="en-US" altLang="ko-KR" sz="1100" b="0" i="1" smtClean="0">
                        <a:latin typeface="+mn-ea"/>
                      </a:rPr>
                      <m:t> , </m:t>
                    </m:r>
                    <m:r>
                      <a:rPr lang="en-US" altLang="ko-KR" sz="1100" b="0" i="1" smtClean="0">
                        <a:latin typeface="+mn-ea"/>
                      </a:rPr>
                      <m:t>𝑦</m:t>
                    </m:r>
                    <m:r>
                      <a:rPr lang="en-US" altLang="ko-KR" sz="1100" b="0" i="1" smtClean="0">
                        <a:latin typeface="+mn-ea"/>
                      </a:rPr>
                      <m:t>=−</m:t>
                    </m:r>
                    <m:f>
                      <m:fPr>
                        <m:ctrlPr>
                          <a:rPr lang="en-US" altLang="ko-KR" sz="1100" b="0" i="1" smtClean="0">
                            <a:latin typeface="+mn-ea"/>
                          </a:rPr>
                        </m:ctrlPr>
                      </m:fPr>
                      <m:num>
                        <m:r>
                          <a:rPr lang="en-US" altLang="ko-KR" sz="1100" b="0" i="1" smtClean="0">
                            <a:latin typeface="+mn-ea"/>
                          </a:rPr>
                          <m:t>4</m:t>
                        </m:r>
                      </m:num>
                      <m:den>
                        <m:r>
                          <a:rPr lang="en-US" altLang="ko-KR" sz="1100" b="0" i="1" smtClean="0">
                            <a:latin typeface="+mn-ea"/>
                          </a:rPr>
                          <m:t>11</m:t>
                        </m:r>
                      </m:den>
                    </m:f>
                  </m:oMath>
                </a14:m>
                <a:endParaRPr lang="en-US" altLang="ko-KR" sz="1100" b="0">
                  <a:latin typeface="+mn-ea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B5A8E21-6D93-4449-983D-2E446E6FE9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80" y="5972961"/>
                <a:ext cx="4312920" cy="33598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직사각형 9">
            <a:extLst>
              <a:ext uri="{FF2B5EF4-FFF2-40B4-BE49-F238E27FC236}">
                <a16:creationId xmlns:a16="http://schemas.microsoft.com/office/drawing/2014/main" id="{077E25FE-B6DD-4120-A032-CE7D7DF1E705}"/>
              </a:ext>
            </a:extLst>
          </p:cNvPr>
          <p:cNvSpPr/>
          <p:nvPr/>
        </p:nvSpPr>
        <p:spPr>
          <a:xfrm>
            <a:off x="6115574" y="4798503"/>
            <a:ext cx="3674378" cy="3523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0" i="0">
                <a:solidFill>
                  <a:schemeClr val="tx1"/>
                </a:solidFill>
                <a:effectLst/>
                <a:latin typeface="Nanum Gothic"/>
              </a:rPr>
              <a:t>‖</a:t>
            </a:r>
            <a:r>
              <a:rPr lang="ko-KR" altLang="en-US" sz="1100" b="0" i="0">
                <a:solidFill>
                  <a:schemeClr val="tx1"/>
                </a:solidFill>
                <a:effectLst/>
                <a:latin typeface="Nanum Gothic"/>
              </a:rPr>
              <a:t>𝑤</a:t>
            </a:r>
            <a:r>
              <a:rPr lang="en-US" altLang="ko-KR" sz="1100" b="0" i="0">
                <a:solidFill>
                  <a:schemeClr val="tx1"/>
                </a:solidFill>
                <a:effectLst/>
                <a:latin typeface="Nanum Gothic"/>
              </a:rPr>
              <a:t>‖ </a:t>
            </a:r>
            <a:r>
              <a:rPr lang="ko-KR" altLang="en-US" sz="1100" b="0" i="0">
                <a:solidFill>
                  <a:schemeClr val="tx1"/>
                </a:solidFill>
                <a:effectLst/>
                <a:latin typeface="Nanum Gothic"/>
              </a:rPr>
              <a:t>최소 </a:t>
            </a:r>
            <a:r>
              <a:rPr lang="en-US" altLang="ko-KR" sz="1100" b="0" i="0">
                <a:solidFill>
                  <a:schemeClr val="tx1"/>
                </a:solidFill>
                <a:effectLst/>
                <a:latin typeface="Nanum Gothic"/>
              </a:rPr>
              <a:t>-&gt; ‖</a:t>
            </a:r>
            <a:r>
              <a:rPr lang="ko-KR" altLang="en-US" sz="1100" b="0" i="0">
                <a:solidFill>
                  <a:schemeClr val="tx1"/>
                </a:solidFill>
                <a:effectLst/>
                <a:latin typeface="Nanum Gothic"/>
              </a:rPr>
              <a:t>𝑤</a:t>
            </a:r>
            <a:r>
              <a:rPr lang="en-US" altLang="ko-KR" sz="1100" b="0" i="0">
                <a:solidFill>
                  <a:schemeClr val="tx1"/>
                </a:solidFill>
                <a:effectLst/>
                <a:latin typeface="Nanum Gothic"/>
              </a:rPr>
              <a:t>‖</a:t>
            </a:r>
            <a:r>
              <a:rPr lang="en-US" altLang="ko-KR" sz="1100" b="0" i="0" baseline="30000">
                <a:solidFill>
                  <a:schemeClr val="tx1"/>
                </a:solidFill>
                <a:effectLst/>
                <a:latin typeface="Nanum Gothic"/>
              </a:rPr>
              <a:t>2</a:t>
            </a:r>
            <a:r>
              <a:rPr lang="ko-KR" altLang="en-US" sz="1100" b="0" i="0">
                <a:solidFill>
                  <a:schemeClr val="tx1"/>
                </a:solidFill>
                <a:effectLst/>
                <a:latin typeface="Nanum Gothic"/>
              </a:rPr>
              <a:t> 최소</a:t>
            </a:r>
            <a:r>
              <a:rPr lang="en-US" altLang="ko-KR" sz="1100" b="0" i="0">
                <a:solidFill>
                  <a:schemeClr val="tx1"/>
                </a:solidFill>
                <a:effectLst/>
                <a:latin typeface="Nanum Gothic"/>
              </a:rPr>
              <a:t>-&gt; quadratic optimization(</a:t>
            </a:r>
            <a:r>
              <a:rPr lang="ko-KR" altLang="en-US" sz="1100" b="0" i="0">
                <a:solidFill>
                  <a:schemeClr val="tx1"/>
                </a:solidFill>
                <a:effectLst/>
                <a:latin typeface="Nanum Gothic"/>
              </a:rPr>
              <a:t>최적화 방법</a:t>
            </a:r>
            <a:r>
              <a:rPr lang="en-US" altLang="ko-KR" sz="1100" b="0" i="0">
                <a:solidFill>
                  <a:schemeClr val="tx1"/>
                </a:solidFill>
                <a:effectLst/>
                <a:latin typeface="Nanum Gothic"/>
              </a:rPr>
              <a:t>)</a:t>
            </a:r>
            <a:endParaRPr lang="ko-KR" altLang="en-US" sz="11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07310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21"/>
          <p:cNvSpPr txBox="1">
            <a:spLocks noGrp="1"/>
          </p:cNvSpPr>
          <p:nvPr>
            <p:ph type="body" sz="quarter" idx="11" hasCustomPrompt="1"/>
          </p:nvPr>
        </p:nvSpPr>
        <p:spPr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 latinLnBrk="0">
              <a:buFontTx/>
              <a:buNone/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rtl="0" latinLnBrk="0">
              <a:buFontTx/>
              <a:buNone/>
            </a:pPr>
            <a:r>
              <a:rPr lang="en-US" altLang="ko-KR" sz="1600">
                <a:latin typeface="+mn-ea"/>
              </a:rPr>
              <a:t>KKT(Karush-Kuhn-Tucker)</a:t>
            </a:r>
            <a:r>
              <a:rPr lang="ko-KR" altLang="en-US" sz="1600">
                <a:latin typeface="+mn-ea"/>
              </a:rPr>
              <a:t>조건</a:t>
            </a:r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C7C83FD-A4BB-4786-812F-3B7065B7BA83}"/>
                  </a:ext>
                </a:extLst>
              </p:cNvPr>
              <p:cNvSpPr txBox="1"/>
              <p:nvPr/>
            </p:nvSpPr>
            <p:spPr>
              <a:xfrm>
                <a:off x="268605" y="1280160"/>
                <a:ext cx="8875395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100">
                    <a:latin typeface="+mn-ea"/>
                  </a:rPr>
                  <a:t>SVM</a:t>
                </a:r>
                <a:r>
                  <a:rPr lang="ko-KR" altLang="en-US" sz="1100">
                    <a:latin typeface="+mn-ea"/>
                  </a:rPr>
                  <a:t>의 라그랑주 승수법의 식</a:t>
                </a:r>
                <a:r>
                  <a:rPr lang="en-US" altLang="ko-KR" sz="1100">
                    <a:latin typeface="+mn-ea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+mn-ea"/>
                      </a:rPr>
                      <m:t>𝑤</m:t>
                    </m:r>
                    <m:r>
                      <a:rPr lang="en-US" altLang="ko-KR" sz="1100" b="0" i="1" smtClean="0">
                        <a:latin typeface="+mn-ea"/>
                      </a:rPr>
                      <m:t>,</m:t>
                    </m:r>
                    <m:r>
                      <a:rPr lang="en-US" altLang="ko-KR" sz="1100" b="0" i="1" smtClean="0">
                        <a:latin typeface="+mn-ea"/>
                      </a:rPr>
                      <m:t>𝑏</m:t>
                    </m:r>
                  </m:oMath>
                </a14:m>
                <a:r>
                  <a:rPr lang="ko-KR" altLang="en-US" sz="1100">
                    <a:latin typeface="+mn-ea"/>
                  </a:rPr>
                  <a:t>는 </a:t>
                </a:r>
                <a:r>
                  <a:rPr lang="en-US" altLang="ko-KR" sz="1100">
                    <a:latin typeface="+mn-ea"/>
                  </a:rPr>
                  <a:t>Primal variable ,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+mn-ea"/>
                      </a:rPr>
                      <m:t>𝛼</m:t>
                    </m:r>
                  </m:oMath>
                </a14:m>
                <a:r>
                  <a:rPr lang="ko-KR" altLang="en-US" sz="1100">
                    <a:latin typeface="+mn-ea"/>
                  </a:rPr>
                  <a:t>는 </a:t>
                </a:r>
                <a:r>
                  <a:rPr lang="en-US" altLang="ko-KR" sz="1100">
                    <a:latin typeface="+mn-ea"/>
                  </a:rPr>
                  <a:t>Lagrangian variable)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C7C83FD-A4BB-4786-812F-3B7065B7BA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605" y="1280160"/>
                <a:ext cx="8875395" cy="261610"/>
              </a:xfrm>
              <a:prstGeom prst="rect">
                <a:avLst/>
              </a:prstGeom>
              <a:blipFill>
                <a:blip r:embed="rId3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표 7">
                <a:extLst>
                  <a:ext uri="{FF2B5EF4-FFF2-40B4-BE49-F238E27FC236}">
                    <a16:creationId xmlns:a16="http://schemas.microsoft.com/office/drawing/2014/main" id="{9DD581A1-33F6-422A-8C81-1CF441216C5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18582647"/>
                  </p:ext>
                </p:extLst>
              </p:nvPr>
            </p:nvGraphicFramePr>
            <p:xfrm>
              <a:off x="3139440" y="1492257"/>
              <a:ext cx="3649980" cy="498221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649980">
                      <a:extLst>
                        <a:ext uri="{9D8B030D-6E8A-4147-A177-3AD203B41FA5}">
                          <a16:colId xmlns:a16="http://schemas.microsoft.com/office/drawing/2014/main" val="258962904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ko-KR" sz="1100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sz="1100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a:rPr lang="en-US" altLang="ko-KR" sz="110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ko-KR" sz="11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sSup>
                                  <m:sSupPr>
                                    <m:ctrlPr>
                                      <a:rPr lang="en-US" altLang="ko-KR" sz="11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‖"/>
                                        <m:endChr m:val="‖"/>
                                        <m:ctrlPr>
                                          <a:rPr lang="en-US" altLang="ko-KR" sz="1100" i="1" smtClean="0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ko-KR" sz="110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 smtClean="0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d>
                                  <m:d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altLang="ko-KR" sz="11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altLang="ko-KR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p>
                                        <m:sSub>
                                          <m:sSubPr>
                                            <m:ctrlPr>
                                              <a:rPr lang="en-US" altLang="ko-KR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d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ko-KR" altLang="en-US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2280113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표 7">
                <a:extLst>
                  <a:ext uri="{FF2B5EF4-FFF2-40B4-BE49-F238E27FC236}">
                    <a16:creationId xmlns:a16="http://schemas.microsoft.com/office/drawing/2014/main" id="{9DD581A1-33F6-422A-8C81-1CF441216C5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18582647"/>
                  </p:ext>
                </p:extLst>
              </p:nvPr>
            </p:nvGraphicFramePr>
            <p:xfrm>
              <a:off x="3139440" y="1492257"/>
              <a:ext cx="3649980" cy="498221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649980">
                      <a:extLst>
                        <a:ext uri="{9D8B030D-6E8A-4147-A177-3AD203B41FA5}">
                          <a16:colId xmlns:a16="http://schemas.microsoft.com/office/drawing/2014/main" val="2589629047"/>
                        </a:ext>
                      </a:extLst>
                    </a:gridCol>
                  </a:tblGrid>
                  <a:tr h="49822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t="-113253" b="-1590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280113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표 8">
                <a:extLst>
                  <a:ext uri="{FF2B5EF4-FFF2-40B4-BE49-F238E27FC236}">
                    <a16:creationId xmlns:a16="http://schemas.microsoft.com/office/drawing/2014/main" id="{0EBB8204-590F-403C-B605-520FEA5157D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11324543"/>
                  </p:ext>
                </p:extLst>
              </p:nvPr>
            </p:nvGraphicFramePr>
            <p:xfrm>
              <a:off x="3122662" y="2631805"/>
              <a:ext cx="1311910" cy="41021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311910">
                      <a:extLst>
                        <a:ext uri="{9D8B030D-6E8A-4147-A177-3AD203B41FA5}">
                          <a16:colId xmlns:a16="http://schemas.microsoft.com/office/drawing/2014/main" val="52938713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ko-KR" sz="11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num>
                                  <m:den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den>
                                </m:f>
                                <m:r>
                                  <a:rPr lang="en-US" altLang="ko-KR" sz="110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ko-KR" sz="11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num>
                                  <m:den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den>
                                </m:f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US" altLang="ko-KR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3017113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표 8">
                <a:extLst>
                  <a:ext uri="{FF2B5EF4-FFF2-40B4-BE49-F238E27FC236}">
                    <a16:creationId xmlns:a16="http://schemas.microsoft.com/office/drawing/2014/main" id="{0EBB8204-590F-403C-B605-520FEA5157D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11324543"/>
                  </p:ext>
                </p:extLst>
              </p:nvPr>
            </p:nvGraphicFramePr>
            <p:xfrm>
              <a:off x="3122662" y="2631805"/>
              <a:ext cx="1311910" cy="41021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311910">
                      <a:extLst>
                        <a:ext uri="{9D8B030D-6E8A-4147-A177-3AD203B41FA5}">
                          <a16:colId xmlns:a16="http://schemas.microsoft.com/office/drawing/2014/main" val="529387134"/>
                        </a:ext>
                      </a:extLst>
                    </a:gridCol>
                  </a:tblGrid>
                  <a:tr h="41021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3017113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9" name="표 9">
                <a:extLst>
                  <a:ext uri="{FF2B5EF4-FFF2-40B4-BE49-F238E27FC236}">
                    <a16:creationId xmlns:a16="http://schemas.microsoft.com/office/drawing/2014/main" id="{D903F97B-3EB9-4CCA-BEE7-3A3381EE0A6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80840213"/>
                  </p:ext>
                </p:extLst>
              </p:nvPr>
            </p:nvGraphicFramePr>
            <p:xfrm>
              <a:off x="3122662" y="3359188"/>
              <a:ext cx="2240280" cy="37084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240280">
                      <a:extLst>
                        <a:ext uri="{9D8B030D-6E8A-4147-A177-3AD203B41FA5}">
                          <a16:colId xmlns:a16="http://schemas.microsoft.com/office/drawing/2014/main" val="175051754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altLang="ko-KR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p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  <m:sSub>
                                      <m:sSubPr>
                                        <m:ctrlPr>
                                          <a:rPr lang="en-US" altLang="ko-KR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</m:d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≥1  , 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=1,2,…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altLang="ko-KR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7381895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9" name="표 9">
                <a:extLst>
                  <a:ext uri="{FF2B5EF4-FFF2-40B4-BE49-F238E27FC236}">
                    <a16:creationId xmlns:a16="http://schemas.microsoft.com/office/drawing/2014/main" id="{D903F97B-3EB9-4CCA-BEE7-3A3381EE0A6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80840213"/>
                  </p:ext>
                </p:extLst>
              </p:nvPr>
            </p:nvGraphicFramePr>
            <p:xfrm>
              <a:off x="3122662" y="3359188"/>
              <a:ext cx="2240280" cy="37084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240280">
                      <a:extLst>
                        <a:ext uri="{9D8B030D-6E8A-4147-A177-3AD203B41FA5}">
                          <a16:colId xmlns:a16="http://schemas.microsoft.com/office/drawing/2014/main" val="175051754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7381895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표 10">
                <a:extLst>
                  <a:ext uri="{FF2B5EF4-FFF2-40B4-BE49-F238E27FC236}">
                    <a16:creationId xmlns:a16="http://schemas.microsoft.com/office/drawing/2014/main" id="{854FAF83-DD1E-481E-AF36-697D9744BA9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50885053"/>
                  </p:ext>
                </p:extLst>
              </p:nvPr>
            </p:nvGraphicFramePr>
            <p:xfrm>
              <a:off x="3122662" y="3851542"/>
              <a:ext cx="1463040" cy="2590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463040">
                      <a:extLst>
                        <a:ext uri="{9D8B030D-6E8A-4147-A177-3AD203B41FA5}">
                          <a16:colId xmlns:a16="http://schemas.microsoft.com/office/drawing/2014/main" val="2715165238"/>
                        </a:ext>
                      </a:extLst>
                    </a:gridCol>
                  </a:tblGrid>
                  <a:tr h="21400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ko-KR" sz="1100" smtClean="0"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0, 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=1,2,…,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altLang="ko-KR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662639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표 10">
                <a:extLst>
                  <a:ext uri="{FF2B5EF4-FFF2-40B4-BE49-F238E27FC236}">
                    <a16:creationId xmlns:a16="http://schemas.microsoft.com/office/drawing/2014/main" id="{854FAF83-DD1E-481E-AF36-697D9744BA9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50885053"/>
                  </p:ext>
                </p:extLst>
              </p:nvPr>
            </p:nvGraphicFramePr>
            <p:xfrm>
              <a:off x="3122662" y="3851542"/>
              <a:ext cx="1463040" cy="2590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463040">
                      <a:extLst>
                        <a:ext uri="{9D8B030D-6E8A-4147-A177-3AD203B41FA5}">
                          <a16:colId xmlns:a16="http://schemas.microsoft.com/office/drawing/2014/main" val="2715165238"/>
                        </a:ext>
                      </a:extLst>
                    </a:gridCol>
                  </a:tblGrid>
                  <a:tr h="2590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7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5662639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1" name="표 11">
                <a:extLst>
                  <a:ext uri="{FF2B5EF4-FFF2-40B4-BE49-F238E27FC236}">
                    <a16:creationId xmlns:a16="http://schemas.microsoft.com/office/drawing/2014/main" id="{E2FCE98F-EBFE-48B1-B1B9-A00E71DE4FB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97288189"/>
                  </p:ext>
                </p:extLst>
              </p:nvPr>
            </p:nvGraphicFramePr>
            <p:xfrm>
              <a:off x="3122660" y="4377535"/>
              <a:ext cx="1732597" cy="2590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732597">
                      <a:extLst>
                        <a:ext uri="{9D8B030D-6E8A-4147-A177-3AD203B41FA5}">
                          <a16:colId xmlns:a16="http://schemas.microsoft.com/office/drawing/2014/main" val="3095949238"/>
                        </a:ext>
                      </a:extLst>
                    </a:gridCol>
                  </a:tblGrid>
                  <a:tr h="25377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altLang="ko-KR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altLang="ko-KR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p>
                                        <m:sSub>
                                          <m:sSubPr>
                                            <m:ctrlPr>
                                              <a:rPr lang="en-US" altLang="ko-KR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d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  <m:r>
                                  <a:rPr lang="en-US" altLang="ko-KR" sz="110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altLang="ko-KR" sz="1100" b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6412033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1" name="표 11">
                <a:extLst>
                  <a:ext uri="{FF2B5EF4-FFF2-40B4-BE49-F238E27FC236}">
                    <a16:creationId xmlns:a16="http://schemas.microsoft.com/office/drawing/2014/main" id="{E2FCE98F-EBFE-48B1-B1B9-A00E71DE4FB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97288189"/>
                  </p:ext>
                </p:extLst>
              </p:nvPr>
            </p:nvGraphicFramePr>
            <p:xfrm>
              <a:off x="3122660" y="4377535"/>
              <a:ext cx="1732597" cy="2590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732597">
                      <a:extLst>
                        <a:ext uri="{9D8B030D-6E8A-4147-A177-3AD203B41FA5}">
                          <a16:colId xmlns:a16="http://schemas.microsoft.com/office/drawing/2014/main" val="3095949238"/>
                        </a:ext>
                      </a:extLst>
                    </a:gridCol>
                  </a:tblGrid>
                  <a:tr h="2590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8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6412033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6ABCC84-ECC4-45E7-B0E2-514C637E16FB}"/>
                  </a:ext>
                </a:extLst>
              </p:cNvPr>
              <p:cNvSpPr txBox="1"/>
              <p:nvPr/>
            </p:nvSpPr>
            <p:spPr>
              <a:xfrm>
                <a:off x="268605" y="1990478"/>
                <a:ext cx="8606790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100">
                    <a:latin typeface="+mn-ea"/>
                  </a:rPr>
                  <a:t>KKT</a:t>
                </a:r>
                <a:r>
                  <a:rPr lang="ko-KR" altLang="en-US" sz="1100">
                    <a:latin typeface="+mn-ea"/>
                  </a:rPr>
                  <a:t>조건 </a:t>
                </a:r>
                <a:r>
                  <a:rPr lang="en-US" altLang="ko-KR" sz="1100">
                    <a:latin typeface="+mn-ea"/>
                  </a:rPr>
                  <a:t>4</a:t>
                </a:r>
                <a:r>
                  <a:rPr lang="ko-KR" altLang="en-US" sz="1100">
                    <a:latin typeface="+mn-ea"/>
                  </a:rPr>
                  <a:t>가지</a:t>
                </a:r>
                <a:endParaRPr lang="en-US" altLang="ko-KR" sz="1100">
                  <a:latin typeface="+mn-ea"/>
                </a:endParaRPr>
              </a:p>
              <a:p>
                <a:endParaRPr lang="en-US" altLang="ko-KR" sz="1100">
                  <a:latin typeface="+mn-ea"/>
                </a:endParaRPr>
              </a:p>
              <a:p>
                <a:r>
                  <a:rPr lang="en-US" altLang="ko-KR" sz="1100">
                    <a:latin typeface="+mn-ea"/>
                  </a:rPr>
                  <a:t>	1. </a:t>
                </a:r>
                <a:r>
                  <a:rPr lang="ko-KR" altLang="en-US" sz="1100">
                    <a:latin typeface="+mn-ea"/>
                  </a:rPr>
                  <a:t>라그랑제 함수 </a:t>
                </a:r>
                <a14:m>
                  <m:oMath xmlns:m="http://schemas.openxmlformats.org/officeDocument/2006/math">
                    <m:r>
                      <a:rPr lang="en-US" altLang="ko-KR" sz="1100" i="1" smtClean="0">
                        <a:latin typeface="+mn-ea"/>
                      </a:rPr>
                      <m:t>𝐿</m:t>
                    </m:r>
                    <m:r>
                      <a:rPr lang="en-US" altLang="ko-KR" sz="1100" b="0" i="1" smtClean="0">
                        <a:latin typeface="+mn-ea"/>
                      </a:rPr>
                      <m:t>(</m:t>
                    </m:r>
                    <m:r>
                      <a:rPr lang="en-US" altLang="ko-KR" sz="1100" b="0" i="1" smtClean="0">
                        <a:latin typeface="+mn-ea"/>
                      </a:rPr>
                      <m:t>𝑤</m:t>
                    </m:r>
                    <m:r>
                      <a:rPr lang="en-US" altLang="ko-KR" sz="1100" b="0" i="1" smtClean="0">
                        <a:latin typeface="+mn-ea"/>
                      </a:rPr>
                      <m:t>,</m:t>
                    </m:r>
                    <m:r>
                      <a:rPr lang="en-US" altLang="ko-KR" sz="1100" b="0" i="1" smtClean="0">
                        <a:latin typeface="+mn-ea"/>
                      </a:rPr>
                      <m:t>𝑏</m:t>
                    </m:r>
                    <m:r>
                      <a:rPr lang="en-US" altLang="ko-KR" sz="1100" b="0" i="1" smtClean="0">
                        <a:latin typeface="+mn-ea"/>
                      </a:rPr>
                      <m:t>,</m:t>
                    </m:r>
                    <m:r>
                      <a:rPr lang="en-US" altLang="ko-KR" sz="1100" i="1" smtClean="0">
                        <a:latin typeface="+mn-ea"/>
                      </a:rPr>
                      <m:t>𝛼</m:t>
                    </m:r>
                    <m:r>
                      <a:rPr lang="en-US" altLang="ko-KR" sz="1100" b="0" i="1" smtClean="0">
                        <a:latin typeface="+mn-ea"/>
                      </a:rPr>
                      <m:t>)</m:t>
                    </m:r>
                  </m:oMath>
                </a14:m>
                <a:r>
                  <a:rPr lang="ko-KR" altLang="en-US" sz="1100">
                    <a:latin typeface="+mn-ea"/>
                  </a:rPr>
                  <a:t>에서 라그랑제 승수 </a:t>
                </a:r>
                <a14:m>
                  <m:oMath xmlns:m="http://schemas.openxmlformats.org/officeDocument/2006/math">
                    <m:r>
                      <a:rPr lang="en-US" altLang="ko-KR" sz="1100" i="1">
                        <a:latin typeface="+mn-ea"/>
                      </a:rPr>
                      <m:t>𝛼</m:t>
                    </m:r>
                  </m:oMath>
                </a14:m>
                <a:r>
                  <a:rPr lang="ko-KR" altLang="en-US" sz="1100">
                    <a:latin typeface="+mn-ea"/>
                  </a:rPr>
                  <a:t>를 제외한 </a:t>
                </a:r>
                <a14:m>
                  <m:oMath xmlns:m="http://schemas.openxmlformats.org/officeDocument/2006/math">
                    <m:r>
                      <a:rPr lang="en-US" altLang="ko-KR" sz="1100" i="1">
                        <a:latin typeface="+mn-ea"/>
                      </a:rPr>
                      <m:t>𝑤</m:t>
                    </m:r>
                    <m:r>
                      <a:rPr lang="en-US" altLang="ko-KR" sz="1100" i="1">
                        <a:latin typeface="+mn-ea"/>
                      </a:rPr>
                      <m:t>,</m:t>
                    </m:r>
                    <m:r>
                      <a:rPr lang="en-US" altLang="ko-KR" sz="1100" i="1">
                        <a:latin typeface="+mn-ea"/>
                      </a:rPr>
                      <m:t>𝑏</m:t>
                    </m:r>
                  </m:oMath>
                </a14:m>
                <a:r>
                  <a:rPr lang="ko-KR" altLang="en-US" sz="1100">
                    <a:latin typeface="+mn-ea"/>
                  </a:rPr>
                  <a:t>로 편미분한 식이 </a:t>
                </a:r>
                <a:r>
                  <a:rPr lang="en-US" altLang="ko-KR" sz="1100">
                    <a:latin typeface="+mn-ea"/>
                  </a:rPr>
                  <a:t>0</a:t>
                </a:r>
                <a:r>
                  <a:rPr lang="ko-KR" altLang="en-US" sz="1100">
                    <a:latin typeface="+mn-ea"/>
                  </a:rPr>
                  <a:t>이 되어야한다</a:t>
                </a:r>
                <a:r>
                  <a:rPr lang="en-US" altLang="ko-KR" sz="1100">
                    <a:latin typeface="+mn-ea"/>
                  </a:rPr>
                  <a:t>.(stationarity)</a:t>
                </a:r>
              </a:p>
              <a:p>
                <a:endParaRPr lang="en-US" altLang="ko-KR" sz="1100">
                  <a:latin typeface="+mn-ea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6ABCC84-ECC4-45E7-B0E2-514C637E16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605" y="1990478"/>
                <a:ext cx="8606790" cy="76944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174A4E6E-C309-41B5-A190-6F40ED48E79B}"/>
              </a:ext>
            </a:extLst>
          </p:cNvPr>
          <p:cNvSpPr txBox="1"/>
          <p:nvPr/>
        </p:nvSpPr>
        <p:spPr>
          <a:xfrm>
            <a:off x="268605" y="3048316"/>
            <a:ext cx="860679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>
                <a:latin typeface="+mn-ea"/>
              </a:rPr>
              <a:t>	2.  </a:t>
            </a:r>
            <a:r>
              <a:rPr lang="ko-KR" altLang="en-US" sz="1100">
                <a:latin typeface="+mn-ea"/>
              </a:rPr>
              <a:t>제약조건을 만족해야 한다</a:t>
            </a:r>
            <a:r>
              <a:rPr lang="en-US" altLang="ko-KR" sz="1100">
                <a:latin typeface="+mn-ea"/>
              </a:rPr>
              <a:t>.(Primal feasibility)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54F9EA-D1D5-4CAE-84A6-7DCBB22A68F0}"/>
                  </a:ext>
                </a:extLst>
              </p:cNvPr>
              <p:cNvSpPr txBox="1"/>
              <p:nvPr/>
            </p:nvSpPr>
            <p:spPr>
              <a:xfrm>
                <a:off x="268605" y="3582099"/>
                <a:ext cx="860679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100">
                    <a:latin typeface="+mn-ea"/>
                  </a:rPr>
                  <a:t>	3. </a:t>
                </a:r>
                <a:r>
                  <a:rPr lang="ko-KR" altLang="en-US" sz="1100">
                    <a:latin typeface="+mn-ea"/>
                  </a:rPr>
                  <a:t>모든 라그랑제 승수</a:t>
                </a:r>
                <a:r>
                  <a:rPr lang="en-US" altLang="ko-KR" sz="1100">
                    <a:latin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100" i="1">
                        <a:latin typeface="+mn-ea"/>
                      </a:rPr>
                      <m:t>𝛼</m:t>
                    </m:r>
                    <m:r>
                      <a:rPr lang="en-US" altLang="ko-KR" sz="1100" b="0" i="0" smtClean="0">
                        <a:latin typeface="+mn-ea"/>
                      </a:rPr>
                      <m:t>=</m:t>
                    </m:r>
                    <m:d>
                      <m:dPr>
                        <m:begChr m:val="{"/>
                        <m:ctrlPr>
                          <a:rPr lang="en-US" altLang="ko-KR" sz="1100" b="0" i="1" smtClean="0">
                            <a:latin typeface="+mn-ea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100" b="0" i="1" smtClean="0">
                                <a:latin typeface="+mn-ea"/>
                              </a:rPr>
                            </m:ctrlPr>
                          </m:sSubPr>
                          <m:e>
                            <m:r>
                              <a:rPr lang="en-US" altLang="ko-KR" sz="1100" i="1">
                                <a:latin typeface="+mn-ea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atin typeface="+mn-ea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1100" b="0" i="1" smtClean="0">
                            <a:latin typeface="+mn-ea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atin typeface="+mn-ea"/>
                              </a:rPr>
                            </m:ctrlPr>
                          </m:sSubPr>
                          <m:e>
                            <m:r>
                              <a:rPr lang="en-US" altLang="ko-KR" sz="1100" i="1">
                                <a:latin typeface="+mn-ea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atin typeface="+mn-ea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sz="1100" b="0" i="1" smtClean="0">
                            <a:latin typeface="+mn-ea"/>
                          </a:rPr>
                          <m:t>,…,…,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atin typeface="+mn-ea"/>
                              </a:rPr>
                            </m:ctrlPr>
                          </m:sSubPr>
                          <m:e>
                            <m:r>
                              <a:rPr lang="en-US" altLang="ko-KR" sz="1100" i="1">
                                <a:latin typeface="+mn-ea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atin typeface="+mn-ea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ko-KR" altLang="en-US" sz="1100">
                    <a:latin typeface="+mn-ea"/>
                  </a:rPr>
                  <a:t>은 </a:t>
                </a:r>
                <a:r>
                  <a:rPr lang="en-US" altLang="ko-KR" sz="1100">
                    <a:latin typeface="+mn-ea"/>
                  </a:rPr>
                  <a:t>0</a:t>
                </a:r>
                <a:r>
                  <a:rPr lang="ko-KR" altLang="en-US" sz="1100">
                    <a:latin typeface="+mn-ea"/>
                  </a:rPr>
                  <a:t>보다 크거나 같아야 한다</a:t>
                </a:r>
                <a:r>
                  <a:rPr lang="en-US" altLang="ko-KR" sz="1100">
                    <a:latin typeface="+mn-ea"/>
                  </a:rPr>
                  <a:t>.(dual feasibility)</a:t>
                </a:r>
                <a:endParaRPr lang="ko-KR" altLang="en-US" sz="1100">
                  <a:latin typeface="+mn-ea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54F9EA-D1D5-4CAE-84A6-7DCBB22A68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605" y="3582099"/>
                <a:ext cx="8606790" cy="261610"/>
              </a:xfrm>
              <a:prstGeom prst="rect">
                <a:avLst/>
              </a:prstGeom>
              <a:blipFill>
                <a:blip r:embed="rId10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9BA47BFA-6914-4132-9655-5D602ECE8213}"/>
              </a:ext>
            </a:extLst>
          </p:cNvPr>
          <p:cNvSpPr txBox="1"/>
          <p:nvPr/>
        </p:nvSpPr>
        <p:spPr>
          <a:xfrm>
            <a:off x="268605" y="4110622"/>
            <a:ext cx="87076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>
                <a:latin typeface="+mn-ea"/>
              </a:rPr>
              <a:t>	4. Primal feasibility</a:t>
            </a:r>
            <a:r>
              <a:rPr lang="ko-KR" altLang="en-US" sz="1100">
                <a:latin typeface="+mn-ea"/>
              </a:rPr>
              <a:t>와 </a:t>
            </a:r>
            <a:r>
              <a:rPr lang="en-US" altLang="ko-KR" sz="1100">
                <a:latin typeface="+mn-ea"/>
              </a:rPr>
              <a:t>dual feasibility</a:t>
            </a:r>
            <a:r>
              <a:rPr lang="ko-KR" altLang="en-US" sz="1100">
                <a:latin typeface="+mn-ea"/>
              </a:rPr>
              <a:t>의 곱을 만족 시켜야 한다</a:t>
            </a:r>
            <a:r>
              <a:rPr lang="en-US" altLang="ko-KR" sz="1100">
                <a:latin typeface="+mn-ea"/>
              </a:rPr>
              <a:t>.	(complementary slackness)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B409C5-B2B2-4FDD-B56A-CD138A8D7EDE}"/>
              </a:ext>
            </a:extLst>
          </p:cNvPr>
          <p:cNvSpPr txBox="1"/>
          <p:nvPr/>
        </p:nvSpPr>
        <p:spPr>
          <a:xfrm>
            <a:off x="260216" y="4714613"/>
            <a:ext cx="87076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>
                <a:latin typeface="+mn-ea"/>
              </a:rPr>
              <a:t>위의 </a:t>
            </a:r>
            <a:r>
              <a:rPr lang="en-US" altLang="ko-KR" sz="1100">
                <a:latin typeface="+mn-ea"/>
              </a:rPr>
              <a:t>4</a:t>
            </a:r>
            <a:r>
              <a:rPr lang="ko-KR" altLang="en-US" sz="1100">
                <a:latin typeface="+mn-ea"/>
              </a:rPr>
              <a:t>가지 조건을 모두 만족해야 </a:t>
            </a:r>
            <a:r>
              <a:rPr lang="en-US" altLang="ko-KR" sz="1100">
                <a:latin typeface="+mn-ea"/>
              </a:rPr>
              <a:t>SVM</a:t>
            </a:r>
            <a:r>
              <a:rPr lang="ko-KR" altLang="en-US" sz="1100">
                <a:latin typeface="+mn-ea"/>
              </a:rPr>
              <a:t>의 최적화 문제를 해결</a:t>
            </a:r>
            <a:endParaRPr lang="en-US" altLang="ko-KR" sz="1100">
              <a:latin typeface="+mn-ea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09FF1A7-8F4D-42C7-A056-A8B65125CC26}"/>
              </a:ext>
            </a:extLst>
          </p:cNvPr>
          <p:cNvSpPr/>
          <p:nvPr/>
        </p:nvSpPr>
        <p:spPr>
          <a:xfrm>
            <a:off x="4781726" y="2516697"/>
            <a:ext cx="4286774" cy="2744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latin typeface="+mn-ea"/>
              </a:rPr>
              <a:t>0</a:t>
            </a:r>
            <a:r>
              <a:rPr lang="ko-KR" altLang="en-US" sz="1100">
                <a:latin typeface="+mn-ea"/>
              </a:rPr>
              <a:t>으로 미분하는 이유는 </a:t>
            </a:r>
            <a:r>
              <a:rPr lang="en-US" altLang="ko-KR" sz="1100">
                <a:latin typeface="+mn-ea"/>
              </a:rPr>
              <a:t>minimize</a:t>
            </a:r>
            <a:r>
              <a:rPr lang="ko-KR" altLang="en-US" sz="1100">
                <a:latin typeface="+mn-ea"/>
              </a:rPr>
              <a:t>한 값을 찾을 수 있기 떄문이다</a:t>
            </a:r>
          </a:p>
        </p:txBody>
      </p:sp>
    </p:spTree>
    <p:extLst>
      <p:ext uri="{BB962C8B-B14F-4D97-AF65-F5344CB8AC3E}">
        <p14:creationId xmlns:p14="http://schemas.microsoft.com/office/powerpoint/2010/main" val="35868065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03C0D51E-954A-4571-9451-9B96F6F8FFB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lang="en-US" altLang="ko-KR"/>
              <a:t>Lagrangian Primal</a:t>
            </a:r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EB62F8-22C7-4A84-A4F6-0F9069ACE90E}"/>
              </a:ext>
            </a:extLst>
          </p:cNvPr>
          <p:cNvSpPr txBox="1"/>
          <p:nvPr/>
        </p:nvSpPr>
        <p:spPr>
          <a:xfrm>
            <a:off x="251460" y="1295400"/>
            <a:ext cx="882395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b="0">
                <a:latin typeface="+mn-ea"/>
              </a:rPr>
              <a:t>SVM</a:t>
            </a:r>
            <a:r>
              <a:rPr lang="ko-KR" altLang="en-US" sz="1100" b="0">
                <a:latin typeface="+mn-ea"/>
              </a:rPr>
              <a:t>에서의 목적함수와</a:t>
            </a:r>
            <a:r>
              <a:rPr lang="en-US" altLang="ko-KR" sz="1100" b="0">
                <a:latin typeface="+mn-ea"/>
              </a:rPr>
              <a:t>  </a:t>
            </a:r>
            <a:r>
              <a:rPr lang="ko-KR" altLang="en-US" sz="1100" b="0">
                <a:latin typeface="+mn-ea"/>
              </a:rPr>
              <a:t>제약조건은 다음과 같음</a:t>
            </a:r>
            <a:endParaRPr lang="en-US" altLang="ko-KR" sz="1100" b="0">
              <a:latin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표 4">
                <a:extLst>
                  <a:ext uri="{FF2B5EF4-FFF2-40B4-BE49-F238E27FC236}">
                    <a16:creationId xmlns:a16="http://schemas.microsoft.com/office/drawing/2014/main" id="{6811709D-455F-4241-AFA6-432EB150C9C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55027307"/>
                  </p:ext>
                </p:extLst>
              </p:nvPr>
            </p:nvGraphicFramePr>
            <p:xfrm>
              <a:off x="3131820" y="1515587"/>
              <a:ext cx="3802380" cy="799719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354580">
                      <a:extLst>
                        <a:ext uri="{9D8B030D-6E8A-4147-A177-3AD203B41FA5}">
                          <a16:colId xmlns:a16="http://schemas.microsoft.com/office/drawing/2014/main" val="3258039132"/>
                        </a:ext>
                      </a:extLst>
                    </a:gridCol>
                    <a:gridCol w="1447800">
                      <a:extLst>
                        <a:ext uri="{9D8B030D-6E8A-4147-A177-3AD203B41FA5}">
                          <a16:colId xmlns:a16="http://schemas.microsoft.com/office/drawing/2014/main" val="118719231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sz="1100" b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  <m:f>
                                  <m:fPr>
                                    <m:ctrlPr>
                                      <a:rPr lang="en-US" altLang="ko-KR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1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d>
                                      <m:dPr>
                                        <m:begChr m:val="‖"/>
                                        <m:endChr m:val="‖"/>
                                        <m:ctrlPr>
                                          <a:rPr lang="en-US" altLang="ko-KR" sz="11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100" b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</m:d>
                                  </m:den>
                                </m:f>
                                <m:r>
                                  <a:rPr lang="en-US" altLang="ko-KR" sz="1100" b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⇔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1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m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1100" b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in</m:t>
                                </m:r>
                                <m:f>
                                  <m:fPr>
                                    <m:ctrlPr>
                                      <a:rPr lang="en-US" altLang="ko-KR" sz="11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ko-KR" sz="1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sSup>
                                  <m:sSupPr>
                                    <m:ctrlPr>
                                      <a:rPr lang="en-US" altLang="ko-KR" sz="11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‖"/>
                                        <m:endChr m:val="‖"/>
                                        <m:ctrlPr>
                                          <a:rPr lang="en-US" altLang="ko-KR" sz="11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10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ko-KR" sz="1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ko-KR" sz="11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100"/>
                            <a:t>목적함수</a:t>
                          </a:r>
                          <a:endParaRPr lang="en-US" altLang="ko-KR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830460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ko-KR" sz="1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1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altLang="ko-KR" sz="11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w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T</m:t>
                                        </m:r>
                                      </m:sup>
                                    </m:sSup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sSub>
                                      <m:sSubPr>
                                        <m:ctrlPr>
                                          <a:rPr lang="en-US" altLang="ko-KR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b</m:t>
                                    </m:r>
                                  </m:e>
                                </m:d>
                                <m:r>
                                  <a:rPr lang="en-US" altLang="ko-KR" sz="1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n-US" altLang="ko-KR" sz="1100" b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1, </m:t>
                                </m:r>
                                <m:r>
                                  <a:rPr lang="en-US" altLang="ko-KR" sz="1100" b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ko-KR" sz="1100" b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=1,2, ……, </m:t>
                                </m:r>
                                <m:r>
                                  <a:rPr lang="en-US" altLang="ko-KR" sz="1100" b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altLang="ko-KR" sz="11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100"/>
                            <a:t>제약조건</a:t>
                          </a:r>
                          <a:endParaRPr lang="en-US" altLang="ko-KR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3444139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표 4">
                <a:extLst>
                  <a:ext uri="{FF2B5EF4-FFF2-40B4-BE49-F238E27FC236}">
                    <a16:creationId xmlns:a16="http://schemas.microsoft.com/office/drawing/2014/main" id="{6811709D-455F-4241-AFA6-432EB150C9C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55027307"/>
                  </p:ext>
                </p:extLst>
              </p:nvPr>
            </p:nvGraphicFramePr>
            <p:xfrm>
              <a:off x="3131820" y="1515587"/>
              <a:ext cx="3802380" cy="799719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354580">
                      <a:extLst>
                        <a:ext uri="{9D8B030D-6E8A-4147-A177-3AD203B41FA5}">
                          <a16:colId xmlns:a16="http://schemas.microsoft.com/office/drawing/2014/main" val="3258039132"/>
                        </a:ext>
                      </a:extLst>
                    </a:gridCol>
                    <a:gridCol w="1447800">
                      <a:extLst>
                        <a:ext uri="{9D8B030D-6E8A-4147-A177-3AD203B41FA5}">
                          <a16:colId xmlns:a16="http://schemas.microsoft.com/office/drawing/2014/main" val="1187192318"/>
                        </a:ext>
                      </a:extLst>
                    </a:gridCol>
                  </a:tblGrid>
                  <a:tr h="428879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r="-61499" b="-859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100"/>
                            <a:t>목적함수</a:t>
                          </a:r>
                          <a:endParaRPr lang="en-US" altLang="ko-KR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830460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t="-116393" r="-614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100"/>
                            <a:t>제약조건</a:t>
                          </a:r>
                          <a:endParaRPr lang="en-US" altLang="ko-KR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3444139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표 5">
                <a:extLst>
                  <a:ext uri="{FF2B5EF4-FFF2-40B4-BE49-F238E27FC236}">
                    <a16:creationId xmlns:a16="http://schemas.microsoft.com/office/drawing/2014/main" id="{63BE171B-EFEB-4347-918D-EDF14B287DC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07356577"/>
                  </p:ext>
                </p:extLst>
              </p:nvPr>
            </p:nvGraphicFramePr>
            <p:xfrm>
              <a:off x="3124200" y="2451721"/>
              <a:ext cx="4681536" cy="498221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4681536">
                      <a:extLst>
                        <a:ext uri="{9D8B030D-6E8A-4147-A177-3AD203B41FA5}">
                          <a16:colId xmlns:a16="http://schemas.microsoft.com/office/drawing/2014/main" val="75210754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altLang="ko-KR" sz="1100" b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sz="1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lang="en-US" altLang="ko-KR" sz="1100" b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sz="1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altLang="ko-KR" sz="1100" b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sz="1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lang="en-US" altLang="ko-KR" sz="1100" b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)=</m:t>
                                </m:r>
                                <m:f>
                                  <m:fPr>
                                    <m:ctrlPr>
                                      <a:rPr lang="en-US" altLang="ko-KR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ko-KR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sSup>
                                  <m:sSupPr>
                                    <m:ctrlPr>
                                      <a:rPr lang="en-US" altLang="ko-KR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‖"/>
                                        <m:endChr m:val="‖"/>
                                        <m:ctrlPr>
                                          <a:rPr lang="en-US" altLang="ko-KR" sz="11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1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ko-KR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ko-KR" sz="1100" b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altLang="ko-KR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ko-KR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altLang="ko-KR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US" altLang="ko-KR" sz="11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d>
                                  <m:d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altLang="ko-KR" sz="11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altLang="ko-KR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p>
                                        <m:sSub>
                                          <m:sSubPr>
                                            <m:ctrlPr>
                                              <a:rPr lang="en-US" altLang="ko-KR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d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altLang="ko-KR" sz="11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446215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표 5">
                <a:extLst>
                  <a:ext uri="{FF2B5EF4-FFF2-40B4-BE49-F238E27FC236}">
                    <a16:creationId xmlns:a16="http://schemas.microsoft.com/office/drawing/2014/main" id="{63BE171B-EFEB-4347-918D-EDF14B287DC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07356577"/>
                  </p:ext>
                </p:extLst>
              </p:nvPr>
            </p:nvGraphicFramePr>
            <p:xfrm>
              <a:off x="3124200" y="2451721"/>
              <a:ext cx="4681536" cy="498221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4681536">
                      <a:extLst>
                        <a:ext uri="{9D8B030D-6E8A-4147-A177-3AD203B41FA5}">
                          <a16:colId xmlns:a16="http://schemas.microsoft.com/office/drawing/2014/main" val="752107543"/>
                        </a:ext>
                      </a:extLst>
                    </a:gridCol>
                  </a:tblGrid>
                  <a:tr h="49822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t="-115854" b="-1609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0446215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표 6">
                <a:extLst>
                  <a:ext uri="{FF2B5EF4-FFF2-40B4-BE49-F238E27FC236}">
                    <a16:creationId xmlns:a16="http://schemas.microsoft.com/office/drawing/2014/main" id="{6D4FE444-9035-4E05-AFF9-AAA70DE2833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93546928"/>
                  </p:ext>
                </p:extLst>
              </p:nvPr>
            </p:nvGraphicFramePr>
            <p:xfrm>
              <a:off x="3124200" y="3145857"/>
              <a:ext cx="5044440" cy="498221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044440">
                      <a:extLst>
                        <a:ext uri="{9D8B030D-6E8A-4147-A177-3AD203B41FA5}">
                          <a16:colId xmlns:a16="http://schemas.microsoft.com/office/drawing/2014/main" val="56126105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limLow>
                                  <m:limLowPr>
                                    <m:ctrlPr>
                                      <a:rPr lang="en-US" altLang="ko-KR" sz="11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limLow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max</m:t>
                                    </m:r>
                                  </m:e>
                                  <m:lim>
                                    <m:r>
                                      <a:rPr lang="en-US" altLang="ko-KR" sz="1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lim>
                                </m:limLow>
                                <m:func>
                                  <m:funcPr>
                                    <m:ctrlPr>
                                      <a:rPr lang="en-US" altLang="ko-KR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limLow>
                                      <m:limLowPr>
                                        <m:ctrlPr>
                                          <a:rPr lang="en-US" altLang="ko-KR" sz="11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limLow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100" b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min</m:t>
                                        </m:r>
                                      </m:e>
                                      <m:lim>
                                        <m:r>
                                          <a:rPr lang="en-US" altLang="ko-KR" sz="1100" b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  <m:r>
                                          <a:rPr lang="en-US" altLang="ko-KR" sz="1100" b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ko-KR" sz="1100" b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lim>
                                    </m:limLow>
                                  </m:fName>
                                  <m:e>
                                    <m:r>
                                      <a:rPr lang="en-US" altLang="ko-KR" sz="1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  <m:r>
                                      <a:rPr lang="en-US" altLang="ko-KR" sz="1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ko-KR" sz="1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  <m:r>
                                      <a:rPr lang="en-US" altLang="ko-KR" sz="1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1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  <m:r>
                                      <a:rPr lang="en-US" altLang="ko-KR" sz="1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1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  <m:r>
                                      <a:rPr lang="en-US" altLang="ko-KR" sz="1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func>
                                <m:r>
                                  <a:rPr lang="en-US" altLang="ko-KR" sz="1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ko-KR" sz="11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ko-KR" sz="1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sSup>
                                  <m:sSupPr>
                                    <m:ctrlPr>
                                      <a:rPr lang="en-US" altLang="ko-KR" sz="11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‖"/>
                                        <m:endChr m:val="‖"/>
                                        <m:ctrlPr>
                                          <a:rPr lang="en-US" altLang="ko-KR" sz="11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10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ko-KR" sz="1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ko-KR" sz="1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altLang="ko-KR" sz="11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ko-KR" sz="1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d>
                                  <m:d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altLang="ko-KR" sz="11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altLang="ko-KR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p>
                                        <m:sSub>
                                          <m:sSubPr>
                                            <m:ctrlPr>
                                              <a:rPr lang="en-US" altLang="ko-KR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d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altLang="ko-KR" sz="11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036637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표 6">
                <a:extLst>
                  <a:ext uri="{FF2B5EF4-FFF2-40B4-BE49-F238E27FC236}">
                    <a16:creationId xmlns:a16="http://schemas.microsoft.com/office/drawing/2014/main" id="{6D4FE444-9035-4E05-AFF9-AAA70DE2833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93546928"/>
                  </p:ext>
                </p:extLst>
              </p:nvPr>
            </p:nvGraphicFramePr>
            <p:xfrm>
              <a:off x="3124200" y="3145857"/>
              <a:ext cx="5044440" cy="498221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044440">
                      <a:extLst>
                        <a:ext uri="{9D8B030D-6E8A-4147-A177-3AD203B41FA5}">
                          <a16:colId xmlns:a16="http://schemas.microsoft.com/office/drawing/2014/main" val="561261055"/>
                        </a:ext>
                      </a:extLst>
                    </a:gridCol>
                  </a:tblGrid>
                  <a:tr h="49822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t="-115854" b="-1609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36637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1" name="표 24">
                <a:extLst>
                  <a:ext uri="{FF2B5EF4-FFF2-40B4-BE49-F238E27FC236}">
                    <a16:creationId xmlns:a16="http://schemas.microsoft.com/office/drawing/2014/main" id="{2AAA90BC-3A0C-4B93-8C1A-25194BABE03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1398077"/>
                  </p:ext>
                </p:extLst>
              </p:nvPr>
            </p:nvGraphicFramePr>
            <p:xfrm>
              <a:off x="3131820" y="3692847"/>
              <a:ext cx="4681536" cy="126581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340768">
                      <a:extLst>
                        <a:ext uri="{9D8B030D-6E8A-4147-A177-3AD203B41FA5}">
                          <a16:colId xmlns:a16="http://schemas.microsoft.com/office/drawing/2014/main" val="4092076368"/>
                        </a:ext>
                      </a:extLst>
                    </a:gridCol>
                    <a:gridCol w="2340768">
                      <a:extLst>
                        <a:ext uri="{9D8B030D-6E8A-4147-A177-3AD203B41FA5}">
                          <a16:colId xmlns:a16="http://schemas.microsoft.com/office/drawing/2014/main" val="78520500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ko-KR" sz="11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num>
                                  <m:den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den>
                                </m:f>
                                <m:r>
                                  <a:rPr lang="en-US" altLang="ko-KR" sz="110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1100" b="0" i="0" smtClean="0">
                                    <a:latin typeface="Cambria Math" panose="02040503050406030204" pitchFamily="18" charset="0"/>
                                  </a:rPr>
                                  <m:t>w</m:t>
                                </m:r>
                                <m:r>
                                  <a:rPr lang="en-US" altLang="ko-KR" sz="110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nary>
                                  <m:naryPr>
                                    <m:chr m:val="∑"/>
                                    <m:limLoc m:val="undOvr"/>
                                    <m:grow m:val="on"/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 smtClean="0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i="1" smtClean="0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lang="en-US" altLang="ko-KR" sz="1100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ko-KR" altLang="en-US" sz="1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sz="1100" b="0" i="0" smtClean="0">
                                    <a:latin typeface="Cambria Math" panose="02040503050406030204" pitchFamily="18" charset="0"/>
                                  </a:rPr>
                                  <m:t>w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limLoc m:val="undOvr"/>
                                    <m:grow m:val="on"/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 smtClean="0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i="1" smtClean="0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</m:oMath>
                            </m:oMathPara>
                          </a14:m>
                          <a:endParaRPr lang="ko-KR" altLang="en-US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946103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ko-KR" sz="11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num>
                                  <m:den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den>
                                </m:f>
                                <m:r>
                                  <a:rPr lang="en-US" altLang="ko-KR" sz="110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limLoc m:val="undOvr"/>
                                    <m:grow m:val="on"/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 smtClean="0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i="1" smtClean="0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lang="en-US" altLang="ko-KR" sz="1100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US" altLang="ko-KR" sz="1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limLoc m:val="undOvr"/>
                                    <m:grow m:val="on"/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 smtClean="0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i="1" smtClean="0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lang="en-US" altLang="ko-KR" sz="1100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US" altLang="ko-KR" sz="1100"/>
                        </a:p>
                        <a:p>
                          <a:pPr latinLnBrk="1"/>
                          <a:endParaRPr lang="ko-KR" altLang="en-US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6414227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1" name="표 24">
                <a:extLst>
                  <a:ext uri="{FF2B5EF4-FFF2-40B4-BE49-F238E27FC236}">
                    <a16:creationId xmlns:a16="http://schemas.microsoft.com/office/drawing/2014/main" id="{2AAA90BC-3A0C-4B93-8C1A-25194BABE03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1398077"/>
                  </p:ext>
                </p:extLst>
              </p:nvPr>
            </p:nvGraphicFramePr>
            <p:xfrm>
              <a:off x="3131820" y="3692847"/>
              <a:ext cx="4681536" cy="126581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340768">
                      <a:extLst>
                        <a:ext uri="{9D8B030D-6E8A-4147-A177-3AD203B41FA5}">
                          <a16:colId xmlns:a16="http://schemas.microsoft.com/office/drawing/2014/main" val="4092076368"/>
                        </a:ext>
                      </a:extLst>
                    </a:gridCol>
                    <a:gridCol w="2340768">
                      <a:extLst>
                        <a:ext uri="{9D8B030D-6E8A-4147-A177-3AD203B41FA5}">
                          <a16:colId xmlns:a16="http://schemas.microsoft.com/office/drawing/2014/main" val="785205006"/>
                        </a:ext>
                      </a:extLst>
                    </a:gridCol>
                  </a:tblGrid>
                  <a:tr h="549085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6"/>
                          <a:stretch>
                            <a:fillRect t="-93407" r="-99740" b="-2450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6"/>
                          <a:stretch>
                            <a:fillRect l="-100260" t="-93407" b="-2450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4610323"/>
                      </a:ext>
                    </a:extLst>
                  </a:tr>
                  <a:tr h="716725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6"/>
                          <a:stretch>
                            <a:fillRect t="-149153" r="-99740" b="-889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6"/>
                          <a:stretch>
                            <a:fillRect l="-100260" t="-149153" b="-8898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6414227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3" name="표 25">
                <a:extLst>
                  <a:ext uri="{FF2B5EF4-FFF2-40B4-BE49-F238E27FC236}">
                    <a16:creationId xmlns:a16="http://schemas.microsoft.com/office/drawing/2014/main" id="{A571CFB8-D013-46FB-A686-15637DC1E82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20017397"/>
                  </p:ext>
                </p:extLst>
              </p:nvPr>
            </p:nvGraphicFramePr>
            <p:xfrm>
              <a:off x="3124200" y="5099010"/>
              <a:ext cx="4681536" cy="498221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4681536">
                      <a:extLst>
                        <a:ext uri="{9D8B030D-6E8A-4147-A177-3AD203B41FA5}">
                          <a16:colId xmlns:a16="http://schemas.microsoft.com/office/drawing/2014/main" val="245639607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ko-KR" sz="11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d>
                                  <m:dPr>
                                    <m:ctrlPr>
                                      <a:rPr lang="en-US" altLang="ko-KR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1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  <m:r>
                                      <a:rPr lang="en-US" altLang="ko-KR" sz="11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11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  <m:r>
                                      <a:rPr lang="en-US" altLang="ko-KR" sz="11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11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d>
                                <m:r>
                                  <a:rPr lang="en-US" altLang="ko-KR" sz="11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ko-KR" sz="11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1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ko-KR" sz="11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sSup>
                                  <m:sSupPr>
                                    <m:ctrlPr>
                                      <a:rPr lang="en-US" altLang="ko-KR" sz="11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‖"/>
                                        <m:endChr m:val="‖"/>
                                        <m:ctrlPr>
                                          <a:rPr lang="en-US" altLang="ko-KR" sz="11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10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ko-KR" sz="1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ko-KR" sz="11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altLang="ko-KR" sz="11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ko-KR" sz="11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d>
                                  <m:d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altLang="ko-KR" sz="11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altLang="ko-KR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p>
                                        <m:sSub>
                                          <m:sSubPr>
                                            <m:ctrlPr>
                                              <a:rPr lang="en-US" altLang="ko-KR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d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altLang="ko-KR" sz="11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7231677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3" name="표 25">
                <a:extLst>
                  <a:ext uri="{FF2B5EF4-FFF2-40B4-BE49-F238E27FC236}">
                    <a16:creationId xmlns:a16="http://schemas.microsoft.com/office/drawing/2014/main" id="{A571CFB8-D013-46FB-A686-15637DC1E82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20017397"/>
                  </p:ext>
                </p:extLst>
              </p:nvPr>
            </p:nvGraphicFramePr>
            <p:xfrm>
              <a:off x="3124200" y="5099010"/>
              <a:ext cx="4681536" cy="498221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4681536">
                      <a:extLst>
                        <a:ext uri="{9D8B030D-6E8A-4147-A177-3AD203B41FA5}">
                          <a16:colId xmlns:a16="http://schemas.microsoft.com/office/drawing/2014/main" val="2456396075"/>
                        </a:ext>
                      </a:extLst>
                    </a:gridCol>
                  </a:tblGrid>
                  <a:tr h="49822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7"/>
                          <a:stretch>
                            <a:fillRect t="-114458" b="-15783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231677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82C96451-D0B7-45C3-BAB0-DB08AD618155}"/>
              </a:ext>
            </a:extLst>
          </p:cNvPr>
          <p:cNvSpPr txBox="1"/>
          <p:nvPr/>
        </p:nvSpPr>
        <p:spPr>
          <a:xfrm>
            <a:off x="251460" y="2231472"/>
            <a:ext cx="86492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>
                <a:latin typeface="+mn-ea"/>
              </a:rPr>
              <a:t>SVM</a:t>
            </a:r>
            <a:r>
              <a:rPr lang="ko-KR" altLang="en-US" sz="1100">
                <a:latin typeface="+mn-ea"/>
              </a:rPr>
              <a:t>을 라그랑주 승수법의 식에 대입을 하면 다음과 같음</a:t>
            </a:r>
            <a:endParaRPr lang="en-US" altLang="ko-KR" sz="1100">
              <a:latin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3B55D2D-3687-4AC2-BECF-6A18584AC095}"/>
                  </a:ext>
                </a:extLst>
              </p:cNvPr>
              <p:cNvSpPr txBox="1"/>
              <p:nvPr/>
            </p:nvSpPr>
            <p:spPr>
              <a:xfrm>
                <a:off x="259849" y="2894201"/>
                <a:ext cx="791718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100" b="0">
                    <a:highlight>
                      <a:srgbClr val="FFFF00"/>
                    </a:highlight>
                    <a:latin typeface="+mn-ea"/>
                  </a:rPr>
                  <a:t>위의 식을 바탕으로 </a:t>
                </a:r>
                <a:r>
                  <a:rPr lang="en-US" altLang="ko-KR" sz="1100" b="0">
                    <a:highlight>
                      <a:srgbClr val="FFFF00"/>
                    </a:highlight>
                    <a:latin typeface="+mn-ea"/>
                  </a:rPr>
                  <a:t>Lagrangian Primal</a:t>
                </a:r>
                <a:r>
                  <a:rPr lang="ko-KR" altLang="en-US" sz="1100" b="0">
                    <a:highlight>
                      <a:srgbClr val="FFFF00"/>
                    </a:highlight>
                    <a:latin typeface="+mn-ea"/>
                  </a:rPr>
                  <a:t>을 구할 수 있으며 </a:t>
                </a:r>
                <a:r>
                  <a:rPr lang="en-US" altLang="ko-KR" sz="1100">
                    <a:highlight>
                      <a:srgbClr val="FFFF00"/>
                    </a:highlight>
                    <a:latin typeface="+mn-ea"/>
                  </a:rPr>
                  <a:t>KKT</a:t>
                </a:r>
                <a:r>
                  <a:rPr lang="ko-KR" altLang="en-US" sz="1100">
                    <a:highlight>
                      <a:srgbClr val="FFFF00"/>
                    </a:highlight>
                    <a:latin typeface="+mn-ea"/>
                  </a:rPr>
                  <a:t>조건 </a:t>
                </a:r>
                <a:r>
                  <a:rPr lang="en-US" altLang="ko-KR" sz="1100">
                    <a:highlight>
                      <a:srgbClr val="FFFF00"/>
                    </a:highlight>
                    <a:latin typeface="+mn-ea"/>
                  </a:rPr>
                  <a:t>1</a:t>
                </a:r>
                <a:r>
                  <a:rPr lang="ko-KR" altLang="en-US" sz="1100">
                    <a:highlight>
                      <a:srgbClr val="FFFF00"/>
                    </a:highlight>
                    <a:latin typeface="+mn-ea"/>
                  </a:rPr>
                  <a:t>번조건을 적용하여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highlight>
                          <a:srgbClr val="FFFF00"/>
                        </a:highlight>
                        <a:latin typeface="+mn-ea"/>
                      </a:rPr>
                      <m:t>𝑤</m:t>
                    </m:r>
                    <m:r>
                      <a:rPr lang="en-US" altLang="ko-KR" sz="1100" b="0" i="1" smtClean="0">
                        <a:highlight>
                          <a:srgbClr val="FFFF00"/>
                        </a:highlight>
                        <a:latin typeface="+mn-ea"/>
                      </a:rPr>
                      <m:t>,</m:t>
                    </m:r>
                    <m:r>
                      <a:rPr lang="en-US" altLang="ko-KR" sz="1100" b="0" i="1" smtClean="0">
                        <a:highlight>
                          <a:srgbClr val="FFFF00"/>
                        </a:highlight>
                        <a:latin typeface="+mn-ea"/>
                      </a:rPr>
                      <m:t>𝑏</m:t>
                    </m:r>
                  </m:oMath>
                </a14:m>
                <a:r>
                  <a:rPr lang="ko-KR" altLang="en-US" sz="1100" b="0">
                    <a:highlight>
                      <a:srgbClr val="FFFF00"/>
                    </a:highlight>
                    <a:latin typeface="+mn-ea"/>
                  </a:rPr>
                  <a:t>를 구하여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highlight>
                          <a:srgbClr val="FFFF00"/>
                        </a:highlight>
                        <a:latin typeface="+mn-ea"/>
                      </a:rPr>
                      <m:t>𝛼</m:t>
                    </m:r>
                  </m:oMath>
                </a14:m>
                <a:r>
                  <a:rPr lang="ko-KR" altLang="en-US" sz="1100" b="0">
                    <a:highlight>
                      <a:srgbClr val="FFFF00"/>
                    </a:highlight>
                    <a:latin typeface="+mn-ea"/>
                  </a:rPr>
                  <a:t>식을 구할것이다</a:t>
                </a:r>
                <a:endParaRPr lang="en-US" altLang="ko-KR" sz="1100" b="0">
                  <a:highlight>
                    <a:srgbClr val="FFFF00"/>
                  </a:highlight>
                  <a:latin typeface="+mn-ea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3B55D2D-3687-4AC2-BECF-6A18584AC0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849" y="2894201"/>
                <a:ext cx="7917180" cy="261610"/>
              </a:xfrm>
              <a:prstGeom prst="rect">
                <a:avLst/>
              </a:prstGeom>
              <a:blipFill>
                <a:blip r:embed="rId8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B346EFA-09E4-4231-A49A-5B1B81171F22}"/>
                  </a:ext>
                </a:extLst>
              </p:cNvPr>
              <p:cNvSpPr txBox="1"/>
              <p:nvPr/>
            </p:nvSpPr>
            <p:spPr>
              <a:xfrm>
                <a:off x="251460" y="3531764"/>
                <a:ext cx="8649259" cy="264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100">
                    <a:latin typeface="+mn-ea"/>
                  </a:rPr>
                  <a:t>KKT </a:t>
                </a:r>
                <a:r>
                  <a:rPr lang="ko-KR" altLang="en-US" sz="1100">
                    <a:latin typeface="+mn-ea"/>
                  </a:rPr>
                  <a:t>첫번째 조건인 </a:t>
                </a:r>
                <a:r>
                  <a:rPr lang="en-US" altLang="ko-KR" sz="1100">
                    <a:latin typeface="+mn-ea"/>
                  </a:rPr>
                  <a:t>stationarity</a:t>
                </a:r>
                <a:r>
                  <a:rPr lang="ko-KR" altLang="en-US" sz="1100">
                    <a:latin typeface="+mn-ea"/>
                  </a:rPr>
                  <a:t>을 적용</a:t>
                </a:r>
                <a:r>
                  <a:rPr lang="en-US" altLang="ko-KR" sz="1100">
                    <a:latin typeface="+mn-ea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ko-KR" altLang="en-US" sz="1100">
                    <a:latin typeface="+mn-ea"/>
                  </a:rPr>
                  <a:t>편미분</a:t>
                </a:r>
                <a:r>
                  <a:rPr lang="en-US" altLang="ko-KR" sz="1100">
                    <a:latin typeface="+mn-ea"/>
                  </a:rPr>
                  <a:t>)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B346EFA-09E4-4231-A49A-5B1B81171F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60" y="3531764"/>
                <a:ext cx="8649259" cy="264816"/>
              </a:xfrm>
              <a:prstGeom prst="rect">
                <a:avLst/>
              </a:prstGeom>
              <a:blipFill>
                <a:blip r:embed="rId9"/>
                <a:stretch>
                  <a:fillRect t="-2273" b="-1136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F9904C4E-B1B5-411E-8119-4717E1D4B6E7}"/>
              </a:ext>
            </a:extLst>
          </p:cNvPr>
          <p:cNvSpPr txBox="1"/>
          <p:nvPr/>
        </p:nvSpPr>
        <p:spPr>
          <a:xfrm>
            <a:off x="251460" y="4874003"/>
            <a:ext cx="86492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>
                <a:latin typeface="+mn-ea"/>
              </a:rPr>
              <a:t>위의 식을 아래 식에 대입을 하여 정리</a:t>
            </a:r>
            <a:endParaRPr lang="en-US" altLang="ko-KR" sz="1100">
              <a:latin typeface="+mn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BB2D2A6-3345-4F9A-A36B-819811ECBE7F}"/>
              </a:ext>
            </a:extLst>
          </p:cNvPr>
          <p:cNvSpPr txBox="1"/>
          <p:nvPr/>
        </p:nvSpPr>
        <p:spPr>
          <a:xfrm>
            <a:off x="1761688" y="5597231"/>
            <a:ext cx="47733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/>
              <a:t>SVM</a:t>
            </a:r>
            <a:r>
              <a:rPr lang="ko-KR" altLang="en-US" sz="1100"/>
              <a:t>의 라그랑주 승수법에 </a:t>
            </a:r>
            <a:r>
              <a:rPr lang="en-US" altLang="ko-KR" sz="1100"/>
              <a:t>KKT </a:t>
            </a:r>
            <a:r>
              <a:rPr lang="ko-KR" altLang="en-US" sz="1100"/>
              <a:t>첫번째 조건을 적용한 식은 다음과 같음</a:t>
            </a:r>
          </a:p>
        </p:txBody>
      </p:sp>
    </p:spTree>
    <p:extLst>
      <p:ext uri="{BB962C8B-B14F-4D97-AF65-F5344CB8AC3E}">
        <p14:creationId xmlns:p14="http://schemas.microsoft.com/office/powerpoint/2010/main" val="41920312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21"/>
          <p:cNvSpPr txBox="1">
            <a:spLocks noGrp="1"/>
          </p:cNvSpPr>
          <p:nvPr>
            <p:ph type="body" sz="quarter" idx="11" hasCustomPrompt="1"/>
          </p:nvPr>
        </p:nvSpPr>
        <p:spPr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 latinLnBrk="0">
              <a:buFontTx/>
              <a:buNone/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>
              <a:buNone/>
            </a:pPr>
            <a:r>
              <a:rPr lang="en-US" altLang="ko-KR"/>
              <a:t>Lagrangian Primal</a:t>
            </a: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709F87-FBC7-49B7-A838-9D6CE7CA1958}"/>
              </a:ext>
            </a:extLst>
          </p:cNvPr>
          <p:cNvSpPr txBox="1"/>
          <p:nvPr/>
        </p:nvSpPr>
        <p:spPr>
          <a:xfrm>
            <a:off x="260216" y="1276574"/>
            <a:ext cx="850201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ko-KR" sz="1100"/>
              <a:t>SVM</a:t>
            </a:r>
            <a:r>
              <a:rPr lang="ko-KR" altLang="en-US" sz="1100"/>
              <a:t>의 라그랑주 승수법을 나눠서 계산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DFA9305E-28C7-4C65-A641-C4F5D18A2C61}"/>
              </a:ext>
            </a:extLst>
          </p:cNvPr>
          <p:cNvGrpSpPr/>
          <p:nvPr/>
        </p:nvGrpSpPr>
        <p:grpSpPr>
          <a:xfrm>
            <a:off x="3944678" y="2111066"/>
            <a:ext cx="2031912" cy="315417"/>
            <a:chOff x="4147850" y="4011859"/>
            <a:chExt cx="2039560" cy="315417"/>
          </a:xfrm>
        </p:grpSpPr>
        <p:sp>
          <p:nvSpPr>
            <p:cNvPr id="10" name="왼쪽 중괄호 9">
              <a:extLst>
                <a:ext uri="{FF2B5EF4-FFF2-40B4-BE49-F238E27FC236}">
                  <a16:creationId xmlns:a16="http://schemas.microsoft.com/office/drawing/2014/main" id="{BF9DDCCE-2687-4634-B7E6-EE91EA7E93B3}"/>
                </a:ext>
              </a:extLst>
            </p:cNvPr>
            <p:cNvSpPr/>
            <p:nvPr/>
          </p:nvSpPr>
          <p:spPr>
            <a:xfrm rot="16200000">
              <a:off x="4290261" y="3869449"/>
              <a:ext cx="131675" cy="416497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왼쪽 중괄호 12">
              <a:extLst>
                <a:ext uri="{FF2B5EF4-FFF2-40B4-BE49-F238E27FC236}">
                  <a16:creationId xmlns:a16="http://schemas.microsoft.com/office/drawing/2014/main" id="{304654CD-3C4B-471D-B0B0-9BAB3708DE08}"/>
                </a:ext>
              </a:extLst>
            </p:cNvPr>
            <p:cNvSpPr/>
            <p:nvPr/>
          </p:nvSpPr>
          <p:spPr>
            <a:xfrm rot="16200000">
              <a:off x="5427487" y="3383611"/>
              <a:ext cx="131675" cy="1388171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DA279145-7375-4489-B290-B6FDE774C608}"/>
                </a:ext>
              </a:extLst>
            </p:cNvPr>
            <p:cNvSpPr/>
            <p:nvPr/>
          </p:nvSpPr>
          <p:spPr>
            <a:xfrm>
              <a:off x="4277356" y="4195599"/>
              <a:ext cx="177741" cy="1316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>
                  <a:solidFill>
                    <a:schemeClr val="tx1"/>
                  </a:solidFill>
                </a:rPr>
                <a:t>1</a:t>
              </a:r>
              <a:endParaRPr lang="ko-KR" altLang="en-US" sz="1100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6CFF6A5E-624F-4051-BF8A-74AB8FDB0F86}"/>
                </a:ext>
              </a:extLst>
            </p:cNvPr>
            <p:cNvSpPr/>
            <p:nvPr/>
          </p:nvSpPr>
          <p:spPr>
            <a:xfrm>
              <a:off x="5433640" y="4195599"/>
              <a:ext cx="177741" cy="1316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>
                  <a:solidFill>
                    <a:schemeClr val="tx1"/>
                  </a:solidFill>
                </a:rPr>
                <a:t>2</a:t>
              </a:r>
              <a:endParaRPr lang="ko-KR" altLang="en-US" sz="110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2" name="표 6">
                <a:extLst>
                  <a:ext uri="{FF2B5EF4-FFF2-40B4-BE49-F238E27FC236}">
                    <a16:creationId xmlns:a16="http://schemas.microsoft.com/office/drawing/2014/main" id="{740929BD-1793-48C6-B223-8E6831B6715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56462394"/>
                  </p:ext>
                </p:extLst>
              </p:nvPr>
            </p:nvGraphicFramePr>
            <p:xfrm>
              <a:off x="1308538" y="3243879"/>
              <a:ext cx="2110496" cy="2261011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110496">
                      <a:extLst>
                        <a:ext uri="{9D8B030D-6E8A-4147-A177-3AD203B41FA5}">
                          <a16:colId xmlns:a16="http://schemas.microsoft.com/office/drawing/2014/main" val="3676266171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sSup>
                                  <m:sSupPr>
                                    <m:ctrlP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p>
                                    <m: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r>
                                  <a:rPr lang="en-US" altLang="ko-KR" sz="1100" b="0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sSup>
                                  <m:sSupPr>
                                    <m:ctrlP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p>
                                    <m: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nary>
                                  <m:naryPr>
                                    <m:chr m:val="∑"/>
                                    <m:limLoc m:val="undOvr"/>
                                    <m:grow m:val="on"/>
                                    <m:ctrlP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/>
                                        <m:aln/>
                                      </m:rP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ko-KR" sz="1100" b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nary>
                              </m:oMath>
                            </m:oMathPara>
                          </a14:m>
                          <a:endParaRPr lang="ko-KR" altLang="en-US" sz="1100" b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259450"/>
                      </a:ext>
                    </a:extLst>
                  </a:tr>
                  <a:tr h="441314">
                    <a:tc>
                      <a:txBody>
                        <a:bodyPr/>
                        <a:lstStyle/>
                        <a:p>
                          <a:pPr algn="l"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nary>
                                  <m:naryPr>
                                    <m:chr m:val="∑"/>
                                    <m:limLoc m:val="undOvr"/>
                                    <m:grow m:val="on"/>
                                    <m:ctrlP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/>
                                        <m:aln/>
                                      </m:rP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ko-KR" sz="1100" b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r>
                                      <a:rPr lang="en-US" altLang="ko-KR" sz="1100" b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p>
                                      <m:sSupPr>
                                        <m:ctrlP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p>
                                        <m: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  <m:sSub>
                                      <m:sSub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r>
                                      <a:rPr lang="en-US" altLang="ko-KR" sz="1100" b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ko-KR" altLang="en-US" sz="1100" b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83362445"/>
                      </a:ext>
                    </a:extLst>
                  </a:tr>
                  <a:tr h="44131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nary>
                                  <m:naryPr>
                                    <m:chr m:val="∑"/>
                                    <m:limLoc m:val="undOvr"/>
                                    <m:grow m:val="on"/>
                                    <m:ctrlP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/>
                                        <m:aln/>
                                      </m:rP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 b="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Sup>
                                      <m:sSubSup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  <m:sup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bSup>
                                    <m:sSub>
                                      <m:sSub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altLang="ko-KR" sz="1100" b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4191560"/>
                      </a:ext>
                    </a:extLst>
                  </a:tr>
                  <a:tr h="556798">
                    <a:tc>
                      <a:txBody>
                        <a:bodyPr/>
                        <a:lstStyle/>
                        <a:p>
                          <a:pPr algn="r"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nary>
                                  <m:naryPr>
                                    <m:chr m:val="∑"/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nary>
                                      <m:naryPr>
                                        <m:chr m:val="∑"/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23"/>
                                          </m:r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p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11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 b="0" i="1">
                                                <a:latin typeface="Cambria Math" panose="02040503050406030204" pitchFamily="18" charset="0"/>
                                              </a:rPr>
                                              <m:t>𝛼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 b="0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altLang="ko-KR" sz="1100" b="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 b="0" i="1">
                                                <a:latin typeface="Cambria Math" panose="02040503050406030204" pitchFamily="18" charset="0"/>
                                              </a:rPr>
                                              <m:t>𝛼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 b="0" i="1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altLang="ko-KR" sz="1100" b="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 b="0" i="1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 b="0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altLang="ko-KR" sz="1100" b="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 b="0" i="1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 b="0" i="1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  <m:sSubSup>
                                          <m:sSubSupPr>
                                            <m:ctrlPr>
                                              <a:rPr lang="en-US" altLang="ko-KR" sz="1100" b="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altLang="ko-KR" sz="1100" b="0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 b="0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ko-KR" sz="1100" b="0" i="1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bSup>
                                        <m:sSub>
                                          <m:sSubPr>
                                            <m:ctrlPr>
                                              <a:rPr lang="en-US" altLang="ko-KR" sz="1100" b="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 b="0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 b="0" i="1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</m:e>
                                    </m:nary>
                                  </m:e>
                                </m:nary>
                              </m:oMath>
                            </m:oMathPara>
                          </a14:m>
                          <a:endParaRPr lang="ko-KR" altLang="en-US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4613659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2" name="표 6">
                <a:extLst>
                  <a:ext uri="{FF2B5EF4-FFF2-40B4-BE49-F238E27FC236}">
                    <a16:creationId xmlns:a16="http://schemas.microsoft.com/office/drawing/2014/main" id="{740929BD-1793-48C6-B223-8E6831B6715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56462394"/>
                  </p:ext>
                </p:extLst>
              </p:nvPr>
            </p:nvGraphicFramePr>
            <p:xfrm>
              <a:off x="1308538" y="3243879"/>
              <a:ext cx="2110496" cy="2261011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110496">
                      <a:extLst>
                        <a:ext uri="{9D8B030D-6E8A-4147-A177-3AD203B41FA5}">
                          <a16:colId xmlns:a16="http://schemas.microsoft.com/office/drawing/2014/main" val="3676266171"/>
                        </a:ext>
                      </a:extLst>
                    </a:gridCol>
                  </a:tblGrid>
                  <a:tr h="56807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t="-92473" b="-44086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6259450"/>
                      </a:ext>
                    </a:extLst>
                  </a:tr>
                  <a:tr h="56807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t="-190426" b="-3361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83362445"/>
                      </a:ext>
                    </a:extLst>
                  </a:tr>
                  <a:tr h="56807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t="-293548" b="-2397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34191560"/>
                      </a:ext>
                    </a:extLst>
                  </a:tr>
                  <a:tr h="556798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t="-397826" b="-1423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4613659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5" name="표 25">
                <a:extLst>
                  <a:ext uri="{FF2B5EF4-FFF2-40B4-BE49-F238E27FC236}">
                    <a16:creationId xmlns:a16="http://schemas.microsoft.com/office/drawing/2014/main" id="{3C670122-1706-4831-9F0F-DEEA9AFD6A8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36693355"/>
                  </p:ext>
                </p:extLst>
              </p:nvPr>
            </p:nvGraphicFramePr>
            <p:xfrm>
              <a:off x="3154680" y="1616877"/>
              <a:ext cx="4465320" cy="498221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4465320">
                      <a:extLst>
                        <a:ext uri="{9D8B030D-6E8A-4147-A177-3AD203B41FA5}">
                          <a16:colId xmlns:a16="http://schemas.microsoft.com/office/drawing/2014/main" val="245639607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ko-KR" sz="11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d>
                                  <m:dPr>
                                    <m:ctrlPr>
                                      <a:rPr lang="en-US" altLang="ko-KR" sz="1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1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  <m:r>
                                      <a:rPr lang="en-US" altLang="ko-KR" sz="11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11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  <m:r>
                                      <a:rPr lang="en-US" altLang="ko-KR" sz="11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11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d>
                                <m:r>
                                  <a:rPr lang="en-US" altLang="ko-KR" sz="11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ko-KR" sz="11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1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ko-KR" sz="11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sSup>
                                  <m:sSupPr>
                                    <m:ctrlPr>
                                      <a:rPr lang="en-US" altLang="ko-KR" sz="11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‖"/>
                                        <m:endChr m:val="‖"/>
                                        <m:ctrlPr>
                                          <a:rPr lang="en-US" altLang="ko-KR" sz="11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10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ko-KR" sz="11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ko-KR" sz="11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altLang="ko-KR" sz="11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ko-KR" sz="11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d>
                                  <m:d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altLang="ko-KR" sz="11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altLang="ko-KR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p>
                                        <m:sSub>
                                          <m:sSubPr>
                                            <m:ctrlPr>
                                              <a:rPr lang="en-US" altLang="ko-KR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d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altLang="ko-KR" sz="11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7231677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5" name="표 25">
                <a:extLst>
                  <a:ext uri="{FF2B5EF4-FFF2-40B4-BE49-F238E27FC236}">
                    <a16:creationId xmlns:a16="http://schemas.microsoft.com/office/drawing/2014/main" id="{3C670122-1706-4831-9F0F-DEEA9AFD6A8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36693355"/>
                  </p:ext>
                </p:extLst>
              </p:nvPr>
            </p:nvGraphicFramePr>
            <p:xfrm>
              <a:off x="3154680" y="1616877"/>
              <a:ext cx="4465320" cy="498221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4465320">
                      <a:extLst>
                        <a:ext uri="{9D8B030D-6E8A-4147-A177-3AD203B41FA5}">
                          <a16:colId xmlns:a16="http://schemas.microsoft.com/office/drawing/2014/main" val="2456396075"/>
                        </a:ext>
                      </a:extLst>
                    </a:gridCol>
                  </a:tblGrid>
                  <a:tr h="49822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t="-115854" b="-1609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231677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0" name="타원 29">
            <a:extLst>
              <a:ext uri="{FF2B5EF4-FFF2-40B4-BE49-F238E27FC236}">
                <a16:creationId xmlns:a16="http://schemas.microsoft.com/office/drawing/2014/main" id="{6EC2A079-BB2D-4FEE-912F-17817D047FC1}"/>
              </a:ext>
            </a:extLst>
          </p:cNvPr>
          <p:cNvSpPr/>
          <p:nvPr/>
        </p:nvSpPr>
        <p:spPr>
          <a:xfrm>
            <a:off x="354992" y="3088440"/>
            <a:ext cx="177075" cy="1316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solidFill>
                  <a:schemeClr val="tx1"/>
                </a:solidFill>
              </a:rPr>
              <a:t>1</a:t>
            </a:r>
            <a:endParaRPr lang="ko-KR" altLang="en-US" sz="1100">
              <a:solidFill>
                <a:schemeClr val="tx1"/>
              </a:solidFill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D09CD308-B65E-4E24-AEB0-7FDDF98DE83F}"/>
              </a:ext>
            </a:extLst>
          </p:cNvPr>
          <p:cNvSpPr/>
          <p:nvPr/>
        </p:nvSpPr>
        <p:spPr>
          <a:xfrm>
            <a:off x="3241959" y="3088440"/>
            <a:ext cx="177075" cy="1316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solidFill>
                  <a:schemeClr val="tx1"/>
                </a:solidFill>
              </a:rPr>
              <a:t>2</a:t>
            </a:r>
            <a:endParaRPr lang="ko-KR" altLang="en-US" sz="110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2" name="표 20">
                <a:extLst>
                  <a:ext uri="{FF2B5EF4-FFF2-40B4-BE49-F238E27FC236}">
                    <a16:creationId xmlns:a16="http://schemas.microsoft.com/office/drawing/2014/main" id="{21717173-3F00-467B-AFCA-A46F6E21444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63859024"/>
                  </p:ext>
                </p:extLst>
              </p:nvPr>
            </p:nvGraphicFramePr>
            <p:xfrm>
              <a:off x="3098801" y="3196001"/>
              <a:ext cx="4643581" cy="1833881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079505">
                      <a:extLst>
                        <a:ext uri="{9D8B030D-6E8A-4147-A177-3AD203B41FA5}">
                          <a16:colId xmlns:a16="http://schemas.microsoft.com/office/drawing/2014/main" val="2050505350"/>
                        </a:ext>
                      </a:extLst>
                    </a:gridCol>
                    <a:gridCol w="2564076">
                      <a:extLst>
                        <a:ext uri="{9D8B030D-6E8A-4147-A177-3AD203B41FA5}">
                          <a16:colId xmlns:a16="http://schemas.microsoft.com/office/drawing/2014/main" val="428041810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r" latinLnBrk="1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US" altLang="ko-KR" sz="110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altLang="ko-KR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d>
                                  <m:dPr>
                                    <m:ctrlPr>
                                      <a:rPr lang="en-US" altLang="ko-KR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altLang="ko-KR" sz="11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altLang="ko-KR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p>
                                        <m:sSub>
                                          <m:sSubPr>
                                            <m:ctrlPr>
                                              <a:rPr lang="en-US" altLang="ko-KR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d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ko-KR" altLang="en-US" sz="1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ko-KR" sz="1100" smtClean="0"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altLang="ko-KR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altLang="ko-KR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p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  <m:sSub>
                                      <m:sSubPr>
                                        <m:ctrlPr>
                                          <a:rPr lang="en-US" altLang="ko-KR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</m:d>
                                <m:r>
                                  <a:rPr lang="en-US" altLang="ko-KR" sz="110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altLang="ko-KR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</m:oMath>
                            </m:oMathPara>
                          </a14:m>
                          <a:endParaRPr lang="ko-KR" altLang="en-US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079498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 latinLnBrk="1"/>
                          <a:endParaRPr lang="ko-KR" altLang="en-US" sz="1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ko-KR" sz="1100" smtClean="0"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altLang="ko-KR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sSub>
                                  <m:sSubPr>
                                    <m:ctrlPr>
                                      <a:rPr lang="en-US" altLang="ko-KR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en-US" altLang="ko-KR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p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n-US" altLang="ko-KR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ko-KR" sz="110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ko-KR" sz="110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altLang="ko-KR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sSub>
                                  <m:sSubPr>
                                    <m:ctrlPr>
                                      <a:rPr lang="en-US" altLang="ko-KR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ko-KR" sz="110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altLang="ko-KR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</m:oMath>
                            </m:oMathPara>
                          </a14:m>
                          <a:endParaRPr lang="en-US" altLang="ko-KR" sz="1100"/>
                        </a:p>
                        <a:p>
                          <a:pPr latinLnBrk="1"/>
                          <a:endParaRPr lang="ko-KR" altLang="en-US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114372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 latinLnBrk="1"/>
                          <a:endParaRPr lang="ko-KR" altLang="en-US" sz="1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ko-KR" sz="1100" smtClean="0"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altLang="ko-KR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nary>
                                      <m:naryPr>
                                        <m:chr m:val="∑"/>
                                        <m:ctrlPr>
                                          <a:rPr lang="en-US" altLang="ko-KR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23"/>
                                          </m:rP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p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𝛼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altLang="ko-KR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𝛼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altLang="ko-KR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altLang="ko-KR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  <m:sSubSup>
                                          <m:sSubSupPr>
                                            <m:ctrlPr>
                                              <a:rPr lang="en-US" altLang="ko-KR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bSup>
                                        <m:sSub>
                                          <m:sSubPr>
                                            <m:ctrlPr>
                                              <a:rPr lang="en-US" altLang="ko-KR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</m:e>
                                    </m:nary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nary>
                                      <m:naryPr>
                                        <m:chr m:val="∑"/>
                                        <m:ctrlPr>
                                          <a:rPr lang="en-US" altLang="ko-KR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23"/>
                                          </m:rP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p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𝛼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nary>
                                  </m:e>
                                </m:nary>
                              </m:oMath>
                            </m:oMathPara>
                          </a14:m>
                          <a:endParaRPr lang="ko-KR" altLang="en-US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4923212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2" name="표 20">
                <a:extLst>
                  <a:ext uri="{FF2B5EF4-FFF2-40B4-BE49-F238E27FC236}">
                    <a16:creationId xmlns:a16="http://schemas.microsoft.com/office/drawing/2014/main" id="{21717173-3F00-467B-AFCA-A46F6E21444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63859024"/>
                  </p:ext>
                </p:extLst>
              </p:nvPr>
            </p:nvGraphicFramePr>
            <p:xfrm>
              <a:off x="3098801" y="3196001"/>
              <a:ext cx="4643581" cy="1833881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079505">
                      <a:extLst>
                        <a:ext uri="{9D8B030D-6E8A-4147-A177-3AD203B41FA5}">
                          <a16:colId xmlns:a16="http://schemas.microsoft.com/office/drawing/2014/main" val="2050505350"/>
                        </a:ext>
                      </a:extLst>
                    </a:gridCol>
                    <a:gridCol w="2564076">
                      <a:extLst>
                        <a:ext uri="{9D8B030D-6E8A-4147-A177-3AD203B41FA5}">
                          <a16:colId xmlns:a16="http://schemas.microsoft.com/office/drawing/2014/main" val="4280418108"/>
                        </a:ext>
                      </a:extLst>
                    </a:gridCol>
                  </a:tblGrid>
                  <a:tr h="549085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t="-95556" r="-123099" b="-3788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81235" t="-95556" b="-3788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07949838"/>
                      </a:ext>
                    </a:extLst>
                  </a:tr>
                  <a:tr h="716725">
                    <a:tc>
                      <a:txBody>
                        <a:bodyPr/>
                        <a:lstStyle/>
                        <a:p>
                          <a:pPr algn="r" latinLnBrk="1"/>
                          <a:endParaRPr lang="ko-KR" altLang="en-US" sz="1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81235" t="-149153" b="-18898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1437212"/>
                      </a:ext>
                    </a:extLst>
                  </a:tr>
                  <a:tr h="568071">
                    <a:tc>
                      <a:txBody>
                        <a:bodyPr/>
                        <a:lstStyle/>
                        <a:p>
                          <a:pPr algn="r" latinLnBrk="1"/>
                          <a:endParaRPr lang="ko-KR" altLang="en-US" sz="1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81235" t="-312766" b="-13723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923212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3" name="표 21">
                <a:extLst>
                  <a:ext uri="{FF2B5EF4-FFF2-40B4-BE49-F238E27FC236}">
                    <a16:creationId xmlns:a16="http://schemas.microsoft.com/office/drawing/2014/main" id="{669AF4B2-6D21-4CDC-9C90-C6C50FC218C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49190040"/>
                  </p:ext>
                </p:extLst>
              </p:nvPr>
            </p:nvGraphicFramePr>
            <p:xfrm>
              <a:off x="3154680" y="5811802"/>
              <a:ext cx="2331720" cy="549085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331720">
                      <a:extLst>
                        <a:ext uri="{9D8B030D-6E8A-4147-A177-3AD203B41FA5}">
                          <a16:colId xmlns:a16="http://schemas.microsoft.com/office/drawing/2014/main" val="942172168"/>
                        </a:ext>
                      </a:extLst>
                    </a:gridCol>
                  </a:tblGrid>
                  <a:tr h="546608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nary>
                                      <m:naryPr>
                                        <m:chr m:val="∑"/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23"/>
                                          </m:rP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p>
                                      <m:e>
                                        <m:nary>
                                          <m:naryPr>
                                            <m:chr m:val="∑"/>
                                            <m:ctrlPr>
                                              <a:rPr lang="en-US" altLang="ko-KR" sz="11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naryPr>
                                          <m:sub>
                                            <m:r>
                                              <m:rPr>
                                                <m:brk m:alnAt="23"/>
                                              </m:rP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  <m: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=1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sup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ko-KR" sz="11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ko-KR" sz="1100" b="0" smtClean="0">
                                                    <a:latin typeface="Cambria Math" panose="02040503050406030204" pitchFamily="18" charset="0"/>
                                                  </a:rPr>
                                                  <m:t>𝛼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ko-KR" sz="1100" b="0" smtClean="0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</m:e>
                                        </m:nary>
                                        <m:sSub>
                                          <m:sSubPr>
                                            <m:ctrlPr>
                                              <a:rPr lang="en-US" altLang="ko-KR" sz="11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𝛼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altLang="ko-KR" sz="11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altLang="ko-KR" sz="11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  <m:sSubSup>
                                          <m:sSubSupPr>
                                            <m:ctrlPr>
                                              <a:rPr lang="en-US" altLang="ko-KR" sz="11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bSup>
                                        <m:sSub>
                                          <m:sSubPr>
                                            <m:ctrlPr>
                                              <a:rPr lang="en-US" altLang="ko-KR" sz="11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</m:e>
                                    </m:nary>
                                  </m:e>
                                </m:nary>
                              </m:oMath>
                            </m:oMathPara>
                          </a14:m>
                          <a:endParaRPr lang="ko-KR" altLang="en-US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7810326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3" name="표 21">
                <a:extLst>
                  <a:ext uri="{FF2B5EF4-FFF2-40B4-BE49-F238E27FC236}">
                    <a16:creationId xmlns:a16="http://schemas.microsoft.com/office/drawing/2014/main" id="{669AF4B2-6D21-4CDC-9C90-C6C50FC218C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49190040"/>
                  </p:ext>
                </p:extLst>
              </p:nvPr>
            </p:nvGraphicFramePr>
            <p:xfrm>
              <a:off x="3154680" y="5811802"/>
              <a:ext cx="2331720" cy="549085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331720">
                      <a:extLst>
                        <a:ext uri="{9D8B030D-6E8A-4147-A177-3AD203B41FA5}">
                          <a16:colId xmlns:a16="http://schemas.microsoft.com/office/drawing/2014/main" val="942172168"/>
                        </a:ext>
                      </a:extLst>
                    </a:gridCol>
                  </a:tblGrid>
                  <a:tr h="549085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6"/>
                          <a:stretch>
                            <a:fillRect t="-94505" b="-1450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7810326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4" name="직사각형 33">
            <a:extLst>
              <a:ext uri="{FF2B5EF4-FFF2-40B4-BE49-F238E27FC236}">
                <a16:creationId xmlns:a16="http://schemas.microsoft.com/office/drawing/2014/main" id="{1CA2C525-A7ED-42D5-AA01-258D6FDFF1E9}"/>
              </a:ext>
            </a:extLst>
          </p:cNvPr>
          <p:cNvSpPr/>
          <p:nvPr/>
        </p:nvSpPr>
        <p:spPr>
          <a:xfrm>
            <a:off x="4862514" y="127532"/>
            <a:ext cx="4185916" cy="8001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/>
              <a:t>최고차항의 계수가 음수가 됨으로서 최소값 찾는 문제가 최대값 찾는 문제로 바뀌었다 </a:t>
            </a:r>
            <a:r>
              <a:rPr lang="en-US" altLang="ko-KR" sz="1100"/>
              <a:t>=&gt; dual</a:t>
            </a:r>
            <a:r>
              <a:rPr lang="ko-KR" altLang="en-US" sz="1100"/>
              <a:t>문제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0781BE-8C24-4BB9-9439-69B3EAEC2EFD}"/>
              </a:ext>
            </a:extLst>
          </p:cNvPr>
          <p:cNvSpPr txBox="1"/>
          <p:nvPr/>
        </p:nvSpPr>
        <p:spPr>
          <a:xfrm>
            <a:off x="260216" y="2469314"/>
            <a:ext cx="6937538" cy="3186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/>
              <a:t>1</a:t>
            </a:r>
            <a:r>
              <a:rPr lang="ko-KR" altLang="en-US" sz="1100"/>
              <a:t>번식과 </a:t>
            </a:r>
            <a:r>
              <a:rPr lang="en-US" altLang="ko-KR" sz="1100"/>
              <a:t>2</a:t>
            </a:r>
            <a:r>
              <a:rPr lang="ko-KR" altLang="en-US" sz="1100"/>
              <a:t>번식을 정리하면 다음과 같음</a:t>
            </a:r>
            <a:endParaRPr lang="en-US" altLang="ko-KR" sz="11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5FF39EB-47D5-445D-ABAA-0DC19A8D88A9}"/>
              </a:ext>
            </a:extLst>
          </p:cNvPr>
          <p:cNvSpPr txBox="1"/>
          <p:nvPr/>
        </p:nvSpPr>
        <p:spPr>
          <a:xfrm>
            <a:off x="260216" y="5554026"/>
            <a:ext cx="8502015" cy="3186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/>
              <a:t>SVM</a:t>
            </a:r>
            <a:r>
              <a:rPr lang="ko-KR" altLang="en-US" sz="1100"/>
              <a:t>의 라그랑주 승수법에 </a:t>
            </a:r>
            <a:r>
              <a:rPr lang="en-US" altLang="ko-KR" sz="1100"/>
              <a:t>KKT </a:t>
            </a:r>
            <a:r>
              <a:rPr lang="ko-KR" altLang="en-US" sz="1100"/>
              <a:t>첫번째 조건을 적용한 식은 다음과 같음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표 6">
                <a:extLst>
                  <a:ext uri="{FF2B5EF4-FFF2-40B4-BE49-F238E27FC236}">
                    <a16:creationId xmlns:a16="http://schemas.microsoft.com/office/drawing/2014/main" id="{E3E03DA0-41AF-4C19-8266-42F35BA667E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85244543"/>
                  </p:ext>
                </p:extLst>
              </p:nvPr>
            </p:nvGraphicFramePr>
            <p:xfrm>
              <a:off x="260216" y="3314353"/>
              <a:ext cx="1048322" cy="405257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048322">
                      <a:extLst>
                        <a:ext uri="{9D8B030D-6E8A-4147-A177-3AD203B41FA5}">
                          <a16:colId xmlns:a16="http://schemas.microsoft.com/office/drawing/2014/main" val="2890643878"/>
                        </a:ext>
                      </a:extLst>
                    </a:gridCol>
                  </a:tblGrid>
                  <a:tr h="36775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ko-KR" sz="1100" b="0" smtClean="0"/>
                                    </m:ctrlPr>
                                  </m:fPr>
                                  <m:num>
                                    <m:r>
                                      <a:rPr lang="en-US" altLang="ko-KR" sz="1100" b="0" smtClean="0"/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ko-KR" sz="1100" b="0" smtClean="0"/>
                                      <m:t>2</m:t>
                                    </m:r>
                                  </m:den>
                                </m:f>
                                <m:sSup>
                                  <m:sSupPr>
                                    <m:ctrlPr>
                                      <a:rPr lang="en-US" altLang="ko-KR" sz="1100" b="0" smtClean="0"/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‖"/>
                                        <m:endChr m:val="‖"/>
                                        <m:ctrlPr>
                                          <a:rPr lang="en-US" altLang="ko-KR" sz="1100" b="0"/>
                                        </m:ctrlPr>
                                      </m:dPr>
                                      <m:e>
                                        <m:r>
                                          <a:rPr lang="en-US" altLang="ko-KR" sz="1100" b="0"/>
                                          <m:t>𝑤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ko-KR" sz="1100" b="0"/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sz="1100" b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0393565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표 6">
                <a:extLst>
                  <a:ext uri="{FF2B5EF4-FFF2-40B4-BE49-F238E27FC236}">
                    <a16:creationId xmlns:a16="http://schemas.microsoft.com/office/drawing/2014/main" id="{E3E03DA0-41AF-4C19-8266-42F35BA667E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85244543"/>
                  </p:ext>
                </p:extLst>
              </p:nvPr>
            </p:nvGraphicFramePr>
            <p:xfrm>
              <a:off x="260216" y="3314353"/>
              <a:ext cx="1048322" cy="405257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048322">
                      <a:extLst>
                        <a:ext uri="{9D8B030D-6E8A-4147-A177-3AD203B41FA5}">
                          <a16:colId xmlns:a16="http://schemas.microsoft.com/office/drawing/2014/main" val="2890643878"/>
                        </a:ext>
                      </a:extLst>
                    </a:gridCol>
                  </a:tblGrid>
                  <a:tr h="405257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7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393565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6" name="표 23">
                <a:extLst>
                  <a:ext uri="{FF2B5EF4-FFF2-40B4-BE49-F238E27FC236}">
                    <a16:creationId xmlns:a16="http://schemas.microsoft.com/office/drawing/2014/main" id="{39746ABE-BD9F-4507-B0E8-706F5546AC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29034342"/>
                  </p:ext>
                </p:extLst>
              </p:nvPr>
            </p:nvGraphicFramePr>
            <p:xfrm>
              <a:off x="7391126" y="1276574"/>
              <a:ext cx="1245572" cy="2058735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245572">
                      <a:extLst>
                        <a:ext uri="{9D8B030D-6E8A-4147-A177-3AD203B41FA5}">
                          <a16:colId xmlns:a16="http://schemas.microsoft.com/office/drawing/2014/main" val="3130857269"/>
                        </a:ext>
                      </a:extLst>
                    </a:gridCol>
                  </a:tblGrid>
                  <a:tr h="17364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000" b="1">
                              <a:latin typeface="+mj-ea"/>
                              <a:ea typeface="+mj-ea"/>
                            </a:rPr>
                            <a:t>KKT 1</a:t>
                          </a:r>
                          <a:r>
                            <a:rPr lang="ko-KR" altLang="en-US" sz="1000" b="1">
                              <a:latin typeface="+mj-ea"/>
                              <a:ea typeface="+mj-ea"/>
                            </a:rPr>
                            <a:t>번조건 결과</a:t>
                          </a:r>
                          <a:endParaRPr lang="en-US" altLang="ko-KR" sz="1000" b="1">
                            <a:latin typeface="+mj-ea"/>
                            <a:ea typeface="+mj-ea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179234428"/>
                      </a:ext>
                    </a:extLst>
                  </a:tr>
                  <a:tr h="25077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⃗"/>
                                    <m:ctrlPr>
                                      <a:rPr lang="en-US" altLang="ko-KR" sz="11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1100" b="0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</m:acc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limLoc m:val="undOvr"/>
                                    <m:grow m:val="on"/>
                                    <m:ctrlPr>
                                      <a:rPr lang="en-US" altLang="ko-KR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⃗"/>
                                            <m:ctrlPr>
                                              <a:rPr lang="en-US" altLang="ko-KR" sz="1100" i="1">
                                                <a:solidFill>
                                                  <a:srgbClr val="83696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ko-KR" sz="110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</m:oMath>
                            </m:oMathPara>
                          </a14:m>
                          <a:endParaRPr lang="en-US" altLang="ko-KR" sz="11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376373404"/>
                      </a:ext>
                    </a:extLst>
                  </a:tr>
                  <a:tr h="47627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p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limLoc m:val="undOvr"/>
                                    <m:grow m:val="on"/>
                                    <m:ctrlPr>
                                      <a:rPr lang="en-US" altLang="ko-KR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Sup>
                                      <m:sSubSupPr>
                                        <m:ctrlPr>
                                          <a:rPr lang="en-US" altLang="ko-KR" sz="11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  <m:sup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bSup>
                                  </m:e>
                                </m:nary>
                              </m:oMath>
                            </m:oMathPara>
                          </a14:m>
                          <a:endParaRPr lang="ko-KR" altLang="en-US" sz="11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46175605"/>
                      </a:ext>
                    </a:extLst>
                  </a:tr>
                  <a:tr h="47627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limLoc m:val="undOvr"/>
                                    <m:grow m:val="on"/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i="1" smtClean="0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i="1" smtClean="0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lang="en-US" altLang="ko-KR" sz="1100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US" altLang="ko-KR" sz="1100"/>
                        </a:p>
                        <a:p>
                          <a:pPr algn="ctr" latinLnBrk="1"/>
                          <a:endParaRPr lang="ko-KR" altLang="en-US" sz="11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67125477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6" name="표 23">
                <a:extLst>
                  <a:ext uri="{FF2B5EF4-FFF2-40B4-BE49-F238E27FC236}">
                    <a16:creationId xmlns:a16="http://schemas.microsoft.com/office/drawing/2014/main" id="{39746ABE-BD9F-4507-B0E8-706F5546AC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29034342"/>
                  </p:ext>
                </p:extLst>
              </p:nvPr>
            </p:nvGraphicFramePr>
            <p:xfrm>
              <a:off x="7391126" y="1276574"/>
              <a:ext cx="1245572" cy="2058735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245572">
                      <a:extLst>
                        <a:ext uri="{9D8B030D-6E8A-4147-A177-3AD203B41FA5}">
                          <a16:colId xmlns:a16="http://schemas.microsoft.com/office/drawing/2014/main" val="3130857269"/>
                        </a:ext>
                      </a:extLst>
                    </a:gridCol>
                  </a:tblGrid>
                  <a:tr h="243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000" b="1">
                              <a:latin typeface="+mj-ea"/>
                              <a:ea typeface="+mj-ea"/>
                            </a:rPr>
                            <a:t>KKT 1</a:t>
                          </a:r>
                          <a:r>
                            <a:rPr lang="ko-KR" altLang="en-US" sz="1000" b="1">
                              <a:latin typeface="+mj-ea"/>
                              <a:ea typeface="+mj-ea"/>
                            </a:rPr>
                            <a:t>번조건 결과</a:t>
                          </a:r>
                          <a:endParaRPr lang="en-US" altLang="ko-KR" sz="1000" b="1">
                            <a:latin typeface="+mj-ea"/>
                            <a:ea typeface="+mj-ea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179234428"/>
                      </a:ext>
                    </a:extLst>
                  </a:tr>
                  <a:tr h="549085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8"/>
                          <a:stretch>
                            <a:fillRect l="-488" t="-94505" r="-976" b="-3439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76373404"/>
                      </a:ext>
                    </a:extLst>
                  </a:tr>
                  <a:tr h="549085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8"/>
                          <a:stretch>
                            <a:fillRect l="-488" t="-196667" r="-976" b="-247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46175605"/>
                      </a:ext>
                    </a:extLst>
                  </a:tr>
                  <a:tr h="716725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8"/>
                          <a:stretch>
                            <a:fillRect l="-488" t="-226271" r="-976" b="-8898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7125477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2115829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03C0D51E-954A-4571-9451-9B96F6F8FFB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lang="en-US" altLang="ko-KR"/>
              <a:t>Lagrangian Dual</a:t>
            </a:r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8FC7C72-B8E6-4BAD-9D97-12D30DF22A06}"/>
                  </a:ext>
                </a:extLst>
              </p:cNvPr>
              <p:cNvSpPr txBox="1"/>
              <p:nvPr/>
            </p:nvSpPr>
            <p:spPr>
              <a:xfrm>
                <a:off x="251460" y="1250807"/>
                <a:ext cx="8892540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ko-KR" altLang="en-US" sz="1100"/>
                  <a:t>문제를 풀 수 있는 </a:t>
                </a:r>
                <a:r>
                  <a:rPr lang="en-US" altLang="ko-KR" sz="1100"/>
                  <a:t>Lagrangian Dual</a:t>
                </a:r>
                <a:r>
                  <a:rPr lang="ko-KR" altLang="en-US" sz="1100"/>
                  <a:t>문제로 변경</a:t>
                </a:r>
                <a:endParaRPr lang="en-US" altLang="ko-KR" sz="110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8FC7C72-B8E6-4BAD-9D97-12D30DF22A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60" y="1250807"/>
                <a:ext cx="8892540" cy="261610"/>
              </a:xfrm>
              <a:prstGeom prst="rect">
                <a:avLst/>
              </a:prstGeom>
              <a:blipFill>
                <a:blip r:embed="rId3"/>
                <a:stretch>
                  <a:fillRect t="-2326" b="-1627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4" name="표 14">
                <a:extLst>
                  <a:ext uri="{FF2B5EF4-FFF2-40B4-BE49-F238E27FC236}">
                    <a16:creationId xmlns:a16="http://schemas.microsoft.com/office/drawing/2014/main" id="{3832E688-2AEB-464A-8859-3828A0650CA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18777547"/>
                  </p:ext>
                </p:extLst>
              </p:nvPr>
            </p:nvGraphicFramePr>
            <p:xfrm>
              <a:off x="3116580" y="1451539"/>
              <a:ext cx="6096000" cy="109639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048000">
                      <a:extLst>
                        <a:ext uri="{9D8B030D-6E8A-4147-A177-3AD203B41FA5}">
                          <a16:colId xmlns:a16="http://schemas.microsoft.com/office/drawing/2014/main" val="979057224"/>
                        </a:ext>
                      </a:extLst>
                    </a:gridCol>
                    <a:gridCol w="3048000">
                      <a:extLst>
                        <a:ext uri="{9D8B030D-6E8A-4147-A177-3AD203B41FA5}">
                          <a16:colId xmlns:a16="http://schemas.microsoft.com/office/drawing/2014/main" val="3872081666"/>
                        </a:ext>
                      </a:extLst>
                    </a:gridCol>
                  </a:tblGrid>
                  <a:tr h="361124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limLow>
                                  <m:limLow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limLow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max</m:t>
                                    </m:r>
                                  </m:e>
                                  <m:lim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lim>
                                </m:limLow>
                                <m:nary>
                                  <m:naryPr>
                                    <m:chr m:val="∑"/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sty m:val="p"/>
                                        <m:brk m:alnAt="23"/>
                                      </m:rP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i</m:t>
                                    </m:r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n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α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nary>
                                      <m:naryPr>
                                        <m:chr m:val="∑"/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sty m:val="p"/>
                                            <m:brk m:alnAt="23"/>
                                          </m:rP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i</m:t>
                                        </m:r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n</m:t>
                                        </m:r>
                                      </m:sup>
                                      <m:e>
                                        <m:nary>
                                          <m:naryPr>
                                            <m:chr m:val="∑"/>
                                            <m:ctrlPr>
                                              <a:rPr lang="en-US" altLang="ko-KR" sz="11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naryPr>
                                          <m:sub>
                                            <m:r>
                                              <m:rPr>
                                                <m:sty m:val="p"/>
                                                <m:brk m:alnAt="23"/>
                                              </m:rP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i</m:t>
                                            </m:r>
                                            <m: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=1</m:t>
                                            </m:r>
                                          </m:sub>
                                          <m:sup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n</m:t>
                                            </m:r>
                                          </m:sup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ko-KR" sz="11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en-US" altLang="ko-KR" sz="1100" b="0" smtClean="0">
                                                    <a:latin typeface="Cambria Math" panose="02040503050406030204" pitchFamily="18" charset="0"/>
                                                  </a:rPr>
                                                  <m:t>α</m:t>
                                                </m:r>
                                              </m:e>
                                              <m:sub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en-US" altLang="ko-KR" sz="1100" b="0" smtClean="0">
                                                    <a:latin typeface="Cambria Math" panose="02040503050406030204" pitchFamily="18" charset="0"/>
                                                  </a:rPr>
                                                  <m:t>i</m:t>
                                                </m:r>
                                              </m:sub>
                                            </m:sSub>
                                          </m:e>
                                        </m:nary>
                                        <m:sSub>
                                          <m:sSubPr>
                                            <m:ctrlPr>
                                              <a:rPr lang="en-US" altLang="ko-KR" sz="11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α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j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altLang="ko-KR" sz="11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y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i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altLang="ko-KR" sz="11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y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j</m:t>
                                            </m:r>
                                          </m:sub>
                                        </m:sSub>
                                        <m:sSubSup>
                                          <m:sSubSupPr>
                                            <m:ctrlPr>
                                              <a:rPr lang="en-US" altLang="ko-KR" sz="11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x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i</m:t>
                                            </m:r>
                                          </m:sub>
                                          <m:sup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T</m:t>
                                            </m:r>
                                          </m:sup>
                                        </m:sSubSup>
                                        <m:sSub>
                                          <m:sSubPr>
                                            <m:ctrlPr>
                                              <a:rPr lang="en-US" altLang="ko-KR" sz="11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x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j</m:t>
                                            </m:r>
                                          </m:sub>
                                        </m:sSub>
                                      </m:e>
                                    </m:nary>
                                  </m:e>
                                </m:nary>
                              </m:oMath>
                            </m:oMathPara>
                          </a14:m>
                          <a:endParaRPr lang="ko-KR" altLang="en-US" sz="1100" b="0" i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>
                            <a:lnSpc>
                              <a:spcPct val="200000"/>
                            </a:lnSpc>
                          </a:pPr>
                          <a:r>
                            <a:rPr lang="ko-KR" altLang="en-US" sz="1100" b="0"/>
                            <a:t>목적함수</a:t>
                          </a:r>
                          <a:endParaRPr lang="ko-KR" altLang="en-US" sz="1100" b="0" i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080273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limLoc m:val="undOvr"/>
                                    <m:grow m:val="on"/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i</m:t>
                                    </m:r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n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b="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α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b="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y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=0     </m:t>
                                </m:r>
                                <m:sSub>
                                  <m:sSubPr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i</m:t>
                                    </m:r>
                                  </m:sub>
                                </m:sSub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≥0,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=1,2,…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</m:oMath>
                            </m:oMathPara>
                          </a14:m>
                          <a:endParaRPr lang="en-US" altLang="ko-KR" sz="1100" b="0" i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2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100" b="0"/>
                            <a:t>제약조건</a:t>
                          </a:r>
                          <a:endParaRPr lang="en-US" altLang="ko-KR" sz="1100" b="0" i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5244986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4" name="표 14">
                <a:extLst>
                  <a:ext uri="{FF2B5EF4-FFF2-40B4-BE49-F238E27FC236}">
                    <a16:creationId xmlns:a16="http://schemas.microsoft.com/office/drawing/2014/main" id="{3832E688-2AEB-464A-8859-3828A0650CA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18777547"/>
                  </p:ext>
                </p:extLst>
              </p:nvPr>
            </p:nvGraphicFramePr>
            <p:xfrm>
              <a:off x="3116580" y="1451539"/>
              <a:ext cx="6096000" cy="109639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048000">
                      <a:extLst>
                        <a:ext uri="{9D8B030D-6E8A-4147-A177-3AD203B41FA5}">
                          <a16:colId xmlns:a16="http://schemas.microsoft.com/office/drawing/2014/main" val="979057224"/>
                        </a:ext>
                      </a:extLst>
                    </a:gridCol>
                    <a:gridCol w="3048000">
                      <a:extLst>
                        <a:ext uri="{9D8B030D-6E8A-4147-A177-3AD203B41FA5}">
                          <a16:colId xmlns:a16="http://schemas.microsoft.com/office/drawing/2014/main" val="3872081666"/>
                        </a:ext>
                      </a:extLst>
                    </a:gridCol>
                  </a:tblGrid>
                  <a:tr h="548196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t="-95556" r="-99800" b="-247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>
                            <a:lnSpc>
                              <a:spcPct val="200000"/>
                            </a:lnSpc>
                          </a:pPr>
                          <a:r>
                            <a:rPr lang="ko-KR" altLang="en-US" sz="1100" b="0"/>
                            <a:t>목적함수</a:t>
                          </a:r>
                          <a:endParaRPr lang="ko-KR" altLang="en-US" sz="1100" b="0" i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08027342"/>
                      </a:ext>
                    </a:extLst>
                  </a:tr>
                  <a:tr h="548196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t="-195556" r="-99800" b="-147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2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100" b="0"/>
                            <a:t>제약조건</a:t>
                          </a:r>
                          <a:endParaRPr lang="en-US" altLang="ko-KR" sz="1100" b="0" i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5244986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5" name="표 15">
                <a:extLst>
                  <a:ext uri="{FF2B5EF4-FFF2-40B4-BE49-F238E27FC236}">
                    <a16:creationId xmlns:a16="http://schemas.microsoft.com/office/drawing/2014/main" id="{B330CAC5-4130-4EBE-A429-32B06FFF161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96464073"/>
                  </p:ext>
                </p:extLst>
              </p:nvPr>
            </p:nvGraphicFramePr>
            <p:xfrm>
              <a:off x="3116580" y="2801568"/>
              <a:ext cx="2689860" cy="549085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689860">
                      <a:extLst>
                        <a:ext uri="{9D8B030D-6E8A-4147-A177-3AD203B41FA5}">
                          <a16:colId xmlns:a16="http://schemas.microsoft.com/office/drawing/2014/main" val="157499612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</m:oMath>
                            </m:oMathPara>
                          </a14:m>
                          <a:endParaRPr lang="en-US" altLang="ko-KR" sz="1100" b="0" i="1">
                            <a:latin typeface="Cambria Math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2116823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5" name="표 15">
                <a:extLst>
                  <a:ext uri="{FF2B5EF4-FFF2-40B4-BE49-F238E27FC236}">
                    <a16:creationId xmlns:a16="http://schemas.microsoft.com/office/drawing/2014/main" id="{B330CAC5-4130-4EBE-A429-32B06FFF161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96464073"/>
                  </p:ext>
                </p:extLst>
              </p:nvPr>
            </p:nvGraphicFramePr>
            <p:xfrm>
              <a:off x="3116580" y="2801568"/>
              <a:ext cx="2689860" cy="549085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689860">
                      <a:extLst>
                        <a:ext uri="{9D8B030D-6E8A-4147-A177-3AD203B41FA5}">
                          <a16:colId xmlns:a16="http://schemas.microsoft.com/office/drawing/2014/main" val="1574996124"/>
                        </a:ext>
                      </a:extLst>
                    </a:gridCol>
                  </a:tblGrid>
                  <a:tr h="549085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t="-93407" b="-1461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16823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6" name="표 16">
                <a:extLst>
                  <a:ext uri="{FF2B5EF4-FFF2-40B4-BE49-F238E27FC236}">
                    <a16:creationId xmlns:a16="http://schemas.microsoft.com/office/drawing/2014/main" id="{0D6AB330-D799-4200-BCEB-E935E60D6A2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61906053"/>
                  </p:ext>
                </p:extLst>
              </p:nvPr>
            </p:nvGraphicFramePr>
            <p:xfrm>
              <a:off x="3116580" y="3834698"/>
              <a:ext cx="1905000" cy="2590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905000">
                      <a:extLst>
                        <a:ext uri="{9D8B030D-6E8A-4147-A177-3AD203B41FA5}">
                          <a16:colId xmlns:a16="http://schemas.microsoft.com/office/drawing/2014/main" val="3626994819"/>
                        </a:ext>
                      </a:extLst>
                    </a:gridCol>
                  </a:tblGrid>
                  <a:tr h="251679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altLang="ko-KR" sz="1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altLang="ko-KR" sz="11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p>
                                        <m:sSub>
                                          <m:sSubPr>
                                            <m:ctrlPr>
                                              <a:rPr lang="en-US" altLang="ko-KR" sz="11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 b="0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altLang="ko-KR" sz="1100" b="0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d>
                                    <m:r>
                                      <a:rPr lang="en-US" altLang="ko-KR" sz="1100" b="0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US" altLang="ko-KR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5581634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6" name="표 16">
                <a:extLst>
                  <a:ext uri="{FF2B5EF4-FFF2-40B4-BE49-F238E27FC236}">
                    <a16:creationId xmlns:a16="http://schemas.microsoft.com/office/drawing/2014/main" id="{0D6AB330-D799-4200-BCEB-E935E60D6A2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61906053"/>
                  </p:ext>
                </p:extLst>
              </p:nvPr>
            </p:nvGraphicFramePr>
            <p:xfrm>
              <a:off x="3116580" y="3834698"/>
              <a:ext cx="1905000" cy="2590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905000">
                      <a:extLst>
                        <a:ext uri="{9D8B030D-6E8A-4147-A177-3AD203B41FA5}">
                          <a16:colId xmlns:a16="http://schemas.microsoft.com/office/drawing/2014/main" val="3626994819"/>
                        </a:ext>
                      </a:extLst>
                    </a:gridCol>
                  </a:tblGrid>
                  <a:tr h="2590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55816349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40" name="그룹 39">
            <a:extLst>
              <a:ext uri="{FF2B5EF4-FFF2-40B4-BE49-F238E27FC236}">
                <a16:creationId xmlns:a16="http://schemas.microsoft.com/office/drawing/2014/main" id="{B38C4730-507C-4FCC-8F3D-F232A9960A5B}"/>
              </a:ext>
            </a:extLst>
          </p:cNvPr>
          <p:cNvGrpSpPr/>
          <p:nvPr/>
        </p:nvGrpSpPr>
        <p:grpSpPr>
          <a:xfrm>
            <a:off x="6076766" y="4305326"/>
            <a:ext cx="2127623" cy="1696427"/>
            <a:chOff x="3518675" y="2776495"/>
            <a:chExt cx="2878693" cy="2292172"/>
          </a:xfrm>
        </p:grpSpPr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5CBD0ED4-F698-4290-B19E-3559CE62E393}"/>
                </a:ext>
              </a:extLst>
            </p:cNvPr>
            <p:cNvGrpSpPr/>
            <p:nvPr/>
          </p:nvGrpSpPr>
          <p:grpSpPr>
            <a:xfrm>
              <a:off x="4870469" y="3201734"/>
              <a:ext cx="873554" cy="645957"/>
              <a:chOff x="4837649" y="3782504"/>
              <a:chExt cx="1143417" cy="783882"/>
            </a:xfrm>
            <a:solidFill>
              <a:srgbClr val="FF0000"/>
            </a:solidFill>
          </p:grpSpPr>
          <p:sp>
            <p:nvSpPr>
              <p:cNvPr id="57" name="이등변 삼각형 56">
                <a:extLst>
                  <a:ext uri="{FF2B5EF4-FFF2-40B4-BE49-F238E27FC236}">
                    <a16:creationId xmlns:a16="http://schemas.microsoft.com/office/drawing/2014/main" id="{ECDA0253-9902-4289-BF8B-E79403EE3A9D}"/>
                  </a:ext>
                </a:extLst>
              </p:cNvPr>
              <p:cNvSpPr/>
              <p:nvPr/>
            </p:nvSpPr>
            <p:spPr>
              <a:xfrm>
                <a:off x="5019988" y="3846814"/>
                <a:ext cx="147642" cy="142602"/>
              </a:xfrm>
              <a:prstGeom prst="triangl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8" name="이등변 삼각형 57">
                <a:extLst>
                  <a:ext uri="{FF2B5EF4-FFF2-40B4-BE49-F238E27FC236}">
                    <a16:creationId xmlns:a16="http://schemas.microsoft.com/office/drawing/2014/main" id="{532B4ED2-1EC9-4D6A-8977-79893315FE2B}"/>
                  </a:ext>
                </a:extLst>
              </p:cNvPr>
              <p:cNvSpPr/>
              <p:nvPr/>
            </p:nvSpPr>
            <p:spPr>
              <a:xfrm>
                <a:off x="4837649" y="4423784"/>
                <a:ext cx="147642" cy="142602"/>
              </a:xfrm>
              <a:prstGeom prst="triangl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9" name="이등변 삼각형 58">
                <a:extLst>
                  <a:ext uri="{FF2B5EF4-FFF2-40B4-BE49-F238E27FC236}">
                    <a16:creationId xmlns:a16="http://schemas.microsoft.com/office/drawing/2014/main" id="{30D6D877-E425-455B-A51D-6F165EE092DB}"/>
                  </a:ext>
                </a:extLst>
              </p:cNvPr>
              <p:cNvSpPr/>
              <p:nvPr/>
            </p:nvSpPr>
            <p:spPr>
              <a:xfrm>
                <a:off x="5398595" y="4099675"/>
                <a:ext cx="147642" cy="142602"/>
              </a:xfrm>
              <a:prstGeom prst="triangl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0" name="이등변 삼각형 59">
                <a:extLst>
                  <a:ext uri="{FF2B5EF4-FFF2-40B4-BE49-F238E27FC236}">
                    <a16:creationId xmlns:a16="http://schemas.microsoft.com/office/drawing/2014/main" id="{8A8705D1-2C00-46FF-A4FE-03106C31798F}"/>
                  </a:ext>
                </a:extLst>
              </p:cNvPr>
              <p:cNvSpPr/>
              <p:nvPr/>
            </p:nvSpPr>
            <p:spPr>
              <a:xfrm>
                <a:off x="5833424" y="4342919"/>
                <a:ext cx="147642" cy="142602"/>
              </a:xfrm>
              <a:prstGeom prst="triangl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1" name="이등변 삼각형 60">
                <a:extLst>
                  <a:ext uri="{FF2B5EF4-FFF2-40B4-BE49-F238E27FC236}">
                    <a16:creationId xmlns:a16="http://schemas.microsoft.com/office/drawing/2014/main" id="{3C285D94-816B-497E-9963-68E45462C8F4}"/>
                  </a:ext>
                </a:extLst>
              </p:cNvPr>
              <p:cNvSpPr/>
              <p:nvPr/>
            </p:nvSpPr>
            <p:spPr>
              <a:xfrm>
                <a:off x="5833424" y="3782504"/>
                <a:ext cx="147642" cy="142602"/>
              </a:xfrm>
              <a:prstGeom prst="triangl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E56C1048-2848-46C6-9C98-E05F279E688A}"/>
                </a:ext>
              </a:extLst>
            </p:cNvPr>
            <p:cNvGrpSpPr/>
            <p:nvPr/>
          </p:nvGrpSpPr>
          <p:grpSpPr>
            <a:xfrm>
              <a:off x="3518675" y="2776495"/>
              <a:ext cx="2660658" cy="2261370"/>
              <a:chOff x="3431097" y="1987172"/>
              <a:chExt cx="3482605" cy="2744220"/>
            </a:xfrm>
          </p:grpSpPr>
          <p:cxnSp>
            <p:nvCxnSpPr>
              <p:cNvPr id="55" name="직선 화살표 연결선 54">
                <a:extLst>
                  <a:ext uri="{FF2B5EF4-FFF2-40B4-BE49-F238E27FC236}">
                    <a16:creationId xmlns:a16="http://schemas.microsoft.com/office/drawing/2014/main" id="{30E65A28-58EB-47D7-B7A4-E17F25929C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31097" y="4731391"/>
                <a:ext cx="348260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6" name="직선 화살표 연결선 55">
                <a:extLst>
                  <a:ext uri="{FF2B5EF4-FFF2-40B4-BE49-F238E27FC236}">
                    <a16:creationId xmlns:a16="http://schemas.microsoft.com/office/drawing/2014/main" id="{6776A11E-6C03-4CD6-87D9-21E83AADDEB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436689" y="1987172"/>
                <a:ext cx="0" cy="274422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43" name="직선 연결선 42">
              <a:extLst>
                <a:ext uri="{FF2B5EF4-FFF2-40B4-BE49-F238E27FC236}">
                  <a16:creationId xmlns:a16="http://schemas.microsoft.com/office/drawing/2014/main" id="{136855FB-94B1-45FF-84BE-1B07AC7AF560}"/>
                </a:ext>
              </a:extLst>
            </p:cNvPr>
            <p:cNvCxnSpPr>
              <a:cxnSpLocks/>
            </p:cNvCxnSpPr>
            <p:nvPr/>
          </p:nvCxnSpPr>
          <p:spPr>
            <a:xfrm>
              <a:off x="3874208" y="3201734"/>
              <a:ext cx="1566956" cy="1693669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96E7CAB8-3EA3-43B8-BE2D-F860CA4F28E7}"/>
                </a:ext>
              </a:extLst>
            </p:cNvPr>
            <p:cNvCxnSpPr>
              <a:cxnSpLocks/>
            </p:cNvCxnSpPr>
            <p:nvPr/>
          </p:nvCxnSpPr>
          <p:spPr>
            <a:xfrm>
              <a:off x="4144981" y="3016391"/>
              <a:ext cx="1566956" cy="1693669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8998F3FD-1F64-4C9D-97FE-D5D5CA73E99E}"/>
                </a:ext>
              </a:extLst>
            </p:cNvPr>
            <p:cNvGrpSpPr/>
            <p:nvPr/>
          </p:nvGrpSpPr>
          <p:grpSpPr>
            <a:xfrm>
              <a:off x="3686527" y="4050287"/>
              <a:ext cx="583218" cy="881414"/>
              <a:chOff x="3665996" y="2686332"/>
              <a:chExt cx="763389" cy="1069614"/>
            </a:xfrm>
            <a:solidFill>
              <a:srgbClr val="2C6FAD"/>
            </a:solidFill>
          </p:grpSpPr>
          <p:sp>
            <p:nvSpPr>
              <p:cNvPr id="50" name="직사각형 49">
                <a:extLst>
                  <a:ext uri="{FF2B5EF4-FFF2-40B4-BE49-F238E27FC236}">
                    <a16:creationId xmlns:a16="http://schemas.microsoft.com/office/drawing/2014/main" id="{8D4E7DA7-F2A6-45FF-A63F-55F33AA3B0C9}"/>
                  </a:ext>
                </a:extLst>
              </p:cNvPr>
              <p:cNvSpPr/>
              <p:nvPr/>
            </p:nvSpPr>
            <p:spPr>
              <a:xfrm>
                <a:off x="3758272" y="3045312"/>
                <a:ext cx="125831" cy="12792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1" name="직사각형 50">
                <a:extLst>
                  <a:ext uri="{FF2B5EF4-FFF2-40B4-BE49-F238E27FC236}">
                    <a16:creationId xmlns:a16="http://schemas.microsoft.com/office/drawing/2014/main" id="{DEE9617D-ABC2-41A3-8400-73FD7FFF43CD}"/>
                  </a:ext>
                </a:extLst>
              </p:cNvPr>
              <p:cNvSpPr/>
              <p:nvPr/>
            </p:nvSpPr>
            <p:spPr>
              <a:xfrm>
                <a:off x="3665996" y="3628023"/>
                <a:ext cx="125831" cy="12792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2" name="직사각형 51">
                <a:extLst>
                  <a:ext uri="{FF2B5EF4-FFF2-40B4-BE49-F238E27FC236}">
                    <a16:creationId xmlns:a16="http://schemas.microsoft.com/office/drawing/2014/main" id="{CE485C1D-9419-4CB3-A671-0ADD3B36F80F}"/>
                  </a:ext>
                </a:extLst>
              </p:cNvPr>
              <p:cNvSpPr/>
              <p:nvPr/>
            </p:nvSpPr>
            <p:spPr>
              <a:xfrm>
                <a:off x="4177723" y="3482638"/>
                <a:ext cx="125831" cy="12792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" name="직사각형 52">
                <a:extLst>
                  <a:ext uri="{FF2B5EF4-FFF2-40B4-BE49-F238E27FC236}">
                    <a16:creationId xmlns:a16="http://schemas.microsoft.com/office/drawing/2014/main" id="{B84B2880-D6CB-4AE1-83EB-2B21362BFD2F}"/>
                  </a:ext>
                </a:extLst>
              </p:cNvPr>
              <p:cNvSpPr/>
              <p:nvPr/>
            </p:nvSpPr>
            <p:spPr>
              <a:xfrm>
                <a:off x="4211277" y="3119517"/>
                <a:ext cx="125831" cy="12792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4" name="직사각형 53">
                <a:extLst>
                  <a:ext uri="{FF2B5EF4-FFF2-40B4-BE49-F238E27FC236}">
                    <a16:creationId xmlns:a16="http://schemas.microsoft.com/office/drawing/2014/main" id="{5575EDA8-BD1D-4D48-9B2F-92C3FF22CD93}"/>
                  </a:ext>
                </a:extLst>
              </p:cNvPr>
              <p:cNvSpPr/>
              <p:nvPr/>
            </p:nvSpPr>
            <p:spPr>
              <a:xfrm>
                <a:off x="4303554" y="2686332"/>
                <a:ext cx="125831" cy="12792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46" name="직선 연결선 45">
              <a:extLst>
                <a:ext uri="{FF2B5EF4-FFF2-40B4-BE49-F238E27FC236}">
                  <a16:creationId xmlns:a16="http://schemas.microsoft.com/office/drawing/2014/main" id="{6F263DC9-40D0-457E-A47E-132397C40F15}"/>
                </a:ext>
              </a:extLst>
            </p:cNvPr>
            <p:cNvCxnSpPr>
              <a:cxnSpLocks/>
            </p:cNvCxnSpPr>
            <p:nvPr/>
          </p:nvCxnSpPr>
          <p:spPr>
            <a:xfrm>
              <a:off x="3587684" y="3374998"/>
              <a:ext cx="1566956" cy="1693669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7" name="직선 화살표 연결선 46">
              <a:extLst>
                <a:ext uri="{FF2B5EF4-FFF2-40B4-BE49-F238E27FC236}">
                  <a16:creationId xmlns:a16="http://schemas.microsoft.com/office/drawing/2014/main" id="{50976CC9-89DE-44C7-8386-4FB17746902C}"/>
                </a:ext>
              </a:extLst>
            </p:cNvPr>
            <p:cNvCxnSpPr>
              <a:cxnSpLocks/>
            </p:cNvCxnSpPr>
            <p:nvPr/>
          </p:nvCxnSpPr>
          <p:spPr>
            <a:xfrm>
              <a:off x="4929311" y="3836887"/>
              <a:ext cx="576589" cy="19614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직선 화살표 연결선 47">
              <a:extLst>
                <a:ext uri="{FF2B5EF4-FFF2-40B4-BE49-F238E27FC236}">
                  <a16:creationId xmlns:a16="http://schemas.microsoft.com/office/drawing/2014/main" id="{6096F062-9FCF-4811-9915-17C688AEDBBC}"/>
                </a:ext>
              </a:extLst>
            </p:cNvPr>
            <p:cNvCxnSpPr>
              <a:cxnSpLocks/>
            </p:cNvCxnSpPr>
            <p:nvPr/>
          </p:nvCxnSpPr>
          <p:spPr>
            <a:xfrm>
              <a:off x="4220299" y="4102093"/>
              <a:ext cx="1267552" cy="5036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31DB8C0-48C6-4D41-8F28-5DF2F31F4122}"/>
                </a:ext>
              </a:extLst>
            </p:cNvPr>
            <p:cNvSpPr txBox="1"/>
            <p:nvPr/>
          </p:nvSpPr>
          <p:spPr>
            <a:xfrm>
              <a:off x="5526168" y="3924852"/>
              <a:ext cx="871200" cy="4574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800"/>
                <a:t>Support</a:t>
              </a:r>
            </a:p>
            <a:p>
              <a:pPr algn="l"/>
              <a:r>
                <a:rPr lang="en-US" altLang="ko-KR" sz="800"/>
                <a:t>Vector</a:t>
              </a:r>
              <a:endParaRPr lang="ko-KR" altLang="en-US" sz="80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73A0569-1DFD-42DF-B519-C810DC5DDF01}"/>
                  </a:ext>
                </a:extLst>
              </p:cNvPr>
              <p:cNvSpPr txBox="1"/>
              <p:nvPr/>
            </p:nvSpPr>
            <p:spPr>
              <a:xfrm>
                <a:off x="251460" y="2547931"/>
                <a:ext cx="8641983" cy="3186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100"/>
                  <a:t>SVM</a:t>
                </a:r>
                <a:r>
                  <a:rPr lang="ko-KR" altLang="en-US" sz="1100"/>
                  <a:t>목적은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ko-KR" altLang="en-US" sz="1100"/>
                  <a:t>를 찾는것이며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ko-KR" altLang="en-US" sz="1100"/>
                  <a:t>의 식은 아래와 같다</a:t>
                </a:r>
                <a:endParaRPr lang="en-US" altLang="ko-KR" sz="110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73A0569-1DFD-42DF-B519-C810DC5DDF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60" y="2547931"/>
                <a:ext cx="8641983" cy="318677"/>
              </a:xfrm>
              <a:prstGeom prst="rect">
                <a:avLst/>
              </a:prstGeom>
              <a:blipFill>
                <a:blip r:embed="rId7"/>
                <a:stretch>
                  <a:fillRect b="-1346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93F4357-BDBB-4455-A11F-E8A9E196CF9C}"/>
                  </a:ext>
                </a:extLst>
              </p:cNvPr>
              <p:cNvSpPr txBox="1"/>
              <p:nvPr/>
            </p:nvSpPr>
            <p:spPr>
              <a:xfrm>
                <a:off x="251460" y="3350653"/>
                <a:ext cx="8641982" cy="6848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100">
                    <a:latin typeface="Cambria Math" panose="02040503050406030204" pitchFamily="18" charset="0"/>
                  </a:rPr>
                  <a:t>x</a:t>
                </a:r>
                <a:r>
                  <a:rPr lang="en-US" altLang="ko-KR" sz="1100" b="0">
                    <a:latin typeface="Cambria Math" panose="02040503050406030204" pitchFamily="18" charset="0"/>
                  </a:rPr>
                  <a:t>,</a:t>
                </a:r>
                <a:r>
                  <a:rPr lang="en-US" altLang="ko-KR" sz="1100">
                    <a:latin typeface="Cambria Math" panose="02040503050406030204" pitchFamily="18" charset="0"/>
                  </a:rPr>
                  <a:t>y</a:t>
                </a:r>
                <a:r>
                  <a:rPr lang="ko-KR" altLang="en-US" sz="1100">
                    <a:latin typeface="Cambria Math" panose="02040503050406030204" pitchFamily="18" charset="0"/>
                  </a:rPr>
                  <a:t>는 학습데이터임으로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ko-KR" altLang="en-US" sz="1100" b="0">
                    <a:latin typeface="Cambria Math" panose="02040503050406030204" pitchFamily="18" charset="0"/>
                  </a:rPr>
                  <a:t>값만</a:t>
                </a:r>
                <a:r>
                  <a:rPr lang="en-US" altLang="ko-KR" sz="1100" b="0">
                    <a:latin typeface="Cambria Math" panose="02040503050406030204" pitchFamily="18" charset="0"/>
                  </a:rPr>
                  <a:t> </a:t>
                </a:r>
                <a:r>
                  <a:rPr lang="ko-KR" altLang="en-US" sz="1100" b="0">
                    <a:latin typeface="Cambria Math" panose="02040503050406030204" pitchFamily="18" charset="0"/>
                  </a:rPr>
                  <a:t>알면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ko-KR" altLang="en-US" sz="1100" b="0">
                    <a:latin typeface="Cambria Math" panose="02040503050406030204" pitchFamily="18" charset="0"/>
                  </a:rPr>
                  <a:t>값을 알 수 있음</a:t>
                </a:r>
                <a:endParaRPr lang="en-US" altLang="ko-KR" sz="1100" b="0">
                  <a:latin typeface="Cambria Math" panose="02040503050406030204" pitchFamily="18" charset="0"/>
                </a:endParaRP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100">
                    <a:latin typeface="Cambria Math" panose="02040503050406030204" pitchFamily="18" charset="0"/>
                  </a:rPr>
                  <a:t>Dual </a:t>
                </a:r>
                <a:r>
                  <a:rPr lang="ko-KR" altLang="en-US" sz="1100">
                    <a:latin typeface="Cambria Math" panose="02040503050406030204" pitchFamily="18" charset="0"/>
                  </a:rPr>
                  <a:t>문제를 최적화 하기위해서는 다시 </a:t>
                </a:r>
                <a:r>
                  <a:rPr lang="en-US" altLang="ko-KR" sz="1100">
                    <a:latin typeface="Cambria Math" panose="02040503050406030204" pitchFamily="18" charset="0"/>
                  </a:rPr>
                  <a:t>KKT</a:t>
                </a:r>
                <a:r>
                  <a:rPr lang="ko-KR" altLang="en-US" sz="1100">
                    <a:latin typeface="Cambria Math" panose="02040503050406030204" pitchFamily="18" charset="0"/>
                  </a:rPr>
                  <a:t>조건을 확인 한 후 </a:t>
                </a:r>
                <a:r>
                  <a:rPr lang="en-US" altLang="ko-KR" sz="1100">
                    <a:latin typeface="Cambria Math" panose="02040503050406030204" pitchFamily="18" charset="0"/>
                  </a:rPr>
                  <a:t>4</a:t>
                </a:r>
                <a:r>
                  <a:rPr lang="ko-KR" altLang="en-US" sz="1100">
                    <a:latin typeface="Cambria Math" panose="02040503050406030204" pitchFamily="18" charset="0"/>
                  </a:rPr>
                  <a:t>가지 조건을 연산하여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ko-KR" altLang="en-US" sz="1100">
                    <a:latin typeface="Cambria Math" panose="02040503050406030204" pitchFamily="18" charset="0"/>
                  </a:rPr>
                  <a:t>를 구함</a:t>
                </a:r>
                <a:endParaRPr lang="en-US" altLang="ko-KR" sz="1100">
                  <a:latin typeface="Cambria Math" panose="02040503050406030204" pitchFamily="18" charset="0"/>
                </a:endParaRPr>
              </a:p>
              <a:p>
                <a:pPr algn="l"/>
                <a:endParaRPr lang="ko-KR" altLang="en-US" sz="110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93F4357-BDBB-4455-A11F-E8A9E196CF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60" y="3350653"/>
                <a:ext cx="8641982" cy="684803"/>
              </a:xfrm>
              <a:prstGeom prst="rect">
                <a:avLst/>
              </a:prstGeom>
              <a:blipFill>
                <a:blip r:embed="rId8"/>
                <a:stretch>
                  <a:fillRect t="-8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74A09FF-D182-41F4-BAC2-452E824BA7C5}"/>
                  </a:ext>
                </a:extLst>
              </p:cNvPr>
              <p:cNvSpPr txBox="1"/>
              <p:nvPr/>
            </p:nvSpPr>
            <p:spPr>
              <a:xfrm>
                <a:off x="259040" y="4137195"/>
                <a:ext cx="5760799" cy="2039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100"/>
                  <a:t>위의 식을 두가지 경우로 나눠서 생각</a:t>
                </a:r>
                <a:endParaRPr lang="en-US" altLang="ko-KR" sz="1100"/>
              </a:p>
              <a:p>
                <a:pPr lvl="1"/>
                <a:r>
                  <a:rPr lang="en-US" altLang="ko-KR" sz="1100"/>
                  <a:t> 1.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ko-KR" sz="1100"/>
                  <a:t>&gt;0 </a:t>
                </a:r>
                <a:r>
                  <a:rPr lang="ko-KR" altLang="en-US" sz="1100"/>
                  <a:t>일때</a:t>
                </a:r>
                <a:endParaRPr lang="en-US" altLang="ko-KR" sz="1100"/>
              </a:p>
              <a:p>
                <a:pPr lvl="1"/>
                <a:r>
                  <a:rPr lang="en-US" altLang="ko-KR" sz="110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1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b>
                          <m:sSubPr>
                            <m:ctrlPr>
                              <a:rPr lang="en-US" altLang="ko-KR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ko-KR" altLang="en-US" sz="1100"/>
                  <a:t>임으로 </a:t>
                </a:r>
                <a:r>
                  <a:rPr lang="en-US" altLang="ko-KR" sz="1100"/>
                  <a:t>Support Vector</a:t>
                </a:r>
                <a:r>
                  <a:rPr lang="ko-KR" altLang="en-US" sz="1100"/>
                  <a:t>임</a:t>
                </a:r>
                <a:endParaRPr lang="en-US" altLang="ko-KR" sz="1100"/>
              </a:p>
              <a:p>
                <a:pPr lvl="1">
                  <a:lnSpc>
                    <a:spcPct val="150000"/>
                  </a:lnSpc>
                </a:pPr>
                <a:r>
                  <a:rPr lang="en-US" altLang="ko-KR" sz="1100"/>
                  <a:t>2.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ko-KR" sz="1100"/>
                  <a:t>=0</a:t>
                </a:r>
                <a:r>
                  <a:rPr lang="ko-KR" altLang="en-US" sz="1100"/>
                  <a:t>일때</a:t>
                </a:r>
                <a:endParaRPr lang="en-US" altLang="ko-KR" sz="1100"/>
              </a:p>
              <a:p>
                <a:pPr lvl="1"/>
                <a:r>
                  <a:rPr lang="en-US" altLang="ko-KR" sz="110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1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b>
                          <m:sSubPr>
                            <m:ctrlPr>
                              <a:rPr lang="en-US" altLang="ko-KR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ko-KR" altLang="en-US" sz="1100"/>
                  <a:t>임으로 데이터가 </a:t>
                </a:r>
                <a:r>
                  <a:rPr lang="en-US" altLang="ko-KR" sz="1100"/>
                  <a:t>+</a:t>
                </a:r>
                <a:r>
                  <a:rPr lang="ko-KR" altLang="en-US" sz="1100"/>
                  <a:t>와</a:t>
                </a:r>
                <a:r>
                  <a:rPr lang="en-US" altLang="ko-KR" sz="1100"/>
                  <a:t>- </a:t>
                </a:r>
                <a:r>
                  <a:rPr lang="ko-KR" altLang="en-US" sz="1100"/>
                  <a:t>평면위에 없음</a:t>
                </a:r>
                <a:endParaRPr lang="en-US" altLang="ko-KR" sz="1100"/>
              </a:p>
              <a:p>
                <a:pPr lvl="1"/>
                <a:r>
                  <a:rPr lang="en-US" altLang="ko-KR" sz="1100"/>
                  <a:t>	Decision Boundary</a:t>
                </a:r>
                <a:r>
                  <a:rPr lang="ko-KR" altLang="en-US" sz="1100"/>
                  <a:t>에 영향을 주지 않음</a:t>
                </a:r>
                <a:endParaRPr lang="en-US" altLang="ko-KR" sz="11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100"/>
                  <a:t>즉</a:t>
                </a:r>
                <a:r>
                  <a:rPr lang="en-US" altLang="ko-KR" sz="110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sz="1100"/>
                  <a:t>가 </a:t>
                </a:r>
                <a:r>
                  <a:rPr lang="en-US" altLang="ko-KR" sz="1100"/>
                  <a:t>Support Vector</a:t>
                </a:r>
                <a:r>
                  <a:rPr lang="ko-KR" altLang="en-US" sz="1100"/>
                  <a:t>일 때만 </a:t>
                </a:r>
                <a:r>
                  <a:rPr lang="en-US" altLang="ko-KR" sz="1100"/>
                  <a:t>optimal hyperplane(decision boundary)</a:t>
                </a:r>
                <a:r>
                  <a:rPr lang="ko-KR" altLang="en-US" sz="1100"/>
                  <a:t>를 구할 수 있음</a:t>
                </a:r>
                <a:endParaRPr lang="en-US" altLang="ko-KR" sz="11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1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ko-KR" altLang="en-US" sz="1100"/>
                  <a:t>의 값은 위에서 구한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ko-KR" altLang="en-US" sz="1100"/>
                  <a:t>값과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1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b>
                          <m:sSubPr>
                            <m:ctrlPr>
                              <a:rPr lang="en-US" altLang="ko-KR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1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−1</m:t>
                    </m:r>
                    <m:r>
                      <a:rPr lang="en-US" altLang="ko-KR" sz="11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ko-KR" altLang="en-US" sz="1100"/>
                  <a:t>식을 활용하여 구함</a:t>
                </a:r>
                <a:endParaRPr lang="en-US" altLang="ko-KR" sz="11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100"/>
                  <a:t>새로운 데이터가 들어오면 위 식에 대입하여 </a:t>
                </a:r>
                <a:r>
                  <a:rPr lang="en-US" altLang="ko-KR" sz="1100"/>
                  <a:t>0</a:t>
                </a:r>
                <a:r>
                  <a:rPr lang="ko-KR" altLang="en-US" sz="1100"/>
                  <a:t>보다 크면 </a:t>
                </a:r>
                <a:r>
                  <a:rPr lang="en-US" altLang="ko-KR" sz="1100"/>
                  <a:t>+, 0</a:t>
                </a:r>
                <a:r>
                  <a:rPr lang="ko-KR" altLang="en-US" sz="1100"/>
                  <a:t>보다 작으면 </a:t>
                </a:r>
                <a:r>
                  <a:rPr lang="en-US" altLang="ko-KR" sz="1100"/>
                  <a:t>–</a:t>
                </a:r>
                <a:r>
                  <a:rPr lang="ko-KR" altLang="en-US" sz="1100"/>
                  <a:t>값으로 분류</a:t>
                </a:r>
                <a:endParaRPr lang="en-US" altLang="ko-KR" sz="1100"/>
              </a:p>
              <a:p>
                <a:pPr lvl="1"/>
                <a:endParaRPr lang="en-US" altLang="ko-KR" sz="110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74A09FF-D182-41F4-BAC2-452E824BA7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40" y="4137195"/>
                <a:ext cx="5760799" cy="2039020"/>
              </a:xfrm>
              <a:prstGeom prst="rect">
                <a:avLst/>
              </a:prstGeom>
              <a:blipFill>
                <a:blip r:embed="rId9"/>
                <a:stretch>
                  <a:fillRect t="-29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01922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03C0D51E-954A-4571-9451-9B96F6F8FFB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lang="ko-KR" altLang="en-US"/>
              <a:t>새로운 데이터</a:t>
            </a:r>
            <a:r>
              <a:rPr lang="en-US" altLang="ko-KR"/>
              <a:t> </a:t>
            </a:r>
            <a:r>
              <a:rPr lang="ko-KR" altLang="en-US"/>
              <a:t>분류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6CBE487-8221-40F5-B74B-CC0B9DD86EF0}"/>
                  </a:ext>
                </a:extLst>
              </p:cNvPr>
              <p:cNvSpPr txBox="1"/>
              <p:nvPr/>
            </p:nvSpPr>
            <p:spPr>
              <a:xfrm>
                <a:off x="255522" y="1278952"/>
                <a:ext cx="6618906" cy="2648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ko-KR" altLang="en-US" sz="1100" b="0"/>
                  <a:t>일경우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ko-KR" altLang="en-US" sz="1100" b="0"/>
                  <a:t>의 값 표현한 식은 다음과 같음</a:t>
                </a:r>
                <a:r>
                  <a:rPr lang="en-US" altLang="ko-KR" sz="1100" b="0"/>
                  <a:t> </a:t>
                </a:r>
                <a:endParaRPr lang="ko-KR" altLang="en-US" sz="110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6CBE487-8221-40F5-B74B-CC0B9DD86E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522" y="1278952"/>
                <a:ext cx="6618906" cy="264816"/>
              </a:xfrm>
              <a:prstGeom prst="rect">
                <a:avLst/>
              </a:prstGeom>
              <a:blipFill>
                <a:blip r:embed="rId3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5" name="표 35">
                <a:extLst>
                  <a:ext uri="{FF2B5EF4-FFF2-40B4-BE49-F238E27FC236}">
                    <a16:creationId xmlns:a16="http://schemas.microsoft.com/office/drawing/2014/main" id="{4B05B391-3583-4074-871B-B0AF9D43145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74090613"/>
                  </p:ext>
                </p:extLst>
              </p:nvPr>
            </p:nvGraphicFramePr>
            <p:xfrm>
              <a:off x="3130865" y="1480595"/>
              <a:ext cx="1898708" cy="54667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898708">
                      <a:extLst>
                        <a:ext uri="{9D8B030D-6E8A-4147-A177-3AD203B41FA5}">
                          <a16:colId xmlns:a16="http://schemas.microsoft.com/office/drawing/2014/main" val="317928074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0" smtClean="0"/>
                                  <m:t>𝑤</m:t>
                                </m:r>
                                <m:r>
                                  <a:rPr lang="en-US" altLang="ko-KR" sz="1100" b="0" smtClean="0"/>
                                  <m:t>= 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altLang="ko-KR" sz="1100" b="0" smtClean="0"/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ko-KR" sz="1100" b="0" smtClean="0"/>
                                      <m:t>𝑖</m:t>
                                    </m:r>
                                    <m:r>
                                      <a:rPr lang="en-US" altLang="ko-KR" sz="1100" b="0" smtClean="0"/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 b="0" smtClean="0"/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b="0" smtClean="0"/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smtClean="0"/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/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b="0" smtClean="0"/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smtClean="0"/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/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b="0" smtClean="0"/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smtClean="0"/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/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lang="en-US" altLang="ko-KR" sz="1100" b="0" smtClean="0"/>
                                  <m:t>=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altLang="ko-KR" sz="1100" b="0" smtClean="0"/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ko-KR" sz="1100" b="0" smtClean="0"/>
                                      <m:t>𝑖</m:t>
                                    </m:r>
                                    <m:r>
                                      <a:rPr lang="en-US" altLang="ko-KR" sz="1100" b="0" smtClean="0"/>
                                      <m:t>∈</m:t>
                                    </m:r>
                                    <m:r>
                                      <a:rPr lang="en-US" altLang="ko-KR" sz="1100" b="0" smtClean="0"/>
                                      <m:t>𝑠𝑣</m:t>
                                    </m:r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US" altLang="ko-KR" sz="1100" b="0" smtClean="0"/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smtClean="0"/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/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b="0" smtClean="0"/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smtClean="0"/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/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b="0" smtClean="0"/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smtClean="0"/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/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</m:oMath>
                            </m:oMathPara>
                          </a14:m>
                          <a:endParaRPr lang="ko-KR" altLang="en-US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654918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5" name="표 35">
                <a:extLst>
                  <a:ext uri="{FF2B5EF4-FFF2-40B4-BE49-F238E27FC236}">
                    <a16:creationId xmlns:a16="http://schemas.microsoft.com/office/drawing/2014/main" id="{4B05B391-3583-4074-871B-B0AF9D43145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74090613"/>
                  </p:ext>
                </p:extLst>
              </p:nvPr>
            </p:nvGraphicFramePr>
            <p:xfrm>
              <a:off x="3130865" y="1480595"/>
              <a:ext cx="1898708" cy="54667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898708">
                      <a:extLst>
                        <a:ext uri="{9D8B030D-6E8A-4147-A177-3AD203B41FA5}">
                          <a16:colId xmlns:a16="http://schemas.microsoft.com/office/drawing/2014/main" val="3179280742"/>
                        </a:ext>
                      </a:extLst>
                    </a:gridCol>
                  </a:tblGrid>
                  <a:tr h="54667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t="-94505" b="-1450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54918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9ED1D91-3598-4698-B149-7440511516F0}"/>
                  </a:ext>
                </a:extLst>
              </p:cNvPr>
              <p:cNvSpPr txBox="1"/>
              <p:nvPr/>
            </p:nvSpPr>
            <p:spPr>
              <a:xfrm>
                <a:off x="255521" y="2017343"/>
                <a:ext cx="7709475" cy="10969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ko-KR" altLang="en-US" sz="1100"/>
                  <a:t>값을 구할 때 모든 데이터들의 값을 영향받지 않고 </a:t>
                </a:r>
                <a:r>
                  <a:rPr lang="en-US" altLang="ko-KR" sz="1100"/>
                  <a:t>SV(Support Vector)</a:t>
                </a:r>
                <a:r>
                  <a:rPr lang="ko-KR" altLang="en-US" sz="1100"/>
                  <a:t>값들로만 영향을 받음</a:t>
                </a:r>
                <a:endParaRPr lang="en-US" altLang="ko-KR" sz="1100"/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100"/>
                  <a:t>즉</a:t>
                </a:r>
                <a:r>
                  <a:rPr lang="en-US" altLang="ko-KR" sz="110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sz="1100"/>
                  <a:t>가 </a:t>
                </a:r>
                <a:r>
                  <a:rPr lang="en-US" altLang="ko-KR" sz="1100"/>
                  <a:t>Support Vector</a:t>
                </a:r>
                <a:r>
                  <a:rPr lang="ko-KR" altLang="en-US" sz="1100"/>
                  <a:t>일 때만 </a:t>
                </a:r>
                <a:r>
                  <a:rPr lang="en-US" altLang="ko-KR" sz="1100"/>
                  <a:t>optimal hyperplane(decision boundary)</a:t>
                </a:r>
                <a:r>
                  <a:rPr lang="ko-KR" altLang="en-US" sz="1100"/>
                  <a:t>를 구할 수 있음</a:t>
                </a:r>
                <a:endParaRPr lang="en-US" altLang="ko-KR" sz="1100"/>
              </a:p>
              <a:p>
                <a:pPr marL="171450" indent="-171450"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100"/>
                  <a:t>또한</a:t>
                </a:r>
                <a:r>
                  <a:rPr lang="en-US" altLang="ko-KR" sz="1100"/>
                  <a:t>, </a:t>
                </a:r>
                <a:r>
                  <a:rPr lang="ko-KR" altLang="en-US" sz="1100"/>
                  <a:t>임의의 </a:t>
                </a:r>
                <a:r>
                  <a:rPr lang="en-US" altLang="ko-KR" sz="1100"/>
                  <a:t>SV</a:t>
                </a:r>
                <a:r>
                  <a:rPr lang="ko-KR" altLang="en-US" sz="1100"/>
                  <a:t>를 이용하여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ko-KR" altLang="en-US" sz="1100"/>
                  <a:t>를 구할 수 있음</a:t>
                </a:r>
                <a:endParaRPr lang="en-US" altLang="ko-KR" sz="1100"/>
              </a:p>
              <a:p>
                <a:pPr marL="171450" indent="-171450"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100"/>
                  <a:t>SV</a:t>
                </a:r>
                <a:r>
                  <a:rPr lang="ko-KR" altLang="en-US" sz="1100"/>
                  <a:t>에 값을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𝑠𝑣</m:t>
                        </m:r>
                      </m:sub>
                    </m:sSub>
                  </m:oMath>
                </a14:m>
                <a:r>
                  <a:rPr lang="ko-KR" altLang="en-US" sz="1100"/>
                  <a:t>넣으면</a:t>
                </a:r>
                <a:r>
                  <a:rPr lang="en-US" altLang="ko-KR" sz="1100"/>
                  <a:t>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ko-KR" altLang="en-US" sz="1100"/>
                  <a:t>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𝑠𝑣</m:t>
                        </m:r>
                      </m:sub>
                    </m:sSub>
                  </m:oMath>
                </a14:m>
                <a:r>
                  <a:rPr lang="ko-KR" altLang="en-US" sz="1100"/>
                  <a:t>의값</a:t>
                </a:r>
                <a:r>
                  <a:rPr lang="en-US" altLang="ko-KR" sz="1100"/>
                  <a:t>(-1 OR 1)</a:t>
                </a:r>
                <a:r>
                  <a:rPr lang="ko-KR" altLang="en-US" sz="1100"/>
                  <a:t>을 알기때문에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ko-KR" altLang="en-US" sz="1100"/>
                  <a:t>의값을 알 수 있음</a:t>
                </a:r>
                <a:endParaRPr lang="en-US" altLang="ko-KR" sz="110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9ED1D91-3598-4698-B149-7440511516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521" y="2017343"/>
                <a:ext cx="7709475" cy="1096967"/>
              </a:xfrm>
              <a:prstGeom prst="rect">
                <a:avLst/>
              </a:prstGeom>
              <a:blipFill>
                <a:blip r:embed="rId5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7" name="표 37">
                <a:extLst>
                  <a:ext uri="{FF2B5EF4-FFF2-40B4-BE49-F238E27FC236}">
                    <a16:creationId xmlns:a16="http://schemas.microsoft.com/office/drawing/2014/main" id="{726A49D5-2CD5-4B84-8540-EBDCFDC9822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13467111"/>
                  </p:ext>
                </p:extLst>
              </p:nvPr>
            </p:nvGraphicFramePr>
            <p:xfrm>
              <a:off x="3111846" y="3100683"/>
              <a:ext cx="2481347" cy="1093216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481347">
                      <a:extLst>
                        <a:ext uri="{9D8B030D-6E8A-4147-A177-3AD203B41FA5}">
                          <a16:colId xmlns:a16="http://schemas.microsoft.com/office/drawing/2014/main" val="524337572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100" b="0" smtClean="0"/>
                                    </m:ctrlPr>
                                  </m:sSupPr>
                                  <m:e>
                                    <m:r>
                                      <a:rPr lang="en-US" altLang="ko-KR" sz="1100" b="0" smtClean="0"/>
                                      <m:t>𝑤</m:t>
                                    </m:r>
                                  </m:e>
                                  <m:sup>
                                    <m:r>
                                      <a:rPr lang="en-US" altLang="ko-KR" sz="1100" b="0" smtClean="0"/>
                                      <m:t>𝑇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n-US" altLang="ko-KR" sz="1100" b="0" i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100" b="0" i="0" smtClean="0"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ko-KR" sz="1100" b="0" i="0" smtClean="0">
                                        <a:latin typeface="Cambria Math" panose="02040503050406030204" pitchFamily="18" charset="0"/>
                                      </a:rPr>
                                      <m:t>sv</m:t>
                                    </m:r>
                                  </m:sub>
                                </m:sSub>
                                <m:r>
                                  <a:rPr lang="en-US" altLang="ko-KR" sz="1100" b="0" smtClean="0"/>
                                  <m:t>+</m:t>
                                </m:r>
                                <m:r>
                                  <a:rPr lang="en-US" altLang="ko-KR" sz="1100" b="0" smtClean="0"/>
                                  <m:t>𝑏</m:t>
                                </m:r>
                                <m:r>
                                  <a:rPr lang="en-US" altLang="ko-KR" sz="1100" b="0" smtClean="0"/>
                                  <m:t>=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ko-KR" altLang="en-US" sz="1100" smtClean="0"/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ko-KR" sz="1100" b="0" smtClean="0"/>
                                      <m:t>𝑖</m:t>
                                    </m:r>
                                    <m:r>
                                      <a:rPr lang="en-US" altLang="ko-KR" sz="1100" b="0" smtClean="0"/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 b="0" smtClean="0"/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b="0" smtClean="0"/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smtClean="0"/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/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b="0" smtClean="0"/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smtClean="0"/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/>
                                          <m:t>𝑖</m:t>
                                        </m:r>
                                      </m:sub>
                                    </m:sSub>
                                    <m:sSubSup>
                                      <m:sSubSupPr>
                                        <m:ctrlPr>
                                          <a:rPr lang="en-US" altLang="ko-KR" sz="1100" b="0" smtClean="0"/>
                                        </m:ctrlPr>
                                      </m:sSubSupPr>
                                      <m:e>
                                        <m:r>
                                          <a:rPr lang="en-US" altLang="ko-KR" sz="1100" b="0" smtClean="0"/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/>
                                          <m:t>𝑖</m:t>
                                        </m:r>
                                      </m:sub>
                                      <m:sup>
                                        <m:r>
                                          <a:rPr lang="en-US" altLang="ko-KR" sz="1100" b="0" smtClean="0"/>
                                          <m:t>𝑇</m:t>
                                        </m:r>
                                      </m:sup>
                                    </m:sSubSup>
                                    <m:sSub>
                                      <m:sSubPr>
                                        <m:ctrlPr>
                                          <a:rPr lang="en-US" altLang="ko-KR" sz="1100" b="0" smtClean="0"/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smtClean="0"/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/>
                                          <m:t>𝑠𝑣</m:t>
                                        </m:r>
                                      </m:sub>
                                    </m:sSub>
                                    <m:r>
                                      <a:rPr lang="en-US" altLang="ko-KR" sz="1100" b="0" smtClean="0"/>
                                      <m:t>+</m:t>
                                    </m:r>
                                    <m:r>
                                      <a:rPr lang="en-US" altLang="ko-KR" sz="1100" b="0" smtClean="0"/>
                                      <m:t>𝑏</m:t>
                                    </m:r>
                                    <m:r>
                                      <a:rPr lang="en-US" altLang="ko-KR" sz="1100" b="0" smtClean="0"/>
                                      <m:t>=</m:t>
                                    </m:r>
                                    <m:sSub>
                                      <m:sSubPr>
                                        <m:ctrlPr>
                                          <a:rPr lang="en-US" altLang="ko-KR" sz="1100" b="0" smtClean="0"/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smtClean="0"/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/>
                                          <m:t>𝑠𝑣</m:t>
                                        </m:r>
                                      </m:sub>
                                    </m:sSub>
                                  </m:e>
                                </m:nary>
                              </m:oMath>
                            </m:oMathPara>
                          </a14:m>
                          <a:endParaRPr lang="ko-KR" altLang="en-US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715665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0" smtClean="0"/>
                                  <m:t>𝑏</m:t>
                                </m:r>
                                <m:r>
                                  <a:rPr lang="en-US" altLang="ko-KR" sz="1100" b="0" smtClean="0"/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ko-KR" sz="1100" b="0" smtClean="0"/>
                                    </m:ctrlPr>
                                  </m:sSubPr>
                                  <m:e>
                                    <m:r>
                                      <a:rPr lang="en-US" altLang="ko-KR" sz="1100" b="0" smtClean="0"/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ko-KR" sz="1100" b="0" smtClean="0"/>
                                      <m:t>𝑠𝑣</m:t>
                                    </m:r>
                                  </m:sub>
                                </m:sSub>
                                <m:r>
                                  <a:rPr lang="en-US" altLang="ko-KR" sz="1100" b="0" smtClean="0"/>
                                  <m:t>−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ko-KR" altLang="en-US" sz="1100" smtClean="0"/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ko-KR" sz="1100" b="0" smtClean="0"/>
                                      <m:t>𝑖</m:t>
                                    </m:r>
                                    <m:r>
                                      <a:rPr lang="en-US" altLang="ko-KR" sz="1100" b="0" smtClean="0"/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ko-KR" sz="1100" b="0" smtClean="0"/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altLang="ko-KR" sz="1100" b="0" smtClean="0"/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smtClean="0"/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/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ko-KR" sz="1100" b="0" smtClean="0"/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smtClean="0"/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/>
                                          <m:t>𝑖</m:t>
                                        </m:r>
                                      </m:sub>
                                    </m:sSub>
                                    <m:sSubSup>
                                      <m:sSubSupPr>
                                        <m:ctrlPr>
                                          <a:rPr lang="en-US" altLang="ko-KR" sz="1100" b="0" smtClean="0"/>
                                        </m:ctrlPr>
                                      </m:sSubSupPr>
                                      <m:e>
                                        <m:r>
                                          <a:rPr lang="en-US" altLang="ko-KR" sz="1100" b="0" smtClean="0"/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/>
                                          <m:t>𝑖</m:t>
                                        </m:r>
                                      </m:sub>
                                      <m:sup>
                                        <m:r>
                                          <a:rPr lang="en-US" altLang="ko-KR" sz="1100" b="0" smtClean="0"/>
                                          <m:t>𝑇</m:t>
                                        </m:r>
                                      </m:sup>
                                    </m:sSubSup>
                                    <m:sSub>
                                      <m:sSubPr>
                                        <m:ctrlPr>
                                          <a:rPr lang="en-US" altLang="ko-KR" sz="1100" b="0" smtClean="0"/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smtClean="0"/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smtClean="0"/>
                                          <m:t>𝑠𝑣</m:t>
                                        </m:r>
                                      </m:sub>
                                    </m:sSub>
                                  </m:e>
                                </m:nary>
                              </m:oMath>
                            </m:oMathPara>
                          </a14:m>
                          <a:endParaRPr lang="ko-KR" altLang="en-US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572843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7" name="표 37">
                <a:extLst>
                  <a:ext uri="{FF2B5EF4-FFF2-40B4-BE49-F238E27FC236}">
                    <a16:creationId xmlns:a16="http://schemas.microsoft.com/office/drawing/2014/main" id="{726A49D5-2CD5-4B84-8540-EBDCFDC9822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13467111"/>
                  </p:ext>
                </p:extLst>
              </p:nvPr>
            </p:nvGraphicFramePr>
            <p:xfrm>
              <a:off x="3111846" y="3100683"/>
              <a:ext cx="2481347" cy="1093216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481347">
                      <a:extLst>
                        <a:ext uri="{9D8B030D-6E8A-4147-A177-3AD203B41FA5}">
                          <a16:colId xmlns:a16="http://schemas.microsoft.com/office/drawing/2014/main" val="524337572"/>
                        </a:ext>
                      </a:extLst>
                    </a:gridCol>
                  </a:tblGrid>
                  <a:tr h="546608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6"/>
                          <a:stretch>
                            <a:fillRect t="-95556" b="-24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77156655"/>
                      </a:ext>
                    </a:extLst>
                  </a:tr>
                  <a:tr h="546608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6"/>
                          <a:stretch>
                            <a:fillRect t="-195556" b="-14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72843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7B75D61-16A0-42B9-B3AE-5EE6615865E3}"/>
                  </a:ext>
                </a:extLst>
              </p:cNvPr>
              <p:cNvSpPr txBox="1"/>
              <p:nvPr/>
            </p:nvSpPr>
            <p:spPr>
              <a:xfrm>
                <a:off x="255521" y="4334259"/>
                <a:ext cx="6409189" cy="6848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 algn="l">
                  <a:buFont typeface="Arial" panose="020B0604020202020204" pitchFamily="34" charset="0"/>
                  <a:buChar char="•"/>
                </a:pPr>
                <a:r>
                  <a:rPr lang="ko-KR" altLang="en-US" sz="1100"/>
                  <a:t>새로운 데이터로 부터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ko-KR" altLang="en-US" sz="1100"/>
                  <a:t>와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ko-KR" altLang="en-US" sz="1100"/>
                  <a:t>의값을 계산 했다면 새로운 데이터에 대한 분류를 시행 할 수 있음</a:t>
                </a:r>
                <a:endParaRPr lang="en-US" altLang="ko-KR" sz="1100"/>
              </a:p>
              <a:p>
                <a:pPr marL="171450" indent="-171450"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100"/>
                  <a:t>오른쪽 그림과 같이 </a:t>
                </a:r>
                <a:r>
                  <a:rPr lang="en-US" altLang="ko-KR" sz="1100"/>
                  <a:t>hyper plane</a:t>
                </a:r>
                <a:r>
                  <a:rPr lang="ko-KR" altLang="en-US" sz="1100"/>
                  <a:t>보다 아래있는 경우 </a:t>
                </a:r>
                <a:r>
                  <a:rPr lang="en-US" altLang="ko-KR" sz="1100"/>
                  <a:t>–</a:t>
                </a:r>
                <a:r>
                  <a:rPr lang="ko-KR" altLang="en-US" sz="1100"/>
                  <a:t>영역</a:t>
                </a:r>
                <a:r>
                  <a:rPr lang="en-US" altLang="ko-KR" sz="1100"/>
                  <a:t>, </a:t>
                </a:r>
                <a:r>
                  <a:rPr lang="ko-KR" altLang="en-US" sz="1100"/>
                  <a:t>위에 있는경우 </a:t>
                </a:r>
                <a:r>
                  <a:rPr lang="en-US" altLang="ko-KR" sz="1100"/>
                  <a:t>+</a:t>
                </a:r>
                <a:r>
                  <a:rPr lang="ko-KR" altLang="en-US" sz="1100"/>
                  <a:t>영역인걸 알 수 있음</a:t>
                </a:r>
                <a:endParaRPr lang="en-US" altLang="ko-KR" sz="1100"/>
              </a:p>
              <a:p>
                <a:pPr marL="171450" indent="-171450" algn="l">
                  <a:buFont typeface="Arial" panose="020B0604020202020204" pitchFamily="34" charset="0"/>
                  <a:buChar char="•"/>
                </a:pPr>
                <a:endParaRPr lang="ko-KR" altLang="en-US" sz="1100"/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7B75D61-16A0-42B9-B3AE-5EE6615865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521" y="4334259"/>
                <a:ext cx="6409189" cy="684803"/>
              </a:xfrm>
              <a:prstGeom prst="rect">
                <a:avLst/>
              </a:prstGeom>
              <a:blipFill>
                <a:blip r:embed="rId7"/>
                <a:stretch>
                  <a:fillRect t="-8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6" name="표 66">
                <a:extLst>
                  <a:ext uri="{FF2B5EF4-FFF2-40B4-BE49-F238E27FC236}">
                    <a16:creationId xmlns:a16="http://schemas.microsoft.com/office/drawing/2014/main" id="{1AEB0C9A-9946-463A-A961-49953692C62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07342331"/>
                  </p:ext>
                </p:extLst>
              </p:nvPr>
            </p:nvGraphicFramePr>
            <p:xfrm>
              <a:off x="3124677" y="4722878"/>
              <a:ext cx="3628622" cy="51816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293653">
                      <a:extLst>
                        <a:ext uri="{9D8B030D-6E8A-4147-A177-3AD203B41FA5}">
                          <a16:colId xmlns:a16="http://schemas.microsoft.com/office/drawing/2014/main" val="3693247277"/>
                        </a:ext>
                      </a:extLst>
                    </a:gridCol>
                    <a:gridCol w="2334969">
                      <a:extLst>
                        <a:ext uri="{9D8B030D-6E8A-4147-A177-3AD203B41FA5}">
                          <a16:colId xmlns:a16="http://schemas.microsoft.com/office/drawing/2014/main" val="4189599739"/>
                        </a:ext>
                      </a:extLst>
                    </a:gridCol>
                  </a:tblGrid>
                  <a:tr h="205614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100" b="0" smtClean="0"/>
                                    </m:ctrlPr>
                                  </m:sSupPr>
                                  <m:e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p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n-US" altLang="ko-KR" sz="1100" b="0" smtClean="0"/>
                                    </m:ctrlPr>
                                  </m:sSubPr>
                                  <m:e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𝑛𝑒𝑤</m:t>
                                    </m:r>
                                  </m:sub>
                                </m:sSub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ko-KR" altLang="en-US" sz="11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>
                            <a:lnSpc>
                              <a:spcPct val="100000"/>
                            </a:lnSpc>
                          </a:pPr>
                          <a:r>
                            <a:rPr lang="en-US" altLang="ko-KR" sz="1100" b="0"/>
                            <a:t>=&gt; Class 1</a:t>
                          </a:r>
                          <a:endParaRPr lang="ko-KR" altLang="en-US" sz="1100" b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17768329"/>
                      </a:ext>
                    </a:extLst>
                  </a:tr>
                  <a:tr h="20561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100" b="0" smtClean="0"/>
                                    </m:ctrlPr>
                                  </m:sSupPr>
                                  <m:e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p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n-US" altLang="ko-KR" sz="1100" b="0" smtClean="0"/>
                                    </m:ctrlPr>
                                  </m:sSubPr>
                                  <m:e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𝑛𝑒𝑤</m:t>
                                    </m:r>
                                  </m:sub>
                                </m:sSub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ko-KR" altLang="en-US" sz="1100" b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>
                            <a:lnSpc>
                              <a:spcPct val="100000"/>
                            </a:lnSpc>
                          </a:pPr>
                          <a:r>
                            <a:rPr lang="en-US" altLang="ko-KR" sz="1100" b="0"/>
                            <a:t>=&gt; Class 2</a:t>
                          </a:r>
                          <a:endParaRPr lang="ko-KR" altLang="en-US" sz="1100" b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830373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6" name="표 66">
                <a:extLst>
                  <a:ext uri="{FF2B5EF4-FFF2-40B4-BE49-F238E27FC236}">
                    <a16:creationId xmlns:a16="http://schemas.microsoft.com/office/drawing/2014/main" id="{1AEB0C9A-9946-463A-A961-49953692C62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07342331"/>
                  </p:ext>
                </p:extLst>
              </p:nvPr>
            </p:nvGraphicFramePr>
            <p:xfrm>
              <a:off x="3124677" y="4722878"/>
              <a:ext cx="3628622" cy="51816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293653">
                      <a:extLst>
                        <a:ext uri="{9D8B030D-6E8A-4147-A177-3AD203B41FA5}">
                          <a16:colId xmlns:a16="http://schemas.microsoft.com/office/drawing/2014/main" val="3693247277"/>
                        </a:ext>
                      </a:extLst>
                    </a:gridCol>
                    <a:gridCol w="2334969">
                      <a:extLst>
                        <a:ext uri="{9D8B030D-6E8A-4147-A177-3AD203B41FA5}">
                          <a16:colId xmlns:a16="http://schemas.microsoft.com/office/drawing/2014/main" val="4189599739"/>
                        </a:ext>
                      </a:extLst>
                    </a:gridCol>
                  </a:tblGrid>
                  <a:tr h="2590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8"/>
                          <a:stretch>
                            <a:fillRect r="-181132" b="-1139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>
                            <a:lnSpc>
                              <a:spcPct val="100000"/>
                            </a:lnSpc>
                          </a:pPr>
                          <a:r>
                            <a:rPr lang="en-US" altLang="ko-KR" sz="1100" b="0"/>
                            <a:t>=&gt; Class 1</a:t>
                          </a:r>
                          <a:endParaRPr lang="ko-KR" altLang="en-US" sz="1100" b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1776832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8"/>
                          <a:stretch>
                            <a:fillRect t="-100000" r="-181132" b="-139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>
                            <a:lnSpc>
                              <a:spcPct val="100000"/>
                            </a:lnSpc>
                          </a:pPr>
                          <a:r>
                            <a:rPr lang="en-US" altLang="ko-KR" sz="1100" b="0"/>
                            <a:t>=&gt; Class 2</a:t>
                          </a:r>
                          <a:endParaRPr lang="ko-KR" altLang="en-US" sz="1100" b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830373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9" name="TextBox 68">
            <a:extLst>
              <a:ext uri="{FF2B5EF4-FFF2-40B4-BE49-F238E27FC236}">
                <a16:creationId xmlns:a16="http://schemas.microsoft.com/office/drawing/2014/main" id="{6916F488-01FF-47A3-85DB-3E762ECA0872}"/>
              </a:ext>
            </a:extLst>
          </p:cNvPr>
          <p:cNvSpPr txBox="1"/>
          <p:nvPr/>
        </p:nvSpPr>
        <p:spPr>
          <a:xfrm>
            <a:off x="255521" y="5229651"/>
            <a:ext cx="593543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sz="1100"/>
              <a:t>오른쪽 그림처럼 </a:t>
            </a:r>
            <a:r>
              <a:rPr lang="en-US" altLang="ko-KR" sz="1100"/>
              <a:t>Hard Margin</a:t>
            </a:r>
            <a:r>
              <a:rPr lang="ko-KR" altLang="en-US" sz="1100"/>
              <a:t>이기 때문에 </a:t>
            </a:r>
            <a:r>
              <a:rPr lang="en-US" altLang="ko-KR" sz="1100"/>
              <a:t>hyperplane</a:t>
            </a:r>
            <a:r>
              <a:rPr lang="ko-KR" altLang="en-US" sz="1100"/>
              <a:t>안에 있는 점들은 분류할 수 없게 됨 </a:t>
            </a:r>
            <a:r>
              <a:rPr lang="en-US" altLang="ko-KR" sz="1100"/>
              <a:t>-&gt; soft margin </a:t>
            </a:r>
            <a:r>
              <a:rPr lang="ko-KR" altLang="en-US" sz="1100"/>
              <a:t>사용</a:t>
            </a: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FC4E5833-FA5F-4022-9894-B3C7021E851D}"/>
              </a:ext>
            </a:extLst>
          </p:cNvPr>
          <p:cNvGrpSpPr/>
          <p:nvPr/>
        </p:nvGrpSpPr>
        <p:grpSpPr>
          <a:xfrm>
            <a:off x="6325365" y="2698996"/>
            <a:ext cx="2127623" cy="1696427"/>
            <a:chOff x="3518675" y="2776495"/>
            <a:chExt cx="2878693" cy="2292172"/>
          </a:xfrm>
        </p:grpSpPr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618B61D8-D03D-442E-8826-6F1BF404BA4D}"/>
                </a:ext>
              </a:extLst>
            </p:cNvPr>
            <p:cNvGrpSpPr/>
            <p:nvPr/>
          </p:nvGrpSpPr>
          <p:grpSpPr>
            <a:xfrm>
              <a:off x="4870469" y="3201734"/>
              <a:ext cx="873554" cy="645957"/>
              <a:chOff x="4837649" y="3782504"/>
              <a:chExt cx="1143417" cy="783882"/>
            </a:xfrm>
            <a:solidFill>
              <a:srgbClr val="FF0000"/>
            </a:solidFill>
          </p:grpSpPr>
          <p:sp>
            <p:nvSpPr>
              <p:cNvPr id="56" name="이등변 삼각형 55">
                <a:extLst>
                  <a:ext uri="{FF2B5EF4-FFF2-40B4-BE49-F238E27FC236}">
                    <a16:creationId xmlns:a16="http://schemas.microsoft.com/office/drawing/2014/main" id="{EE9071D0-2682-4B5A-B61F-96BD3E7EBBC6}"/>
                  </a:ext>
                </a:extLst>
              </p:cNvPr>
              <p:cNvSpPr/>
              <p:nvPr/>
            </p:nvSpPr>
            <p:spPr>
              <a:xfrm>
                <a:off x="5019988" y="3846814"/>
                <a:ext cx="147642" cy="142602"/>
              </a:xfrm>
              <a:prstGeom prst="triangl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7" name="이등변 삼각형 56">
                <a:extLst>
                  <a:ext uri="{FF2B5EF4-FFF2-40B4-BE49-F238E27FC236}">
                    <a16:creationId xmlns:a16="http://schemas.microsoft.com/office/drawing/2014/main" id="{2F580893-97AF-4942-A9B4-18426B76AD1F}"/>
                  </a:ext>
                </a:extLst>
              </p:cNvPr>
              <p:cNvSpPr/>
              <p:nvPr/>
            </p:nvSpPr>
            <p:spPr>
              <a:xfrm>
                <a:off x="4837649" y="4423784"/>
                <a:ext cx="147642" cy="142602"/>
              </a:xfrm>
              <a:prstGeom prst="triangl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8" name="이등변 삼각형 57">
                <a:extLst>
                  <a:ext uri="{FF2B5EF4-FFF2-40B4-BE49-F238E27FC236}">
                    <a16:creationId xmlns:a16="http://schemas.microsoft.com/office/drawing/2014/main" id="{1B8AD66B-39D5-4199-ADFC-BD6F1C3AD3EF}"/>
                  </a:ext>
                </a:extLst>
              </p:cNvPr>
              <p:cNvSpPr/>
              <p:nvPr/>
            </p:nvSpPr>
            <p:spPr>
              <a:xfrm>
                <a:off x="5398595" y="4099675"/>
                <a:ext cx="147642" cy="142602"/>
              </a:xfrm>
              <a:prstGeom prst="triangl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9" name="이등변 삼각형 58">
                <a:extLst>
                  <a:ext uri="{FF2B5EF4-FFF2-40B4-BE49-F238E27FC236}">
                    <a16:creationId xmlns:a16="http://schemas.microsoft.com/office/drawing/2014/main" id="{B5BBA928-0D93-4BDB-A311-1CEA490373D9}"/>
                  </a:ext>
                </a:extLst>
              </p:cNvPr>
              <p:cNvSpPr/>
              <p:nvPr/>
            </p:nvSpPr>
            <p:spPr>
              <a:xfrm>
                <a:off x="5833424" y="4342919"/>
                <a:ext cx="147642" cy="142602"/>
              </a:xfrm>
              <a:prstGeom prst="triangl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0" name="이등변 삼각형 59">
                <a:extLst>
                  <a:ext uri="{FF2B5EF4-FFF2-40B4-BE49-F238E27FC236}">
                    <a16:creationId xmlns:a16="http://schemas.microsoft.com/office/drawing/2014/main" id="{211B9CE2-A660-4556-8B30-C5D33496027C}"/>
                  </a:ext>
                </a:extLst>
              </p:cNvPr>
              <p:cNvSpPr/>
              <p:nvPr/>
            </p:nvSpPr>
            <p:spPr>
              <a:xfrm>
                <a:off x="5833424" y="3782504"/>
                <a:ext cx="147642" cy="142602"/>
              </a:xfrm>
              <a:prstGeom prst="triangl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B039D0E6-D2B4-4E1B-8986-FF148F8291B4}"/>
                </a:ext>
              </a:extLst>
            </p:cNvPr>
            <p:cNvGrpSpPr/>
            <p:nvPr/>
          </p:nvGrpSpPr>
          <p:grpSpPr>
            <a:xfrm>
              <a:off x="3518675" y="2776495"/>
              <a:ext cx="2660658" cy="2261370"/>
              <a:chOff x="3431097" y="1987172"/>
              <a:chExt cx="3482605" cy="2744220"/>
            </a:xfrm>
          </p:grpSpPr>
          <p:cxnSp>
            <p:nvCxnSpPr>
              <p:cNvPr id="54" name="직선 화살표 연결선 53">
                <a:extLst>
                  <a:ext uri="{FF2B5EF4-FFF2-40B4-BE49-F238E27FC236}">
                    <a16:creationId xmlns:a16="http://schemas.microsoft.com/office/drawing/2014/main" id="{E5F0D79E-D4F3-4816-85D5-89682D47AF7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31097" y="4731391"/>
                <a:ext cx="348260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5" name="직선 화살표 연결선 54">
                <a:extLst>
                  <a:ext uri="{FF2B5EF4-FFF2-40B4-BE49-F238E27FC236}">
                    <a16:creationId xmlns:a16="http://schemas.microsoft.com/office/drawing/2014/main" id="{37E91C96-AE0B-4362-9ECA-7C1889722F3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436689" y="1987172"/>
                <a:ext cx="0" cy="274422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42" name="직선 연결선 41">
              <a:extLst>
                <a:ext uri="{FF2B5EF4-FFF2-40B4-BE49-F238E27FC236}">
                  <a16:creationId xmlns:a16="http://schemas.microsoft.com/office/drawing/2014/main" id="{6511428B-2303-4F05-8E28-65BDB8FE2608}"/>
                </a:ext>
              </a:extLst>
            </p:cNvPr>
            <p:cNvCxnSpPr>
              <a:cxnSpLocks/>
            </p:cNvCxnSpPr>
            <p:nvPr/>
          </p:nvCxnSpPr>
          <p:spPr>
            <a:xfrm>
              <a:off x="3874208" y="3201734"/>
              <a:ext cx="1566956" cy="1693669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3" name="직선 연결선 42">
              <a:extLst>
                <a:ext uri="{FF2B5EF4-FFF2-40B4-BE49-F238E27FC236}">
                  <a16:creationId xmlns:a16="http://schemas.microsoft.com/office/drawing/2014/main" id="{76B24611-D7E4-47CA-85A5-C2B996DD2C03}"/>
                </a:ext>
              </a:extLst>
            </p:cNvPr>
            <p:cNvCxnSpPr>
              <a:cxnSpLocks/>
            </p:cNvCxnSpPr>
            <p:nvPr/>
          </p:nvCxnSpPr>
          <p:spPr>
            <a:xfrm>
              <a:off x="4144981" y="3016391"/>
              <a:ext cx="1566956" cy="1693669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4AB96D8A-0E23-4ABB-82A5-D734A79D3D7B}"/>
                </a:ext>
              </a:extLst>
            </p:cNvPr>
            <p:cNvGrpSpPr/>
            <p:nvPr/>
          </p:nvGrpSpPr>
          <p:grpSpPr>
            <a:xfrm>
              <a:off x="3686528" y="4050287"/>
              <a:ext cx="1162476" cy="881414"/>
              <a:chOff x="3665996" y="2686332"/>
              <a:chExt cx="1521594" cy="1069614"/>
            </a:xfrm>
            <a:solidFill>
              <a:srgbClr val="2C6FAD"/>
            </a:solidFill>
          </p:grpSpPr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A9DF78E2-3CC4-4501-A92A-4A86B0F4A285}"/>
                  </a:ext>
                </a:extLst>
              </p:cNvPr>
              <p:cNvSpPr/>
              <p:nvPr/>
            </p:nvSpPr>
            <p:spPr>
              <a:xfrm>
                <a:off x="3758272" y="3045312"/>
                <a:ext cx="125831" cy="12792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0" name="직사각형 49">
                <a:extLst>
                  <a:ext uri="{FF2B5EF4-FFF2-40B4-BE49-F238E27FC236}">
                    <a16:creationId xmlns:a16="http://schemas.microsoft.com/office/drawing/2014/main" id="{8C92F556-72B9-4DCB-AA68-60D250EA7A62}"/>
                  </a:ext>
                </a:extLst>
              </p:cNvPr>
              <p:cNvSpPr/>
              <p:nvPr/>
            </p:nvSpPr>
            <p:spPr>
              <a:xfrm>
                <a:off x="3665996" y="3628023"/>
                <a:ext cx="125831" cy="12792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1" name="직사각형 50">
                <a:extLst>
                  <a:ext uri="{FF2B5EF4-FFF2-40B4-BE49-F238E27FC236}">
                    <a16:creationId xmlns:a16="http://schemas.microsoft.com/office/drawing/2014/main" id="{19A0B821-42AE-430B-BA4F-0331F3C0532A}"/>
                  </a:ext>
                </a:extLst>
              </p:cNvPr>
              <p:cNvSpPr/>
              <p:nvPr/>
            </p:nvSpPr>
            <p:spPr>
              <a:xfrm>
                <a:off x="4177723" y="3482638"/>
                <a:ext cx="125831" cy="12792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2" name="직사각형 51">
                <a:extLst>
                  <a:ext uri="{FF2B5EF4-FFF2-40B4-BE49-F238E27FC236}">
                    <a16:creationId xmlns:a16="http://schemas.microsoft.com/office/drawing/2014/main" id="{2DFB0050-D84A-4EAA-A1B8-3E4E41100B05}"/>
                  </a:ext>
                </a:extLst>
              </p:cNvPr>
              <p:cNvSpPr/>
              <p:nvPr/>
            </p:nvSpPr>
            <p:spPr>
              <a:xfrm>
                <a:off x="4211277" y="3119517"/>
                <a:ext cx="125831" cy="12792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" name="직사각형 52">
                <a:extLst>
                  <a:ext uri="{FF2B5EF4-FFF2-40B4-BE49-F238E27FC236}">
                    <a16:creationId xmlns:a16="http://schemas.microsoft.com/office/drawing/2014/main" id="{1BF62920-C09D-4DCC-973A-605D82524DF8}"/>
                  </a:ext>
                </a:extLst>
              </p:cNvPr>
              <p:cNvSpPr/>
              <p:nvPr/>
            </p:nvSpPr>
            <p:spPr>
              <a:xfrm>
                <a:off x="4303554" y="2686332"/>
                <a:ext cx="125831" cy="12792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2" name="직사각형 61">
                <a:extLst>
                  <a:ext uri="{FF2B5EF4-FFF2-40B4-BE49-F238E27FC236}">
                    <a16:creationId xmlns:a16="http://schemas.microsoft.com/office/drawing/2014/main" id="{DDD2EA72-2974-4C7F-8B5D-6EA57142ECE0}"/>
                  </a:ext>
                </a:extLst>
              </p:cNvPr>
              <p:cNvSpPr/>
              <p:nvPr/>
            </p:nvSpPr>
            <p:spPr>
              <a:xfrm>
                <a:off x="5061760" y="3112808"/>
                <a:ext cx="125830" cy="127923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89F4E664-CF00-4438-816F-5E8B6B4FADED}"/>
                </a:ext>
              </a:extLst>
            </p:cNvPr>
            <p:cNvCxnSpPr>
              <a:cxnSpLocks/>
            </p:cNvCxnSpPr>
            <p:nvPr/>
          </p:nvCxnSpPr>
          <p:spPr>
            <a:xfrm>
              <a:off x="3587684" y="3374998"/>
              <a:ext cx="1566956" cy="1693669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6" name="직선 화살표 연결선 45">
              <a:extLst>
                <a:ext uri="{FF2B5EF4-FFF2-40B4-BE49-F238E27FC236}">
                  <a16:creationId xmlns:a16="http://schemas.microsoft.com/office/drawing/2014/main" id="{FC060D83-0A00-4573-9B1F-1C27A8BA12DD}"/>
                </a:ext>
              </a:extLst>
            </p:cNvPr>
            <p:cNvCxnSpPr>
              <a:cxnSpLocks/>
            </p:cNvCxnSpPr>
            <p:nvPr/>
          </p:nvCxnSpPr>
          <p:spPr>
            <a:xfrm>
              <a:off x="4929311" y="3836887"/>
              <a:ext cx="576589" cy="19614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화살표 연결선 46">
              <a:extLst>
                <a:ext uri="{FF2B5EF4-FFF2-40B4-BE49-F238E27FC236}">
                  <a16:creationId xmlns:a16="http://schemas.microsoft.com/office/drawing/2014/main" id="{2606E741-E7A7-4AAA-B839-346848FAF1B7}"/>
                </a:ext>
              </a:extLst>
            </p:cNvPr>
            <p:cNvCxnSpPr>
              <a:cxnSpLocks/>
            </p:cNvCxnSpPr>
            <p:nvPr/>
          </p:nvCxnSpPr>
          <p:spPr>
            <a:xfrm>
              <a:off x="4220299" y="4102093"/>
              <a:ext cx="1267552" cy="5036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3B53528-7D8D-461E-9E3C-6E6BCEA2F9B9}"/>
                </a:ext>
              </a:extLst>
            </p:cNvPr>
            <p:cNvSpPr txBox="1"/>
            <p:nvPr/>
          </p:nvSpPr>
          <p:spPr>
            <a:xfrm>
              <a:off x="5526168" y="3924852"/>
              <a:ext cx="871200" cy="4574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800"/>
                <a:t>Support</a:t>
              </a:r>
            </a:p>
            <a:p>
              <a:pPr algn="l"/>
              <a:r>
                <a:rPr lang="en-US" altLang="ko-KR" sz="800"/>
                <a:t>Vector</a:t>
              </a:r>
              <a:endParaRPr lang="ko-KR" altLang="en-US" sz="800"/>
            </a:p>
          </p:txBody>
        </p:sp>
      </p:grpSp>
      <p:sp>
        <p:nvSpPr>
          <p:cNvPr id="61" name="이등변 삼각형 60">
            <a:extLst>
              <a:ext uri="{FF2B5EF4-FFF2-40B4-BE49-F238E27FC236}">
                <a16:creationId xmlns:a16="http://schemas.microsoft.com/office/drawing/2014/main" id="{05FDB980-E97F-4608-8494-8C62AAFA421D}"/>
              </a:ext>
            </a:extLst>
          </p:cNvPr>
          <p:cNvSpPr/>
          <p:nvPr/>
        </p:nvSpPr>
        <p:spPr>
          <a:xfrm>
            <a:off x="7004360" y="3222222"/>
            <a:ext cx="83367" cy="86969"/>
          </a:xfrm>
          <a:prstGeom prst="triangl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AC520A8-BD17-45D1-99F8-7125663B717E}"/>
              </a:ext>
            </a:extLst>
          </p:cNvPr>
          <p:cNvSpPr txBox="1"/>
          <p:nvPr/>
        </p:nvSpPr>
        <p:spPr>
          <a:xfrm>
            <a:off x="7324467" y="2631849"/>
            <a:ext cx="56227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800"/>
              <a:t>Class 2</a:t>
            </a:r>
            <a:endParaRPr lang="ko-KR" altLang="en-US" sz="80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55E9559-93C3-43D5-A4AB-0647A2A40182}"/>
              </a:ext>
            </a:extLst>
          </p:cNvPr>
          <p:cNvSpPr txBox="1"/>
          <p:nvPr/>
        </p:nvSpPr>
        <p:spPr>
          <a:xfrm>
            <a:off x="6787902" y="4177444"/>
            <a:ext cx="56227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800"/>
              <a:t>Class 1</a:t>
            </a:r>
            <a:endParaRPr lang="ko-KR" altLang="en-US" sz="8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255C05DC-0047-4BC6-A1C0-963E79BA38FF}"/>
                  </a:ext>
                </a:extLst>
              </p:cNvPr>
              <p:cNvSpPr txBox="1"/>
              <p:nvPr/>
            </p:nvSpPr>
            <p:spPr>
              <a:xfrm>
                <a:off x="8026218" y="4168828"/>
                <a:ext cx="844732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8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ko-KR" sz="8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ko-KR" sz="800" i="1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ko-KR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b>
                      </m:sSub>
                      <m:r>
                        <a:rPr lang="en-US" altLang="ko-KR" sz="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80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ko-KR" sz="800" b="0" i="1" smtClean="0">
                          <a:latin typeface="Cambria Math" panose="02040503050406030204" pitchFamily="18" charset="0"/>
                        </a:rPr>
                        <m:t>≤1</m:t>
                      </m:r>
                    </m:oMath>
                  </m:oMathPara>
                </a14:m>
                <a:endParaRPr lang="ko-KR" altLang="en-US" sz="800" i="1"/>
              </a:p>
            </p:txBody>
          </p:sp>
        </mc:Choice>
        <mc:Fallback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255C05DC-0047-4BC6-A1C0-963E79BA38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6218" y="4168828"/>
                <a:ext cx="844732" cy="123111"/>
              </a:xfrm>
              <a:prstGeom prst="rect">
                <a:avLst/>
              </a:prstGeom>
              <a:blipFill>
                <a:blip r:embed="rId9"/>
                <a:stretch>
                  <a:fillRect t="-5000" b="-1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6256CA0A-5CEC-4856-B51B-5DB0C27F1966}"/>
                  </a:ext>
                </a:extLst>
              </p:cNvPr>
              <p:cNvSpPr txBox="1"/>
              <p:nvPr/>
            </p:nvSpPr>
            <p:spPr>
              <a:xfrm>
                <a:off x="8026218" y="3871003"/>
                <a:ext cx="844732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8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ko-KR" sz="8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ko-KR" sz="800" i="1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ko-KR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en-US" altLang="ko-KR" sz="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80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ko-KR" sz="800" b="0" i="1" smtClean="0">
                          <a:latin typeface="Cambria Math" panose="02040503050406030204" pitchFamily="18" charset="0"/>
                        </a:rPr>
                        <m:t>≥1</m:t>
                      </m:r>
                    </m:oMath>
                  </m:oMathPara>
                </a14:m>
                <a:endParaRPr lang="ko-KR" altLang="en-US" sz="800" i="1"/>
              </a:p>
            </p:txBody>
          </p:sp>
        </mc:Choice>
        <mc:Fallback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6256CA0A-5CEC-4856-B51B-5DB0C27F19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6218" y="3871003"/>
                <a:ext cx="844732" cy="123111"/>
              </a:xfrm>
              <a:prstGeom prst="rect">
                <a:avLst/>
              </a:prstGeom>
              <a:blipFill>
                <a:blip r:embed="rId10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28B3AD32-EFB7-455E-BC37-C6693DB2FD8C}"/>
              </a:ext>
            </a:extLst>
          </p:cNvPr>
          <p:cNvCxnSpPr>
            <a:cxnSpLocks/>
            <a:endCxn id="75" idx="1"/>
          </p:cNvCxnSpPr>
          <p:nvPr/>
        </p:nvCxnSpPr>
        <p:spPr>
          <a:xfrm flipV="1">
            <a:off x="7407834" y="4230384"/>
            <a:ext cx="618384" cy="76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AA72EE78-56F3-4556-979B-233AFA3817E8}"/>
              </a:ext>
            </a:extLst>
          </p:cNvPr>
          <p:cNvCxnSpPr>
            <a:cxnSpLocks/>
          </p:cNvCxnSpPr>
          <p:nvPr/>
        </p:nvCxnSpPr>
        <p:spPr>
          <a:xfrm flipV="1">
            <a:off x="7789055" y="3943372"/>
            <a:ext cx="231874" cy="6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BAF915AD-B1C6-4FFA-BB6D-8C9C7BD88B48}"/>
              </a:ext>
            </a:extLst>
          </p:cNvPr>
          <p:cNvGrpSpPr/>
          <p:nvPr/>
        </p:nvGrpSpPr>
        <p:grpSpPr>
          <a:xfrm>
            <a:off x="7187506" y="3867855"/>
            <a:ext cx="171140" cy="157385"/>
            <a:chOff x="7081630" y="2105959"/>
            <a:chExt cx="171140" cy="157385"/>
          </a:xfrm>
        </p:grpSpPr>
        <p:sp>
          <p:nvSpPr>
            <p:cNvPr id="85" name="타원 84">
              <a:extLst>
                <a:ext uri="{FF2B5EF4-FFF2-40B4-BE49-F238E27FC236}">
                  <a16:creationId xmlns:a16="http://schemas.microsoft.com/office/drawing/2014/main" id="{46EB32B4-0256-4AFA-8662-EB04EF710DE9}"/>
                </a:ext>
              </a:extLst>
            </p:cNvPr>
            <p:cNvSpPr/>
            <p:nvPr/>
          </p:nvSpPr>
          <p:spPr>
            <a:xfrm>
              <a:off x="7081630" y="2105959"/>
              <a:ext cx="171140" cy="157385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>
                <a:noFill/>
              </a:endParaRPr>
            </a:p>
          </p:txBody>
        </p:sp>
        <p:grpSp>
          <p:nvGrpSpPr>
            <p:cNvPr id="94" name="그룹 93">
              <a:extLst>
                <a:ext uri="{FF2B5EF4-FFF2-40B4-BE49-F238E27FC236}">
                  <a16:creationId xmlns:a16="http://schemas.microsoft.com/office/drawing/2014/main" id="{E17F20D0-F47B-417E-9D4F-D9E8F4FC13B7}"/>
                </a:ext>
              </a:extLst>
            </p:cNvPr>
            <p:cNvGrpSpPr/>
            <p:nvPr/>
          </p:nvGrpSpPr>
          <p:grpSpPr>
            <a:xfrm>
              <a:off x="7125240" y="2141159"/>
              <a:ext cx="83919" cy="80384"/>
              <a:chOff x="6809425" y="1604664"/>
              <a:chExt cx="118425" cy="123585"/>
            </a:xfrm>
          </p:grpSpPr>
          <p:cxnSp>
            <p:nvCxnSpPr>
              <p:cNvPr id="88" name="직선 연결선 87">
                <a:extLst>
                  <a:ext uri="{FF2B5EF4-FFF2-40B4-BE49-F238E27FC236}">
                    <a16:creationId xmlns:a16="http://schemas.microsoft.com/office/drawing/2014/main" id="{94CA2873-939C-4C8A-AAB5-9C69BF205CF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09426" y="1604664"/>
                <a:ext cx="118424" cy="123585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직선 연결선 91">
                <a:extLst>
                  <a:ext uri="{FF2B5EF4-FFF2-40B4-BE49-F238E27FC236}">
                    <a16:creationId xmlns:a16="http://schemas.microsoft.com/office/drawing/2014/main" id="{5F163A1E-CA62-487C-BF14-BACB2FC1C6F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809425" y="1614238"/>
                <a:ext cx="118424" cy="109058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A8339193-CBBF-44FC-9A89-1504D71C6FDC}"/>
              </a:ext>
            </a:extLst>
          </p:cNvPr>
          <p:cNvGrpSpPr/>
          <p:nvPr/>
        </p:nvGrpSpPr>
        <p:grpSpPr>
          <a:xfrm>
            <a:off x="6960473" y="3194446"/>
            <a:ext cx="171140" cy="157385"/>
            <a:chOff x="7081630" y="2105959"/>
            <a:chExt cx="171140" cy="157385"/>
          </a:xfrm>
        </p:grpSpPr>
        <p:sp>
          <p:nvSpPr>
            <p:cNvPr id="97" name="타원 96">
              <a:extLst>
                <a:ext uri="{FF2B5EF4-FFF2-40B4-BE49-F238E27FC236}">
                  <a16:creationId xmlns:a16="http://schemas.microsoft.com/office/drawing/2014/main" id="{D8A3F407-47C5-44D4-BA7A-88A3AC01205D}"/>
                </a:ext>
              </a:extLst>
            </p:cNvPr>
            <p:cNvSpPr/>
            <p:nvPr/>
          </p:nvSpPr>
          <p:spPr>
            <a:xfrm>
              <a:off x="7081630" y="2105959"/>
              <a:ext cx="171140" cy="157385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>
                <a:noFill/>
              </a:endParaRPr>
            </a:p>
          </p:txBody>
        </p:sp>
        <p:grpSp>
          <p:nvGrpSpPr>
            <p:cNvPr id="98" name="그룹 97">
              <a:extLst>
                <a:ext uri="{FF2B5EF4-FFF2-40B4-BE49-F238E27FC236}">
                  <a16:creationId xmlns:a16="http://schemas.microsoft.com/office/drawing/2014/main" id="{5BBB0868-D2C8-40AF-92EC-973EE24D5C6E}"/>
                </a:ext>
              </a:extLst>
            </p:cNvPr>
            <p:cNvGrpSpPr/>
            <p:nvPr/>
          </p:nvGrpSpPr>
          <p:grpSpPr>
            <a:xfrm>
              <a:off x="7125240" y="2141159"/>
              <a:ext cx="83919" cy="80384"/>
              <a:chOff x="6809425" y="1604664"/>
              <a:chExt cx="118425" cy="123585"/>
            </a:xfrm>
          </p:grpSpPr>
          <p:cxnSp>
            <p:nvCxnSpPr>
              <p:cNvPr id="99" name="직선 연결선 98">
                <a:extLst>
                  <a:ext uri="{FF2B5EF4-FFF2-40B4-BE49-F238E27FC236}">
                    <a16:creationId xmlns:a16="http://schemas.microsoft.com/office/drawing/2014/main" id="{1C6AE002-49E2-4C22-B8C7-3985AC7E990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09426" y="1604664"/>
                <a:ext cx="118424" cy="123585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>
                <a:extLst>
                  <a:ext uri="{FF2B5EF4-FFF2-40B4-BE49-F238E27FC236}">
                    <a16:creationId xmlns:a16="http://schemas.microsoft.com/office/drawing/2014/main" id="{8C0908D7-6ADC-4DA2-BA25-5189A0CA936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809425" y="1614238"/>
                <a:ext cx="118424" cy="109058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5701340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텍스트 개체 틀 66">
            <a:extLst>
              <a:ext uri="{FF2B5EF4-FFF2-40B4-BE49-F238E27FC236}">
                <a16:creationId xmlns:a16="http://schemas.microsoft.com/office/drawing/2014/main" id="{175B5880-CE09-4886-A8AF-60476EF867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/>
              <a:t>Soft Margin</a:t>
            </a:r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66733E1-C825-4ED4-8B00-F1D93D6D9BB1}"/>
                  </a:ext>
                </a:extLst>
              </p:cNvPr>
              <p:cNvSpPr txBox="1"/>
              <p:nvPr/>
            </p:nvSpPr>
            <p:spPr>
              <a:xfrm>
                <a:off x="258732" y="3596786"/>
                <a:ext cx="6618906" cy="11079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100"/>
                  <a:t>Soft Margin</a:t>
                </a:r>
                <a:r>
                  <a:rPr lang="ko-KR" altLang="en-US" sz="1100"/>
                  <a:t>과 </a:t>
                </a:r>
                <a:r>
                  <a:rPr lang="en-US" altLang="ko-KR" sz="1100"/>
                  <a:t>Hard Margin</a:t>
                </a:r>
                <a:r>
                  <a:rPr lang="ko-KR" altLang="en-US" sz="1100"/>
                  <a:t>의 차이점은 에러를 어느정도 허용하는 것</a:t>
                </a:r>
                <a:endParaRPr lang="en-US" altLang="ko-KR" sz="11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100"/>
                  <a:t>error</a:t>
                </a:r>
                <a:r>
                  <a:rPr lang="ko-KR" altLang="en-US" sz="1100"/>
                  <a:t>는</a:t>
                </a:r>
                <a:r>
                  <a:rPr lang="en-US" altLang="ko-KR" sz="1100"/>
                  <a:t>slack variable</a:t>
                </a:r>
                <a:r>
                  <a:rPr lang="ko-KR" altLang="en-US" sz="110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1100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𝜁</m:t>
                        </m:r>
                      </m:e>
                    </m:d>
                    <m:r>
                      <a:rPr lang="ko-KR" altLang="en-US" sz="1100" i="1">
                        <a:latin typeface="Cambria Math" panose="02040503050406030204" pitchFamily="18" charset="0"/>
                      </a:rPr>
                      <m:t>으</m:t>
                    </m:r>
                  </m:oMath>
                </a14:m>
                <a:r>
                  <a:rPr lang="ko-KR" altLang="en-US" sz="1100"/>
                  <a:t>로 나타냄</a:t>
                </a:r>
                <a:endParaRPr lang="en-US" altLang="ko-KR" sz="11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100">
                    <a:highlight>
                      <a:srgbClr val="FFFF00"/>
                    </a:highlight>
                  </a:rPr>
                  <a:t>Slack variabl</a:t>
                </a:r>
                <a:r>
                  <a:rPr lang="ko-KR" altLang="en-US" sz="1100">
                    <a:highlight>
                      <a:srgbClr val="FFFF00"/>
                    </a:highlight>
                  </a:rPr>
                  <a:t>은 </a:t>
                </a:r>
                <a:r>
                  <a:rPr lang="en-US" altLang="ko-KR" sz="1100">
                    <a:highlight>
                      <a:srgbClr val="FFFF00"/>
                    </a:highlight>
                  </a:rPr>
                  <a:t>hyperplane</a:t>
                </a:r>
                <a:r>
                  <a:rPr lang="ko-KR" altLang="en-US" sz="1100">
                    <a:highlight>
                      <a:srgbClr val="FFFF00"/>
                    </a:highlight>
                  </a:rPr>
                  <a:t>을 기준으로 반대 방향에 잘못 존재하는 </a:t>
                </a:r>
                <a:r>
                  <a:rPr lang="en-US" altLang="ko-KR" sz="1100">
                    <a:highlight>
                      <a:srgbClr val="FFFF00"/>
                    </a:highlight>
                  </a:rPr>
                  <a:t>data</a:t>
                </a:r>
                <a:r>
                  <a:rPr lang="ko-KR" altLang="en-US" sz="1100">
                    <a:highlight>
                      <a:srgbClr val="FFFF00"/>
                    </a:highlight>
                  </a:rPr>
                  <a:t>를 다루기 위해 존재한다</a:t>
                </a:r>
                <a:r>
                  <a:rPr lang="en-US" altLang="ko-KR" sz="1100">
                    <a:highlight>
                      <a:srgbClr val="FFFF00"/>
                    </a:highlight>
                  </a:rPr>
                  <a:t>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100">
                    <a:highlight>
                      <a:srgbClr val="FFFF00"/>
                    </a:highlight>
                  </a:rPr>
                  <a:t>Slack variable</a:t>
                </a:r>
                <a:r>
                  <a:rPr lang="ko-KR" altLang="en-US" sz="1100">
                    <a:highlight>
                      <a:srgbClr val="FFFF00"/>
                    </a:highlight>
                  </a:rPr>
                  <a:t>은 선형적으로 분류를 할 수 없는 경우 분류를 위해 오차를 허용하는데 이때 제약조건을 완화하여 오차를 허용하는 것</a:t>
                </a:r>
                <a:endParaRPr lang="en-US" altLang="ko-KR" sz="1100">
                  <a:highlight>
                    <a:srgbClr val="FFFF00"/>
                  </a:highlight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100"/>
                  <a:t>Slack</a:t>
                </a:r>
                <a:r>
                  <a:rPr lang="ko-KR" altLang="en-US" sz="1100"/>
                  <a:t>변수를 추가하게 되면 목적함수의 식은 다음과 같음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66733E1-C825-4ED4-8B00-F1D93D6D9B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732" y="3596786"/>
                <a:ext cx="6618906" cy="1107996"/>
              </a:xfrm>
              <a:prstGeom prst="rect">
                <a:avLst/>
              </a:prstGeom>
              <a:blipFill>
                <a:blip r:embed="rId3"/>
                <a:stretch>
                  <a:fillRect t="-549" b="-27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표 4">
                <a:extLst>
                  <a:ext uri="{FF2B5EF4-FFF2-40B4-BE49-F238E27FC236}">
                    <a16:creationId xmlns:a16="http://schemas.microsoft.com/office/drawing/2014/main" id="{ABD3CD24-3F00-4EB7-B10A-D5513DC6026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51094130"/>
                  </p:ext>
                </p:extLst>
              </p:nvPr>
            </p:nvGraphicFramePr>
            <p:xfrm>
              <a:off x="3132867" y="4622975"/>
              <a:ext cx="3802380" cy="497396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465154">
                      <a:extLst>
                        <a:ext uri="{9D8B030D-6E8A-4147-A177-3AD203B41FA5}">
                          <a16:colId xmlns:a16="http://schemas.microsoft.com/office/drawing/2014/main" val="3258039132"/>
                        </a:ext>
                      </a:extLst>
                    </a:gridCol>
                    <a:gridCol w="2337226">
                      <a:extLst>
                        <a:ext uri="{9D8B030D-6E8A-4147-A177-3AD203B41FA5}">
                          <a16:colId xmlns:a16="http://schemas.microsoft.com/office/drawing/2014/main" val="118719231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sz="1100" smtClean="0">
                                    <a:latin typeface="Cambria Math" panose="02040503050406030204" pitchFamily="18" charset="0"/>
                                  </a:rPr>
                                  <m:t>m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1100" b="0" smtClean="0">
                                    <a:latin typeface="Cambria Math" panose="02040503050406030204" pitchFamily="18" charset="0"/>
                                  </a:rPr>
                                  <m:t>in</m:t>
                                </m:r>
                                <m:f>
                                  <m:fPr>
                                    <m:ctrlPr>
                                      <a:rPr lang="en-US" altLang="ko-KR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sSup>
                                  <m:sSupPr>
                                    <m:ctrlPr>
                                      <a:rPr lang="en-US" altLang="ko-KR" sz="11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‖"/>
                                        <m:endChr m:val="‖"/>
                                        <m:ctrlPr>
                                          <a:rPr lang="en-US" altLang="ko-KR" sz="11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10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ko-KR" sz="11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nary>
                                  <m:naryPr>
                                    <m:chr m:val="∑"/>
                                    <m:subHide m:val="on"/>
                                    <m:supHide m:val="on"/>
                                    <m:ctrlP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r>
                                      <a:rPr lang="en-US" altLang="ko-KR" sz="1100" b="0" i="1" smtClean="0">
                                        <a:latin typeface="Cambria Math" panose="02040503050406030204" pitchFamily="18" charset="0"/>
                                      </a:rPr>
                                      <m:t>𝜁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en-US" altLang="ko-KR" sz="1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2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100"/>
                            <a:t>목적함수</a:t>
                          </a:r>
                          <a:endParaRPr lang="en-US" altLang="ko-KR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8304605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표 4">
                <a:extLst>
                  <a:ext uri="{FF2B5EF4-FFF2-40B4-BE49-F238E27FC236}">
                    <a16:creationId xmlns:a16="http://schemas.microsoft.com/office/drawing/2014/main" id="{ABD3CD24-3F00-4EB7-B10A-D5513DC6026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51094130"/>
                  </p:ext>
                </p:extLst>
              </p:nvPr>
            </p:nvGraphicFramePr>
            <p:xfrm>
              <a:off x="3132867" y="4622975"/>
              <a:ext cx="3802380" cy="497396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465154">
                      <a:extLst>
                        <a:ext uri="{9D8B030D-6E8A-4147-A177-3AD203B41FA5}">
                          <a16:colId xmlns:a16="http://schemas.microsoft.com/office/drawing/2014/main" val="3258039132"/>
                        </a:ext>
                      </a:extLst>
                    </a:gridCol>
                    <a:gridCol w="2337226">
                      <a:extLst>
                        <a:ext uri="{9D8B030D-6E8A-4147-A177-3AD203B41FA5}">
                          <a16:colId xmlns:a16="http://schemas.microsoft.com/office/drawing/2014/main" val="1187192318"/>
                        </a:ext>
                      </a:extLst>
                    </a:gridCol>
                  </a:tblGrid>
                  <a:tr h="497396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t="-115854" r="-159336" b="-1609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2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100"/>
                            <a:t>목적함수</a:t>
                          </a:r>
                          <a:endParaRPr lang="en-US" altLang="ko-KR" sz="11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8304605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0E7A1334-F26C-4CD0-B2A2-01AA6BC33DE5}"/>
              </a:ext>
            </a:extLst>
          </p:cNvPr>
          <p:cNvSpPr txBox="1"/>
          <p:nvPr/>
        </p:nvSpPr>
        <p:spPr>
          <a:xfrm>
            <a:off x="260793" y="5064238"/>
            <a:ext cx="6828631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sz="1100"/>
              <a:t>대부분의 </a:t>
            </a:r>
            <a:r>
              <a:rPr lang="en-US" altLang="ko-KR" sz="1100"/>
              <a:t>SVM</a:t>
            </a:r>
            <a:r>
              <a:rPr lang="ko-KR" altLang="en-US" sz="1100"/>
              <a:t>은 분류할때 일반적으로 </a:t>
            </a:r>
            <a:r>
              <a:rPr lang="en-US" altLang="ko-KR" sz="1100"/>
              <a:t>Margin</a:t>
            </a:r>
            <a:r>
              <a:rPr lang="ko-KR" altLang="en-US" sz="1100"/>
              <a:t>을 크게 가져가는 방향을 선호</a:t>
            </a:r>
            <a:endParaRPr lang="en-US" altLang="ko-KR" sz="110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ko-KR" sz="1100"/>
              <a:t>Margin</a:t>
            </a:r>
            <a:r>
              <a:rPr lang="ko-KR" altLang="en-US" sz="1100"/>
              <a:t>이 작은 분류기보다 </a:t>
            </a:r>
            <a:r>
              <a:rPr lang="en-US" altLang="ko-KR" sz="1100"/>
              <a:t>error</a:t>
            </a:r>
            <a:r>
              <a:rPr lang="ko-KR" altLang="en-US" sz="1100"/>
              <a:t>가 있어도 </a:t>
            </a:r>
            <a:r>
              <a:rPr lang="en-US" altLang="ko-KR" sz="1100"/>
              <a:t>Margin</a:t>
            </a:r>
            <a:r>
              <a:rPr lang="ko-KR" altLang="en-US" sz="1100"/>
              <a:t>이 큰 분류기를 선호함</a:t>
            </a:r>
            <a:endParaRPr lang="en-US" altLang="ko-KR" sz="110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ko-KR" sz="1100"/>
              <a:t>=&gt;</a:t>
            </a:r>
            <a:r>
              <a:rPr lang="ko-KR" altLang="en-US" sz="1100"/>
              <a:t> </a:t>
            </a:r>
            <a:r>
              <a:rPr lang="en-US" altLang="ko-KR" sz="1100"/>
              <a:t>Margin</a:t>
            </a:r>
            <a:r>
              <a:rPr lang="ko-KR" altLang="en-US" sz="1100"/>
              <a:t>이 큰 분류기가 새로운 </a:t>
            </a:r>
            <a:r>
              <a:rPr lang="en-US" altLang="ko-KR" sz="1100"/>
              <a:t>data</a:t>
            </a:r>
            <a:r>
              <a:rPr lang="ko-KR" altLang="en-US" sz="1100"/>
              <a:t>에 대한 예측의 정확도가 높기 때문이다</a:t>
            </a:r>
            <a:r>
              <a:rPr lang="en-US" altLang="ko-KR" sz="1100"/>
              <a:t>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ko-KR" sz="1100"/>
              <a:t>Margin</a:t>
            </a:r>
            <a:r>
              <a:rPr lang="ko-KR" altLang="en-US" sz="1100"/>
              <a:t>과 </a:t>
            </a:r>
            <a:r>
              <a:rPr lang="en-US" altLang="ko-KR" sz="1100"/>
              <a:t>error</a:t>
            </a:r>
            <a:r>
              <a:rPr lang="ko-KR" altLang="en-US" sz="1100"/>
              <a:t>에 대한 판단은 위의 식에 </a:t>
            </a:r>
            <a:r>
              <a:rPr lang="en-US" altLang="ko-KR" sz="1100"/>
              <a:t>parameter c</a:t>
            </a:r>
            <a:r>
              <a:rPr lang="ko-KR" altLang="en-US" sz="1100"/>
              <a:t> 조절</a:t>
            </a:r>
            <a:endParaRPr lang="en-US" altLang="ko-KR" sz="110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ko-KR" sz="1100"/>
              <a:t>C</a:t>
            </a:r>
            <a:r>
              <a:rPr lang="ko-KR" altLang="en-US" sz="1100"/>
              <a:t>는 </a:t>
            </a:r>
            <a:r>
              <a:rPr lang="en-US" altLang="ko-KR" sz="1100"/>
              <a:t>margin</a:t>
            </a:r>
            <a:r>
              <a:rPr lang="ko-KR" altLang="en-US" sz="1100"/>
              <a:t>과 </a:t>
            </a:r>
            <a:r>
              <a:rPr lang="en-US" altLang="ko-KR" sz="1100"/>
              <a:t>slackness </a:t>
            </a:r>
            <a:r>
              <a:rPr lang="ko-KR" altLang="en-US" sz="1100"/>
              <a:t>사이의 반비례</a:t>
            </a:r>
            <a:r>
              <a:rPr lang="en-US" altLang="ko-KR" sz="1100"/>
              <a:t>(trade-off)</a:t>
            </a:r>
            <a:r>
              <a:rPr lang="ko-KR" altLang="en-US" sz="1100"/>
              <a:t>를 나타내는 </a:t>
            </a:r>
            <a:r>
              <a:rPr lang="en-US" altLang="ko-KR" sz="1100"/>
              <a:t>parameter</a:t>
            </a:r>
            <a:r>
              <a:rPr lang="ko-KR" altLang="en-US" sz="1100"/>
              <a:t>이다</a:t>
            </a:r>
            <a:endParaRPr lang="en-US" altLang="ko-KR" sz="110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ko-KR" sz="1100"/>
              <a:t>C</a:t>
            </a:r>
            <a:r>
              <a:rPr lang="ko-KR" altLang="en-US" sz="1100"/>
              <a:t>가 크다는 것은 잘못된 </a:t>
            </a:r>
            <a:r>
              <a:rPr lang="en-US" altLang="ko-KR" sz="1100"/>
              <a:t>data</a:t>
            </a:r>
            <a:r>
              <a:rPr lang="ko-KR" altLang="en-US" sz="1100"/>
              <a:t>에 대해 민감하다는 이야기로</a:t>
            </a:r>
            <a:r>
              <a:rPr lang="en-US" altLang="ko-KR" sz="1100"/>
              <a:t> margin&lt;slackness </a:t>
            </a:r>
            <a:r>
              <a:rPr lang="ko-KR" altLang="en-US" sz="1100"/>
              <a:t> </a:t>
            </a:r>
            <a:r>
              <a:rPr lang="en-US" altLang="ko-KR" sz="1100"/>
              <a:t>=&gt; margin</a:t>
            </a:r>
            <a:r>
              <a:rPr lang="ko-KR" altLang="en-US" sz="1100"/>
              <a:t>좁아짐</a:t>
            </a:r>
            <a:endParaRPr lang="en-US" altLang="ko-KR" sz="110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ko-KR" sz="1100"/>
              <a:t>C</a:t>
            </a:r>
            <a:r>
              <a:rPr lang="ko-KR" altLang="en-US" sz="1100"/>
              <a:t>가 작다는 것은  </a:t>
            </a:r>
            <a:r>
              <a:rPr lang="en-US" altLang="ko-KR" sz="1100"/>
              <a:t>margin</a:t>
            </a:r>
            <a:r>
              <a:rPr lang="ko-KR" altLang="en-US" sz="1100"/>
              <a:t>을 최대로 하여 </a:t>
            </a:r>
            <a:r>
              <a:rPr lang="en-US" altLang="ko-KR" sz="1100"/>
              <a:t>error</a:t>
            </a:r>
            <a:r>
              <a:rPr lang="ko-KR" altLang="en-US" sz="1100"/>
              <a:t>의 허용이 많아짐 </a:t>
            </a:r>
            <a:r>
              <a:rPr lang="en-US" altLang="ko-KR" sz="1100"/>
              <a:t>margin&gt;slackness  =&gt; margin</a:t>
            </a:r>
            <a:r>
              <a:rPr lang="ko-KR" altLang="en-US" sz="1100"/>
              <a:t> 넓어짐</a:t>
            </a:r>
            <a:endParaRPr lang="en-US" altLang="ko-KR" sz="1100"/>
          </a:p>
        </p:txBody>
      </p: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D24AD0BE-5D58-4A02-94A3-CCB6CE8D9588}"/>
              </a:ext>
            </a:extLst>
          </p:cNvPr>
          <p:cNvGrpSpPr/>
          <p:nvPr/>
        </p:nvGrpSpPr>
        <p:grpSpPr>
          <a:xfrm>
            <a:off x="6187406" y="1311133"/>
            <a:ext cx="2226382" cy="1696427"/>
            <a:chOff x="5471410" y="2962838"/>
            <a:chExt cx="2226382" cy="1696427"/>
          </a:xfrm>
        </p:grpSpPr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6DB186F4-A281-47D6-8471-92905D5F17E3}"/>
                </a:ext>
              </a:extLst>
            </p:cNvPr>
            <p:cNvGrpSpPr/>
            <p:nvPr/>
          </p:nvGrpSpPr>
          <p:grpSpPr>
            <a:xfrm>
              <a:off x="5570169" y="2962838"/>
              <a:ext cx="2127623" cy="1696427"/>
              <a:chOff x="3518675" y="2776495"/>
              <a:chExt cx="2878693" cy="2292172"/>
            </a:xfrm>
          </p:grpSpPr>
          <p:grpSp>
            <p:nvGrpSpPr>
              <p:cNvPr id="35" name="그룹 34">
                <a:extLst>
                  <a:ext uri="{FF2B5EF4-FFF2-40B4-BE49-F238E27FC236}">
                    <a16:creationId xmlns:a16="http://schemas.microsoft.com/office/drawing/2014/main" id="{83E843FC-94CB-4E35-AD96-88D2F6561CF8}"/>
                  </a:ext>
                </a:extLst>
              </p:cNvPr>
              <p:cNvGrpSpPr/>
              <p:nvPr/>
            </p:nvGrpSpPr>
            <p:grpSpPr>
              <a:xfrm>
                <a:off x="3646435" y="3201737"/>
                <a:ext cx="2097588" cy="1451343"/>
                <a:chOff x="3235480" y="3782504"/>
                <a:chExt cx="2745586" cy="1761233"/>
              </a:xfrm>
              <a:solidFill>
                <a:srgbClr val="FF0000"/>
              </a:solidFill>
            </p:grpSpPr>
            <p:sp>
              <p:nvSpPr>
                <p:cNvPr id="51" name="이등변 삼각형 50">
                  <a:extLst>
                    <a:ext uri="{FF2B5EF4-FFF2-40B4-BE49-F238E27FC236}">
                      <a16:creationId xmlns:a16="http://schemas.microsoft.com/office/drawing/2014/main" id="{9599034E-86FC-438F-8BC7-71F442A3E8F9}"/>
                    </a:ext>
                  </a:extLst>
                </p:cNvPr>
                <p:cNvSpPr/>
                <p:nvPr/>
              </p:nvSpPr>
              <p:spPr>
                <a:xfrm>
                  <a:off x="5019988" y="3846814"/>
                  <a:ext cx="147642" cy="142602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2" name="이등변 삼각형 51">
                  <a:extLst>
                    <a:ext uri="{FF2B5EF4-FFF2-40B4-BE49-F238E27FC236}">
                      <a16:creationId xmlns:a16="http://schemas.microsoft.com/office/drawing/2014/main" id="{647B5C1A-A342-4E35-A621-6243EF35CA01}"/>
                    </a:ext>
                  </a:extLst>
                </p:cNvPr>
                <p:cNvSpPr/>
                <p:nvPr/>
              </p:nvSpPr>
              <p:spPr>
                <a:xfrm>
                  <a:off x="4837649" y="4423784"/>
                  <a:ext cx="147642" cy="142602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3" name="이등변 삼각형 52">
                  <a:extLst>
                    <a:ext uri="{FF2B5EF4-FFF2-40B4-BE49-F238E27FC236}">
                      <a16:creationId xmlns:a16="http://schemas.microsoft.com/office/drawing/2014/main" id="{9E7BE831-51CC-44A4-B0EC-93091030CE3C}"/>
                    </a:ext>
                  </a:extLst>
                </p:cNvPr>
                <p:cNvSpPr/>
                <p:nvPr/>
              </p:nvSpPr>
              <p:spPr>
                <a:xfrm>
                  <a:off x="5398595" y="4099675"/>
                  <a:ext cx="147642" cy="142602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4" name="이등변 삼각형 53">
                  <a:extLst>
                    <a:ext uri="{FF2B5EF4-FFF2-40B4-BE49-F238E27FC236}">
                      <a16:creationId xmlns:a16="http://schemas.microsoft.com/office/drawing/2014/main" id="{CDA5CC46-ADEC-4675-A476-D9C54972D7D2}"/>
                    </a:ext>
                  </a:extLst>
                </p:cNvPr>
                <p:cNvSpPr/>
                <p:nvPr/>
              </p:nvSpPr>
              <p:spPr>
                <a:xfrm>
                  <a:off x="5833424" y="4342919"/>
                  <a:ext cx="147642" cy="142602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5" name="이등변 삼각형 54">
                  <a:extLst>
                    <a:ext uri="{FF2B5EF4-FFF2-40B4-BE49-F238E27FC236}">
                      <a16:creationId xmlns:a16="http://schemas.microsoft.com/office/drawing/2014/main" id="{F3346C35-AD7F-482A-87A7-731FD36E8760}"/>
                    </a:ext>
                  </a:extLst>
                </p:cNvPr>
                <p:cNvSpPr/>
                <p:nvPr/>
              </p:nvSpPr>
              <p:spPr>
                <a:xfrm>
                  <a:off x="5833424" y="3782504"/>
                  <a:ext cx="147642" cy="142602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6" name="이등변 삼각형 55">
                  <a:extLst>
                    <a:ext uri="{FF2B5EF4-FFF2-40B4-BE49-F238E27FC236}">
                      <a16:creationId xmlns:a16="http://schemas.microsoft.com/office/drawing/2014/main" id="{425B087F-D90A-4E3F-858C-0601149DC6FB}"/>
                    </a:ext>
                  </a:extLst>
                </p:cNvPr>
                <p:cNvSpPr/>
                <p:nvPr/>
              </p:nvSpPr>
              <p:spPr>
                <a:xfrm>
                  <a:off x="5367087" y="5401136"/>
                  <a:ext cx="147642" cy="142601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7" name="이등변 삼각형 56">
                  <a:extLst>
                    <a:ext uri="{FF2B5EF4-FFF2-40B4-BE49-F238E27FC236}">
                      <a16:creationId xmlns:a16="http://schemas.microsoft.com/office/drawing/2014/main" id="{F3CD821D-EA91-4658-930B-82795A805E20}"/>
                    </a:ext>
                  </a:extLst>
                </p:cNvPr>
                <p:cNvSpPr/>
                <p:nvPr/>
              </p:nvSpPr>
              <p:spPr>
                <a:xfrm>
                  <a:off x="3235480" y="4530206"/>
                  <a:ext cx="147642" cy="142601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36" name="그룹 35">
                <a:extLst>
                  <a:ext uri="{FF2B5EF4-FFF2-40B4-BE49-F238E27FC236}">
                    <a16:creationId xmlns:a16="http://schemas.microsoft.com/office/drawing/2014/main" id="{02DA0B47-BBF1-4B5A-91B5-F47EAF617E2F}"/>
                  </a:ext>
                </a:extLst>
              </p:cNvPr>
              <p:cNvGrpSpPr/>
              <p:nvPr/>
            </p:nvGrpSpPr>
            <p:grpSpPr>
              <a:xfrm>
                <a:off x="3518675" y="2776495"/>
                <a:ext cx="2660658" cy="2261370"/>
                <a:chOff x="3431097" y="1987172"/>
                <a:chExt cx="3482605" cy="2744220"/>
              </a:xfrm>
            </p:grpSpPr>
            <p:cxnSp>
              <p:nvCxnSpPr>
                <p:cNvPr id="49" name="직선 화살표 연결선 48">
                  <a:extLst>
                    <a:ext uri="{FF2B5EF4-FFF2-40B4-BE49-F238E27FC236}">
                      <a16:creationId xmlns:a16="http://schemas.microsoft.com/office/drawing/2014/main" id="{A31125AE-287D-4700-B50C-E2C9309306B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431097" y="4731391"/>
                  <a:ext cx="3482605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직선 화살표 연결선 49">
                  <a:extLst>
                    <a:ext uri="{FF2B5EF4-FFF2-40B4-BE49-F238E27FC236}">
                      <a16:creationId xmlns:a16="http://schemas.microsoft.com/office/drawing/2014/main" id="{12884BA7-3110-4356-956A-8165B5E1B55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436689" y="1987172"/>
                  <a:ext cx="0" cy="274422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7" name="직선 연결선 36">
                <a:extLst>
                  <a:ext uri="{FF2B5EF4-FFF2-40B4-BE49-F238E27FC236}">
                    <a16:creationId xmlns:a16="http://schemas.microsoft.com/office/drawing/2014/main" id="{7F4B110B-D018-4DC6-BFB4-1BF095D150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74208" y="3201734"/>
                <a:ext cx="1566956" cy="1693669"/>
              </a:xfrm>
              <a:prstGeom prst="line">
                <a:avLst/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8" name="직선 연결선 37">
                <a:extLst>
                  <a:ext uri="{FF2B5EF4-FFF2-40B4-BE49-F238E27FC236}">
                    <a16:creationId xmlns:a16="http://schemas.microsoft.com/office/drawing/2014/main" id="{A110CC92-D1DA-4ABF-AA14-4C75ADD93C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44981" y="3016391"/>
                <a:ext cx="1566956" cy="1693669"/>
              </a:xfrm>
              <a:prstGeom prst="line">
                <a:avLst/>
              </a:prstGeom>
              <a:ln w="9525" cap="flat" cmpd="sng" algn="ctr">
                <a:solidFill>
                  <a:srgbClr val="FF0000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grpSp>
            <p:nvGrpSpPr>
              <p:cNvPr id="39" name="그룹 38">
                <a:extLst>
                  <a:ext uri="{FF2B5EF4-FFF2-40B4-BE49-F238E27FC236}">
                    <a16:creationId xmlns:a16="http://schemas.microsoft.com/office/drawing/2014/main" id="{EE5724E1-B61F-4905-B239-C3013AC99479}"/>
                  </a:ext>
                </a:extLst>
              </p:cNvPr>
              <p:cNvGrpSpPr/>
              <p:nvPr/>
            </p:nvGrpSpPr>
            <p:grpSpPr>
              <a:xfrm>
                <a:off x="3686527" y="4050287"/>
                <a:ext cx="583218" cy="881414"/>
                <a:chOff x="3665996" y="2686332"/>
                <a:chExt cx="763389" cy="1069614"/>
              </a:xfrm>
              <a:solidFill>
                <a:srgbClr val="2C6FAD"/>
              </a:solidFill>
            </p:grpSpPr>
            <p:sp>
              <p:nvSpPr>
                <p:cNvPr id="44" name="직사각형 43">
                  <a:extLst>
                    <a:ext uri="{FF2B5EF4-FFF2-40B4-BE49-F238E27FC236}">
                      <a16:creationId xmlns:a16="http://schemas.microsoft.com/office/drawing/2014/main" id="{3D38AA23-E3BE-4268-919E-D04705AA5CCC}"/>
                    </a:ext>
                  </a:extLst>
                </p:cNvPr>
                <p:cNvSpPr/>
                <p:nvPr/>
              </p:nvSpPr>
              <p:spPr>
                <a:xfrm>
                  <a:off x="3758272" y="3045312"/>
                  <a:ext cx="125831" cy="12792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5" name="직사각형 44">
                  <a:extLst>
                    <a:ext uri="{FF2B5EF4-FFF2-40B4-BE49-F238E27FC236}">
                      <a16:creationId xmlns:a16="http://schemas.microsoft.com/office/drawing/2014/main" id="{97205A64-3C16-41C6-8096-78C9455EDA74}"/>
                    </a:ext>
                  </a:extLst>
                </p:cNvPr>
                <p:cNvSpPr/>
                <p:nvPr/>
              </p:nvSpPr>
              <p:spPr>
                <a:xfrm>
                  <a:off x="3665996" y="3628023"/>
                  <a:ext cx="125831" cy="12792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6" name="직사각형 45">
                  <a:extLst>
                    <a:ext uri="{FF2B5EF4-FFF2-40B4-BE49-F238E27FC236}">
                      <a16:creationId xmlns:a16="http://schemas.microsoft.com/office/drawing/2014/main" id="{3BF4BDAA-AB67-420F-9223-14AEF277C3F0}"/>
                    </a:ext>
                  </a:extLst>
                </p:cNvPr>
                <p:cNvSpPr/>
                <p:nvPr/>
              </p:nvSpPr>
              <p:spPr>
                <a:xfrm>
                  <a:off x="4177723" y="3482638"/>
                  <a:ext cx="125831" cy="12792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7" name="직사각형 46">
                  <a:extLst>
                    <a:ext uri="{FF2B5EF4-FFF2-40B4-BE49-F238E27FC236}">
                      <a16:creationId xmlns:a16="http://schemas.microsoft.com/office/drawing/2014/main" id="{2C1541C4-00D1-43FE-AC15-0CB384B1353D}"/>
                    </a:ext>
                  </a:extLst>
                </p:cNvPr>
                <p:cNvSpPr/>
                <p:nvPr/>
              </p:nvSpPr>
              <p:spPr>
                <a:xfrm>
                  <a:off x="4211277" y="3119517"/>
                  <a:ext cx="125831" cy="12792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8" name="직사각형 47">
                  <a:extLst>
                    <a:ext uri="{FF2B5EF4-FFF2-40B4-BE49-F238E27FC236}">
                      <a16:creationId xmlns:a16="http://schemas.microsoft.com/office/drawing/2014/main" id="{042AE58A-5782-4701-8A08-858900BE0CAC}"/>
                    </a:ext>
                  </a:extLst>
                </p:cNvPr>
                <p:cNvSpPr/>
                <p:nvPr/>
              </p:nvSpPr>
              <p:spPr>
                <a:xfrm>
                  <a:off x="4303554" y="2686332"/>
                  <a:ext cx="125831" cy="12792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cxnSp>
            <p:nvCxnSpPr>
              <p:cNvPr id="40" name="직선 연결선 39">
                <a:extLst>
                  <a:ext uri="{FF2B5EF4-FFF2-40B4-BE49-F238E27FC236}">
                    <a16:creationId xmlns:a16="http://schemas.microsoft.com/office/drawing/2014/main" id="{2B8380D1-B7D4-41ED-8934-F86D8E2EE10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87684" y="3374998"/>
                <a:ext cx="1566956" cy="1693669"/>
              </a:xfrm>
              <a:prstGeom prst="line">
                <a:avLst/>
              </a:prstGeom>
              <a:ln w="9525" cap="flat" cmpd="sng" algn="ctr">
                <a:solidFill>
                  <a:schemeClr val="accent5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41" name="직선 화살표 연결선 40">
                <a:extLst>
                  <a:ext uri="{FF2B5EF4-FFF2-40B4-BE49-F238E27FC236}">
                    <a16:creationId xmlns:a16="http://schemas.microsoft.com/office/drawing/2014/main" id="{E36A208E-3668-4FF2-8079-7ECE5B2003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29311" y="3836887"/>
                <a:ext cx="576589" cy="19614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2" name="직선 화살표 연결선 41">
                <a:extLst>
                  <a:ext uri="{FF2B5EF4-FFF2-40B4-BE49-F238E27FC236}">
                    <a16:creationId xmlns:a16="http://schemas.microsoft.com/office/drawing/2014/main" id="{D4D3D1CE-773F-4519-8850-B19C69AB124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20299" y="4102093"/>
                <a:ext cx="1267552" cy="5036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59BB2564-32F6-4EB4-9195-9228A327B84F}"/>
                  </a:ext>
                </a:extLst>
              </p:cNvPr>
              <p:cNvSpPr txBox="1"/>
              <p:nvPr/>
            </p:nvSpPr>
            <p:spPr>
              <a:xfrm>
                <a:off x="5526168" y="3924852"/>
                <a:ext cx="871200" cy="4574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800"/>
                  <a:t>Support</a:t>
                </a:r>
              </a:p>
              <a:p>
                <a:pPr algn="l"/>
                <a:r>
                  <a:rPr lang="en-US" altLang="ko-KR" sz="800"/>
                  <a:t>Vector</a:t>
                </a:r>
                <a:endParaRPr lang="ko-KR" altLang="en-US" sz="800"/>
              </a:p>
            </p:txBody>
          </p:sp>
        </p:grpSp>
        <p:cxnSp>
          <p:nvCxnSpPr>
            <p:cNvPr id="58" name="직선 화살표 연결선 57">
              <a:extLst>
                <a:ext uri="{FF2B5EF4-FFF2-40B4-BE49-F238E27FC236}">
                  <a16:creationId xmlns:a16="http://schemas.microsoft.com/office/drawing/2014/main" id="{9A00AF66-24CF-40B0-972F-833B6CC98D6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59347" y="3403746"/>
              <a:ext cx="505114" cy="3518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직선 화살표 연결선 60">
              <a:extLst>
                <a:ext uri="{FF2B5EF4-FFF2-40B4-BE49-F238E27FC236}">
                  <a16:creationId xmlns:a16="http://schemas.microsoft.com/office/drawing/2014/main" id="{94E47A55-AE33-488E-B1B7-9F33DB8CF8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30936" y="4230310"/>
              <a:ext cx="91076" cy="6764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34106080-089F-4219-A341-6CE2A2BDC99C}"/>
                    </a:ext>
                  </a:extLst>
                </p:cNvPr>
                <p:cNvSpPr txBox="1"/>
                <p:nvPr/>
              </p:nvSpPr>
              <p:spPr>
                <a:xfrm>
                  <a:off x="5471410" y="3524387"/>
                  <a:ext cx="448722" cy="2154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800" b="0" i="1" smtClean="0">
                            <a:latin typeface="Cambria Math" panose="02040503050406030204" pitchFamily="18" charset="0"/>
                          </a:rPr>
                          <m:t>𝜁</m:t>
                        </m:r>
                        <m:r>
                          <a:rPr lang="en-US" altLang="ko-KR" sz="800" b="0" i="1" smtClean="0">
                            <a:latin typeface="Cambria Math" panose="02040503050406030204" pitchFamily="18" charset="0"/>
                          </a:rPr>
                          <m:t>&gt;1</m:t>
                        </m:r>
                      </m:oMath>
                    </m:oMathPara>
                  </a14:m>
                  <a:endParaRPr lang="ko-KR" altLang="en-US" sz="800"/>
                </a:p>
              </p:txBody>
            </p:sp>
          </mc:Choice>
          <mc:Fallback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34106080-089F-4219-A341-6CE2A2BDC9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1410" y="3524387"/>
                  <a:ext cx="448722" cy="21544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037E9BDE-0792-4C6A-B57E-A0F2BFEB5E7A}"/>
                    </a:ext>
                  </a:extLst>
                </p:cNvPr>
                <p:cNvSpPr txBox="1"/>
                <p:nvPr/>
              </p:nvSpPr>
              <p:spPr>
                <a:xfrm>
                  <a:off x="6187643" y="3586480"/>
                  <a:ext cx="448722" cy="2154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800" b="0" i="1" smtClean="0">
                            <a:latin typeface="Cambria Math" panose="02040503050406030204" pitchFamily="18" charset="0"/>
                          </a:rPr>
                          <m:t>𝜁</m:t>
                        </m:r>
                        <m:r>
                          <a:rPr lang="en-US" altLang="ko-KR" sz="8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ko-KR" altLang="en-US" sz="800"/>
                </a:p>
              </p:txBody>
            </p:sp>
          </mc:Choice>
          <mc:Fallback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037E9BDE-0792-4C6A-B57E-A0F2BFEB5E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87643" y="3586480"/>
                  <a:ext cx="448722" cy="21544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7FDE2614-D438-41C5-83B8-FBC0501D1C5D}"/>
                    </a:ext>
                  </a:extLst>
                </p:cNvPr>
                <p:cNvSpPr txBox="1"/>
                <p:nvPr/>
              </p:nvSpPr>
              <p:spPr>
                <a:xfrm>
                  <a:off x="6843822" y="4309230"/>
                  <a:ext cx="448722" cy="2154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800" b="0" i="1" smtClean="0">
                            <a:latin typeface="Cambria Math" panose="02040503050406030204" pitchFamily="18" charset="0"/>
                          </a:rPr>
                          <m:t>𝜁</m:t>
                        </m:r>
                        <m:r>
                          <a:rPr lang="en-US" altLang="ko-KR" sz="800" b="0" i="1" smtClean="0">
                            <a:latin typeface="Cambria Math" panose="02040503050406030204" pitchFamily="18" charset="0"/>
                          </a:rPr>
                          <m:t>&lt;1</m:t>
                        </m:r>
                      </m:oMath>
                    </m:oMathPara>
                  </a14:m>
                  <a:endParaRPr lang="ko-KR" altLang="en-US" sz="800"/>
                </a:p>
              </p:txBody>
            </p:sp>
          </mc:Choice>
          <mc:Fallback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7FDE2614-D438-41C5-83B8-FBC0501D1C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43822" y="4309230"/>
                  <a:ext cx="448722" cy="21544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1" name="이등변 삼각형 90">
            <a:extLst>
              <a:ext uri="{FF2B5EF4-FFF2-40B4-BE49-F238E27FC236}">
                <a16:creationId xmlns:a16="http://schemas.microsoft.com/office/drawing/2014/main" id="{183D18EE-F0FD-45E7-B987-6F31F6340594}"/>
              </a:ext>
            </a:extLst>
          </p:cNvPr>
          <p:cNvSpPr/>
          <p:nvPr/>
        </p:nvSpPr>
        <p:spPr>
          <a:xfrm>
            <a:off x="1522900" y="1674375"/>
            <a:ext cx="83367" cy="86969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2" name="이등변 삼각형 91">
            <a:extLst>
              <a:ext uri="{FF2B5EF4-FFF2-40B4-BE49-F238E27FC236}">
                <a16:creationId xmlns:a16="http://schemas.microsoft.com/office/drawing/2014/main" id="{AB125AE9-FF0C-4BD5-8E8E-13A3886556A1}"/>
              </a:ext>
            </a:extLst>
          </p:cNvPr>
          <p:cNvSpPr/>
          <p:nvPr/>
        </p:nvSpPr>
        <p:spPr>
          <a:xfrm>
            <a:off x="1419941" y="2026255"/>
            <a:ext cx="83367" cy="86969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이등변 삼각형 92">
            <a:extLst>
              <a:ext uri="{FF2B5EF4-FFF2-40B4-BE49-F238E27FC236}">
                <a16:creationId xmlns:a16="http://schemas.microsoft.com/office/drawing/2014/main" id="{24201EC4-451E-4A15-845F-08A230EFE4A2}"/>
              </a:ext>
            </a:extLst>
          </p:cNvPr>
          <p:cNvSpPr/>
          <p:nvPr/>
        </p:nvSpPr>
        <p:spPr>
          <a:xfrm>
            <a:off x="1736683" y="1828589"/>
            <a:ext cx="83367" cy="86969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4" name="이등변 삼각형 93">
            <a:extLst>
              <a:ext uri="{FF2B5EF4-FFF2-40B4-BE49-F238E27FC236}">
                <a16:creationId xmlns:a16="http://schemas.microsoft.com/office/drawing/2014/main" id="{EB463CE7-2201-42AC-B7B5-1FDACE4C38C2}"/>
              </a:ext>
            </a:extLst>
          </p:cNvPr>
          <p:cNvSpPr/>
          <p:nvPr/>
        </p:nvSpPr>
        <p:spPr>
          <a:xfrm>
            <a:off x="1982212" y="1976937"/>
            <a:ext cx="83367" cy="86969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이등변 삼각형 94">
            <a:extLst>
              <a:ext uri="{FF2B5EF4-FFF2-40B4-BE49-F238E27FC236}">
                <a16:creationId xmlns:a16="http://schemas.microsoft.com/office/drawing/2014/main" id="{BF64B684-504D-4F6C-82EE-A738A6C09879}"/>
              </a:ext>
            </a:extLst>
          </p:cNvPr>
          <p:cNvSpPr/>
          <p:nvPr/>
        </p:nvSpPr>
        <p:spPr>
          <a:xfrm>
            <a:off x="1982212" y="1635154"/>
            <a:ext cx="83367" cy="86969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이등변 삼각형 95">
            <a:extLst>
              <a:ext uri="{FF2B5EF4-FFF2-40B4-BE49-F238E27FC236}">
                <a16:creationId xmlns:a16="http://schemas.microsoft.com/office/drawing/2014/main" id="{8BC97142-8B22-4EB2-A7A8-2C8A4B14614F}"/>
              </a:ext>
            </a:extLst>
          </p:cNvPr>
          <p:cNvSpPr/>
          <p:nvPr/>
        </p:nvSpPr>
        <p:spPr>
          <a:xfrm>
            <a:off x="1718892" y="2622318"/>
            <a:ext cx="83367" cy="86969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이등변 삼각형 96">
            <a:extLst>
              <a:ext uri="{FF2B5EF4-FFF2-40B4-BE49-F238E27FC236}">
                <a16:creationId xmlns:a16="http://schemas.microsoft.com/office/drawing/2014/main" id="{B43BC68D-A5FC-441A-960D-C28A12D12742}"/>
              </a:ext>
            </a:extLst>
          </p:cNvPr>
          <p:cNvSpPr/>
          <p:nvPr/>
        </p:nvSpPr>
        <p:spPr>
          <a:xfrm>
            <a:off x="515265" y="2091159"/>
            <a:ext cx="83367" cy="86969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14D198EF-2ECE-4050-8BAD-5426937081F5}"/>
              </a:ext>
            </a:extLst>
          </p:cNvPr>
          <p:cNvGrpSpPr/>
          <p:nvPr/>
        </p:nvGrpSpPr>
        <p:grpSpPr>
          <a:xfrm>
            <a:off x="420838" y="1320434"/>
            <a:ext cx="1966475" cy="1673631"/>
            <a:chOff x="3431097" y="1987172"/>
            <a:chExt cx="3482605" cy="2744220"/>
          </a:xfrm>
        </p:grpSpPr>
        <p:cxnSp>
          <p:nvCxnSpPr>
            <p:cNvPr id="89" name="직선 화살표 연결선 88">
              <a:extLst>
                <a:ext uri="{FF2B5EF4-FFF2-40B4-BE49-F238E27FC236}">
                  <a16:creationId xmlns:a16="http://schemas.microsoft.com/office/drawing/2014/main" id="{AB64F5AA-8736-48D2-9559-D4ADFF8E56BB}"/>
                </a:ext>
              </a:extLst>
            </p:cNvPr>
            <p:cNvCxnSpPr>
              <a:cxnSpLocks/>
            </p:cNvCxnSpPr>
            <p:nvPr/>
          </p:nvCxnSpPr>
          <p:spPr>
            <a:xfrm>
              <a:off x="3431097" y="4731391"/>
              <a:ext cx="348260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0" name="직선 화살표 연결선 89">
              <a:extLst>
                <a:ext uri="{FF2B5EF4-FFF2-40B4-BE49-F238E27FC236}">
                  <a16:creationId xmlns:a16="http://schemas.microsoft.com/office/drawing/2014/main" id="{30BC4D5C-E276-42BB-8522-0DA31988A0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36689" y="1987172"/>
              <a:ext cx="0" cy="274422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AE02F5A1-926B-4590-821E-3548FDA083A0}"/>
              </a:ext>
            </a:extLst>
          </p:cNvPr>
          <p:cNvCxnSpPr>
            <a:cxnSpLocks/>
          </p:cNvCxnSpPr>
          <p:nvPr/>
        </p:nvCxnSpPr>
        <p:spPr>
          <a:xfrm>
            <a:off x="683610" y="1635152"/>
            <a:ext cx="1158127" cy="1253478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8A8809AA-2700-4104-AB64-562899FE8B1A}"/>
              </a:ext>
            </a:extLst>
          </p:cNvPr>
          <p:cNvGrpSpPr/>
          <p:nvPr/>
        </p:nvGrpSpPr>
        <p:grpSpPr>
          <a:xfrm>
            <a:off x="544896" y="2263162"/>
            <a:ext cx="431053" cy="652331"/>
            <a:chOff x="3665996" y="2686332"/>
            <a:chExt cx="763389" cy="1069614"/>
          </a:xfrm>
          <a:solidFill>
            <a:srgbClr val="2C6FAD"/>
          </a:solidFill>
        </p:grpSpPr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C2E77355-0A73-4528-BEDE-4DCF7D4FCD65}"/>
                </a:ext>
              </a:extLst>
            </p:cNvPr>
            <p:cNvSpPr/>
            <p:nvPr/>
          </p:nvSpPr>
          <p:spPr>
            <a:xfrm>
              <a:off x="3758272" y="3045312"/>
              <a:ext cx="125831" cy="12792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ECB95C81-6CDF-4CC3-B783-D44AEA4F9E62}"/>
                </a:ext>
              </a:extLst>
            </p:cNvPr>
            <p:cNvSpPr/>
            <p:nvPr/>
          </p:nvSpPr>
          <p:spPr>
            <a:xfrm>
              <a:off x="3665996" y="3628023"/>
              <a:ext cx="125831" cy="12792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0367140B-011A-4000-A1E8-2EEB92097143}"/>
                </a:ext>
              </a:extLst>
            </p:cNvPr>
            <p:cNvSpPr/>
            <p:nvPr/>
          </p:nvSpPr>
          <p:spPr>
            <a:xfrm>
              <a:off x="4177723" y="3482638"/>
              <a:ext cx="125831" cy="12792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8D1C58F5-7DA5-4D4D-86A3-8AE39DD6060B}"/>
                </a:ext>
              </a:extLst>
            </p:cNvPr>
            <p:cNvSpPr/>
            <p:nvPr/>
          </p:nvSpPr>
          <p:spPr>
            <a:xfrm>
              <a:off x="4211277" y="3119517"/>
              <a:ext cx="125831" cy="12792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DDFD9CB9-162F-4200-9906-D24C51B134C9}"/>
                </a:ext>
              </a:extLst>
            </p:cNvPr>
            <p:cNvSpPr/>
            <p:nvPr/>
          </p:nvSpPr>
          <p:spPr>
            <a:xfrm>
              <a:off x="4303554" y="2686332"/>
              <a:ext cx="125831" cy="12792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2126779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21"/>
          <p:cNvSpPr txBox="1">
            <a:spLocks noGrp="1"/>
          </p:cNvSpPr>
          <p:nvPr>
            <p:ph type="body" idx="11" hasCustomPrompt="1"/>
          </p:nvPr>
        </p:nvSpPr>
        <p:spPr>
          <a:xfrm>
            <a:off x="268605" y="219710"/>
            <a:ext cx="4899025" cy="41910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 latinLnBrk="0">
              <a:buFontTx/>
              <a:buNone/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rtl="0" latinLnBrk="0">
              <a:buFontTx/>
              <a:buNone/>
            </a:pPr>
            <a:r>
              <a:rPr lang="ko-KR" altLang="en-US"/>
              <a:t>SVM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5EE330-2653-4CB8-A580-CEB3FA9A347C}"/>
              </a:ext>
            </a:extLst>
          </p:cNvPr>
          <p:cNvSpPr txBox="1"/>
          <p:nvPr/>
        </p:nvSpPr>
        <p:spPr>
          <a:xfrm>
            <a:off x="201493" y="1177421"/>
            <a:ext cx="46181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/>
              <a:t>https://sanghyu.tistory.com/7</a:t>
            </a:r>
            <a:endParaRPr lang="en-US" altLang="ko-KR" sz="11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251FCB-FE60-4A68-ADD5-B801124B5D3A}"/>
              </a:ext>
            </a:extLst>
          </p:cNvPr>
          <p:cNvSpPr txBox="1"/>
          <p:nvPr/>
        </p:nvSpPr>
        <p:spPr>
          <a:xfrm>
            <a:off x="201493" y="1553538"/>
            <a:ext cx="46181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https://ittrue.tistory.com/44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7DB084-69BE-4611-ABE1-F98668C1D81F}"/>
              </a:ext>
            </a:extLst>
          </p:cNvPr>
          <p:cNvSpPr txBox="1"/>
          <p:nvPr/>
        </p:nvSpPr>
        <p:spPr>
          <a:xfrm>
            <a:off x="201493" y="1951026"/>
            <a:ext cx="46181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https://excelsior-cjh.tistory.com/66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478685-FDA8-4007-A69F-C9EFA8A52B3F}"/>
              </a:ext>
            </a:extLst>
          </p:cNvPr>
          <p:cNvSpPr txBox="1"/>
          <p:nvPr/>
        </p:nvSpPr>
        <p:spPr>
          <a:xfrm>
            <a:off x="201493" y="2314092"/>
            <a:ext cx="46181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https://angeloyeo.github.io/2020/09/30/SVM.html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00F826-7100-4C5E-B75B-EA7D6CA047F7}"/>
              </a:ext>
            </a:extLst>
          </p:cNvPr>
          <p:cNvSpPr txBox="1"/>
          <p:nvPr/>
        </p:nvSpPr>
        <p:spPr>
          <a:xfrm>
            <a:off x="201911" y="2880913"/>
            <a:ext cx="4617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https://ratsgo.github.io/machine%20learning/2017/05/23/SVM/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038E6B-3E59-43F9-B333-8BD672F19FA6}"/>
              </a:ext>
            </a:extLst>
          </p:cNvPr>
          <p:cNvSpPr txBox="1"/>
          <p:nvPr/>
        </p:nvSpPr>
        <p:spPr>
          <a:xfrm>
            <a:off x="201493" y="3406659"/>
            <a:ext cx="4617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https://dsbook.tistory.com/335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D59BC2-B68A-45FC-9133-B14545B21245}"/>
              </a:ext>
            </a:extLst>
          </p:cNvPr>
          <p:cNvSpPr txBox="1"/>
          <p:nvPr/>
        </p:nvSpPr>
        <p:spPr>
          <a:xfrm>
            <a:off x="201911" y="3727348"/>
            <a:ext cx="4617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https://www.youtube.com/watch?v=qFg8cDnqYCI&amp;t=721s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EA71E3-9B1D-4EA8-8204-D4F829B6DC31}"/>
              </a:ext>
            </a:extLst>
          </p:cNvPr>
          <p:cNvSpPr txBox="1"/>
          <p:nvPr/>
        </p:nvSpPr>
        <p:spPr>
          <a:xfrm>
            <a:off x="201911" y="4373679"/>
            <a:ext cx="46177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https://velog.io/@claude_ssim/%EA%B8%B0%EA%B3%84%ED%95%99%EC%8A%B5-Support-Vector-Machine-1-h6u783zd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6C2231-3390-4B9B-877B-25AA74ED648A}"/>
              </a:ext>
            </a:extLst>
          </p:cNvPr>
          <p:cNvSpPr txBox="1"/>
          <p:nvPr/>
        </p:nvSpPr>
        <p:spPr>
          <a:xfrm>
            <a:off x="201911" y="5321655"/>
            <a:ext cx="46291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https://slidesplayer.org/slide/16739823/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4E4B36-EAD7-4C89-84E2-CE6DB63253B1}"/>
              </a:ext>
            </a:extLst>
          </p:cNvPr>
          <p:cNvSpPr txBox="1"/>
          <p:nvPr/>
        </p:nvSpPr>
        <p:spPr>
          <a:xfrm>
            <a:off x="268605" y="5795178"/>
            <a:ext cx="461813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/>
              <a:t>https://velog.io/@shlee0125/%EB%A8%B8%EC%8B%A0%EB%9F%AC%EB%8B%9D-%EC%A0%95%EB%A6%AC-Support-Vector-Machine-05.-Why-does-SVM-maximize-margin</a:t>
            </a:r>
          </a:p>
        </p:txBody>
      </p:sp>
    </p:spTree>
    <p:extLst>
      <p:ext uri="{BB962C8B-B14F-4D97-AF65-F5344CB8AC3E}">
        <p14:creationId xmlns:p14="http://schemas.microsoft.com/office/powerpoint/2010/main" val="496629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99489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B7A1AD3-8722-4AB7-B2B5-C2BC65EA7DF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lang="en-US" altLang="ko-KR"/>
              <a:t>Hard Margin vs Soft Margin(Margin</a:t>
            </a:r>
            <a:r>
              <a:rPr lang="ko-KR" altLang="en-US"/>
              <a:t> 종류</a:t>
            </a:r>
            <a:r>
              <a:rPr lang="en-US" altLang="ko-KR"/>
              <a:t>)</a:t>
            </a:r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885C90A-8298-47C4-8E30-C0F94BF6BC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483" y="1378332"/>
            <a:ext cx="2410161" cy="181952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84562A3-F05E-47D3-A1BB-2D4394D6E6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8945" y="1378332"/>
            <a:ext cx="2448267" cy="18385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4993B21-A1A1-4CFC-8CB4-3E06CED8661B}"/>
              </a:ext>
            </a:extLst>
          </p:cNvPr>
          <p:cNvSpPr txBox="1"/>
          <p:nvPr/>
        </p:nvSpPr>
        <p:spPr>
          <a:xfrm>
            <a:off x="1848512" y="3237709"/>
            <a:ext cx="17281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/>
              <a:t>&lt; Hard Margin &gt;</a:t>
            </a:r>
            <a:endParaRPr lang="ko-KR" altLang="en-US" sz="11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680049-CBD3-4554-BDEC-A602F3DF1743}"/>
              </a:ext>
            </a:extLst>
          </p:cNvPr>
          <p:cNvSpPr txBox="1"/>
          <p:nvPr/>
        </p:nvSpPr>
        <p:spPr>
          <a:xfrm>
            <a:off x="5989080" y="3237709"/>
            <a:ext cx="17281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/>
              <a:t>&lt; Soft Margin &gt;</a:t>
            </a:r>
            <a:endParaRPr lang="ko-KR" altLang="en-US" sz="11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9ACFA5-60F9-4261-85B2-6BBAF4D4DC3E}"/>
              </a:ext>
            </a:extLst>
          </p:cNvPr>
          <p:cNvSpPr txBox="1"/>
          <p:nvPr/>
        </p:nvSpPr>
        <p:spPr>
          <a:xfrm>
            <a:off x="552249" y="3759596"/>
            <a:ext cx="7887076" cy="1724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/>
              <a:t>Margin </a:t>
            </a:r>
            <a:r>
              <a:rPr lang="ko-KR" altLang="en-US" sz="1200"/>
              <a:t>분류에는 </a:t>
            </a:r>
            <a:r>
              <a:rPr lang="en-US" altLang="ko-KR" sz="1200"/>
              <a:t>Hard Margin</a:t>
            </a:r>
            <a:r>
              <a:rPr lang="ko-KR" altLang="en-US" sz="1200"/>
              <a:t>과 </a:t>
            </a:r>
            <a:r>
              <a:rPr lang="en-US" altLang="ko-KR" sz="1200"/>
              <a:t>Soft Margin</a:t>
            </a:r>
            <a:r>
              <a:rPr lang="ko-KR" altLang="en-US" sz="1200"/>
              <a:t>으로 나뉨</a:t>
            </a:r>
            <a:endParaRPr lang="en-US" altLang="ko-KR" sz="1200"/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/>
              <a:t>Hard Margin </a:t>
            </a:r>
            <a:r>
              <a:rPr lang="ko-KR" altLang="en-US" sz="1200"/>
              <a:t>분류는 </a:t>
            </a:r>
            <a:r>
              <a:rPr lang="en-US" altLang="ko-KR" sz="1200"/>
              <a:t>Decision Boundary</a:t>
            </a:r>
            <a:r>
              <a:rPr lang="ko-KR" altLang="en-US" sz="1200"/>
              <a:t>범위안에 데이터들이 존재하지않도록 두개의 클래스를 분리하는 방법으로 모든 입력값은 한 클래스에만 속해야한다는 특성이 있음</a:t>
            </a:r>
            <a:endParaRPr lang="en-US" altLang="ko-KR" sz="1200"/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/>
              <a:t>위의 특성으로 인해 몇 개의 노이즈로 인해 </a:t>
            </a:r>
            <a:r>
              <a:rPr lang="en-US" altLang="ko-KR" sz="1200"/>
              <a:t>Decision Boundary</a:t>
            </a:r>
            <a:r>
              <a:rPr lang="ko-KR" altLang="en-US" sz="1200"/>
              <a:t>를 잘 못 구할 수도 있으며 찾지 못하는 문제 발생</a:t>
            </a:r>
            <a:endParaRPr lang="en-US" altLang="ko-KR" sz="1200"/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/>
              <a:t>Soft Margin </a:t>
            </a:r>
            <a:r>
              <a:rPr lang="ko-KR" altLang="en-US" sz="1200"/>
              <a:t>분류는  </a:t>
            </a:r>
            <a:r>
              <a:rPr lang="en-US" altLang="ko-KR" sz="1200"/>
              <a:t>Decision Boundary</a:t>
            </a:r>
            <a:r>
              <a:rPr lang="ko-KR" altLang="en-US" sz="1200"/>
              <a:t>범위안에 어느정도 오류를 허용한다는 특성이 있음</a:t>
            </a:r>
            <a:endParaRPr lang="en-US" altLang="ko-KR" sz="1200"/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/>
              <a:t>새로운 데이터가 들어왔을 때 오류를 발생시키지 않도록 </a:t>
            </a:r>
            <a:r>
              <a:rPr lang="en-US" altLang="ko-KR" sz="1200"/>
              <a:t>Margin</a:t>
            </a:r>
            <a:r>
              <a:rPr lang="ko-KR" altLang="en-US" sz="1200"/>
              <a:t>을 크게 함</a:t>
            </a:r>
            <a:endParaRPr lang="en-US" altLang="ko-KR" sz="120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9F249DD-BD0E-4616-AAAA-E2DC303D684D}"/>
              </a:ext>
            </a:extLst>
          </p:cNvPr>
          <p:cNvSpPr/>
          <p:nvPr/>
        </p:nvSpPr>
        <p:spPr>
          <a:xfrm>
            <a:off x="4991450" y="932789"/>
            <a:ext cx="4152550" cy="20553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파라미터 </a:t>
            </a:r>
            <a:r>
              <a:rPr lang="en-US" altLang="ko-KR"/>
              <a:t>c</a:t>
            </a:r>
            <a:r>
              <a:rPr lang="ko-KR" altLang="en-US"/>
              <a:t>에 대한 </a:t>
            </a:r>
            <a:r>
              <a:rPr lang="en-US" altLang="ko-KR"/>
              <a:t>margin </a:t>
            </a:r>
            <a:r>
              <a:rPr lang="ko-KR" altLang="en-US"/>
              <a:t>사진</a:t>
            </a:r>
            <a:endParaRPr lang="en-US" altLang="ko-KR"/>
          </a:p>
          <a:p>
            <a:pPr algn="ctr"/>
            <a:r>
              <a:rPr lang="en-US" altLang="ko-KR"/>
              <a:t>Margin</a:t>
            </a:r>
            <a:r>
              <a:rPr lang="ko-KR" altLang="en-US"/>
              <a:t>최대화 하는 정확한 이유</a:t>
            </a:r>
          </a:p>
        </p:txBody>
      </p:sp>
    </p:spTree>
    <p:extLst>
      <p:ext uri="{BB962C8B-B14F-4D97-AF65-F5344CB8AC3E}">
        <p14:creationId xmlns:p14="http://schemas.microsoft.com/office/powerpoint/2010/main" val="7277931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21"/>
          <p:cNvSpPr txBox="1">
            <a:spLocks noGrp="1"/>
          </p:cNvSpPr>
          <p:nvPr>
            <p:ph type="body" idx="11" hasCustomPrompt="1"/>
          </p:nvPr>
        </p:nvSpPr>
        <p:spPr>
          <a:xfrm>
            <a:off x="268605" y="219710"/>
            <a:ext cx="4899025" cy="41910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 latinLnBrk="0">
              <a:buFontTx/>
              <a:buNone/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rtl="0" latinLnBrk="0">
              <a:buFontTx/>
              <a:buNone/>
            </a:pPr>
            <a:r>
              <a:rPr lang="ko-KR" altLang="en-US"/>
              <a:t>SVM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6A45BE5-4969-4476-870C-89F65C4BE935}"/>
              </a:ext>
            </a:extLst>
          </p:cNvPr>
          <p:cNvSpPr/>
          <p:nvPr/>
        </p:nvSpPr>
        <p:spPr>
          <a:xfrm>
            <a:off x="855677" y="1719743"/>
            <a:ext cx="1862356" cy="15016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후보</a:t>
            </a:r>
            <a:r>
              <a:rPr lang="en-US" altLang="ko-KR"/>
              <a:t>1	</a:t>
            </a:r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D5F8327-4858-4F39-8993-ADEA4F4FAA20}"/>
              </a:ext>
            </a:extLst>
          </p:cNvPr>
          <p:cNvSpPr/>
          <p:nvPr/>
        </p:nvSpPr>
        <p:spPr>
          <a:xfrm>
            <a:off x="3541553" y="1719742"/>
            <a:ext cx="1862356" cy="15016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후보</a:t>
            </a:r>
            <a:r>
              <a:rPr lang="en-US" altLang="ko-KR"/>
              <a:t>2</a:t>
            </a:r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5DBA53A-2A67-4B2B-BC8D-A3229F6A69CA}"/>
              </a:ext>
            </a:extLst>
          </p:cNvPr>
          <p:cNvSpPr/>
          <p:nvPr/>
        </p:nvSpPr>
        <p:spPr>
          <a:xfrm>
            <a:off x="6528033" y="1719743"/>
            <a:ext cx="1862356" cy="15016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후보</a:t>
            </a:r>
            <a:r>
              <a:rPr lang="en-US" altLang="ko-KR"/>
              <a:t>3</a:t>
            </a:r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66890F-3E28-4134-B68F-FB1F07BA1525}"/>
              </a:ext>
            </a:extLst>
          </p:cNvPr>
          <p:cNvSpPr txBox="1"/>
          <p:nvPr/>
        </p:nvSpPr>
        <p:spPr>
          <a:xfrm>
            <a:off x="511728" y="3733101"/>
            <a:ext cx="619107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/>
              <a:t>어떤게 최적의 </a:t>
            </a:r>
            <a:r>
              <a:rPr lang="en-US" altLang="ko-KR" sz="1100"/>
              <a:t>svm</a:t>
            </a:r>
            <a:r>
              <a:rPr lang="ko-KR" altLang="en-US" sz="1100"/>
              <a:t>일지</a:t>
            </a:r>
            <a:endParaRPr lang="en-US" altLang="ko-KR" sz="1100"/>
          </a:p>
          <a:p>
            <a:r>
              <a:rPr lang="ko-KR" altLang="en-US" sz="1100"/>
              <a:t>이유</a:t>
            </a:r>
            <a:endParaRPr lang="en-US" altLang="ko-KR" sz="1100"/>
          </a:p>
          <a:p>
            <a:r>
              <a:rPr lang="ko-KR" altLang="en-US" sz="1100"/>
              <a:t>마진이 넓으면 좋은이유</a:t>
            </a:r>
            <a:endParaRPr lang="en-US" altLang="ko-KR" sz="1100"/>
          </a:p>
          <a:p>
            <a:endParaRPr lang="ko-KR" altLang="en-US" sz="110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4FA2E60-30D9-4508-8D21-6566E1A741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611" y="2470556"/>
            <a:ext cx="4184693" cy="2915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9596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그림 54">
            <a:extLst>
              <a:ext uri="{FF2B5EF4-FFF2-40B4-BE49-F238E27FC236}">
                <a16:creationId xmlns:a16="http://schemas.microsoft.com/office/drawing/2014/main" id="{4CAF8C00-DCC2-4F59-921A-F0F03069A4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3114" y="1731778"/>
            <a:ext cx="3828983" cy="1441655"/>
          </a:xfrm>
          <a:prstGeom prst="rect">
            <a:avLst/>
          </a:prstGeom>
        </p:spPr>
      </p:pic>
      <p:sp>
        <p:nvSpPr>
          <p:cNvPr id="2" name="텍스트 개체 틀 21"/>
          <p:cNvSpPr txBox="1">
            <a:spLocks noGrp="1"/>
          </p:cNvSpPr>
          <p:nvPr>
            <p:ph type="body" idx="11" hasCustomPrompt="1"/>
          </p:nvPr>
        </p:nvSpPr>
        <p:spPr>
          <a:xfrm>
            <a:off x="268605" y="219710"/>
            <a:ext cx="4899025" cy="41910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 latinLnBrk="0">
              <a:buFontTx/>
              <a:buNone/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ko-KR" altLang="en-US"/>
              <a:t>SVM</a:t>
            </a:r>
            <a:r>
              <a:rPr lang="en-US" altLang="ko-KR" sz="1600" b="0">
                <a:solidFill>
                  <a:schemeClr val="tx1"/>
                </a:solidFill>
              </a:rPr>
              <a:t>(Support Vector Machine)</a:t>
            </a:r>
            <a:endParaRPr lang="ko-KR" altLang="en-US" sz="1600" b="0">
              <a:solidFill>
                <a:schemeClr val="tx1"/>
              </a:solidFill>
            </a:endParaRPr>
          </a:p>
          <a:p>
            <a:pPr marL="0" indent="0" rtl="0" latinLnBrk="0">
              <a:buFontTx/>
              <a:buNone/>
            </a:pPr>
            <a:endParaRPr lang="ko-KR" altLang="en-US"/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639DD744-0C53-4873-B28E-C3D10F225BDF}"/>
              </a:ext>
            </a:extLst>
          </p:cNvPr>
          <p:cNvGrpSpPr/>
          <p:nvPr/>
        </p:nvGrpSpPr>
        <p:grpSpPr>
          <a:xfrm>
            <a:off x="113335" y="1176349"/>
            <a:ext cx="5188112" cy="2256154"/>
            <a:chOff x="1775305" y="2224059"/>
            <a:chExt cx="6051768" cy="2726531"/>
          </a:xfrm>
        </p:grpSpPr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99701B55-73EC-4B03-A1FE-14334F2BEEC6}"/>
                </a:ext>
              </a:extLst>
            </p:cNvPr>
            <p:cNvGrpSpPr/>
            <p:nvPr/>
          </p:nvGrpSpPr>
          <p:grpSpPr>
            <a:xfrm>
              <a:off x="4615637" y="3632479"/>
              <a:ext cx="1143417" cy="783882"/>
              <a:chOff x="4837649" y="3782504"/>
              <a:chExt cx="1143417" cy="783882"/>
            </a:xfrm>
            <a:solidFill>
              <a:srgbClr val="FF0000"/>
            </a:solidFill>
          </p:grpSpPr>
          <p:sp>
            <p:nvSpPr>
              <p:cNvPr id="13" name="이등변 삼각형 12">
                <a:extLst>
                  <a:ext uri="{FF2B5EF4-FFF2-40B4-BE49-F238E27FC236}">
                    <a16:creationId xmlns:a16="http://schemas.microsoft.com/office/drawing/2014/main" id="{F00AA1D5-8E6F-4212-8CB5-6F8729AE320B}"/>
                  </a:ext>
                </a:extLst>
              </p:cNvPr>
              <p:cNvSpPr/>
              <p:nvPr/>
            </p:nvSpPr>
            <p:spPr>
              <a:xfrm>
                <a:off x="5019988" y="3846814"/>
                <a:ext cx="147642" cy="142602"/>
              </a:xfrm>
              <a:prstGeom prst="triangl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" name="이등변 삼각형 13">
                <a:extLst>
                  <a:ext uri="{FF2B5EF4-FFF2-40B4-BE49-F238E27FC236}">
                    <a16:creationId xmlns:a16="http://schemas.microsoft.com/office/drawing/2014/main" id="{EF2A36EC-4429-48AA-BF09-EF8868A53C97}"/>
                  </a:ext>
                </a:extLst>
              </p:cNvPr>
              <p:cNvSpPr/>
              <p:nvPr/>
            </p:nvSpPr>
            <p:spPr>
              <a:xfrm>
                <a:off x="4837649" y="4423784"/>
                <a:ext cx="147642" cy="142602"/>
              </a:xfrm>
              <a:prstGeom prst="triangl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" name="이등변 삼각형 14">
                <a:extLst>
                  <a:ext uri="{FF2B5EF4-FFF2-40B4-BE49-F238E27FC236}">
                    <a16:creationId xmlns:a16="http://schemas.microsoft.com/office/drawing/2014/main" id="{CAE5440F-B878-49D5-AC01-48A82A0C3C53}"/>
                  </a:ext>
                </a:extLst>
              </p:cNvPr>
              <p:cNvSpPr/>
              <p:nvPr/>
            </p:nvSpPr>
            <p:spPr>
              <a:xfrm>
                <a:off x="5398595" y="4099675"/>
                <a:ext cx="147642" cy="142602"/>
              </a:xfrm>
              <a:prstGeom prst="triangl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" name="이등변 삼각형 15">
                <a:extLst>
                  <a:ext uri="{FF2B5EF4-FFF2-40B4-BE49-F238E27FC236}">
                    <a16:creationId xmlns:a16="http://schemas.microsoft.com/office/drawing/2014/main" id="{F52C3D77-2F96-4344-9EFD-4415EEE333B9}"/>
                  </a:ext>
                </a:extLst>
              </p:cNvPr>
              <p:cNvSpPr/>
              <p:nvPr/>
            </p:nvSpPr>
            <p:spPr>
              <a:xfrm>
                <a:off x="5833424" y="4342919"/>
                <a:ext cx="147642" cy="142602"/>
              </a:xfrm>
              <a:prstGeom prst="triangl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" name="이등변 삼각형 16">
                <a:extLst>
                  <a:ext uri="{FF2B5EF4-FFF2-40B4-BE49-F238E27FC236}">
                    <a16:creationId xmlns:a16="http://schemas.microsoft.com/office/drawing/2014/main" id="{BE83F5FD-588F-4EBF-915B-3B370FE522E8}"/>
                  </a:ext>
                </a:extLst>
              </p:cNvPr>
              <p:cNvSpPr/>
              <p:nvPr/>
            </p:nvSpPr>
            <p:spPr>
              <a:xfrm>
                <a:off x="5833424" y="3782504"/>
                <a:ext cx="147642" cy="142602"/>
              </a:xfrm>
              <a:prstGeom prst="triangl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35" name="그룹 34">
              <a:extLst>
                <a:ext uri="{FF2B5EF4-FFF2-40B4-BE49-F238E27FC236}">
                  <a16:creationId xmlns:a16="http://schemas.microsoft.com/office/drawing/2014/main" id="{102901B4-E573-414D-B9A7-D3F967B9BDF2}"/>
                </a:ext>
              </a:extLst>
            </p:cNvPr>
            <p:cNvGrpSpPr/>
            <p:nvPr/>
          </p:nvGrpSpPr>
          <p:grpSpPr>
            <a:xfrm>
              <a:off x="3209085" y="2224059"/>
              <a:ext cx="2877424" cy="2357307"/>
              <a:chOff x="3431097" y="2374084"/>
              <a:chExt cx="2877424" cy="2357307"/>
            </a:xfrm>
          </p:grpSpPr>
          <p:cxnSp>
            <p:nvCxnSpPr>
              <p:cNvPr id="6" name="직선 화살표 연결선 5">
                <a:extLst>
                  <a:ext uri="{FF2B5EF4-FFF2-40B4-BE49-F238E27FC236}">
                    <a16:creationId xmlns:a16="http://schemas.microsoft.com/office/drawing/2014/main" id="{59E197D0-6E26-419F-A695-6428C7520A5B}"/>
                  </a:ext>
                </a:extLst>
              </p:cNvPr>
              <p:cNvCxnSpPr/>
              <p:nvPr/>
            </p:nvCxnSpPr>
            <p:spPr>
              <a:xfrm>
                <a:off x="3431097" y="4731391"/>
                <a:ext cx="2877424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직선 화살표 연결선 20">
                <a:extLst>
                  <a:ext uri="{FF2B5EF4-FFF2-40B4-BE49-F238E27FC236}">
                    <a16:creationId xmlns:a16="http://schemas.microsoft.com/office/drawing/2014/main" id="{FCFE1E44-19ED-42EB-9F51-B1F602575D1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436689" y="2374084"/>
                <a:ext cx="0" cy="235730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F36A95A4-99BF-4CE8-8F02-635C1F572431}"/>
                </a:ext>
              </a:extLst>
            </p:cNvPr>
            <p:cNvCxnSpPr/>
            <p:nvPr/>
          </p:nvCxnSpPr>
          <p:spPr>
            <a:xfrm flipV="1">
              <a:off x="3355971" y="2643509"/>
              <a:ext cx="2051030" cy="2055303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3EB16B1-7807-44E4-8228-9B52D2D308BE}"/>
                </a:ext>
              </a:extLst>
            </p:cNvPr>
            <p:cNvCxnSpPr/>
            <p:nvPr/>
          </p:nvCxnSpPr>
          <p:spPr>
            <a:xfrm flipV="1">
              <a:off x="3657828" y="2895287"/>
              <a:ext cx="2051030" cy="2055303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AFE55241-4711-4885-8033-76FA99A6AEED}"/>
                </a:ext>
              </a:extLst>
            </p:cNvPr>
            <p:cNvCxnSpPr/>
            <p:nvPr/>
          </p:nvCxnSpPr>
          <p:spPr>
            <a:xfrm flipV="1">
              <a:off x="3088784" y="2398132"/>
              <a:ext cx="2051030" cy="2055303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B9A2E858-637C-4D93-B10B-072B1ACAD345}"/>
                </a:ext>
              </a:extLst>
            </p:cNvPr>
            <p:cNvGrpSpPr/>
            <p:nvPr/>
          </p:nvGrpSpPr>
          <p:grpSpPr>
            <a:xfrm>
              <a:off x="3462157" y="2558670"/>
              <a:ext cx="763389" cy="1069614"/>
              <a:chOff x="3665996" y="2686332"/>
              <a:chExt cx="763389" cy="1069614"/>
            </a:xfrm>
            <a:solidFill>
              <a:srgbClr val="2C6FAD"/>
            </a:solidFill>
          </p:grpSpPr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6289E2C4-0CDA-4F6D-87AD-65E2A0D45F66}"/>
                  </a:ext>
                </a:extLst>
              </p:cNvPr>
              <p:cNvSpPr/>
              <p:nvPr/>
            </p:nvSpPr>
            <p:spPr>
              <a:xfrm>
                <a:off x="3758272" y="3045312"/>
                <a:ext cx="125831" cy="12792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C45F4A94-ED95-43F8-8B38-A784572EDF2A}"/>
                  </a:ext>
                </a:extLst>
              </p:cNvPr>
              <p:cNvSpPr/>
              <p:nvPr/>
            </p:nvSpPr>
            <p:spPr>
              <a:xfrm>
                <a:off x="3665996" y="3628023"/>
                <a:ext cx="125831" cy="12792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8FF412EC-7D81-4172-9F17-326638A3FA17}"/>
                  </a:ext>
                </a:extLst>
              </p:cNvPr>
              <p:cNvSpPr/>
              <p:nvPr/>
            </p:nvSpPr>
            <p:spPr>
              <a:xfrm>
                <a:off x="4177723" y="3482638"/>
                <a:ext cx="125831" cy="12792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AF2763E6-C906-4980-AB0B-F4265EA55ED6}"/>
                  </a:ext>
                </a:extLst>
              </p:cNvPr>
              <p:cNvSpPr/>
              <p:nvPr/>
            </p:nvSpPr>
            <p:spPr>
              <a:xfrm>
                <a:off x="4211277" y="3119517"/>
                <a:ext cx="125831" cy="12792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C90C834F-1ADB-4352-981D-BA64E0EE3293}"/>
                  </a:ext>
                </a:extLst>
              </p:cNvPr>
              <p:cNvSpPr/>
              <p:nvPr/>
            </p:nvSpPr>
            <p:spPr>
              <a:xfrm>
                <a:off x="4303554" y="2686332"/>
                <a:ext cx="125831" cy="127923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93AEC60-E074-4D4D-B4DF-60C5DE8823A8}"/>
                </a:ext>
              </a:extLst>
            </p:cNvPr>
            <p:cNvSpPr txBox="1"/>
            <p:nvPr/>
          </p:nvSpPr>
          <p:spPr>
            <a:xfrm>
              <a:off x="5344227" y="2225480"/>
              <a:ext cx="2482846" cy="520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100"/>
                <a:t>Optimal Hyperplane</a:t>
              </a:r>
            </a:p>
            <a:p>
              <a:pPr algn="l"/>
              <a:r>
                <a:rPr lang="en-US" altLang="ko-KR" sz="1100"/>
                <a:t>/Decision Boundary</a:t>
              </a:r>
              <a:endParaRPr lang="ko-KR" altLang="en-US" sz="1100"/>
            </a:p>
          </p:txBody>
        </p:sp>
        <p:cxnSp>
          <p:nvCxnSpPr>
            <p:cNvPr id="37" name="직선 화살표 연결선 36">
              <a:extLst>
                <a:ext uri="{FF2B5EF4-FFF2-40B4-BE49-F238E27FC236}">
                  <a16:creationId xmlns:a16="http://schemas.microsoft.com/office/drawing/2014/main" id="{3A44A2F7-A029-4FB1-972D-013B3A136C18}"/>
                </a:ext>
              </a:extLst>
            </p:cNvPr>
            <p:cNvCxnSpPr/>
            <p:nvPr/>
          </p:nvCxnSpPr>
          <p:spPr>
            <a:xfrm flipH="1">
              <a:off x="2796949" y="3484508"/>
              <a:ext cx="1182848" cy="77014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직선 화살표 연결선 37">
              <a:extLst>
                <a:ext uri="{FF2B5EF4-FFF2-40B4-BE49-F238E27FC236}">
                  <a16:creationId xmlns:a16="http://schemas.microsoft.com/office/drawing/2014/main" id="{45CF7977-2A17-47DF-862D-0B4F2D093D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84373" y="3821084"/>
              <a:ext cx="1948067" cy="61025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0D55F549-E25A-4916-BB7C-E99173F26B62}"/>
                </a:ext>
              </a:extLst>
            </p:cNvPr>
            <p:cNvSpPr txBox="1"/>
            <p:nvPr/>
          </p:nvSpPr>
          <p:spPr>
            <a:xfrm>
              <a:off x="1775305" y="4212190"/>
              <a:ext cx="110612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100"/>
                <a:t>Support Vectors</a:t>
              </a:r>
              <a:endParaRPr lang="ko-KR" altLang="en-US" sz="1100"/>
            </a:p>
          </p:txBody>
        </p:sp>
        <p:cxnSp>
          <p:nvCxnSpPr>
            <p:cNvPr id="42" name="직선 화살표 연결선 41">
              <a:extLst>
                <a:ext uri="{FF2B5EF4-FFF2-40B4-BE49-F238E27FC236}">
                  <a16:creationId xmlns:a16="http://schemas.microsoft.com/office/drawing/2014/main" id="{3552B0FE-F178-44BD-9475-21E9CD1ECF30}"/>
                </a:ext>
              </a:extLst>
            </p:cNvPr>
            <p:cNvCxnSpPr>
              <a:cxnSpLocks/>
            </p:cNvCxnSpPr>
            <p:nvPr/>
          </p:nvCxnSpPr>
          <p:spPr>
            <a:xfrm>
              <a:off x="4481600" y="2999654"/>
              <a:ext cx="618881" cy="529165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직선 화살표 연결선 45">
              <a:extLst>
                <a:ext uri="{FF2B5EF4-FFF2-40B4-BE49-F238E27FC236}">
                  <a16:creationId xmlns:a16="http://schemas.microsoft.com/office/drawing/2014/main" id="{10D8440C-A84E-4EF3-A145-4A17B4DB7058}"/>
                </a:ext>
              </a:extLst>
            </p:cNvPr>
            <p:cNvCxnSpPr>
              <a:cxnSpLocks/>
            </p:cNvCxnSpPr>
            <p:nvPr/>
          </p:nvCxnSpPr>
          <p:spPr>
            <a:xfrm>
              <a:off x="4912062" y="3363365"/>
              <a:ext cx="763240" cy="687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E70D0847-218B-4C45-8AFF-8DDDA622B1F9}"/>
                </a:ext>
              </a:extLst>
            </p:cNvPr>
            <p:cNvSpPr txBox="1"/>
            <p:nvPr/>
          </p:nvSpPr>
          <p:spPr>
            <a:xfrm>
              <a:off x="5708858" y="3278975"/>
              <a:ext cx="120816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100"/>
                <a:t>margin</a:t>
              </a:r>
              <a:endParaRPr lang="ko-KR" altLang="en-US" sz="1100"/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EA33A71A-D0AD-4694-9544-5F3769C146AD}"/>
              </a:ext>
            </a:extLst>
          </p:cNvPr>
          <p:cNvSpPr txBox="1"/>
          <p:nvPr/>
        </p:nvSpPr>
        <p:spPr>
          <a:xfrm>
            <a:off x="552249" y="3759596"/>
            <a:ext cx="7887076" cy="28337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/>
              <a:t>두 클래스로부터 최대한 멀리 떨어져 있는 </a:t>
            </a:r>
            <a:r>
              <a:rPr lang="en-US" altLang="ko-KR" sz="1200"/>
              <a:t>Decision Boundary</a:t>
            </a:r>
            <a:r>
              <a:rPr lang="ko-KR" altLang="en-US" sz="1200"/>
              <a:t>를 찾는 분류기</a:t>
            </a:r>
            <a:endParaRPr lang="en-US" altLang="ko-KR" sz="1200"/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/>
              <a:t>특정 조건을 만족하는 동시에 클래스를 분류하는것을 목표</a:t>
            </a:r>
            <a:r>
              <a:rPr lang="en-US" altLang="ko-KR" sz="1200"/>
              <a:t>(ex) </a:t>
            </a:r>
            <a:r>
              <a:rPr lang="ko-KR" altLang="en-US" sz="1200"/>
              <a:t>짜장</a:t>
            </a:r>
            <a:r>
              <a:rPr lang="en-US" altLang="ko-KR" sz="1200"/>
              <a:t>, </a:t>
            </a:r>
            <a:r>
              <a:rPr lang="ko-KR" altLang="en-US" sz="1200"/>
              <a:t>짬뽕 </a:t>
            </a:r>
            <a:r>
              <a:rPr lang="en-US" altLang="ko-KR" sz="1200"/>
              <a:t>- &gt; </a:t>
            </a:r>
            <a:r>
              <a:rPr lang="ko-KR" altLang="en-US" sz="1200"/>
              <a:t>고춧가루양</a:t>
            </a:r>
            <a:r>
              <a:rPr lang="en-US" altLang="ko-KR" sz="1200"/>
              <a:t>, </a:t>
            </a:r>
            <a:r>
              <a:rPr lang="ko-KR" altLang="en-US" sz="1200"/>
              <a:t>국물의양</a:t>
            </a:r>
            <a:r>
              <a:rPr lang="en-US" altLang="ko-KR" sz="1200"/>
              <a:t>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/>
              <a:t>Hyper plane</a:t>
            </a:r>
            <a:r>
              <a:rPr lang="ko-KR" altLang="en-US" sz="1200"/>
              <a:t>이란 어떤 </a:t>
            </a:r>
            <a:r>
              <a:rPr lang="en-US" altLang="ko-KR" sz="1200"/>
              <a:t>N</a:t>
            </a:r>
            <a:r>
              <a:rPr lang="ko-KR" altLang="en-US" sz="1200"/>
              <a:t>차원 공간에서 한 차원이 낮은 </a:t>
            </a:r>
            <a:r>
              <a:rPr lang="en-US" altLang="ko-KR" sz="1200"/>
              <a:t>N-1</a:t>
            </a:r>
            <a:r>
              <a:rPr lang="ko-KR" altLang="en-US" sz="1200"/>
              <a:t>차원의 </a:t>
            </a:r>
            <a:r>
              <a:rPr lang="en-US" altLang="ko-KR" sz="1200"/>
              <a:t>subspace</a:t>
            </a:r>
            <a:r>
              <a:rPr lang="ko-KR" altLang="en-US" sz="1200"/>
              <a:t>를 말함</a:t>
            </a:r>
            <a:r>
              <a:rPr lang="en-US" altLang="ko-KR" sz="1200"/>
              <a:t>                                   </a:t>
            </a:r>
          </a:p>
          <a:p>
            <a:pPr>
              <a:lnSpc>
                <a:spcPct val="150000"/>
              </a:lnSpc>
            </a:pPr>
            <a:r>
              <a:rPr lang="en-US" altLang="ko-KR" sz="1200"/>
              <a:t>     (ex. 2</a:t>
            </a:r>
            <a:r>
              <a:rPr lang="ko-KR" altLang="en-US" sz="1200"/>
              <a:t>차원인 경우 선</a:t>
            </a:r>
            <a:r>
              <a:rPr lang="en-US" altLang="ko-KR" sz="1200"/>
              <a:t>,</a:t>
            </a:r>
            <a:r>
              <a:rPr lang="ko-KR" altLang="en-US" sz="1200"/>
              <a:t> </a:t>
            </a:r>
            <a:r>
              <a:rPr lang="en-US" altLang="ko-KR" sz="1200"/>
              <a:t>3</a:t>
            </a:r>
            <a:r>
              <a:rPr lang="ko-KR" altLang="en-US" sz="1200"/>
              <a:t>차원의 경우 면을 뜻함</a:t>
            </a:r>
            <a:r>
              <a:rPr lang="en-US" altLang="ko-KR" sz="1200"/>
              <a:t>)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/>
              <a:t>Decision Boundary</a:t>
            </a:r>
            <a:r>
              <a:rPr lang="ko-KR" altLang="en-US" sz="1200"/>
              <a:t>를 통해 어느 쪽에 속하는지 판단</a:t>
            </a:r>
            <a:r>
              <a:rPr lang="en-US" altLang="ko-KR" sz="1200"/>
              <a:t>, </a:t>
            </a:r>
            <a:r>
              <a:rPr lang="ko-KR" altLang="en-US" sz="1200"/>
              <a:t>선형이나비선형 분류</a:t>
            </a:r>
            <a:r>
              <a:rPr lang="en-US" altLang="ko-KR" sz="1200"/>
              <a:t>, </a:t>
            </a:r>
            <a:r>
              <a:rPr lang="ko-KR" altLang="en-US" sz="1200"/>
              <a:t>회귀</a:t>
            </a:r>
            <a:r>
              <a:rPr lang="en-US" altLang="ko-KR" sz="1200"/>
              <a:t>, </a:t>
            </a:r>
            <a:r>
              <a:rPr lang="ko-KR" altLang="en-US" sz="1200"/>
              <a:t>이상치 탐색에도 사용가능한 지도 학습 모델</a:t>
            </a:r>
            <a:endParaRPr lang="en-US" altLang="ko-KR" sz="1200"/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/>
              <a:t>Decision Boundary</a:t>
            </a:r>
            <a:r>
              <a:rPr lang="ko-KR" altLang="en-US" sz="1200"/>
              <a:t>와 가장 가까이 있는 데이터들이 </a:t>
            </a:r>
            <a:r>
              <a:rPr lang="en-US" altLang="ko-KR" sz="1200"/>
              <a:t>margin</a:t>
            </a:r>
            <a:r>
              <a:rPr lang="ko-KR" altLang="en-US" sz="1200"/>
              <a:t>을 결정하고 이를 </a:t>
            </a:r>
            <a:r>
              <a:rPr lang="en-US" altLang="ko-KR" sz="1200"/>
              <a:t>Support Vector</a:t>
            </a:r>
            <a:r>
              <a:rPr lang="ko-KR" altLang="en-US" sz="1200"/>
              <a:t>라고 함</a:t>
            </a:r>
            <a:endParaRPr lang="en-US" altLang="ko-KR" sz="1200"/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/>
              <a:t>Decision Boundary</a:t>
            </a:r>
            <a:r>
              <a:rPr lang="ko-KR" altLang="en-US" sz="1200"/>
              <a:t>범위밖에 추가 데이터가 들어온다면 </a:t>
            </a:r>
            <a:r>
              <a:rPr lang="en-US" altLang="ko-KR" sz="1200"/>
              <a:t>Decision Boundary</a:t>
            </a:r>
            <a:r>
              <a:rPr lang="ko-KR" altLang="en-US" sz="1200"/>
              <a:t>에</a:t>
            </a:r>
            <a:r>
              <a:rPr lang="en-US" altLang="ko-KR" sz="1200"/>
              <a:t> </a:t>
            </a:r>
            <a:r>
              <a:rPr lang="ko-KR" altLang="en-US" sz="1200"/>
              <a:t>영향을 미치지 않지만 범위 안에 추가 데이터가 들어온다면 영향을 미치게 되어 </a:t>
            </a:r>
            <a:r>
              <a:rPr lang="en-US" altLang="ko-KR" sz="1200"/>
              <a:t>margin</a:t>
            </a:r>
            <a:r>
              <a:rPr lang="ko-KR" altLang="en-US" sz="1200"/>
              <a:t>이 달라질 수 있음</a:t>
            </a:r>
            <a:endParaRPr lang="en-US" altLang="ko-KR" sz="1200"/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en-US" sz="12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9FEE90-43AD-4044-BB3C-2398977C4800}"/>
              </a:ext>
            </a:extLst>
          </p:cNvPr>
          <p:cNvSpPr txBox="1"/>
          <p:nvPr/>
        </p:nvSpPr>
        <p:spPr>
          <a:xfrm>
            <a:off x="1468422" y="3415979"/>
            <a:ext cx="22116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&lt; SVM</a:t>
            </a:r>
            <a:r>
              <a:rPr lang="en-US" altLang="ko-KR" sz="1100" b="0">
                <a:solidFill>
                  <a:schemeClr val="tx1"/>
                </a:solidFill>
              </a:rPr>
              <a:t>(Support Vector Machine) &gt;</a:t>
            </a:r>
            <a:endParaRPr lang="ko-KR" altLang="en-US" sz="1100" b="0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F5F4690-2C95-4D62-8057-A982FE2EAA59}"/>
              </a:ext>
            </a:extLst>
          </p:cNvPr>
          <p:cNvSpPr txBox="1"/>
          <p:nvPr/>
        </p:nvSpPr>
        <p:spPr>
          <a:xfrm>
            <a:off x="6294253" y="3417032"/>
            <a:ext cx="22116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&lt; HyperPlane</a:t>
            </a:r>
            <a:r>
              <a:rPr lang="en-US" altLang="ko-KR" sz="1100" b="0">
                <a:solidFill>
                  <a:schemeClr val="tx1"/>
                </a:solidFill>
              </a:rPr>
              <a:t> &gt;</a:t>
            </a:r>
            <a:endParaRPr lang="ko-KR" altLang="en-US" sz="1100" b="0">
              <a:solidFill>
                <a:schemeClr val="tx1"/>
              </a:solidFill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1DCBCCF9-1177-4081-ACF4-1F1847E9FC1C}"/>
              </a:ext>
            </a:extLst>
          </p:cNvPr>
          <p:cNvSpPr/>
          <p:nvPr/>
        </p:nvSpPr>
        <p:spPr>
          <a:xfrm>
            <a:off x="3899619" y="1380857"/>
            <a:ext cx="2568987" cy="150358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초기 </a:t>
            </a:r>
            <a:r>
              <a:rPr lang="en-US" altLang="ko-KR"/>
              <a:t>Svm</a:t>
            </a:r>
            <a:r>
              <a:rPr lang="ko-KR" altLang="en-US"/>
              <a:t>설명 그림</a:t>
            </a:r>
          </a:p>
        </p:txBody>
      </p:sp>
    </p:spTree>
    <p:extLst>
      <p:ext uri="{BB962C8B-B14F-4D97-AF65-F5344CB8AC3E}">
        <p14:creationId xmlns:p14="http://schemas.microsoft.com/office/powerpoint/2010/main" val="436572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21"/>
          <p:cNvSpPr txBox="1">
            <a:spLocks noGrp="1"/>
          </p:cNvSpPr>
          <p:nvPr>
            <p:ph type="body" idx="11" hasCustomPrompt="1"/>
          </p:nvPr>
        </p:nvSpPr>
        <p:spPr>
          <a:xfrm>
            <a:off x="268605" y="219710"/>
            <a:ext cx="4899025" cy="41910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 latinLnBrk="0">
              <a:buFontTx/>
              <a:buNone/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rtl="0" latinLnBrk="0">
              <a:buFontTx/>
              <a:buNone/>
            </a:pPr>
            <a:r>
              <a:rPr lang="ko-KR" altLang="en-US"/>
              <a:t>SVM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20B2A80-2DBC-4D6E-A609-92F9D067B732}"/>
                  </a:ext>
                </a:extLst>
              </p:cNvPr>
              <p:cNvSpPr txBox="1"/>
              <p:nvPr/>
            </p:nvSpPr>
            <p:spPr>
              <a:xfrm>
                <a:off x="565135" y="4211124"/>
                <a:ext cx="7887076" cy="16918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𝑏𝑦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 ,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</m:m>
                      </m:e>
                    </m:d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ko-KR" altLang="en-US" sz="12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ko-KR" altLang="en-US" sz="120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≜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ko-K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</m:m>
                      </m:e>
                    </m:d>
                    <m:r>
                      <a:rPr lang="en-US" altLang="ko-KR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acc>
                      <m:accPr>
                        <m:chr m:val="⃗"/>
                        <m:ctrlPr>
                          <a:rPr lang="ko-KR" altLang="en-US" sz="12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ko-KR" altLang="en-US" sz="12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a:rPr lang="en-US" altLang="ko-KR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≜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ko-K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ko-KR" sz="1200"/>
                  <a:t>  </a:t>
                </a:r>
                <a:r>
                  <a:rPr lang="ko-KR" altLang="en-US" sz="1200"/>
                  <a:t>라고 할 때</a:t>
                </a:r>
                <a:r>
                  <a:rPr lang="en-US" altLang="ko-KR" sz="1200"/>
                  <a:t>,</a:t>
                </a:r>
                <a:r>
                  <a:rPr lang="ko-KR" altLang="en-US" sz="1200"/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ko-KR" altLang="en-US" sz="1200" i="1">
                        <a:latin typeface="Cambria Math" panose="02040503050406030204" pitchFamily="18" charset="0"/>
                      </a:rPr>
                      <m:t>로</m:t>
                    </m:r>
                  </m:oMath>
                </a14:m>
                <a:r>
                  <a:rPr lang="en-US" altLang="ko-KR" sz="1200"/>
                  <a:t> </a:t>
                </a:r>
                <a:r>
                  <a:rPr lang="ko-KR" altLang="en-US" sz="1200"/>
                  <a:t>가정</a:t>
                </a:r>
                <a:endParaRPr lang="en-US" altLang="ko-KR" sz="12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ko-KR" sz="12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ko-KR" sz="1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2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‖"/>
                        <m:endChr m:val="‖"/>
                        <m:ctrlPr>
                          <a:rPr lang="en-US" altLang="ko-KR" sz="12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20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d>
                      <m:dPr>
                        <m:begChr m:val="‖"/>
                        <m:endChr m:val="‖"/>
                        <m:ctrlPr>
                          <a:rPr lang="en-US" altLang="ko-KR" sz="12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20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func>
                      <m:funcPr>
                        <m:ctrlPr>
                          <a:rPr lang="en-US" altLang="ko-KR" sz="12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200" i="1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altLang="ko-KR" sz="120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en-US" altLang="ko-KR" sz="12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‖"/>
                        <m:endChr m:val="‖"/>
                        <m:ctrlPr>
                          <a:rPr lang="en-US" altLang="ko-KR" sz="12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func>
                      <m:func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200" i="1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en-US" altLang="ko-KR" sz="1200" b="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den>
                    </m:f>
                  </m:oMath>
                </a14:m>
                <a:endParaRPr lang="en-US" altLang="ko-KR" sz="12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200"/>
                  <a:t>최대  </a:t>
                </a:r>
                <a:r>
                  <a:rPr lang="en-US" altLang="ko-KR" sz="1200"/>
                  <a:t>Margin</a:t>
                </a:r>
                <a:r>
                  <a:rPr lang="ko-KR" altLang="en-US" sz="1200"/>
                  <a:t>은 </a:t>
                </a:r>
                <a14:m>
                  <m:oMath xmlns:m="http://schemas.openxmlformats.org/officeDocument/2006/math">
                    <m:r>
                      <a:rPr lang="ko-KR" altLang="en-US" sz="1200" i="1" smtClean="0">
                        <a:latin typeface="Cambria Math" panose="02040503050406030204" pitchFamily="18" charset="0"/>
                      </a:rPr>
                      <m:t>가</m:t>
                    </m:r>
                  </m:oMath>
                </a14:m>
                <a:r>
                  <a:rPr lang="ko-KR" altLang="en-US" sz="1200"/>
                  <a:t>장 바깥에서의 </a:t>
                </a:r>
                <a:r>
                  <a:rPr lang="en-US" altLang="ko-KR" sz="1200"/>
                  <a:t>Decision Boundary</a:t>
                </a:r>
                <a:r>
                  <a:rPr lang="ko-KR" altLang="en-US" sz="1200"/>
                  <a:t>에서 가장 안쪽의 </a:t>
                </a:r>
                <a:r>
                  <a:rPr lang="en-US" altLang="ko-KR" sz="1200"/>
                  <a:t>Decision Boundary</a:t>
                </a:r>
                <a:r>
                  <a:rPr lang="ko-KR" altLang="en-US" sz="1200"/>
                  <a:t> 를 뺀 값이다</a:t>
                </a:r>
                <a:endParaRPr lang="en-US" altLang="ko-KR" sz="12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ko-KR" sz="12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ko-KR" sz="1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+1 −</m:t>
                    </m:r>
                    <m:d>
                      <m:d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en-US" altLang="ko-KR" sz="1200" b="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den>
                    </m:f>
                  </m:oMath>
                </a14:m>
                <a:endParaRPr lang="ko-KR" altLang="en-US" sz="1200"/>
              </a:p>
              <a:p>
                <a:pPr algn="l">
                  <a:lnSpc>
                    <a:spcPct val="150000"/>
                  </a:lnSpc>
                </a:pPr>
                <a:endParaRPr lang="en-US" altLang="ko-KR" sz="120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20B2A80-2DBC-4D6E-A609-92F9D067B7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135" y="4211124"/>
                <a:ext cx="7887076" cy="169187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0" name="그룹 69">
            <a:extLst>
              <a:ext uri="{FF2B5EF4-FFF2-40B4-BE49-F238E27FC236}">
                <a16:creationId xmlns:a16="http://schemas.microsoft.com/office/drawing/2014/main" id="{43906C5A-20AE-4965-A3E2-1B0BB2291F02}"/>
              </a:ext>
            </a:extLst>
          </p:cNvPr>
          <p:cNvGrpSpPr/>
          <p:nvPr/>
        </p:nvGrpSpPr>
        <p:grpSpPr>
          <a:xfrm rot="460961">
            <a:off x="5030677" y="1606923"/>
            <a:ext cx="1270931" cy="1525374"/>
            <a:chOff x="5224839" y="1172964"/>
            <a:chExt cx="1270931" cy="1525374"/>
          </a:xfrm>
        </p:grpSpPr>
        <p:cxnSp>
          <p:nvCxnSpPr>
            <p:cNvPr id="42" name="직선 화살표 연결선 41">
              <a:extLst>
                <a:ext uri="{FF2B5EF4-FFF2-40B4-BE49-F238E27FC236}">
                  <a16:creationId xmlns:a16="http://schemas.microsoft.com/office/drawing/2014/main" id="{2A037DBD-8CB3-42E1-AF07-5896413E362B}"/>
                </a:ext>
              </a:extLst>
            </p:cNvPr>
            <p:cNvCxnSpPr/>
            <p:nvPr/>
          </p:nvCxnSpPr>
          <p:spPr>
            <a:xfrm flipH="1" flipV="1">
              <a:off x="5715595" y="1994002"/>
              <a:ext cx="713064" cy="375555"/>
            </a:xfrm>
            <a:prstGeom prst="straightConnector1">
              <a:avLst/>
            </a:prstGeom>
            <a:ln>
              <a:solidFill>
                <a:schemeClr val="accent5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AE131E08-A072-4C05-A832-82FBE0F92DFF}"/>
                </a:ext>
              </a:extLst>
            </p:cNvPr>
            <p:cNvCxnSpPr/>
            <p:nvPr/>
          </p:nvCxnSpPr>
          <p:spPr>
            <a:xfrm flipH="1">
              <a:off x="5224839" y="1366853"/>
              <a:ext cx="939567" cy="1288551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6" name="직선 화살표 연결선 45">
              <a:extLst>
                <a:ext uri="{FF2B5EF4-FFF2-40B4-BE49-F238E27FC236}">
                  <a16:creationId xmlns:a16="http://schemas.microsoft.com/office/drawing/2014/main" id="{9C075A26-5335-46A7-9DE1-9BEDD3163E2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73629" y="1554102"/>
              <a:ext cx="355030" cy="79945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8" name="원호 47">
              <a:extLst>
                <a:ext uri="{FF2B5EF4-FFF2-40B4-BE49-F238E27FC236}">
                  <a16:creationId xmlns:a16="http://schemas.microsoft.com/office/drawing/2014/main" id="{20F5592F-AA6D-4B91-95EB-12A8396EBD14}"/>
                </a:ext>
              </a:extLst>
            </p:cNvPr>
            <p:cNvSpPr/>
            <p:nvPr/>
          </p:nvSpPr>
          <p:spPr>
            <a:xfrm flipH="1">
              <a:off x="6231517" y="2224067"/>
              <a:ext cx="264253" cy="98502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33BCA0E5-668D-4501-B453-781F31BE5810}"/>
                    </a:ext>
                  </a:extLst>
                </p:cNvPr>
                <p:cNvSpPr txBox="1"/>
                <p:nvPr/>
              </p:nvSpPr>
              <p:spPr>
                <a:xfrm>
                  <a:off x="6120807" y="2039775"/>
                  <a:ext cx="264253" cy="2616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ko-KR" altLang="en-US" sz="1100" i="1" smtClean="0">
                            <a:latin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33BCA0E5-668D-4501-B453-781F31BE58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20807" y="2039775"/>
                  <a:ext cx="264253" cy="2616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4" name="직선 화살표 연결선 53">
              <a:extLst>
                <a:ext uri="{FF2B5EF4-FFF2-40B4-BE49-F238E27FC236}">
                  <a16:creationId xmlns:a16="http://schemas.microsoft.com/office/drawing/2014/main" id="{B6BA2C83-CBFC-45BC-8393-B8871AD48850}"/>
                </a:ext>
              </a:extLst>
            </p:cNvPr>
            <p:cNvCxnSpPr/>
            <p:nvPr/>
          </p:nvCxnSpPr>
          <p:spPr>
            <a:xfrm flipH="1" flipV="1">
              <a:off x="5561901" y="2245520"/>
              <a:ext cx="866758" cy="13248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5" name="원호 54">
              <a:extLst>
                <a:ext uri="{FF2B5EF4-FFF2-40B4-BE49-F238E27FC236}">
                  <a16:creationId xmlns:a16="http://schemas.microsoft.com/office/drawing/2014/main" id="{7819A810-6A40-4A24-B5D4-ED4C9D0F7D23}"/>
                </a:ext>
              </a:extLst>
            </p:cNvPr>
            <p:cNvSpPr/>
            <p:nvPr/>
          </p:nvSpPr>
          <p:spPr>
            <a:xfrm rot="20839963" flipH="1">
              <a:off x="6115121" y="2245520"/>
              <a:ext cx="203238" cy="134602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DA48F3EB-ED3A-423B-B09E-A9F378C8740A}"/>
                    </a:ext>
                  </a:extLst>
                </p:cNvPr>
                <p:cNvSpPr txBox="1"/>
                <p:nvPr/>
              </p:nvSpPr>
              <p:spPr>
                <a:xfrm>
                  <a:off x="5910970" y="2122390"/>
                  <a:ext cx="264253" cy="2616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ko-KR" altLang="en-US" sz="1100" i="1" smtClean="0">
                            <a:latin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DA48F3EB-ED3A-423B-B09E-A9F378C874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10970" y="2122390"/>
                  <a:ext cx="264253" cy="2616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8" name="직선 화살표 연결선 57">
              <a:extLst>
                <a:ext uri="{FF2B5EF4-FFF2-40B4-BE49-F238E27FC236}">
                  <a16:creationId xmlns:a16="http://schemas.microsoft.com/office/drawing/2014/main" id="{284233FB-B6A8-480E-83A0-52D8ABFB6708}"/>
                </a:ext>
              </a:extLst>
            </p:cNvPr>
            <p:cNvCxnSpPr/>
            <p:nvPr/>
          </p:nvCxnSpPr>
          <p:spPr>
            <a:xfrm flipH="1">
              <a:off x="5393282" y="2375005"/>
              <a:ext cx="1035377" cy="10183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9" name="원호 58">
              <a:extLst>
                <a:ext uri="{FF2B5EF4-FFF2-40B4-BE49-F238E27FC236}">
                  <a16:creationId xmlns:a16="http://schemas.microsoft.com/office/drawing/2014/main" id="{C8136EA3-13F7-4A7F-98E2-998ABAED4F00}"/>
                </a:ext>
              </a:extLst>
            </p:cNvPr>
            <p:cNvSpPr/>
            <p:nvPr/>
          </p:nvSpPr>
          <p:spPr>
            <a:xfrm rot="20448229" flipH="1">
              <a:off x="6058473" y="2328618"/>
              <a:ext cx="172265" cy="123332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0BB30C1A-F501-44A8-A7DC-3A07BA35BBE1}"/>
                    </a:ext>
                  </a:extLst>
                </p:cNvPr>
                <p:cNvSpPr txBox="1"/>
                <p:nvPr/>
              </p:nvSpPr>
              <p:spPr>
                <a:xfrm>
                  <a:off x="5752175" y="2234721"/>
                  <a:ext cx="264253" cy="2616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ko-KR" altLang="en-US" sz="1100" i="1" smtClean="0">
                            <a:latin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0BB30C1A-F501-44A8-A7DC-3A07BA35BB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52175" y="2234721"/>
                  <a:ext cx="264253" cy="2616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55CE105B-CD4F-47DA-B146-92262D2EDE46}"/>
                    </a:ext>
                  </a:extLst>
                </p:cNvPr>
                <p:cNvSpPr txBox="1"/>
                <p:nvPr/>
              </p:nvSpPr>
              <p:spPr>
                <a:xfrm>
                  <a:off x="5702527" y="1882907"/>
                  <a:ext cx="472696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55CE105B-CD4F-47DA-B146-92262D2EDE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2527" y="1882907"/>
                  <a:ext cx="472696" cy="26161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6790C06D-BD8F-44C2-8BCD-26C58381FE57}"/>
                    </a:ext>
                  </a:extLst>
                </p:cNvPr>
                <p:cNvSpPr txBox="1"/>
                <p:nvPr/>
              </p:nvSpPr>
              <p:spPr>
                <a:xfrm>
                  <a:off x="5982274" y="1573988"/>
                  <a:ext cx="472696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6790C06D-BD8F-44C2-8BCD-26C58381FE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82274" y="1573988"/>
                  <a:ext cx="472696" cy="2616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44DF33D1-C654-475D-AA77-27650E6A3B07}"/>
                    </a:ext>
                  </a:extLst>
                </p:cNvPr>
                <p:cNvSpPr txBox="1"/>
                <p:nvPr/>
              </p:nvSpPr>
              <p:spPr>
                <a:xfrm>
                  <a:off x="5438164" y="2221938"/>
                  <a:ext cx="472696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44DF33D1-C654-475D-AA77-27650E6A3B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38164" y="2221938"/>
                  <a:ext cx="472696" cy="2616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C3E3558E-BC85-40FD-AFA1-6112F4999055}"/>
                    </a:ext>
                  </a:extLst>
                </p:cNvPr>
                <p:cNvSpPr txBox="1"/>
                <p:nvPr/>
              </p:nvSpPr>
              <p:spPr>
                <a:xfrm>
                  <a:off x="5289526" y="2436728"/>
                  <a:ext cx="472696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C3E3558E-BC85-40FD-AFA1-6112F49990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89526" y="2436728"/>
                  <a:ext cx="472696" cy="26161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1D821F5F-2880-4545-9108-44F8847912B0}"/>
                    </a:ext>
                  </a:extLst>
                </p:cNvPr>
                <p:cNvSpPr txBox="1"/>
                <p:nvPr/>
              </p:nvSpPr>
              <p:spPr>
                <a:xfrm>
                  <a:off x="6010930" y="1172964"/>
                  <a:ext cx="472696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1D821F5F-2880-4545-9108-44F8847912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10930" y="1172964"/>
                  <a:ext cx="472696" cy="26161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71E0F467-4510-4764-BB0E-F49485A0969F}"/>
              </a:ext>
            </a:extLst>
          </p:cNvPr>
          <p:cNvSpPr txBox="1"/>
          <p:nvPr/>
        </p:nvSpPr>
        <p:spPr>
          <a:xfrm>
            <a:off x="1656562" y="3566329"/>
            <a:ext cx="17281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/>
              <a:t>&lt; SVM&gt;</a:t>
            </a:r>
            <a:endParaRPr lang="ko-KR" altLang="en-US" sz="1100"/>
          </a:p>
        </p:txBody>
      </p: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55B9CEED-31C0-462A-A188-27208DEA21FB}"/>
              </a:ext>
            </a:extLst>
          </p:cNvPr>
          <p:cNvGrpSpPr/>
          <p:nvPr/>
        </p:nvGrpSpPr>
        <p:grpSpPr>
          <a:xfrm>
            <a:off x="176554" y="1349306"/>
            <a:ext cx="3688653" cy="2360683"/>
            <a:chOff x="1875792" y="1365267"/>
            <a:chExt cx="4454966" cy="2799520"/>
          </a:xfrm>
        </p:grpSpPr>
        <p:grpSp>
          <p:nvGrpSpPr>
            <p:cNvPr id="74" name="그룹 73">
              <a:extLst>
                <a:ext uri="{FF2B5EF4-FFF2-40B4-BE49-F238E27FC236}">
                  <a16:creationId xmlns:a16="http://schemas.microsoft.com/office/drawing/2014/main" id="{5E9F6DD4-FC13-4DDD-BB8B-FC7F76B3CB05}"/>
                </a:ext>
              </a:extLst>
            </p:cNvPr>
            <p:cNvGrpSpPr/>
            <p:nvPr/>
          </p:nvGrpSpPr>
          <p:grpSpPr>
            <a:xfrm>
              <a:off x="1875792" y="1365267"/>
              <a:ext cx="4454966" cy="2761063"/>
              <a:chOff x="2088845" y="2125205"/>
              <a:chExt cx="4828174" cy="2825385"/>
            </a:xfrm>
          </p:grpSpPr>
          <p:grpSp>
            <p:nvGrpSpPr>
              <p:cNvPr id="76" name="그룹 75">
                <a:extLst>
                  <a:ext uri="{FF2B5EF4-FFF2-40B4-BE49-F238E27FC236}">
                    <a16:creationId xmlns:a16="http://schemas.microsoft.com/office/drawing/2014/main" id="{EDE5942E-CF0D-44F6-BA03-31DEA7C08E26}"/>
                  </a:ext>
                </a:extLst>
              </p:cNvPr>
              <p:cNvGrpSpPr/>
              <p:nvPr/>
            </p:nvGrpSpPr>
            <p:grpSpPr>
              <a:xfrm>
                <a:off x="4615637" y="3632479"/>
                <a:ext cx="1143417" cy="783882"/>
                <a:chOff x="4837649" y="3782504"/>
                <a:chExt cx="1143417" cy="783882"/>
              </a:xfrm>
              <a:solidFill>
                <a:srgbClr val="FF0000"/>
              </a:solidFill>
            </p:grpSpPr>
            <p:sp>
              <p:nvSpPr>
                <p:cNvPr id="99" name="이등변 삼각형 98">
                  <a:extLst>
                    <a:ext uri="{FF2B5EF4-FFF2-40B4-BE49-F238E27FC236}">
                      <a16:creationId xmlns:a16="http://schemas.microsoft.com/office/drawing/2014/main" id="{E63F0B33-6607-4FB7-A239-4CCC2503EAD9}"/>
                    </a:ext>
                  </a:extLst>
                </p:cNvPr>
                <p:cNvSpPr/>
                <p:nvPr/>
              </p:nvSpPr>
              <p:spPr>
                <a:xfrm>
                  <a:off x="5019988" y="3846814"/>
                  <a:ext cx="147642" cy="142602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0" name="이등변 삼각형 99">
                  <a:extLst>
                    <a:ext uri="{FF2B5EF4-FFF2-40B4-BE49-F238E27FC236}">
                      <a16:creationId xmlns:a16="http://schemas.microsoft.com/office/drawing/2014/main" id="{46A75CCD-65E6-4C0C-9B34-B8C01215330D}"/>
                    </a:ext>
                  </a:extLst>
                </p:cNvPr>
                <p:cNvSpPr/>
                <p:nvPr/>
              </p:nvSpPr>
              <p:spPr>
                <a:xfrm>
                  <a:off x="4837649" y="4423784"/>
                  <a:ext cx="147642" cy="142602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1" name="이등변 삼각형 100">
                  <a:extLst>
                    <a:ext uri="{FF2B5EF4-FFF2-40B4-BE49-F238E27FC236}">
                      <a16:creationId xmlns:a16="http://schemas.microsoft.com/office/drawing/2014/main" id="{22E108C9-3E80-4DB7-B58F-985E44FDF6A2}"/>
                    </a:ext>
                  </a:extLst>
                </p:cNvPr>
                <p:cNvSpPr/>
                <p:nvPr/>
              </p:nvSpPr>
              <p:spPr>
                <a:xfrm>
                  <a:off x="5398595" y="4099675"/>
                  <a:ext cx="147642" cy="142602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2" name="이등변 삼각형 101">
                  <a:extLst>
                    <a:ext uri="{FF2B5EF4-FFF2-40B4-BE49-F238E27FC236}">
                      <a16:creationId xmlns:a16="http://schemas.microsoft.com/office/drawing/2014/main" id="{E15F165F-8198-4CBD-B17E-340D07B8EEDE}"/>
                    </a:ext>
                  </a:extLst>
                </p:cNvPr>
                <p:cNvSpPr/>
                <p:nvPr/>
              </p:nvSpPr>
              <p:spPr>
                <a:xfrm>
                  <a:off x="5833424" y="4342919"/>
                  <a:ext cx="147642" cy="142602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3" name="이등변 삼각형 102">
                  <a:extLst>
                    <a:ext uri="{FF2B5EF4-FFF2-40B4-BE49-F238E27FC236}">
                      <a16:creationId xmlns:a16="http://schemas.microsoft.com/office/drawing/2014/main" id="{A3BC2089-BB9D-4945-90A9-D25327F18AF7}"/>
                    </a:ext>
                  </a:extLst>
                </p:cNvPr>
                <p:cNvSpPr/>
                <p:nvPr/>
              </p:nvSpPr>
              <p:spPr>
                <a:xfrm>
                  <a:off x="5833424" y="3782504"/>
                  <a:ext cx="147642" cy="142602"/>
                </a:xfrm>
                <a:prstGeom prst="triangl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77" name="그룹 76">
                <a:extLst>
                  <a:ext uri="{FF2B5EF4-FFF2-40B4-BE49-F238E27FC236}">
                    <a16:creationId xmlns:a16="http://schemas.microsoft.com/office/drawing/2014/main" id="{95C9A009-B480-4CC0-9856-2630D6FB3F67}"/>
                  </a:ext>
                </a:extLst>
              </p:cNvPr>
              <p:cNvGrpSpPr/>
              <p:nvPr/>
            </p:nvGrpSpPr>
            <p:grpSpPr>
              <a:xfrm>
                <a:off x="3209085" y="2224059"/>
                <a:ext cx="2877424" cy="2357307"/>
                <a:chOff x="3431097" y="2374084"/>
                <a:chExt cx="2877424" cy="2357307"/>
              </a:xfrm>
            </p:grpSpPr>
            <p:cxnSp>
              <p:nvCxnSpPr>
                <p:cNvPr id="97" name="직선 화살표 연결선 96">
                  <a:extLst>
                    <a:ext uri="{FF2B5EF4-FFF2-40B4-BE49-F238E27FC236}">
                      <a16:creationId xmlns:a16="http://schemas.microsoft.com/office/drawing/2014/main" id="{1ACCE954-33C0-4B0F-8D0B-3D40A1905EA1}"/>
                    </a:ext>
                  </a:extLst>
                </p:cNvPr>
                <p:cNvCxnSpPr/>
                <p:nvPr/>
              </p:nvCxnSpPr>
              <p:spPr>
                <a:xfrm>
                  <a:off x="3431097" y="4731391"/>
                  <a:ext cx="2877424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8" name="직선 화살표 연결선 97">
                  <a:extLst>
                    <a:ext uri="{FF2B5EF4-FFF2-40B4-BE49-F238E27FC236}">
                      <a16:creationId xmlns:a16="http://schemas.microsoft.com/office/drawing/2014/main" id="{14F22AD3-88DE-4A53-ACF0-342D5A7302B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436689" y="2374084"/>
                  <a:ext cx="0" cy="2357307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78" name="직선 연결선 77">
                <a:extLst>
                  <a:ext uri="{FF2B5EF4-FFF2-40B4-BE49-F238E27FC236}">
                    <a16:creationId xmlns:a16="http://schemas.microsoft.com/office/drawing/2014/main" id="{2C3C44D3-ADC3-494C-A642-DA3F06102DA8}"/>
                  </a:ext>
                </a:extLst>
              </p:cNvPr>
              <p:cNvCxnSpPr/>
              <p:nvPr/>
            </p:nvCxnSpPr>
            <p:spPr>
              <a:xfrm flipV="1">
                <a:off x="3355971" y="2643509"/>
                <a:ext cx="2051030" cy="2055303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79" name="직선 연결선 78">
                <a:extLst>
                  <a:ext uri="{FF2B5EF4-FFF2-40B4-BE49-F238E27FC236}">
                    <a16:creationId xmlns:a16="http://schemas.microsoft.com/office/drawing/2014/main" id="{5EAF650B-BF5B-4977-B056-B0DFDBF33747}"/>
                  </a:ext>
                </a:extLst>
              </p:cNvPr>
              <p:cNvCxnSpPr/>
              <p:nvPr/>
            </p:nvCxnSpPr>
            <p:spPr>
              <a:xfrm flipV="1">
                <a:off x="3657828" y="2895287"/>
                <a:ext cx="2051030" cy="2055303"/>
              </a:xfrm>
              <a:prstGeom prst="line">
                <a:avLst/>
              </a:prstGeom>
              <a:ln w="9525" cap="flat" cmpd="sng" algn="ctr">
                <a:solidFill>
                  <a:schemeClr val="dk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80" name="직선 연결선 79">
                <a:extLst>
                  <a:ext uri="{FF2B5EF4-FFF2-40B4-BE49-F238E27FC236}">
                    <a16:creationId xmlns:a16="http://schemas.microsoft.com/office/drawing/2014/main" id="{875B2E4B-1183-4A16-8D49-6C6F169ACB04}"/>
                  </a:ext>
                </a:extLst>
              </p:cNvPr>
              <p:cNvCxnSpPr/>
              <p:nvPr/>
            </p:nvCxnSpPr>
            <p:spPr>
              <a:xfrm flipV="1">
                <a:off x="3088784" y="2398132"/>
                <a:ext cx="2051030" cy="2055303"/>
              </a:xfrm>
              <a:prstGeom prst="line">
                <a:avLst/>
              </a:prstGeom>
              <a:ln w="9525" cap="flat" cmpd="sng" algn="ctr">
                <a:solidFill>
                  <a:schemeClr val="dk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grpSp>
            <p:nvGrpSpPr>
              <p:cNvPr id="81" name="그룹 80">
                <a:extLst>
                  <a:ext uri="{FF2B5EF4-FFF2-40B4-BE49-F238E27FC236}">
                    <a16:creationId xmlns:a16="http://schemas.microsoft.com/office/drawing/2014/main" id="{404502C5-095D-47D5-B26F-AE4734EFD367}"/>
                  </a:ext>
                </a:extLst>
              </p:cNvPr>
              <p:cNvGrpSpPr/>
              <p:nvPr/>
            </p:nvGrpSpPr>
            <p:grpSpPr>
              <a:xfrm>
                <a:off x="3462157" y="2558670"/>
                <a:ext cx="763389" cy="1069614"/>
                <a:chOff x="3665996" y="2686332"/>
                <a:chExt cx="763389" cy="1069614"/>
              </a:xfrm>
              <a:solidFill>
                <a:srgbClr val="2C6FAD"/>
              </a:solidFill>
            </p:grpSpPr>
            <p:sp>
              <p:nvSpPr>
                <p:cNvPr id="92" name="직사각형 91">
                  <a:extLst>
                    <a:ext uri="{FF2B5EF4-FFF2-40B4-BE49-F238E27FC236}">
                      <a16:creationId xmlns:a16="http://schemas.microsoft.com/office/drawing/2014/main" id="{E96836F1-FC93-478D-A002-F3518361D264}"/>
                    </a:ext>
                  </a:extLst>
                </p:cNvPr>
                <p:cNvSpPr/>
                <p:nvPr/>
              </p:nvSpPr>
              <p:spPr>
                <a:xfrm>
                  <a:off x="3758272" y="3045312"/>
                  <a:ext cx="125831" cy="12792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93" name="직사각형 92">
                  <a:extLst>
                    <a:ext uri="{FF2B5EF4-FFF2-40B4-BE49-F238E27FC236}">
                      <a16:creationId xmlns:a16="http://schemas.microsoft.com/office/drawing/2014/main" id="{D2780ABD-907B-4899-8C62-DE1618789D83}"/>
                    </a:ext>
                  </a:extLst>
                </p:cNvPr>
                <p:cNvSpPr/>
                <p:nvPr/>
              </p:nvSpPr>
              <p:spPr>
                <a:xfrm>
                  <a:off x="3665996" y="3628023"/>
                  <a:ext cx="125831" cy="12792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94" name="직사각형 93">
                  <a:extLst>
                    <a:ext uri="{FF2B5EF4-FFF2-40B4-BE49-F238E27FC236}">
                      <a16:creationId xmlns:a16="http://schemas.microsoft.com/office/drawing/2014/main" id="{99BEDC35-B941-4649-9C82-798F05B4732E}"/>
                    </a:ext>
                  </a:extLst>
                </p:cNvPr>
                <p:cNvSpPr/>
                <p:nvPr/>
              </p:nvSpPr>
              <p:spPr>
                <a:xfrm>
                  <a:off x="4177723" y="3482638"/>
                  <a:ext cx="125831" cy="12792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95" name="직사각형 94">
                  <a:extLst>
                    <a:ext uri="{FF2B5EF4-FFF2-40B4-BE49-F238E27FC236}">
                      <a16:creationId xmlns:a16="http://schemas.microsoft.com/office/drawing/2014/main" id="{C6192413-7FF2-464C-8C56-B8240C5D5964}"/>
                    </a:ext>
                  </a:extLst>
                </p:cNvPr>
                <p:cNvSpPr/>
                <p:nvPr/>
              </p:nvSpPr>
              <p:spPr>
                <a:xfrm>
                  <a:off x="4211277" y="3119517"/>
                  <a:ext cx="125831" cy="12792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96" name="직사각형 95">
                  <a:extLst>
                    <a:ext uri="{FF2B5EF4-FFF2-40B4-BE49-F238E27FC236}">
                      <a16:creationId xmlns:a16="http://schemas.microsoft.com/office/drawing/2014/main" id="{94BF4BC3-BA00-4CFA-AFC5-C4A295BA474B}"/>
                    </a:ext>
                  </a:extLst>
                </p:cNvPr>
                <p:cNvSpPr/>
                <p:nvPr/>
              </p:nvSpPr>
              <p:spPr>
                <a:xfrm>
                  <a:off x="4303554" y="2686332"/>
                  <a:ext cx="125831" cy="127923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2" name="TextBox 81">
                    <a:extLst>
                      <a:ext uri="{FF2B5EF4-FFF2-40B4-BE49-F238E27FC236}">
                        <a16:creationId xmlns:a16="http://schemas.microsoft.com/office/drawing/2014/main" id="{2FDFE67A-8364-43A3-9DD9-CA1CBB60B5B1}"/>
                      </a:ext>
                    </a:extLst>
                  </p:cNvPr>
                  <p:cNvSpPr txBox="1"/>
                  <p:nvPr/>
                </p:nvSpPr>
                <p:spPr>
                  <a:xfrm>
                    <a:off x="5064978" y="2331439"/>
                    <a:ext cx="1631562" cy="41084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sz="800" b="0" i="1" smtClean="0">
                              <a:latin typeface="Cambria Math" panose="02040503050406030204" pitchFamily="18" charset="0"/>
                            </a:rPr>
                            <m:t>𝑎𝑥</m:t>
                          </m:r>
                          <m:r>
                            <a:rPr lang="en-US" altLang="ko-KR" sz="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sz="800" b="0" i="1" smtClean="0">
                              <a:latin typeface="Cambria Math" panose="02040503050406030204" pitchFamily="18" charset="0"/>
                            </a:rPr>
                            <m:t>𝑏𝑦</m:t>
                          </m:r>
                          <m:r>
                            <a:rPr lang="en-US" altLang="ko-KR" sz="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ko-KR" sz="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oMath>
                      </m:oMathPara>
                    </a14:m>
                    <a:endParaRPr lang="en-US" altLang="ko-KR" sz="800" b="0" i="1">
                      <a:latin typeface="Cambria Math" panose="02040503050406030204" pitchFamily="18" charset="0"/>
                    </a:endParaRPr>
                  </a:p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ko-KR" sz="8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800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a:rPr lang="en-US" altLang="ko-KR" sz="8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altLang="ko-KR" sz="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ko-KR" sz="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ko-KR" sz="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oMath>
                      </m:oMathPara>
                    </a14:m>
                    <a:endParaRPr lang="ko-KR" altLang="en-US" sz="800"/>
                  </a:p>
                </p:txBody>
              </p:sp>
            </mc:Choice>
            <mc:Fallback xmlns="">
              <p:sp>
                <p:nvSpPr>
                  <p:cNvPr id="82" name="TextBox 81">
                    <a:extLst>
                      <a:ext uri="{FF2B5EF4-FFF2-40B4-BE49-F238E27FC236}">
                        <a16:creationId xmlns:a16="http://schemas.microsoft.com/office/drawing/2014/main" id="{2FDFE67A-8364-43A3-9DD9-CA1CBB60B5B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64978" y="2331439"/>
                    <a:ext cx="1631562" cy="410842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3" name="TextBox 82">
                    <a:extLst>
                      <a:ext uri="{FF2B5EF4-FFF2-40B4-BE49-F238E27FC236}">
                        <a16:creationId xmlns:a16="http://schemas.microsoft.com/office/drawing/2014/main" id="{002A4D1F-DB21-43FB-A073-5894CE84D05E}"/>
                      </a:ext>
                    </a:extLst>
                  </p:cNvPr>
                  <p:cNvSpPr txBox="1"/>
                  <p:nvPr/>
                </p:nvSpPr>
                <p:spPr>
                  <a:xfrm>
                    <a:off x="5640988" y="2737975"/>
                    <a:ext cx="1024362" cy="26144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ko-KR" sz="8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800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a:rPr lang="en-US" altLang="ko-KR" sz="8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altLang="ko-KR" sz="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ko-KR" sz="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ko-KR" sz="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ko-KR" sz="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oMath>
                      </m:oMathPara>
                    </a14:m>
                    <a:endParaRPr lang="ko-KR" altLang="en-US" sz="800"/>
                  </a:p>
                </p:txBody>
              </p:sp>
            </mc:Choice>
            <mc:Fallback xmlns="">
              <p:sp>
                <p:nvSpPr>
                  <p:cNvPr id="83" name="TextBox 82">
                    <a:extLst>
                      <a:ext uri="{FF2B5EF4-FFF2-40B4-BE49-F238E27FC236}">
                        <a16:creationId xmlns:a16="http://schemas.microsoft.com/office/drawing/2014/main" id="{002A4D1F-DB21-43FB-A073-5894CE84D05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40988" y="2737975"/>
                    <a:ext cx="1024362" cy="261446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4" name="TextBox 83">
                    <a:extLst>
                      <a:ext uri="{FF2B5EF4-FFF2-40B4-BE49-F238E27FC236}">
                        <a16:creationId xmlns:a16="http://schemas.microsoft.com/office/drawing/2014/main" id="{B6EF4AC3-8572-4AF0-A96D-3E7E4C39BF2B}"/>
                      </a:ext>
                    </a:extLst>
                  </p:cNvPr>
                  <p:cNvSpPr txBox="1"/>
                  <p:nvPr/>
                </p:nvSpPr>
                <p:spPr>
                  <a:xfrm>
                    <a:off x="4534548" y="2125205"/>
                    <a:ext cx="1076864" cy="26144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ko-KR" sz="8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800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a:rPr lang="en-US" altLang="ko-KR" sz="8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altLang="ko-KR" sz="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ko-KR" sz="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ko-KR" sz="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ko-KR" sz="8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oMath>
                      </m:oMathPara>
                    </a14:m>
                    <a:endParaRPr lang="ko-KR" altLang="en-US" sz="800"/>
                  </a:p>
                </p:txBody>
              </p:sp>
            </mc:Choice>
            <mc:Fallback xmlns="">
              <p:sp>
                <p:nvSpPr>
                  <p:cNvPr id="84" name="TextBox 83">
                    <a:extLst>
                      <a:ext uri="{FF2B5EF4-FFF2-40B4-BE49-F238E27FC236}">
                        <a16:creationId xmlns:a16="http://schemas.microsoft.com/office/drawing/2014/main" id="{B6EF4AC3-8572-4AF0-A96D-3E7E4C39BF2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34548" y="2125205"/>
                    <a:ext cx="1076864" cy="261446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85" name="직선 화살표 연결선 84">
                <a:extLst>
                  <a:ext uri="{FF2B5EF4-FFF2-40B4-BE49-F238E27FC236}">
                    <a16:creationId xmlns:a16="http://schemas.microsoft.com/office/drawing/2014/main" id="{4005BECB-1D04-4D59-8A6E-6B6BC98C8F0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96949" y="3484508"/>
                <a:ext cx="1182848" cy="14797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" name="직선 화살표 연결선 85">
                <a:extLst>
                  <a:ext uri="{FF2B5EF4-FFF2-40B4-BE49-F238E27FC236}">
                    <a16:creationId xmlns:a16="http://schemas.microsoft.com/office/drawing/2014/main" id="{A8264B1E-383C-49BF-8BE7-5E0EEEBD01E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796949" y="3775081"/>
                <a:ext cx="2035491" cy="4600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28EEFCE5-F9CE-4A06-B65D-F69CA11BFFEB}"/>
                  </a:ext>
                </a:extLst>
              </p:cNvPr>
              <p:cNvSpPr txBox="1"/>
              <p:nvPr/>
            </p:nvSpPr>
            <p:spPr>
              <a:xfrm>
                <a:off x="2088845" y="3499143"/>
                <a:ext cx="1106125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1100"/>
                  <a:t>Support Vectors</a:t>
                </a:r>
                <a:endParaRPr lang="ko-KR" altLang="en-US" sz="1100"/>
              </a:p>
            </p:txBody>
          </p:sp>
          <p:cxnSp>
            <p:nvCxnSpPr>
              <p:cNvPr id="88" name="직선 화살표 연결선 87">
                <a:extLst>
                  <a:ext uri="{FF2B5EF4-FFF2-40B4-BE49-F238E27FC236}">
                    <a16:creationId xmlns:a16="http://schemas.microsoft.com/office/drawing/2014/main" id="{499B3EC8-3DD9-4EE9-90D8-5CC7A3768A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81600" y="2999654"/>
                <a:ext cx="618881" cy="529165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직선 화살표 연결선 88">
                <a:extLst>
                  <a:ext uri="{FF2B5EF4-FFF2-40B4-BE49-F238E27FC236}">
                    <a16:creationId xmlns:a16="http://schemas.microsoft.com/office/drawing/2014/main" id="{E101CF94-B8B5-492D-9A5F-D883364049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12062" y="3363365"/>
                <a:ext cx="763240" cy="6870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D64872F2-4508-4184-B065-8AD2709B0786}"/>
                  </a:ext>
                </a:extLst>
              </p:cNvPr>
              <p:cNvSpPr txBox="1"/>
              <p:nvPr/>
            </p:nvSpPr>
            <p:spPr>
              <a:xfrm>
                <a:off x="5708858" y="3278975"/>
                <a:ext cx="1208161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sz="1100"/>
                  <a:t>margin</a:t>
                </a:r>
                <a:endParaRPr lang="ko-KR" altLang="en-US" sz="1100"/>
              </a:p>
            </p:txBody>
          </p:sp>
          <p:cxnSp>
            <p:nvCxnSpPr>
              <p:cNvPr id="91" name="직선 화살표 연결선 90">
                <a:extLst>
                  <a:ext uri="{FF2B5EF4-FFF2-40B4-BE49-F238E27FC236}">
                    <a16:creationId xmlns:a16="http://schemas.microsoft.com/office/drawing/2014/main" id="{AD73F0B1-CF15-41C0-8499-0151BB82FF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04657" y="4463925"/>
                <a:ext cx="562619" cy="481059"/>
              </a:xfrm>
              <a:prstGeom prst="straightConnector1">
                <a:avLst/>
              </a:prstGeom>
              <a:ln>
                <a:prstDash val="lgDash"/>
                <a:headEnd type="triangle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27CCD550-71BF-4A91-A638-46DB6A5741C7}"/>
                    </a:ext>
                  </a:extLst>
                </p:cNvPr>
                <p:cNvSpPr txBox="1"/>
                <p:nvPr/>
              </p:nvSpPr>
              <p:spPr>
                <a:xfrm>
                  <a:off x="2696655" y="3870970"/>
                  <a:ext cx="252767" cy="29381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ko-KR" sz="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altLang="ko-KR" sz="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</m:d>
                          </m:den>
                        </m:f>
                      </m:oMath>
                    </m:oMathPara>
                  </a14:m>
                  <a:endParaRPr lang="ko-KR" altLang="en-US" sz="8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27CCD550-71BF-4A91-A638-46DB6A5741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96655" y="3870970"/>
                  <a:ext cx="252767" cy="293817"/>
                </a:xfrm>
                <a:prstGeom prst="rect">
                  <a:avLst/>
                </a:prstGeom>
                <a:blipFill>
                  <a:blip r:embed="rId15"/>
                  <a:stretch>
                    <a:fillRect t="-2439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766CF24F-9349-4FCD-9179-FC2CD19C37B6}"/>
              </a:ext>
            </a:extLst>
          </p:cNvPr>
          <p:cNvSpPr/>
          <p:nvPr/>
        </p:nvSpPr>
        <p:spPr>
          <a:xfrm>
            <a:off x="3423098" y="1963856"/>
            <a:ext cx="2747562" cy="173307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벡터로 구하는 </a:t>
            </a:r>
            <a:r>
              <a:rPr lang="en-US" altLang="ko-KR"/>
              <a:t>maximize margin</a:t>
            </a:r>
          </a:p>
          <a:p>
            <a:pPr algn="ctr"/>
            <a:r>
              <a:rPr lang="ko-KR" altLang="en-US"/>
              <a:t>뒤에 라그랑지안이랑 안이어져서 뺴놓음</a:t>
            </a:r>
          </a:p>
        </p:txBody>
      </p:sp>
    </p:spTree>
    <p:extLst>
      <p:ext uri="{BB962C8B-B14F-4D97-AF65-F5344CB8AC3E}">
        <p14:creationId xmlns:p14="http://schemas.microsoft.com/office/powerpoint/2010/main" val="3393133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21"/>
          <p:cNvSpPr txBox="1">
            <a:spLocks noGrp="1"/>
          </p:cNvSpPr>
          <p:nvPr>
            <p:ph type="body" idx="11" hasCustomPrompt="1"/>
          </p:nvPr>
        </p:nvSpPr>
        <p:spPr>
          <a:xfrm>
            <a:off x="268605" y="219710"/>
            <a:ext cx="4899025" cy="41910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 latinLnBrk="0">
              <a:buFontTx/>
              <a:buNone/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rtl="0" latinLnBrk="0">
              <a:buFontTx/>
              <a:buNone/>
            </a:pPr>
            <a:r>
              <a:rPr lang="ko-KR" altLang="en-US"/>
              <a:t>라그랑주 승수법</a:t>
            </a:r>
            <a:r>
              <a:rPr lang="en-US" altLang="ko-KR"/>
              <a:t>(Lagrangian Multiplier Method)</a:t>
            </a:r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821BD83-E8F9-47A5-991E-614DE8F7F6C0}"/>
                  </a:ext>
                </a:extLst>
              </p:cNvPr>
              <p:cNvSpPr txBox="1"/>
              <p:nvPr/>
            </p:nvSpPr>
            <p:spPr>
              <a:xfrm>
                <a:off x="432200" y="1180634"/>
                <a:ext cx="7887076" cy="63055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200"/>
                  <a:t>라그랑주 승수법이란 제약이 있는 최적화 문제를 푸는 방법 중 하나로</a:t>
                </a:r>
                <a:r>
                  <a:rPr lang="en-US" altLang="ko-KR" sz="1200"/>
                  <a:t>, </a:t>
                </a:r>
                <a:r>
                  <a:rPr lang="ko-KR" altLang="en-US" sz="1200"/>
                  <a:t>모든 제약식에 라그랑주 승수 </a:t>
                </a:r>
                <a14:m>
                  <m:oMath xmlns:m="http://schemas.openxmlformats.org/officeDocument/2006/math">
                    <m:r>
                      <a:rPr lang="ko-KR" altLang="en-US" sz="120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ko-KR" altLang="en-US" sz="1200"/>
                  <a:t>를 곱하고 등식 제약이 있는 문제를 제약 없는 문제로 바꾸어 해결하는 방법</a:t>
                </a:r>
                <a:endParaRPr lang="en-US" altLang="ko-KR" sz="12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200"/>
                  <a:t>만약 부등식의 제약이 있는 문제면 </a:t>
                </a:r>
                <a:r>
                  <a:rPr lang="en-US" altLang="ko-KR" sz="1200"/>
                  <a:t>KKT(Karush-Kuhn-Tucker)</a:t>
                </a:r>
                <a:r>
                  <a:rPr lang="ko-KR" altLang="en-US" sz="1200"/>
                  <a:t>조건을 만족하는 문제일 때 라그랑주 승수법으로 문제를 해결 할 수 있다</a:t>
                </a:r>
                <a:endParaRPr lang="en-US" altLang="ko-KR" sz="12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200"/>
                  <a:t>라그랑주 함수 식</a:t>
                </a:r>
                <a14:m>
                  <m:oMath xmlns:m="http://schemas.openxmlformats.org/officeDocument/2006/math">
                    <m:r>
                      <a:rPr lang="ko-KR" altLang="en-US" sz="120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ko-KR" altLang="en-US" sz="12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20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ko-KR" altLang="en-US" sz="120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ko-KR" altLang="en-US" sz="120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ko-KR" altLang="en-US" sz="120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ko-KR" altLang="en-US" sz="120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  <m:r>
                      <a:rPr lang="ko-KR" altLang="en-US" sz="12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sz="120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ko-KR" altLang="en-US" sz="12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20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ko-KR" altLang="en-US" sz="120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ko-KR" altLang="en-US" sz="120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ko-KR" altLang="en-US" sz="120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ko-KR" altLang="en-US" sz="1200" i="1" smtClean="0">
                        <a:latin typeface="Cambria Math" panose="02040503050406030204" pitchFamily="18" charset="0"/>
                      </a:rPr>
                      <m:t>𝜆</m:t>
                    </m:r>
                    <m:d>
                      <m:d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d>
                  </m:oMath>
                </a14:m>
                <a:endParaRPr lang="en-US" altLang="ko-KR" sz="1200" i="1">
                  <a:latin typeface="Cambria Math" panose="02040503050406030204" pitchFamily="18" charset="0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200" i="1">
                    <a:latin typeface="Cambria Math" panose="02040503050406030204" pitchFamily="18" charset="0"/>
                  </a:rPr>
                  <a:t>계산상의 편의를 위해 </a:t>
                </a:r>
                <a:r>
                  <a:rPr lang="en-US" altLang="ko-KR" sz="1200" i="1">
                    <a:latin typeface="Cambria Math" panose="02040503050406030204" pitchFamily="18" charset="0"/>
                  </a:rPr>
                  <a:t>max margin</a:t>
                </a:r>
                <a:r>
                  <a:rPr lang="ko-KR" altLang="en-US" sz="1200" i="1">
                    <a:latin typeface="Cambria Math" panose="02040503050406030204" pitchFamily="18" charset="0"/>
                  </a:rPr>
                  <a:t>을 역수를 취하여 </a:t>
                </a:r>
                <a:r>
                  <a:rPr lang="en-US" altLang="ko-KR" sz="1200" i="1">
                    <a:latin typeface="Cambria Math" panose="02040503050406030204" pitchFamily="18" charset="0"/>
                  </a:rPr>
                  <a:t>min margin</a:t>
                </a:r>
                <a:r>
                  <a:rPr lang="ko-KR" altLang="en-US" sz="1200" i="1">
                    <a:latin typeface="Cambria Math" panose="02040503050406030204" pitchFamily="18" charset="0"/>
                  </a:rPr>
                  <a:t>으로 바꿔 목적함수를 변경</a:t>
                </a:r>
                <a:endParaRPr lang="en-US" altLang="ko-KR" sz="1200" i="1">
                  <a:latin typeface="Cambria Math" panose="02040503050406030204" pitchFamily="18" charset="0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200"/>
              </a:p>
              <a:p>
                <a:pPr algn="ctr"/>
                <a:r>
                  <a:rPr lang="en-US" altLang="ko-KR" sz="1200"/>
                  <a:t>Max Margin = maxx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2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20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en-US" altLang="ko-KR" sz="120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20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den>
                    </m:f>
                  </m:oMath>
                </a14:m>
                <a:r>
                  <a:rPr lang="en-US" altLang="ko-KR" sz="1200">
                    <a:sym typeface="Wingdings" panose="05000000000000000000" pitchFamily="2" charset="2"/>
                  </a:rPr>
                  <a:t></a:t>
                </a:r>
                <a:r>
                  <a:rPr lang="ko-KR" altLang="en-US" sz="1200"/>
                  <a:t> </a:t>
                </a:r>
                <a:r>
                  <a:rPr lang="en-US" altLang="ko-KR" sz="1200"/>
                  <a:t>min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ko-KR" sz="12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ko-KR" sz="12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e>
                      <m:sup>
                        <m:r>
                          <a:rPr lang="en-US" altLang="ko-KR" sz="12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sz="1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200" i="1">
                    <a:latin typeface="Cambria Math" panose="02040503050406030204" pitchFamily="18" charset="0"/>
                  </a:rPr>
                  <a:t>	(1)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ko-KR" altLang="en-US" sz="1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ko-KR" altLang="en-US" sz="12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  <m:r>
                          <a:rPr lang="ko-KR" altLang="en-US" sz="1200" i="1"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ko-KR" altLang="en-US" sz="1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sub>
                            </m:sSub>
                          </m:e>
                        </m:acc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ko-KR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1, 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=1,2, ……, 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200"/>
                  <a:t>		(2)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200"/>
                  <a:t>(1)</a:t>
                </a:r>
                <a:r>
                  <a:rPr lang="ko-KR" altLang="en-US" sz="1200"/>
                  <a:t>은 목적함수</a:t>
                </a:r>
                <a:r>
                  <a:rPr lang="en-US" altLang="ko-KR" sz="1200"/>
                  <a:t>, (2) </a:t>
                </a:r>
                <a:r>
                  <a:rPr lang="ko-KR" altLang="en-US" sz="1200"/>
                  <a:t>제약조건 </a:t>
                </a:r>
                <a:endParaRPr lang="en-US" altLang="ko-KR" sz="12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200"/>
                  <a:t>(1)</a:t>
                </a:r>
                <a:r>
                  <a:rPr lang="ko-KR" altLang="en-US" sz="1200"/>
                  <a:t>의 </a:t>
                </a:r>
                <a:r>
                  <a:rPr lang="en-US" altLang="ko-KR" sz="1200"/>
                  <a:t>w,b</a:t>
                </a:r>
                <a:r>
                  <a:rPr lang="ko-KR" altLang="en-US" sz="1200"/>
                  <a:t>는 </a:t>
                </a:r>
                <a:r>
                  <a:rPr lang="en-US" altLang="ko-KR" sz="1200"/>
                  <a:t>unknown </a:t>
                </a:r>
                <a:r>
                  <a:rPr lang="ko-KR" altLang="en-US" sz="1200"/>
                  <a:t>데이터 임으로 </a:t>
                </a:r>
                <a:r>
                  <a:rPr lang="en-US" altLang="ko-KR" sz="1200"/>
                  <a:t>w,b</a:t>
                </a:r>
                <a:r>
                  <a:rPr lang="ko-KR" altLang="en-US" sz="1200"/>
                  <a:t>를 계산할 수 있도록 제약조건을 </a:t>
                </a:r>
                <a:r>
                  <a:rPr lang="en-US" altLang="ko-KR" sz="1200"/>
                  <a:t>1</a:t>
                </a:r>
                <a:r>
                  <a:rPr lang="ko-KR" altLang="en-US" sz="1200"/>
                  <a:t>번에 추가</a:t>
                </a:r>
                <a:endParaRPr lang="en-US" altLang="ko-KR" sz="12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200"/>
                  <a:t>목적함수는 </a:t>
                </a:r>
                <a:r>
                  <a:rPr lang="en-US" altLang="ko-KR" sz="1200"/>
                  <a:t>2</a:t>
                </a:r>
                <a:r>
                  <a:rPr lang="ko-KR" altLang="en-US" sz="1200"/>
                  <a:t>차식으로 되어있고 제약식은 </a:t>
                </a:r>
                <a:r>
                  <a:rPr lang="en-US" altLang="ko-KR" sz="1200"/>
                  <a:t>linear</a:t>
                </a:r>
                <a:r>
                  <a:rPr lang="ko-KR" altLang="en-US" sz="1200"/>
                  <a:t>로 되어있음 </a:t>
                </a:r>
                <a:r>
                  <a:rPr lang="en-US" altLang="ko-KR" sz="1200"/>
                  <a:t>=&gt; quadratic programming</a:t>
                </a:r>
                <a:r>
                  <a:rPr lang="ko-KR" altLang="en-US" sz="1200"/>
                  <a:t> </a:t>
                </a:r>
                <a:r>
                  <a:rPr lang="en-US" altLang="ko-KR" sz="1200"/>
                  <a:t>=&gt; </a:t>
                </a:r>
                <a:r>
                  <a:rPr lang="ko-KR" altLang="en-US" sz="1200"/>
                  <a:t>최대</a:t>
                </a:r>
                <a:r>
                  <a:rPr lang="en-US" altLang="ko-KR" sz="1200"/>
                  <a:t>,</a:t>
                </a:r>
                <a:r>
                  <a:rPr lang="ko-KR" altLang="en-US" sz="1200"/>
                  <a:t>최소 하나만 존재 </a:t>
                </a:r>
                <a:endParaRPr lang="en-US" altLang="ko-KR" sz="12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200"/>
                  <a:t>Train data</a:t>
                </a:r>
                <a:r>
                  <a:rPr lang="ko-KR" altLang="en-US" sz="1200"/>
                  <a:t>가 </a:t>
                </a:r>
                <a:r>
                  <a:rPr lang="en-US" altLang="ko-KR" sz="1200"/>
                  <a:t>linearly separable</a:t>
                </a:r>
                <a:r>
                  <a:rPr lang="ko-KR" altLang="en-US" sz="1200"/>
                  <a:t>한 경우에만 해가 존재</a:t>
                </a:r>
                <a:endParaRPr lang="en-US" altLang="ko-KR" sz="12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200"/>
                  <a:t>  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2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2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200"/>
                  <a:t>Support</a:t>
                </a:r>
                <a:r>
                  <a:rPr lang="ko-KR" altLang="en-US" sz="1200"/>
                  <a:t> </a:t>
                </a:r>
                <a:r>
                  <a:rPr lang="en-US" altLang="ko-KR" sz="1200"/>
                  <a:t>vector</a:t>
                </a:r>
                <a:r>
                  <a:rPr lang="ko-KR" altLang="en-US" sz="1200"/>
                  <a:t>의 식을 구해야함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ko-KR" altLang="en-US" sz="1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ko-KR" altLang="en-US" sz="12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  <m:r>
                          <a:rPr lang="ko-KR" altLang="en-US" sz="1200" i="1"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ko-KR" altLang="en-US" sz="1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sub>
                            </m:sSub>
                          </m:e>
                        </m:acc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−1=0  → </m:t>
                    </m:r>
                  </m:oMath>
                </a14:m>
                <a:r>
                  <a:rPr lang="ko-KR" altLang="en-US" sz="1200" b="0"/>
                  <a:t>목적</a:t>
                </a:r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200"/>
                  <a:t>Minimize</a:t>
                </a:r>
                <a:r>
                  <a:rPr lang="ko-KR" altLang="en-US" sz="1200"/>
                  <a:t>로 변경하면 쿼드라틱 프로그래밍 최적화 문제가 됨</a:t>
                </a:r>
                <a:endParaRPr lang="en-US" altLang="ko-KR" sz="12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200" b="0"/>
                  <a:t>문제를 최적화 할 때 제약식이 존재하는데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ko-KR" altLang="en-US" sz="1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ko-KR" altLang="en-US" sz="12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  <m:r>
                          <a:rPr lang="ko-KR" altLang="en-US" sz="1200" i="1"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ko-KR" altLang="en-US" sz="1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sub>
                            </m:sSub>
                          </m:e>
                        </m:acc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−1=0</m:t>
                    </m:r>
                  </m:oMath>
                </a14:m>
                <a:r>
                  <a:rPr lang="ko-KR" altLang="en-US" sz="1200" b="0"/>
                  <a:t>이거임</a:t>
                </a:r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200" b="0"/>
                  <a:t>즉</a:t>
                </a:r>
                <a:r>
                  <a:rPr lang="en-US" altLang="ko-KR" sz="1200" b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ko-KR" altLang="en-US" sz="1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ko-KR" altLang="en-US" sz="12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  <m:r>
                          <a:rPr lang="ko-KR" altLang="en-US" sz="1200" i="1"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ko-KR" altLang="en-US" sz="1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sub>
                            </m:sSub>
                          </m:e>
                        </m:acc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−1=0</m:t>
                    </m:r>
                  </m:oMath>
                </a14:m>
                <a:r>
                  <a:rPr lang="ko-KR" altLang="en-US" sz="1200" b="0"/>
                  <a:t>이라는 제약 조건이 있는 </a:t>
                </a:r>
                <a:r>
                  <a:rPr lang="en-US" altLang="ko-KR" sz="1200" b="0"/>
                  <a:t>minimize </a:t>
                </a:r>
                <a:r>
                  <a:rPr lang="ko-KR" altLang="en-US" sz="1200" b="0"/>
                  <a:t>최적화 문제를 풀어야하면 최적화 문제 식을 목적함수라고 함</a:t>
                </a:r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200" b="0"/>
                  <a:t>라그랑주 승수법을 적용하면 제약 조건을 신경쓰지 않고 문제를 풀 수 있도록 문제를 바꿀수 있음</a:t>
                </a:r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200" b="0"/>
                  <a:t>라그랑주 승수법이란 </a:t>
                </a:r>
                <a:r>
                  <a:rPr lang="en-US" altLang="ko-KR" sz="1200" b="0"/>
                  <a:t>g(x)</a:t>
                </a:r>
                <a:r>
                  <a:rPr lang="ko-KR" altLang="en-US" sz="1200" b="0"/>
                  <a:t>라는 제약사항하에서 목적함수 </a:t>
                </a:r>
                <a:r>
                  <a:rPr lang="en-US" altLang="ko-KR" sz="1200" b="0"/>
                  <a:t>f(x)</a:t>
                </a:r>
                <a:r>
                  <a:rPr lang="ko-KR" altLang="en-US" sz="1200" b="0"/>
                  <a:t>의 최소화하는 최적화 문제가 있다고 할 때 라그랑주 함수라는 새로운 함수 정의함 식은 다음과 같음</a:t>
                </a:r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200" b="0"/>
                  <a:t>L = f(x) – ag(x) , a&gt;=0	a</a:t>
                </a:r>
                <a:r>
                  <a:rPr lang="ko-KR" altLang="en-US" sz="1200" b="0"/>
                  <a:t>를 라그랑주 승수라고 함</a:t>
                </a:r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200" b="0"/>
                  <a:t>제약이 있는 최적화 문제라면 라그랑주 함수의 정류점</a:t>
                </a:r>
                <a:r>
                  <a:rPr lang="en-US" altLang="ko-KR" sz="1200" b="0"/>
                  <a:t>(stationary point)</a:t>
                </a:r>
                <a:r>
                  <a:rPr lang="ko-KR" altLang="en-US" sz="1200" b="0"/>
                  <a:t>가 되는 </a:t>
                </a:r>
                <a:r>
                  <a:rPr lang="en-US" altLang="ko-KR" sz="1200" b="0"/>
                  <a:t>a</a:t>
                </a:r>
                <a:r>
                  <a:rPr lang="ko-KR" altLang="en-US" sz="1200" b="0"/>
                  <a:t>가 존재하며</a:t>
                </a:r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200" b="0"/>
                  <a:t>정류점은 모든 편도함수가 </a:t>
                </a:r>
                <a:r>
                  <a:rPr lang="en-US" altLang="ko-KR" sz="1200" b="0"/>
                  <a:t>0</a:t>
                </a:r>
                <a:r>
                  <a:rPr lang="ko-KR" altLang="en-US" sz="1200" b="0"/>
                  <a:t>인 지점이다</a:t>
                </a:r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200" b="0"/>
                  <a:t>만약 제약 조건이 연립부등식이라면 </a:t>
                </a:r>
                <a:r>
                  <a:rPr lang="en-US" altLang="ko-KR" sz="1200"/>
                  <a:t>KKT</a:t>
                </a:r>
                <a:r>
                  <a:rPr lang="ko-KR" altLang="en-US" sz="1200"/>
                  <a:t>조건을 만족하도록 라그랑주 승수법을 적용</a:t>
                </a:r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2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20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821BD83-E8F9-47A5-991E-614DE8F7F6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200" y="1180634"/>
                <a:ext cx="7887076" cy="6305572"/>
              </a:xfrm>
              <a:prstGeom prst="rect">
                <a:avLst/>
              </a:prstGeom>
              <a:blipFill>
                <a:blip r:embed="rId3"/>
                <a:stretch>
                  <a:fillRect t="-1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62108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21"/>
          <p:cNvSpPr txBox="1">
            <a:spLocks noGrp="1"/>
          </p:cNvSpPr>
          <p:nvPr>
            <p:ph type="body" idx="11" hasCustomPrompt="1"/>
          </p:nvPr>
        </p:nvSpPr>
        <p:spPr>
          <a:xfrm>
            <a:off x="268605" y="219710"/>
            <a:ext cx="4899025" cy="41910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 latinLnBrk="0">
              <a:buFontTx/>
              <a:buNone/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rtl="0" latinLnBrk="0">
              <a:buFontTx/>
              <a:buNone/>
            </a:pPr>
            <a:r>
              <a:rPr lang="ko-KR" altLang="en-US"/>
              <a:t>SVM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F8FFBD1-B0A8-4791-8196-0EDA83AE2401}"/>
                  </a:ext>
                </a:extLst>
              </p:cNvPr>
              <p:cNvSpPr txBox="1"/>
              <p:nvPr/>
            </p:nvSpPr>
            <p:spPr>
              <a:xfrm>
                <a:off x="432200" y="1348414"/>
                <a:ext cx="7887076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200"/>
                  <a:t>벡터 </a:t>
                </a:r>
                <a:r>
                  <a:rPr lang="en-US" altLang="ko-KR" sz="1200"/>
                  <a:t>w</a:t>
                </a:r>
                <a:r>
                  <a:rPr lang="ko-KR" altLang="en-US" sz="1200"/>
                  <a:t>와 </a:t>
                </a:r>
                <a:r>
                  <a:rPr lang="en-US" altLang="ko-KR" sz="1200"/>
                  <a:t>b</a:t>
                </a:r>
                <a:r>
                  <a:rPr lang="ko-KR" altLang="en-US" sz="1200"/>
                  <a:t>를 계산 할 수 있도록 </a:t>
                </a:r>
                <a:r>
                  <a:rPr lang="en-US" altLang="ko-KR" sz="1200"/>
                  <a:t>decision rule</a:t>
                </a:r>
                <a:r>
                  <a:rPr lang="ko-KR" altLang="en-US" sz="1200"/>
                  <a:t>에 여러 제약 조건을 추가</a:t>
                </a:r>
                <a:endParaRPr lang="en-US" altLang="ko-KR" sz="12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200"/>
                  <a:t>Support</a:t>
                </a:r>
                <a:r>
                  <a:rPr lang="ko-KR" altLang="en-US" sz="1200"/>
                  <a:t> </a:t>
                </a:r>
                <a:r>
                  <a:rPr lang="en-US" altLang="ko-KR" sz="1200"/>
                  <a:t>vector</a:t>
                </a:r>
                <a:r>
                  <a:rPr lang="ko-KR" altLang="en-US" sz="1200"/>
                  <a:t>의 식을 구해야함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ko-KR" altLang="en-US" sz="1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ko-KR" altLang="en-US" sz="12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  <m:r>
                          <a:rPr lang="ko-KR" altLang="en-US" sz="1200" i="1"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ko-KR" altLang="en-US" sz="1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sub>
                            </m:sSub>
                          </m:e>
                        </m:acc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−1=0  → </m:t>
                    </m:r>
                  </m:oMath>
                </a14:m>
                <a:r>
                  <a:rPr lang="ko-KR" altLang="en-US" sz="1200" b="0"/>
                  <a:t>목적</a:t>
                </a:r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200"/>
                  <a:t>Minimize</a:t>
                </a:r>
                <a:r>
                  <a:rPr lang="ko-KR" altLang="en-US" sz="1200"/>
                  <a:t>로 변경하면 쿼드라틱 프로그래밍 최적화 문제가 됨</a:t>
                </a:r>
                <a:endParaRPr lang="en-US" altLang="ko-KR" sz="12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200" b="0"/>
                  <a:t>문제를 최적화 할 때 제약식이 존재하는데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ko-KR" altLang="en-US" sz="1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ko-KR" altLang="en-US" sz="12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  <m:r>
                          <a:rPr lang="ko-KR" altLang="en-US" sz="1200" i="1"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ko-KR" altLang="en-US" sz="1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sub>
                            </m:sSub>
                          </m:e>
                        </m:acc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−1=0</m:t>
                    </m:r>
                  </m:oMath>
                </a14:m>
                <a:r>
                  <a:rPr lang="ko-KR" altLang="en-US" sz="1200" b="0"/>
                  <a:t>이거임</a:t>
                </a:r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200" b="0"/>
                  <a:t>즉</a:t>
                </a:r>
                <a:r>
                  <a:rPr lang="en-US" altLang="ko-KR" sz="1200" b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ko-KR" altLang="en-US" sz="1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ko-KR" altLang="en-US" sz="12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  <m:r>
                          <a:rPr lang="ko-KR" altLang="en-US" sz="1200" i="1"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ko-KR" altLang="en-US" sz="1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sub>
                            </m:sSub>
                          </m:e>
                        </m:acc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−1=0</m:t>
                    </m:r>
                  </m:oMath>
                </a14:m>
                <a:r>
                  <a:rPr lang="ko-KR" altLang="en-US" sz="1200" b="0"/>
                  <a:t>이라는 제약 조건이 있는 </a:t>
                </a:r>
                <a:r>
                  <a:rPr lang="en-US" altLang="ko-KR" sz="1200" b="0"/>
                  <a:t>minimize </a:t>
                </a:r>
                <a:r>
                  <a:rPr lang="ko-KR" altLang="en-US" sz="1200" b="0"/>
                  <a:t>최적화 문제를 풀어야하면 최적화 문제 식을 목적함수라고 함</a:t>
                </a:r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200" b="0"/>
                  <a:t>라그랑주 승수법을 적용하면 제약 조건을 신경쓰지 않고 문제를 풀 수 있도록 문제를 바꿀수 있음</a:t>
                </a:r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200" b="0"/>
                  <a:t>라그랑주 승수법이란 </a:t>
                </a:r>
                <a:r>
                  <a:rPr lang="en-US" altLang="ko-KR" sz="1200" b="0"/>
                  <a:t>g(x)</a:t>
                </a:r>
                <a:r>
                  <a:rPr lang="ko-KR" altLang="en-US" sz="1200" b="0"/>
                  <a:t>라는 제약사항하에서 목적함수 </a:t>
                </a:r>
                <a:r>
                  <a:rPr lang="en-US" altLang="ko-KR" sz="1200" b="0"/>
                  <a:t>f(x)</a:t>
                </a:r>
                <a:r>
                  <a:rPr lang="ko-KR" altLang="en-US" sz="1200" b="0"/>
                  <a:t>의 최소화하는 최적화 문제가 있다고 할 때 라그랑주 함수라는 새로운 함수 정의함 식은 다음과 같음</a:t>
                </a:r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200" b="0"/>
                  <a:t>L = f(x) – ag(x) , a&gt;=0	a</a:t>
                </a:r>
                <a:r>
                  <a:rPr lang="ko-KR" altLang="en-US" sz="1200" b="0"/>
                  <a:t>를 라그랑주 승수라고 함</a:t>
                </a:r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200" b="0"/>
                  <a:t>제약이 있는 최적화 문제라면 라그랑주 함수의 정류점</a:t>
                </a:r>
                <a:r>
                  <a:rPr lang="en-US" altLang="ko-KR" sz="1200" b="0"/>
                  <a:t>(stationary point)</a:t>
                </a:r>
                <a:r>
                  <a:rPr lang="ko-KR" altLang="en-US" sz="1200" b="0"/>
                  <a:t>가 되는 </a:t>
                </a:r>
                <a:r>
                  <a:rPr lang="en-US" altLang="ko-KR" sz="1200" b="0"/>
                  <a:t>a</a:t>
                </a:r>
                <a:r>
                  <a:rPr lang="ko-KR" altLang="en-US" sz="1200" b="0"/>
                  <a:t>가 존재하며</a:t>
                </a:r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200" b="0"/>
                  <a:t>정류점은 모든 편도함수가 </a:t>
                </a:r>
                <a:r>
                  <a:rPr lang="en-US" altLang="ko-KR" sz="1200" b="0"/>
                  <a:t>0</a:t>
                </a:r>
                <a:r>
                  <a:rPr lang="ko-KR" altLang="en-US" sz="1200" b="0"/>
                  <a:t>인 지점이다</a:t>
                </a:r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200" b="0"/>
                  <a:t>만약 제약 조건이 연립부등식이라면 </a:t>
                </a:r>
                <a:r>
                  <a:rPr lang="en-US" altLang="ko-KR" sz="1200"/>
                  <a:t>KKT</a:t>
                </a:r>
                <a:r>
                  <a:rPr lang="ko-KR" altLang="en-US" sz="1200"/>
                  <a:t>조건을 만족하도록 라그랑주 승수법을 적용</a:t>
                </a:r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200" b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2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altLang="ko-KR" sz="120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F8FFBD1-B0A8-4791-8196-0EDA83AE24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200" y="1348414"/>
                <a:ext cx="7887076" cy="3416320"/>
              </a:xfrm>
              <a:prstGeom prst="rect">
                <a:avLst/>
              </a:prstGeom>
              <a:blipFill>
                <a:blip r:embed="rId3"/>
                <a:stretch>
                  <a:fillRect t="-1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332A194B-BA4D-4540-BCAF-25947FCDEBAA}"/>
              </a:ext>
            </a:extLst>
          </p:cNvPr>
          <p:cNvSpPr txBox="1"/>
          <p:nvPr/>
        </p:nvSpPr>
        <p:spPr>
          <a:xfrm>
            <a:off x="832607" y="5721184"/>
            <a:ext cx="46181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https://junstar92.tistory.com/48</a:t>
            </a:r>
          </a:p>
        </p:txBody>
      </p:sp>
    </p:spTree>
    <p:extLst>
      <p:ext uri="{BB962C8B-B14F-4D97-AF65-F5344CB8AC3E}">
        <p14:creationId xmlns:p14="http://schemas.microsoft.com/office/powerpoint/2010/main" val="25459092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21"/>
          <p:cNvSpPr txBox="1">
            <a:spLocks noGrp="1"/>
          </p:cNvSpPr>
          <p:nvPr>
            <p:ph type="body" idx="11" hasCustomPrompt="1"/>
          </p:nvPr>
        </p:nvSpPr>
        <p:spPr>
          <a:xfrm>
            <a:off x="268605" y="219710"/>
            <a:ext cx="4899025" cy="41910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 latinLnBrk="0">
              <a:buFontTx/>
              <a:buNone/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rtl="0" latinLnBrk="0">
              <a:buFontTx/>
              <a:buNone/>
            </a:pPr>
            <a:r>
              <a:rPr lang="en-US" altLang="ko-KR"/>
              <a:t>Margin</a:t>
            </a:r>
            <a:r>
              <a:rPr lang="ko-KR" altLang="en-US"/>
              <a:t>의 </a:t>
            </a:r>
            <a:r>
              <a:rPr lang="en-US" altLang="ko-KR"/>
              <a:t>Optimization</a:t>
            </a: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EA5FC7-F095-49B5-B57C-0D1BC9428A39}"/>
              </a:ext>
            </a:extLst>
          </p:cNvPr>
          <p:cNvSpPr txBox="1"/>
          <p:nvPr/>
        </p:nvSpPr>
        <p:spPr>
          <a:xfrm>
            <a:off x="111154" y="1493240"/>
            <a:ext cx="393443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100"/>
              <a:t>라그랑주 승수법</a:t>
            </a:r>
            <a:endParaRPr lang="en-US" altLang="ko-KR" sz="1100"/>
          </a:p>
          <a:p>
            <a:pPr algn="l"/>
            <a:r>
              <a:rPr lang="en-US" altLang="ko-KR" sz="1100"/>
              <a:t>kkt</a:t>
            </a:r>
            <a:r>
              <a:rPr lang="ko-KR" altLang="en-US" sz="1100"/>
              <a:t>조건</a:t>
            </a:r>
            <a:endParaRPr lang="en-US" altLang="ko-KR" sz="1100"/>
          </a:p>
          <a:p>
            <a:pPr algn="l"/>
            <a:r>
              <a:rPr lang="en-US" altLang="ko-KR" sz="1100"/>
              <a:t>Quadratic</a:t>
            </a:r>
            <a:r>
              <a:rPr lang="ko-KR" altLang="en-US" sz="1100"/>
              <a:t> </a:t>
            </a:r>
            <a:r>
              <a:rPr lang="en-US" altLang="ko-KR" sz="1100"/>
              <a:t>programming</a:t>
            </a:r>
            <a:endParaRPr lang="ko-KR" altLang="en-US" sz="11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BA3834-68CE-4FDA-BC76-E817470D9889}"/>
              </a:ext>
            </a:extLst>
          </p:cNvPr>
          <p:cNvSpPr txBox="1"/>
          <p:nvPr/>
        </p:nvSpPr>
        <p:spPr>
          <a:xfrm>
            <a:off x="111154" y="964626"/>
            <a:ext cx="46181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https://greedywyatt.tistory.com/121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A6D3D1C-5582-4A9D-8C71-E12CA9EDFA6F}"/>
                  </a:ext>
                </a:extLst>
              </p:cNvPr>
              <p:cNvSpPr txBox="1"/>
              <p:nvPr/>
            </p:nvSpPr>
            <p:spPr>
              <a:xfrm>
                <a:off x="1258349" y="2457974"/>
                <a:ext cx="6484690" cy="10327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ko-KR" altLang="en-US" sz="1100"/>
                  <a:t>정리 해보면 조건</a:t>
                </a:r>
                <a:r>
                  <a:rPr lang="en-US" altLang="ko-KR" sz="1100"/>
                  <a:t>(constraints)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ko-KR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ko-KR" altLang="en-US" sz="11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ko-KR" altLang="en-US" sz="11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  <m:r>
                          <a:rPr lang="ko-KR" altLang="en-US" sz="1100" i="1"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ko-KR" altLang="en-US" sz="11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ko-KR" sz="11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sz="11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sub>
                            </m:sSub>
                          </m:e>
                        </m:acc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1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−1=0</m:t>
                    </m:r>
                  </m:oMath>
                </a14:m>
                <a:r>
                  <a:rPr lang="en-US" altLang="ko-KR" sz="1100"/>
                  <a:t>, </a:t>
                </a:r>
                <a:r>
                  <a:rPr lang="ko-KR" altLang="en-US" sz="1100"/>
                  <a:t>목적함수</a:t>
                </a:r>
                <a:r>
                  <a:rPr lang="en-US" altLang="ko-KR" sz="1100"/>
                  <a:t>: minimize ½ |w|^2</a:t>
                </a:r>
              </a:p>
              <a:p>
                <a:pPr algn="l"/>
                <a:r>
                  <a:rPr lang="ko-KR" altLang="en-US" sz="1100"/>
                  <a:t>라그랑주 함수 식</a:t>
                </a:r>
                <a14:m>
                  <m:oMath xmlns:m="http://schemas.openxmlformats.org/officeDocument/2006/math">
                    <m:r>
                      <a:rPr lang="ko-KR" altLang="en-US" sz="110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ko-KR" altLang="en-US" sz="11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10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ko-KR" altLang="en-US" sz="110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ko-KR" altLang="en-US" sz="110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ko-KR" altLang="en-US" sz="110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ko-KR" altLang="en-US" sz="110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  <m:r>
                      <a:rPr lang="ko-KR" altLang="en-US" sz="11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sz="110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ko-KR" altLang="en-US" sz="11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10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ko-KR" altLang="en-US" sz="110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ko-KR" altLang="en-US" sz="110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ko-KR" altLang="en-US" sz="110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ko-KR" altLang="en-US" sz="1100" i="1" smtClean="0">
                        <a:latin typeface="Cambria Math" panose="02040503050406030204" pitchFamily="18" charset="0"/>
                      </a:rPr>
                      <m:t>𝜆</m:t>
                    </m:r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d>
                  </m:oMath>
                </a14:m>
                <a:r>
                  <a:rPr lang="ko-KR" altLang="en-US" sz="1100" b="0"/>
                  <a:t>에 따라 보조방정식을 세우면 아래와 같다</a:t>
                </a:r>
                <a:endParaRPr lang="en-US" altLang="ko-KR" sz="1100" b="0"/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ko-KR" sz="11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1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1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1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ko-KR" sz="11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ko-KR" sz="1100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10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d>
                        </m:e>
                        <m:sup>
                          <m:r>
                            <a:rPr lang="en-US" altLang="ko-KR" sz="11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110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sz="11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ko-KR" sz="1100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10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ko-KR" sz="110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d>
                        <m:dPr>
                          <m:begChr m:val="["/>
                          <m:endChr m:val="]"/>
                          <m:ctrlPr>
                            <a:rPr lang="en-US" altLang="ko-KR" sz="11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100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10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ko-KR" sz="110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sz="1100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ko-KR" sz="1100" i="1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10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</m:acc>
                              <m:r>
                                <a:rPr lang="en-US" altLang="ko-KR" sz="11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altLang="ko-KR" sz="1100" i="1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US" altLang="ko-KR" sz="1100" i="1" smtClean="0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ko-KR" sz="110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ko-KR" sz="110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 sz="110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ko-KR" sz="110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a:rPr lang="en-US" altLang="ko-KR" sz="110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US" altLang="ko-KR" sz="1100"/>
              </a:p>
              <a:p>
                <a:pPr algn="l"/>
                <a:endParaRPr lang="en-US" altLang="ko-KR" sz="110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A6D3D1C-5582-4A9D-8C71-E12CA9EDFA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8349" y="2457974"/>
                <a:ext cx="6484690" cy="1032719"/>
              </a:xfrm>
              <a:prstGeom prst="rect">
                <a:avLst/>
              </a:prstGeom>
              <a:blipFill>
                <a:blip r:embed="rId3"/>
                <a:stretch>
                  <a:fillRect t="-21176" b="-6058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73094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03C0D51E-954A-4571-9451-9B96F6F8FFB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AA19FD9-C3BD-402F-99E2-9981C52691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671" y="2123476"/>
            <a:ext cx="7586057" cy="2976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6825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B50DCB7A-BE14-424E-B179-6C280696BD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6DD1003-1A95-4125-9921-B5F22CC58407}"/>
                  </a:ext>
                </a:extLst>
              </p:cNvPr>
              <p:cNvSpPr txBox="1"/>
              <p:nvPr/>
            </p:nvSpPr>
            <p:spPr>
              <a:xfrm>
                <a:off x="716280" y="1729740"/>
                <a:ext cx="6492240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ko-KR" altLang="en-US" sz="1100"/>
                  <a:t>질문</a:t>
                </a:r>
                <a:endParaRPr lang="en-US" altLang="ko-KR" sz="1100"/>
              </a:p>
              <a:p>
                <a:pPr algn="l"/>
                <a:r>
                  <a:rPr lang="en-US" altLang="ko-KR" sz="1100"/>
                  <a:t>1)</a:t>
                </a:r>
                <a:r>
                  <a:rPr lang="ko-KR" altLang="en-US" sz="1100"/>
                  <a:t>가중치 벡터</a:t>
                </a:r>
                <a:r>
                  <a:rPr lang="en-US" altLang="ko-KR" sz="1100"/>
                  <a:t>(w)</a:t>
                </a:r>
                <a:r>
                  <a:rPr lang="ko-KR" altLang="en-US" sz="1100"/>
                  <a:t>가 직교한다</a:t>
                </a:r>
                <a:r>
                  <a:rPr lang="en-US" altLang="ko-KR" sz="1100"/>
                  <a:t>?</a:t>
                </a:r>
              </a:p>
              <a:p>
                <a:pPr algn="l"/>
                <a:r>
                  <a:rPr lang="ko-KR" altLang="en-US" sz="1100"/>
                  <a:t>벡터 </a:t>
                </a:r>
                <a:r>
                  <a:rPr lang="en-US" altLang="ko-KR" sz="1100"/>
                  <a:t>w,x</a:t>
                </a:r>
                <a:r>
                  <a:rPr lang="ko-KR" altLang="en-US" sz="1100"/>
                  <a:t>가  있다고 가정하고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ko-KR" altLang="en-US" sz="1100"/>
                  <a:t>의 수식을 따르는 선형 </a:t>
                </a:r>
                <a:r>
                  <a:rPr lang="en-US" altLang="ko-KR" sz="1100"/>
                  <a:t>decision boundary</a:t>
                </a:r>
                <a:r>
                  <a:rPr lang="ko-KR" altLang="en-US" sz="1100"/>
                  <a:t>라고 함</a:t>
                </a:r>
                <a:endParaRPr lang="en-US" altLang="ko-KR" sz="1100"/>
              </a:p>
              <a:p>
                <a:pPr algn="l"/>
                <a:r>
                  <a:rPr lang="ko-KR" altLang="en-US" sz="1100"/>
                  <a:t>벡터 </a:t>
                </a:r>
                <a:r>
                  <a:rPr lang="en-US" altLang="ko-KR" sz="1100"/>
                  <a:t>w,x</a:t>
                </a:r>
                <a:r>
                  <a:rPr lang="ko-KR" altLang="en-US" sz="1100"/>
                  <a:t>의 내적은 </a:t>
                </a:r>
                <a:r>
                  <a:rPr lang="en-US" altLang="ko-KR" sz="1100"/>
                  <a:t>p</a:t>
                </a:r>
                <a:r>
                  <a:rPr lang="ko-KR" altLang="en-US" sz="1100"/>
                  <a:t>이다 </a:t>
                </a:r>
                <a:r>
                  <a:rPr lang="en-US" altLang="ko-KR" sz="1100"/>
                  <a:t>p</a:t>
                </a:r>
                <a:r>
                  <a:rPr lang="ko-KR" altLang="en-US" sz="1100"/>
                  <a:t>가</a:t>
                </a:r>
                <a:r>
                  <a:rPr lang="en-US" altLang="ko-KR" sz="1100"/>
                  <a:t> </a:t>
                </a:r>
                <a:r>
                  <a:rPr lang="ko-KR" altLang="en-US" sz="1100"/>
                  <a:t>제일 커지는 각도 </a:t>
                </a:r>
                <a:r>
                  <a:rPr lang="en-US" altLang="ko-KR" sz="1100"/>
                  <a:t>0</a:t>
                </a:r>
                <a:r>
                  <a:rPr lang="ko-KR" altLang="en-US" sz="1100"/>
                  <a:t>도</a:t>
                </a:r>
                <a:r>
                  <a:rPr lang="en-US" altLang="ko-KR" sz="1100"/>
                  <a:t>(</a:t>
                </a:r>
                <a:r>
                  <a:rPr lang="ko-KR" altLang="en-US" sz="1100"/>
                  <a:t>겹쳐졌을때</a:t>
                </a:r>
                <a:r>
                  <a:rPr lang="en-US" altLang="ko-KR" sz="1100"/>
                  <a:t>) </a:t>
                </a:r>
                <a:r>
                  <a:rPr lang="ko-KR" altLang="en-US" sz="1100"/>
                  <a:t>작아지는 각도가 </a:t>
                </a:r>
                <a:r>
                  <a:rPr lang="en-US" altLang="ko-KR" sz="1100"/>
                  <a:t>90(</a:t>
                </a:r>
                <a:r>
                  <a:rPr lang="ko-KR" altLang="en-US" sz="1100"/>
                  <a:t>수직</a:t>
                </a:r>
                <a:r>
                  <a:rPr lang="en-US" altLang="ko-KR" sz="1100"/>
                  <a:t>)</a:t>
                </a:r>
                <a:r>
                  <a:rPr lang="ko-KR" altLang="en-US" sz="1100"/>
                  <a:t>이다</a:t>
                </a:r>
                <a:endParaRPr lang="en-US" altLang="ko-KR" sz="1100"/>
              </a:p>
              <a:p>
                <a:pPr algn="l"/>
                <a:r>
                  <a:rPr lang="en-US" altLang="ko-KR" sz="1100"/>
                  <a:t>Wx=0</a:t>
                </a:r>
                <a:r>
                  <a:rPr lang="ko-KR" altLang="en-US" sz="1100"/>
                  <a:t>일때 벡터 </a:t>
                </a:r>
                <a:r>
                  <a:rPr lang="en-US" altLang="ko-KR" sz="1100"/>
                  <a:t>x</a:t>
                </a:r>
                <a:r>
                  <a:rPr lang="ko-KR" altLang="en-US" sz="1100"/>
                  <a:t>의 모든 점들은 벡터 </a:t>
                </a:r>
                <a:r>
                  <a:rPr lang="en-US" altLang="ko-KR" sz="1100"/>
                  <a:t>w</a:t>
                </a:r>
                <a:r>
                  <a:rPr lang="ko-KR" altLang="en-US" sz="1100"/>
                  <a:t>에 직교한다는 의미가 됨</a:t>
                </a:r>
                <a:endParaRPr lang="en-US" altLang="ko-KR" sz="1100"/>
              </a:p>
              <a:p>
                <a:pPr algn="l"/>
                <a:endParaRPr lang="ko-KR" altLang="en-US" sz="110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6DD1003-1A95-4125-9921-B5F22CC584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280" y="1729740"/>
                <a:ext cx="6492240" cy="1107996"/>
              </a:xfrm>
              <a:prstGeom prst="rect">
                <a:avLst/>
              </a:prstGeom>
              <a:blipFill>
                <a:blip r:embed="rId2"/>
                <a:stretch>
                  <a:fillRect t="-54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2264EF9D-F72E-4FF9-AF83-26A9F45904A7}"/>
              </a:ext>
            </a:extLst>
          </p:cNvPr>
          <p:cNvCxnSpPr/>
          <p:nvPr/>
        </p:nvCxnSpPr>
        <p:spPr>
          <a:xfrm>
            <a:off x="6837680" y="1866721"/>
            <a:ext cx="1849120" cy="137939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364328B8-AA85-43DD-AD39-18B3FDA68AD9}"/>
              </a:ext>
            </a:extLst>
          </p:cNvPr>
          <p:cNvCxnSpPr/>
          <p:nvPr/>
        </p:nvCxnSpPr>
        <p:spPr>
          <a:xfrm flipV="1">
            <a:off x="7277100" y="2499181"/>
            <a:ext cx="381000" cy="4040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2C83B30-665C-4375-B588-E1D9511A468B}"/>
              </a:ext>
            </a:extLst>
          </p:cNvPr>
          <p:cNvSpPr txBox="1"/>
          <p:nvPr/>
        </p:nvSpPr>
        <p:spPr>
          <a:xfrm>
            <a:off x="7326629" y="2713896"/>
            <a:ext cx="2971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/>
              <a:t>w</a:t>
            </a:r>
            <a:endParaRPr lang="ko-KR" altLang="en-US" sz="1100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E806CB9D-70FA-4DCB-B40D-198DE4F3BD84}"/>
              </a:ext>
            </a:extLst>
          </p:cNvPr>
          <p:cNvCxnSpPr/>
          <p:nvPr/>
        </p:nvCxnSpPr>
        <p:spPr>
          <a:xfrm flipH="1" flipV="1">
            <a:off x="7094220" y="2114460"/>
            <a:ext cx="182880" cy="7887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23662A7-7AF8-4874-9CF3-79ADC83FC743}"/>
              </a:ext>
            </a:extLst>
          </p:cNvPr>
          <p:cNvSpPr txBox="1"/>
          <p:nvPr/>
        </p:nvSpPr>
        <p:spPr>
          <a:xfrm>
            <a:off x="6860540" y="2234862"/>
            <a:ext cx="2971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/>
              <a:t>x</a:t>
            </a:r>
            <a:endParaRPr lang="ko-KR" altLang="en-US" sz="11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E4E660-69A7-4280-902C-9864E41A9AE9}"/>
              </a:ext>
            </a:extLst>
          </p:cNvPr>
          <p:cNvSpPr txBox="1"/>
          <p:nvPr/>
        </p:nvSpPr>
        <p:spPr>
          <a:xfrm>
            <a:off x="7582852" y="2461945"/>
            <a:ext cx="23241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/>
              <a:t>p</a:t>
            </a:r>
            <a:endParaRPr lang="ko-KR" altLang="en-US" sz="1100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80E6CF94-03FD-4711-B5E2-50CEDCA467D6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7318057" y="2592750"/>
            <a:ext cx="264795" cy="2815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72818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sz="11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10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4669</TotalTime>
  <Pages>4</Pages>
  <Words>2999</Words>
  <Characters>0</Characters>
  <Application>Microsoft Office PowerPoint</Application>
  <DocSecurity>0</DocSecurity>
  <PresentationFormat>화면 슬라이드 쇼(4:3)</PresentationFormat>
  <Lines>0</Lines>
  <Paragraphs>388</Paragraphs>
  <Slides>25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7" baseType="lpstr">
      <vt:lpstr>AppleSDGothicNeo</vt:lpstr>
      <vt:lpstr>HY견고딕</vt:lpstr>
      <vt:lpstr>MJXc-TeX-main-R</vt:lpstr>
      <vt:lpstr>Nanum Gothic</vt:lpstr>
      <vt:lpstr>맑은 고딕</vt:lpstr>
      <vt:lpstr>Arial</vt:lpstr>
      <vt:lpstr>Arial Black</vt:lpstr>
      <vt:lpstr>Calibri</vt:lpstr>
      <vt:lpstr>Calibri Light</vt:lpstr>
      <vt:lpstr>Cambria Math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박진용</dc:creator>
  <cp:lastModifiedBy>jh</cp:lastModifiedBy>
  <cp:revision>152</cp:revision>
  <dcterms:modified xsi:type="dcterms:W3CDTF">2023-02-02T04:54:54Z</dcterms:modified>
  <cp:version>9.104.131.47063</cp:version>
</cp:coreProperties>
</file>