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handoutMasterIdLst>
    <p:handoutMasterId r:id="rId16"/>
  </p:handoutMasterIdLst>
  <p:sldIdLst>
    <p:sldId id="256" r:id="rId2"/>
    <p:sldId id="408" r:id="rId3"/>
    <p:sldId id="451" r:id="rId4"/>
    <p:sldId id="442" r:id="rId5"/>
    <p:sldId id="444" r:id="rId6"/>
    <p:sldId id="445" r:id="rId7"/>
    <p:sldId id="446" r:id="rId8"/>
    <p:sldId id="447" r:id="rId9"/>
    <p:sldId id="449" r:id="rId10"/>
    <p:sldId id="448" r:id="rId11"/>
    <p:sldId id="450" r:id="rId12"/>
    <p:sldId id="441" r:id="rId13"/>
    <p:sldId id="306" r:id="rId14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>
    <p:extLst>
      <p:ext uri="{19B8F6BF-5375-455C-9EA6-DF929625EA0E}">
        <p15:presenceInfo xmlns:p15="http://schemas.microsoft.com/office/powerpoint/2012/main" userId="j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2C6FAD"/>
    <a:srgbClr val="BBD5ED"/>
    <a:srgbClr val="FFABAB"/>
    <a:srgbClr val="FFD03B"/>
    <a:srgbClr val="FFCCCC"/>
    <a:srgbClr val="FDD7D7"/>
    <a:srgbClr val="F6D55C"/>
    <a:srgbClr val="666699"/>
    <a:srgbClr val="FBC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6" autoAdjust="0"/>
    <p:restoredTop sz="78235" autoAdjust="0"/>
  </p:normalViewPr>
  <p:slideViewPr>
    <p:cSldViewPr snapToGrid="0" snapToObjects="1">
      <p:cViewPr>
        <p:scale>
          <a:sx n="100" d="100"/>
          <a:sy n="100" d="100"/>
        </p:scale>
        <p:origin x="2262" y="-72"/>
      </p:cViewPr>
      <p:guideLst>
        <p:guide orient="horz" pos="2157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3156" y="120"/>
      </p:cViewPr>
      <p:guideLst>
        <p:guide orient="horz" pos="2157"/>
        <p:guide pos="28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r">
              <a:defRPr sz="1200"/>
            </a:lvl1pPr>
          </a:lstStyle>
          <a:p>
            <a:fld id="{86BECE3D-28DF-44F2-BBF4-A1F550C97DF1}" type="datetimeFigureOut">
              <a:rPr lang="ko-KR" altLang="en-US" smtClean="0"/>
              <a:t>2023-07-26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r">
              <a:defRPr sz="1200"/>
            </a:lvl1pPr>
          </a:lstStyle>
          <a:p>
            <a:fld id="{9CCD6CBE-4E81-4091-B594-FAD27E600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614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r">
              <a:defRPr sz="1200"/>
            </a:lvl1pPr>
          </a:lstStyle>
          <a:p>
            <a:fld id="{3A58FB49-0BA5-40AA-BFC7-FBD141E0550C}" type="datetimeFigureOut">
              <a:rPr lang="ko-KR" altLang="en-US" smtClean="0"/>
              <a:t>2023-07-26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8" rIns="94475" bIns="472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8" rIns="94475" bIns="472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r">
              <a:defRPr sz="1200"/>
            </a:lvl1pPr>
          </a:lstStyle>
          <a:p>
            <a:fld id="{81BAB70A-F45A-47C3-B1C3-08DF0F4D1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200"/>
              <a:t>Rule based machine learning(</a:t>
            </a:r>
            <a:r>
              <a:rPr lang="ko-KR" altLang="en-US" sz="1200"/>
              <a:t>한계점 알기위한 소개</a:t>
            </a:r>
            <a:r>
              <a:rPr lang="en-US" altLang="ko-KR" sz="1200"/>
              <a:t>)</a:t>
            </a:r>
          </a:p>
          <a:p>
            <a:pPr marL="171450" indent="-171450" algn="l">
              <a:buFontTx/>
              <a:buChar char="-"/>
            </a:pPr>
            <a:r>
              <a:rPr lang="en-US" altLang="ko-KR" sz="1200"/>
              <a:t>Decision Tree , Linear regression, rul based learning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633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표 기준으로 그림 만들기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33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Version Space</a:t>
            </a:r>
            <a:r>
              <a:rPr lang="ko-KR" altLang="en-US"/>
              <a:t>는 여러 </a:t>
            </a:r>
            <a:r>
              <a:rPr lang="en-US" altLang="ko-KR"/>
              <a:t>h</a:t>
            </a:r>
            <a:r>
              <a:rPr lang="ko-KR" altLang="en-US"/>
              <a:t>의 집합이며 </a:t>
            </a:r>
            <a:r>
              <a:rPr lang="en-US" altLang="ko-KR"/>
              <a:t>G</a:t>
            </a:r>
            <a:r>
              <a:rPr lang="ko-KR" altLang="en-US"/>
              <a:t>은 조건이 간단하며 </a:t>
            </a:r>
            <a:r>
              <a:rPr lang="en-US" altLang="ko-KR"/>
              <a:t>S</a:t>
            </a:r>
            <a:r>
              <a:rPr lang="ko-KR" altLang="en-US"/>
              <a:t>는 조건이 많으며 </a:t>
            </a:r>
            <a:r>
              <a:rPr lang="en-US" altLang="ko-KR"/>
              <a:t>G</a:t>
            </a:r>
            <a:r>
              <a:rPr lang="ko-KR" altLang="en-US"/>
              <a:t>보다 까다롭다 이것을 만족시키는 결과를 포함한게 </a:t>
            </a:r>
            <a:r>
              <a:rPr lang="en-US" altLang="ko-KR"/>
              <a:t>Version space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835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통계를 활용하는 </a:t>
            </a:r>
            <a:r>
              <a:rPr lang="en-US" altLang="ko-KR"/>
              <a:t>learning </a:t>
            </a:r>
            <a:r>
              <a:rPr lang="ko-KR" altLang="en-US"/>
              <a:t>모델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883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직사각형 6"/>
          <p:cNvSpPr>
            <a:spLocks/>
          </p:cNvSpPr>
          <p:nvPr userDrawn="1"/>
        </p:nvSpPr>
        <p:spPr>
          <a:xfrm>
            <a:off x="0" y="716280"/>
            <a:ext cx="9144635" cy="1016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solidFill>
                <a:schemeClr val="accent5">
                  <a:lumMod val="50000"/>
                </a:schemeClr>
              </a:solidFill>
              <a:latin typeface="HY견고딕" charset="0"/>
              <a:ea typeface="HY견고딕" charset="0"/>
            </a:endParaRPr>
          </a:p>
        </p:txBody>
      </p:sp>
      <p:sp>
        <p:nvSpPr>
          <p:cNvPr id="3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r>
              <a:rPr lang="ko-KR" altLang="en-US" sz="1600" b="1">
                <a:latin typeface="Arial Black" charset="0"/>
              </a:rPr>
              <a:t>참고</a:t>
            </a: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4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35" r:id="rId7"/>
    <p:sldLayoutId id="2147483736" r:id="rId8"/>
    <p:sldLayoutId id="2147483737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zzsza.github.io/data/2018/04/19/rule-based-machine-learning-overview/" TargetMode="External"/><Relationship Id="rId2" Type="http://schemas.openxmlformats.org/officeDocument/2006/relationships/hyperlink" Target="https://www.edwith.org/machinelearning1_17/lecture/10580?isDesc=false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 b="0">
                <a:solidFill>
                  <a:schemeClr val="tx1"/>
                </a:solidFill>
              </a:rPr>
              <a:t>데이터사이언스</a:t>
            </a: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4" y="2102801"/>
            <a:ext cx="4739549" cy="370205"/>
          </a:xfrm>
        </p:spPr>
        <p:txBody>
          <a:bodyPr/>
          <a:lstStyle/>
          <a:p>
            <a:r>
              <a:rPr lang="en-US" altLang="ko-KR" sz="2400"/>
              <a:t>Rule Based Machine Learning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41D312C-478B-4F9C-87EE-A8124196DF70}"/>
              </a:ext>
            </a:extLst>
          </p:cNvPr>
          <p:cNvSpPr txBox="1">
            <a:spLocks/>
          </p:cNvSpPr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83C7C7-E020-4758-B66D-60925D120BF6}"/>
              </a:ext>
            </a:extLst>
          </p:cNvPr>
          <p:cNvSpPr txBox="1"/>
          <p:nvPr/>
        </p:nvSpPr>
        <p:spPr>
          <a:xfrm>
            <a:off x="5133975" y="180975"/>
            <a:ext cx="88998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테일러급수</a:t>
            </a:r>
            <a:endParaRPr lang="en-US" altLang="ko-KR" sz="1100"/>
          </a:p>
          <a:p>
            <a:pPr algn="l"/>
            <a:r>
              <a:rPr lang="en-US" altLang="ko-KR" sz="1100"/>
              <a:t>Mae mle</a:t>
            </a:r>
          </a:p>
          <a:p>
            <a:pPr algn="l"/>
            <a:r>
              <a:rPr lang="ko-KR" altLang="en-US" sz="1100"/>
              <a:t>엔트로피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A551B8-F8F5-44A7-B98C-39169BEA52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EFB0F-2D50-4781-BABE-FB220DD63E89}"/>
              </a:ext>
            </a:extLst>
          </p:cNvPr>
          <p:cNvSpPr txBox="1"/>
          <p:nvPr/>
        </p:nvSpPr>
        <p:spPr>
          <a:xfrm>
            <a:off x="268605" y="1213574"/>
            <a:ext cx="46148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https://study2give.tistory.com/entry/%EB%A8%B8%EC%8B%A0%EB%9F%AC%EB%8B%9D-%EC%86%90%EC%8B%A4%ED%95%A8%EC%88%982-%EC%97%94%ED%8A%B8%EB%A1%9C%ED%94%BCEntropy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F2E2085-1943-4E64-BDF1-4D2040A0D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783" y="1671529"/>
            <a:ext cx="4239217" cy="15527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26C0BC-A13D-411A-BD07-3A1D58DF5BA9}"/>
              </a:ext>
            </a:extLst>
          </p:cNvPr>
          <p:cNvSpPr txBox="1"/>
          <p:nvPr/>
        </p:nvSpPr>
        <p:spPr>
          <a:xfrm>
            <a:off x="268605" y="3289936"/>
            <a:ext cx="46148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https://velog.io/@yuns_u/%EC%86%90%EC%8B%A4%ED%95%A8%EC%88%98-%EA%B0%84%EB%9E%B5-%EC%A0%95%EB%A6%AC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1ECB6-9261-40B7-AA35-FB2480973EE6}"/>
              </a:ext>
            </a:extLst>
          </p:cNvPr>
          <p:cNvSpPr txBox="1"/>
          <p:nvPr/>
        </p:nvSpPr>
        <p:spPr>
          <a:xfrm>
            <a:off x="268605" y="5278905"/>
            <a:ext cx="4614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https://darkpgmr.tistory.com/186</a:t>
            </a:r>
          </a:p>
        </p:txBody>
      </p:sp>
    </p:spTree>
    <p:extLst>
      <p:ext uri="{BB962C8B-B14F-4D97-AF65-F5344CB8AC3E}">
        <p14:creationId xmlns:p14="http://schemas.microsoft.com/office/powerpoint/2010/main" val="412231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E8A0008-709C-4E06-9DFC-A8D459B0A1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A614C5F-6750-4F2A-969D-F161D1B20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41" y="1213624"/>
            <a:ext cx="8545118" cy="19052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9EEE201-AD57-494E-A675-3C61B98A4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187" y="2939016"/>
            <a:ext cx="4620201" cy="325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4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E8A0008-709C-4E06-9DFC-A8D459B0A1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BBECAB-21EC-4DA1-9A2D-CF914DF84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" y="1695274"/>
            <a:ext cx="6506483" cy="2514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1AA092-2BE2-4E80-81AE-3CDD935E3C47}"/>
              </a:ext>
            </a:extLst>
          </p:cNvPr>
          <p:cNvSpPr txBox="1"/>
          <p:nvPr/>
        </p:nvSpPr>
        <p:spPr>
          <a:xfrm>
            <a:off x="7115175" y="1695274"/>
            <a:ext cx="317182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MAE</a:t>
            </a:r>
          </a:p>
          <a:p>
            <a:pPr algn="l"/>
            <a:r>
              <a:rPr lang="en-US" altLang="ko-KR" sz="1100"/>
              <a:t>MLE</a:t>
            </a:r>
          </a:p>
          <a:p>
            <a:pPr algn="l"/>
            <a:r>
              <a:rPr lang="en-US" altLang="ko-KR" sz="1100"/>
              <a:t>RULE BASE</a:t>
            </a:r>
          </a:p>
          <a:p>
            <a:pPr algn="l"/>
            <a:r>
              <a:rPr lang="ko-KR" altLang="en-US" sz="1100"/>
              <a:t>베이즈</a:t>
            </a:r>
            <a:endParaRPr lang="en-US" altLang="ko-KR" sz="1100"/>
          </a:p>
          <a:p>
            <a:pPr algn="l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756785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036FC3E-F82B-46E4-8E3D-B7E6D3874C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1600"/>
              <a:t>Rule Based Machine Learning</a:t>
            </a:r>
            <a:endParaRPr lang="ko-KR" altLang="en-US" sz="1600"/>
          </a:p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5288A-4A73-4093-A7A5-37BC31C74E2B}"/>
              </a:ext>
            </a:extLst>
          </p:cNvPr>
          <p:cNvSpPr txBox="1"/>
          <p:nvPr/>
        </p:nvSpPr>
        <p:spPr>
          <a:xfrm>
            <a:off x="0" y="1227909"/>
            <a:ext cx="9144000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Rule based machine learning(</a:t>
            </a:r>
            <a:r>
              <a:rPr lang="ko-KR" altLang="en-US" sz="1100"/>
              <a:t>한계점 알기위한 소개</a:t>
            </a:r>
            <a:r>
              <a:rPr lang="en-US" altLang="ko-KR" sz="1100"/>
              <a:t>)</a:t>
            </a:r>
          </a:p>
          <a:p>
            <a:pPr algn="l"/>
            <a:r>
              <a:rPr lang="en-US" altLang="ko-KR" sz="1100"/>
              <a:t>Machine Learning</a:t>
            </a:r>
          </a:p>
          <a:p>
            <a:pPr marL="171450" indent="-171450" algn="l">
              <a:buFontTx/>
              <a:buChar char="-"/>
            </a:pPr>
            <a:r>
              <a:rPr lang="ko-KR" altLang="en-US" sz="1100"/>
              <a:t>경험에 의해 학습</a:t>
            </a: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Task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에 대해 점점 더 잘 실행되도록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!(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해무데이터에서 요소들이라고 볼수있을것같음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(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시정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,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온도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,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수온등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많은 경험이 있다면 더욱 잘 될 것입니다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(=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데이터가 많아지면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!)</a:t>
            </a:r>
          </a:p>
          <a:p>
            <a:endParaRPr lang="en-US" altLang="ko-KR" sz="1100">
              <a:solidFill>
                <a:srgbClr val="333333"/>
              </a:solidFill>
              <a:latin typeface="Lato" panose="020F0502020204030203" pitchFamily="34" charset="0"/>
            </a:endParaRPr>
          </a:p>
          <a:p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Example Task</a:t>
            </a:r>
          </a:p>
          <a:p>
            <a:r>
              <a:rPr lang="ko-KR" altLang="en-US" sz="1100">
                <a:solidFill>
                  <a:srgbClr val="333333"/>
                </a:solidFill>
                <a:latin typeface="Lato" panose="020F0502020204030203" pitchFamily="34" charset="0"/>
              </a:rPr>
              <a:t>가정</a:t>
            </a:r>
            <a:endParaRPr lang="en-US" altLang="ko-KR" sz="1100">
              <a:solidFill>
                <a:srgbClr val="333333"/>
              </a:solidFill>
              <a:latin typeface="Lato" panose="020F0502020204030203" pitchFamily="34" charset="0"/>
            </a:endParaRPr>
          </a:p>
          <a:p>
            <a:pPr marL="171450" indent="-171450">
              <a:buFontTx/>
              <a:buChar char="-"/>
            </a:pP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관측의 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error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는 없고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, 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일관적이지 않은 관측도 없습니다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(=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일관적이다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)</a:t>
            </a:r>
          </a:p>
          <a:p>
            <a:pPr marL="171450" indent="-171450" algn="l">
              <a:buFontTx/>
              <a:buChar char="-"/>
            </a:pP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Random effect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가 없습니다</a:t>
            </a:r>
            <a:endParaRPr lang="en-US" altLang="ko-KR" sz="1100" b="0" i="0">
              <a:solidFill>
                <a:srgbClr val="333333"/>
              </a:solidFill>
              <a:effectLst/>
              <a:latin typeface="Lato" panose="020F0502020204030203" pitchFamily="34" charset="0"/>
            </a:endParaRPr>
          </a:p>
          <a:p>
            <a:pPr marL="171450" indent="-171450">
              <a:buFontTx/>
              <a:buChar char="-"/>
            </a:pP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해당 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factor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로 상황을 완벽히 설명할 수 있습니다</a:t>
            </a:r>
          </a:p>
          <a:p>
            <a:endParaRPr lang="en-US" altLang="ko-KR" sz="1100">
              <a:solidFill>
                <a:srgbClr val="333333"/>
              </a:solidFill>
              <a:latin typeface="Lato" panose="020F0502020204030203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Function Approximation(</a:t>
            </a:r>
            <a:r>
              <a:rPr lang="ko-KR" altLang="en-US" sz="1100"/>
              <a:t>다양한 </a:t>
            </a:r>
            <a:r>
              <a:rPr lang="en-US" altLang="ko-KR" sz="1100"/>
              <a:t>task</a:t>
            </a:r>
            <a:r>
              <a:rPr lang="ko-KR" altLang="en-US" sz="1100"/>
              <a:t>를 주면 </a:t>
            </a:r>
            <a:r>
              <a:rPr lang="en-US" altLang="ko-KR" sz="1100"/>
              <a:t>yes,no</a:t>
            </a:r>
            <a:r>
              <a:rPr lang="ko-KR" altLang="en-US" sz="1100"/>
              <a:t>를 결정해줌</a:t>
            </a:r>
            <a:r>
              <a:rPr lang="en-US" altLang="ko-KR" sz="1100"/>
              <a:t>, </a:t>
            </a:r>
            <a:r>
              <a:rPr lang="ko-KR" altLang="en-US" sz="1100"/>
              <a:t>머신러닝은 </a:t>
            </a:r>
            <a:r>
              <a:rPr lang="en-US" altLang="ko-KR" sz="1100"/>
              <a:t>function approximation</a:t>
            </a:r>
            <a:r>
              <a:rPr lang="ko-KR" altLang="en-US" sz="1100"/>
              <a:t>을 어떻게 하면 잘할수 있을까</a:t>
            </a:r>
            <a:r>
              <a:rPr lang="en-US" altLang="ko-KR" sz="1100"/>
              <a:t>, </a:t>
            </a:r>
            <a:r>
              <a:rPr lang="ko-KR" altLang="en-US" sz="1100"/>
              <a:t>현실감있게 현실화 시키면 좋은 머신러닝</a:t>
            </a:r>
            <a:endParaRPr lang="en-US" altLang="ko-KR" sz="1100">
              <a:solidFill>
                <a:srgbClr val="333333"/>
              </a:solidFill>
              <a:latin typeface="Lato" panose="020F0502020204030203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Task</a:t>
            </a:r>
            <a:r>
              <a:rPr lang="ko-KR" altLang="en-US" sz="1100">
                <a:solidFill>
                  <a:srgbClr val="333333"/>
                </a:solidFill>
                <a:latin typeface="Lato" panose="020F0502020204030203" pitchFamily="34" charset="0"/>
              </a:rPr>
              <a:t>를 잘 소화 할 수 있는 함수를 만들어야함</a:t>
            </a:r>
            <a:endParaRPr lang="en-US" altLang="ko-KR" sz="1100">
              <a:solidFill>
                <a:srgbClr val="333333"/>
              </a:solidFill>
              <a:latin typeface="Lato" panose="020F0502020204030203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altLang="ko-KR" sz="1100"/>
              <a:t>Instance X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2</a:t>
            </a:r>
            <a:r>
              <a:rPr lang="ko-KR" altLang="en-US" sz="1100">
                <a:solidFill>
                  <a:srgbClr val="333333"/>
                </a:solidFill>
                <a:latin typeface="Lato" panose="020F0502020204030203" pitchFamily="34" charset="0"/>
              </a:rPr>
              <a:t>개의 예시 중 하나</a:t>
            </a:r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, featur</a:t>
            </a:r>
            <a:r>
              <a:rPr lang="ko-KR" altLang="en-US" sz="1100">
                <a:solidFill>
                  <a:srgbClr val="333333"/>
                </a:solidFill>
                <a:latin typeface="Lato" panose="020F0502020204030203" pitchFamily="34" charset="0"/>
              </a:rPr>
              <a:t>는 </a:t>
            </a:r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input</a:t>
            </a:r>
            <a:r>
              <a:rPr lang="ko-KR" altLang="en-US" sz="1100">
                <a:solidFill>
                  <a:srgbClr val="333333"/>
                </a:solidFill>
                <a:latin typeface="Lato" panose="020F0502020204030203" pitchFamily="34" charset="0"/>
              </a:rPr>
              <a:t>값</a:t>
            </a:r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, Labels</a:t>
            </a:r>
            <a:r>
              <a:rPr lang="ko-KR" altLang="en-US" sz="1100">
                <a:solidFill>
                  <a:srgbClr val="333333"/>
                </a:solidFill>
                <a:latin typeface="Lato" panose="020F0502020204030203" pitchFamily="34" charset="0"/>
              </a:rPr>
              <a:t>은 정답</a:t>
            </a:r>
            <a:endParaRPr lang="en-US" altLang="ko-KR" sz="1100">
              <a:solidFill>
                <a:srgbClr val="333333"/>
              </a:solidFill>
              <a:latin typeface="Lato" panose="020F0502020204030203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altLang="ko-KR" sz="1100"/>
              <a:t>Tranning Dataset D</a:t>
            </a:r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 </a:t>
            </a:r>
          </a:p>
          <a:p>
            <a:pPr marL="628650" lvl="1" indent="-171450">
              <a:buFontTx/>
              <a:buChar char="-"/>
            </a:pPr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 X</a:t>
            </a:r>
            <a:r>
              <a:rPr lang="ko-KR" altLang="en-US" sz="1100">
                <a:solidFill>
                  <a:srgbClr val="333333"/>
                </a:solidFill>
                <a:latin typeface="Lato" panose="020F0502020204030203" pitchFamily="34" charset="0"/>
              </a:rPr>
              <a:t>의 집합</a:t>
            </a:r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(2</a:t>
            </a:r>
            <a:r>
              <a:rPr lang="ko-KR" altLang="en-US" sz="1100">
                <a:solidFill>
                  <a:srgbClr val="333333"/>
                </a:solidFill>
                <a:latin typeface="Lato" panose="020F0502020204030203" pitchFamily="34" charset="0"/>
              </a:rPr>
              <a:t>개</a:t>
            </a:r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Hypotheses H: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 ~</a:t>
            </a:r>
            <a:r>
              <a:rPr lang="ko-KR" altLang="en-US" sz="1100"/>
              <a:t>한 조건이면 </a:t>
            </a:r>
            <a:r>
              <a:rPr lang="en-US" altLang="ko-KR" sz="1100"/>
              <a:t>Yes!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Target function c </a:t>
            </a:r>
          </a:p>
          <a:p>
            <a:pPr marL="628650" lvl="1" indent="-171450">
              <a:buFontTx/>
              <a:buChar char="-"/>
            </a:pP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알지 못하지만 목표로 하는 함수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ko-KR" altLang="en-US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데이터를 보고 알아내야 합니다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)</a:t>
            </a:r>
            <a:endParaRPr lang="ko-KR" altLang="en-US" sz="1100"/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endParaRPr lang="en-US" altLang="ko-KR" sz="1100">
              <a:solidFill>
                <a:srgbClr val="333333"/>
              </a:solidFill>
              <a:latin typeface="Lato" panose="020F0502020204030203" pitchFamily="34" charset="0"/>
            </a:endParaRPr>
          </a:p>
          <a:p>
            <a:endParaRPr lang="en-US" altLang="ko-KR" sz="1100">
              <a:solidFill>
                <a:srgbClr val="333333"/>
              </a:solidFill>
              <a:latin typeface="Lato" panose="020F0502020204030203" pitchFamily="34" charset="0"/>
            </a:endParaRPr>
          </a:p>
          <a:p>
            <a:endParaRPr lang="en-US" altLang="ko-KR" sz="1100">
              <a:solidFill>
                <a:srgbClr val="333333"/>
              </a:solidFill>
              <a:latin typeface="Lato" panose="020F0502020204030203" pitchFamily="34" charset="0"/>
            </a:endParaRPr>
          </a:p>
          <a:p>
            <a:endParaRPr lang="en-US" altLang="ko-KR" sz="1100" b="0" i="0">
              <a:solidFill>
                <a:srgbClr val="333333"/>
              </a:solidFill>
              <a:effectLst/>
              <a:latin typeface="Lato" panose="020F0502020204030203" pitchFamily="34" charset="0"/>
            </a:endParaRPr>
          </a:p>
          <a:p>
            <a:pPr marL="171450" indent="-171450" algn="l">
              <a:buFontTx/>
              <a:buChar char="-"/>
            </a:pPr>
            <a:endParaRPr lang="en-US" altLang="ko-KR" sz="1100"/>
          </a:p>
          <a:p>
            <a:pPr lvl="1"/>
            <a:endParaRPr lang="en-US" altLang="ko-KR" sz="1100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E6080B89-C0C2-47BC-A49C-8F8651082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602132"/>
              </p:ext>
            </p:extLst>
          </p:nvPr>
        </p:nvGraphicFramePr>
        <p:xfrm>
          <a:off x="670560" y="5550535"/>
          <a:ext cx="7471954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22">
                  <a:extLst>
                    <a:ext uri="{9D8B030D-6E8A-4147-A177-3AD203B41FA5}">
                      <a16:colId xmlns:a16="http://schemas.microsoft.com/office/drawing/2014/main" val="4200077062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1679914846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4221358989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2238394450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2508546501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3481326924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1518901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Sky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Humid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EnjoySPT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840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66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860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541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AEAF2DF-054A-49C8-A799-BBFE7C260B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524A4F-7FB3-4D4D-8C42-00F29C308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68" y="1219553"/>
            <a:ext cx="6782747" cy="27721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53A8770-7798-4941-8356-45AD849BF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513" y="1341120"/>
            <a:ext cx="1495634" cy="2267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ED22D7-92D3-4452-A320-0794204D6422}"/>
              </a:ext>
            </a:extLst>
          </p:cNvPr>
          <p:cNvSpPr txBox="1"/>
          <p:nvPr/>
        </p:nvSpPr>
        <p:spPr>
          <a:xfrm>
            <a:off x="217714" y="4136571"/>
            <a:ext cx="8699863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Input</a:t>
            </a:r>
            <a:r>
              <a:rPr lang="ko-KR" altLang="en-US" sz="1100"/>
              <a:t>값</a:t>
            </a:r>
            <a:endParaRPr lang="en-US" altLang="ko-KR" sz="1100"/>
          </a:p>
          <a:p>
            <a:pPr algn="l"/>
            <a:r>
              <a:rPr lang="en-US" altLang="ko-KR" sz="1100">
                <a:solidFill>
                  <a:srgbClr val="333333"/>
                </a:solidFill>
                <a:latin typeface="Lato" panose="020F0502020204030203" pitchFamily="34" charset="0"/>
              </a:rPr>
              <a:t>X1:</a:t>
            </a: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 &lt;Sunny, Warm, Normal, Strong, Warm, Same&gt;</a:t>
            </a:r>
          </a:p>
          <a:p>
            <a:pPr algn="l"/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x2: &lt;Sunny, Warm, Normal, Light, Warm, Same&gt;</a:t>
            </a:r>
            <a:br>
              <a:rPr lang="en-US" altLang="ko-KR" sz="1100"/>
            </a:b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x3  : &lt;Sunny, Warm, Normal, Strong, Warm, Change&gt;</a:t>
            </a:r>
          </a:p>
          <a:p>
            <a:pPr algn="l"/>
            <a:endParaRPr lang="en-US" altLang="ko-KR" sz="1100">
              <a:solidFill>
                <a:srgbClr val="333333"/>
              </a:solidFill>
              <a:latin typeface="Lato" panose="020F0502020204030203" pitchFamily="34" charset="0"/>
            </a:endParaRPr>
          </a:p>
          <a:p>
            <a:pPr algn="l"/>
            <a:r>
              <a:rPr lang="en-US" altLang="ko-KR" sz="1100"/>
              <a:t>Hypothesis :</a:t>
            </a:r>
            <a:r>
              <a:rPr lang="ko-KR" altLang="en-US" sz="1100"/>
              <a:t>조건이 많을 수록 </a:t>
            </a:r>
            <a:r>
              <a:rPr lang="en-US" altLang="ko-KR" sz="1100"/>
              <a:t>specific</a:t>
            </a:r>
            <a:r>
              <a:rPr lang="ko-KR" altLang="en-US" sz="1100"/>
              <a:t>하다</a:t>
            </a:r>
            <a:endParaRPr lang="en-US" altLang="ko-KR" sz="1100"/>
          </a:p>
          <a:p>
            <a:pPr algn="l"/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h1: &lt;Sunny, ?, ?, ?, Warm, ?&gt;</a:t>
            </a:r>
            <a:br>
              <a:rPr lang="en-US" altLang="ko-KR" sz="1100"/>
            </a:b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h2 : &lt;Sunny, ?, ?, ?, Warm, Same&gt;</a:t>
            </a:r>
            <a:br>
              <a:rPr lang="en-US" altLang="ko-KR" sz="1100"/>
            </a:br>
            <a:r>
              <a:rPr lang="en-US" altLang="ko-KR" sz="1100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h3 : &lt;Sunny, ?, ?, Strong, Warm, ?&gt;</a:t>
            </a:r>
          </a:p>
          <a:p>
            <a:pPr algn="l"/>
            <a:endParaRPr lang="en-US" altLang="ko-KR" sz="1100">
              <a:solidFill>
                <a:srgbClr val="333333"/>
              </a:solidFill>
              <a:latin typeface="Lato" panose="020F0502020204030203" pitchFamily="34" charset="0"/>
            </a:endParaRPr>
          </a:p>
          <a:p>
            <a:pPr algn="l"/>
            <a:r>
              <a:rPr lang="en-US" altLang="ko-KR" sz="1100"/>
              <a:t>X1</a:t>
            </a:r>
            <a:r>
              <a:rPr lang="ko-KR" altLang="en-US" sz="1100"/>
              <a:t>은</a:t>
            </a:r>
            <a:r>
              <a:rPr lang="en-US" altLang="ko-KR" sz="1100"/>
              <a:t>h1,2,3</a:t>
            </a:r>
            <a:r>
              <a:rPr lang="ko-KR" altLang="en-US" sz="1100"/>
              <a:t>의 조건을 만족</a:t>
            </a:r>
            <a:r>
              <a:rPr lang="en-US" altLang="ko-KR" sz="1100"/>
              <a:t>, x2</a:t>
            </a:r>
            <a:r>
              <a:rPr lang="ko-KR" altLang="en-US" sz="1100"/>
              <a:t>는 </a:t>
            </a:r>
            <a:r>
              <a:rPr lang="en-US" altLang="ko-KR" sz="1100"/>
              <a:t>h1,h2</a:t>
            </a:r>
            <a:r>
              <a:rPr lang="ko-KR" altLang="en-US" sz="1100"/>
              <a:t>만족</a:t>
            </a:r>
            <a:r>
              <a:rPr lang="en-US" altLang="ko-KR" sz="1100"/>
              <a:t>, x3</a:t>
            </a:r>
            <a:r>
              <a:rPr lang="ko-KR" altLang="en-US" sz="1100"/>
              <a:t>는 </a:t>
            </a:r>
            <a:r>
              <a:rPr lang="en-US" altLang="ko-KR" sz="1100"/>
              <a:t>h1,h3</a:t>
            </a:r>
            <a:r>
              <a:rPr lang="ko-KR" altLang="en-US" sz="1100"/>
              <a:t>를 만족</a:t>
            </a:r>
            <a:endParaRPr lang="en-US" altLang="ko-KR" sz="1100"/>
          </a:p>
          <a:p>
            <a:pPr algn="l"/>
            <a:r>
              <a:rPr lang="en-US" altLang="ko-KR" sz="1100"/>
              <a:t>H1</a:t>
            </a:r>
            <a:r>
              <a:rPr lang="ko-KR" altLang="en-US" sz="1100"/>
              <a:t>은 가설이 </a:t>
            </a:r>
            <a:r>
              <a:rPr lang="en-US" altLang="ko-KR" sz="1100"/>
              <a:t>2</a:t>
            </a:r>
            <a:r>
              <a:rPr lang="ko-KR" altLang="en-US" sz="1100"/>
              <a:t>개 밖에 없고 까다롭지 않아 </a:t>
            </a:r>
            <a:r>
              <a:rPr lang="en-US" altLang="ko-KR" sz="1100"/>
              <a:t>general</a:t>
            </a:r>
          </a:p>
          <a:p>
            <a:pPr algn="l"/>
            <a:r>
              <a:rPr lang="en-US" altLang="ko-KR" sz="1100"/>
              <a:t>H2,3</a:t>
            </a:r>
            <a:r>
              <a:rPr lang="ko-KR" altLang="en-US" sz="1100"/>
              <a:t>는 가설이 </a:t>
            </a:r>
            <a:r>
              <a:rPr lang="en-US" altLang="ko-KR" sz="1100"/>
              <a:t>3</a:t>
            </a:r>
            <a:r>
              <a:rPr lang="ko-KR" altLang="en-US" sz="1100"/>
              <a:t>개임으로 </a:t>
            </a:r>
            <a:r>
              <a:rPr lang="en-US" altLang="ko-KR" sz="1100"/>
              <a:t>specific</a:t>
            </a:r>
            <a:endParaRPr lang="ko-KR" altLang="en-US" sz="1100"/>
          </a:p>
        </p:txBody>
      </p:sp>
      <p:graphicFrame>
        <p:nvGraphicFramePr>
          <p:cNvPr id="11" name="표 6">
            <a:extLst>
              <a:ext uri="{FF2B5EF4-FFF2-40B4-BE49-F238E27FC236}">
                <a16:creationId xmlns:a16="http://schemas.microsoft.com/office/drawing/2014/main" id="{A9405D35-21BA-47C4-A1E5-62D67F270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92763"/>
              </p:ext>
            </p:extLst>
          </p:nvPr>
        </p:nvGraphicFramePr>
        <p:xfrm>
          <a:off x="5780442" y="4114645"/>
          <a:ext cx="7471954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22">
                  <a:extLst>
                    <a:ext uri="{9D8B030D-6E8A-4147-A177-3AD203B41FA5}">
                      <a16:colId xmlns:a16="http://schemas.microsoft.com/office/drawing/2014/main" val="4200077062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1679914846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4221358989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2238394450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2508546501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3481326924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1518901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Sky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Humid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EnjoySPT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840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66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860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71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73EDA4D2-0CAB-45F0-9562-EEF9753287E8}"/>
              </a:ext>
            </a:extLst>
          </p:cNvPr>
          <p:cNvSpPr/>
          <p:nvPr/>
        </p:nvSpPr>
        <p:spPr>
          <a:xfrm>
            <a:off x="670560" y="3429000"/>
            <a:ext cx="8011608" cy="2087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AEAF2DF-054A-49C8-A799-BBFE7C260B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ED22D7-92D3-4452-A320-0794204D6422}"/>
                  </a:ext>
                </a:extLst>
              </p:cNvPr>
              <p:cNvSpPr txBox="1"/>
              <p:nvPr/>
            </p:nvSpPr>
            <p:spPr>
              <a:xfrm>
                <a:off x="78377" y="1341120"/>
                <a:ext cx="8699863" cy="1954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Find S</a:t>
                </a:r>
                <a:r>
                  <a:rPr lang="ko-KR" altLang="en-US" sz="1100"/>
                  <a:t>알고리즘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첫 가설은 </a:t>
                </a:r>
                <a:r>
                  <a:rPr lang="en-US" altLang="ko-KR" sz="1100"/>
                  <a:t>NULL Hypotheses</a:t>
                </a:r>
                <a:r>
                  <a:rPr lang="ko-KR" altLang="en-US" sz="1100"/>
                  <a:t>로 설정</a:t>
                </a:r>
                <a:endParaRPr lang="en-US" altLang="ko-KR" sz="1100"/>
              </a:p>
              <a:p>
                <a:pPr algn="l"/>
                <a:endParaRPr lang="en-US" altLang="ko-KR" sz="11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 &lt;</m:t>
                    </m:r>
                    <m:r>
                      <a:rPr lang="en-US" altLang="ko-K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∅,∅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ko-KR" sz="1100"/>
                  <a:t>,</a:t>
                </a:r>
                <a:r>
                  <a:rPr lang="en-US" altLang="ko-KR" sz="110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ko-KR" sz="1100"/>
                  <a:t>,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endParaRPr lang="en-US" altLang="ko-KR" sz="11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100" b="0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Sunny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Warm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Normal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Strong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Warm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Same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altLang="ko-KR" sz="11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Sunny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Warm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Normal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Strong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Warm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Same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altLang="ko-KR" sz="11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100" b="0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Sunny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Warm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Normal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 b="0" i="0" smtClean="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Light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Warm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Same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altLang="ko-KR" sz="11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Sunny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Warm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Normal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?,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Warm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100">
                          <a:solidFill>
                            <a:srgbClr val="333333"/>
                          </a:solidFill>
                          <a:latin typeface="Lato" panose="020F0502020204030203" pitchFamily="34" charset="0"/>
                        </a:rPr>
                        <m:t>Same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altLang="ko-KR" sz="1100"/>
              </a:p>
              <a:p>
                <a:pPr/>
                <a:endParaRPr lang="en-US" altLang="ko-KR" sz="1100"/>
              </a:p>
              <a:p>
                <a:pPr/>
                <a:r>
                  <a:rPr lang="ko-KR" altLang="en-US" sz="1100"/>
                  <a:t>이러한 방법으로 가능한 범위</a:t>
                </a:r>
                <a:r>
                  <a:rPr lang="en-US" altLang="ko-KR" sz="1100"/>
                  <a:t>(Version Space)</a:t>
                </a:r>
                <a:r>
                  <a:rPr lang="ko-KR" altLang="en-US" sz="1100"/>
                  <a:t>를 찾음</a:t>
                </a:r>
                <a:endParaRPr lang="en-US" altLang="ko-KR" sz="1100"/>
              </a:p>
              <a:p>
                <a:pPr/>
                <a:r>
                  <a:rPr lang="en-US" altLang="ko-KR" sz="1100"/>
                  <a:t>General Boundary</a:t>
                </a:r>
                <a:r>
                  <a:rPr lang="ko-KR" altLang="en-US" sz="1100"/>
                  <a:t>와 </a:t>
                </a:r>
                <a:r>
                  <a:rPr lang="en-US" altLang="ko-KR" sz="1100"/>
                  <a:t>Specific Boundary</a:t>
                </a:r>
                <a:r>
                  <a:rPr lang="ko-KR" altLang="en-US" sz="1100"/>
                  <a:t>이사이에 있는 공간을 찾음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ED22D7-92D3-4452-A320-0794204D6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7" y="1341120"/>
                <a:ext cx="8699863" cy="1954381"/>
              </a:xfrm>
              <a:prstGeom prst="rect">
                <a:avLst/>
              </a:prstGeom>
              <a:blipFill>
                <a:blip r:embed="rId3"/>
                <a:stretch>
                  <a:fillRect t="-312" b="-12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9BC71532-62B4-4C4B-A6C1-1F94C19C3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368" y="1435305"/>
            <a:ext cx="3733800" cy="1857375"/>
          </a:xfrm>
          <a:prstGeom prst="rect">
            <a:avLst/>
          </a:prstGeom>
        </p:spPr>
      </p:pic>
      <p:graphicFrame>
        <p:nvGraphicFramePr>
          <p:cNvPr id="11" name="표 6">
            <a:extLst>
              <a:ext uri="{FF2B5EF4-FFF2-40B4-BE49-F238E27FC236}">
                <a16:creationId xmlns:a16="http://schemas.microsoft.com/office/drawing/2014/main" id="{1AF1CBCD-A4E0-4F8B-99C3-6487783B2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74606"/>
              </p:ext>
            </p:extLst>
          </p:nvPr>
        </p:nvGraphicFramePr>
        <p:xfrm>
          <a:off x="670560" y="5550535"/>
          <a:ext cx="7471954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22">
                  <a:extLst>
                    <a:ext uri="{9D8B030D-6E8A-4147-A177-3AD203B41FA5}">
                      <a16:colId xmlns:a16="http://schemas.microsoft.com/office/drawing/2014/main" val="4200077062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1679914846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4221358989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2238394450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2508546501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3481326924"/>
                    </a:ext>
                  </a:extLst>
                </a:gridCol>
                <a:gridCol w="1067422">
                  <a:extLst>
                    <a:ext uri="{9D8B030D-6E8A-4147-A177-3AD203B41FA5}">
                      <a16:colId xmlns:a16="http://schemas.microsoft.com/office/drawing/2014/main" val="1518901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Sky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Humid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EnjoySPT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840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66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Warm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86044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1C6510E-1407-4AB1-80DC-9B557C6E3B8B}"/>
                  </a:ext>
                </a:extLst>
              </p:cNvPr>
              <p:cNvSpPr/>
              <p:nvPr/>
            </p:nvSpPr>
            <p:spPr>
              <a:xfrm>
                <a:off x="2657475" y="4962099"/>
                <a:ext cx="3600451" cy="38883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:{&lt;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𝑆𝑢𝑛𝑛𝑦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,?,?,?,?,?&gt;,&lt;?,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𝑊𝑎𝑟𝑚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,?,?,?,?&gt;}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1C6510E-1407-4AB1-80DC-9B557C6E3B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475" y="4962099"/>
                <a:ext cx="3600451" cy="3888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3F48F4F-A22D-4708-A1DF-42B7D545C918}"/>
                  </a:ext>
                </a:extLst>
              </p:cNvPr>
              <p:cNvSpPr/>
              <p:nvPr/>
            </p:nvSpPr>
            <p:spPr>
              <a:xfrm>
                <a:off x="2657476" y="3655468"/>
                <a:ext cx="3600450" cy="38883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1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:{&lt;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𝑆𝑢𝑛𝑛𝑦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𝑊𝑎𝑟𝑚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,?,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𝑆𝑡𝑟𝑜𝑛𝑔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,?,?&gt;}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3F48F4F-A22D-4708-A1DF-42B7D545C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476" y="3655468"/>
                <a:ext cx="3600450" cy="3888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3AFC0431-00C2-4FCE-890E-9267076C1865}"/>
                  </a:ext>
                </a:extLst>
              </p:cNvPr>
              <p:cNvSpPr/>
              <p:nvPr/>
            </p:nvSpPr>
            <p:spPr>
              <a:xfrm>
                <a:off x="873760" y="4360535"/>
                <a:ext cx="2133600" cy="38883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𝑆𝑢𝑛𝑛𝑦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𝑊𝑎𝑟𝑚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,?,?,?,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𝑆𝑎𝑚𝑒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3AFC0431-00C2-4FCE-890E-9267076C18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" y="4360535"/>
                <a:ext cx="2133600" cy="3888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2B46FAEE-50F1-43D2-869C-2B08745AE7B0}"/>
                  </a:ext>
                </a:extLst>
              </p:cNvPr>
              <p:cNvSpPr/>
              <p:nvPr/>
            </p:nvSpPr>
            <p:spPr>
              <a:xfrm>
                <a:off x="3390265" y="4360535"/>
                <a:ext cx="2133600" cy="38883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𝑆𝑢𝑛𝑛𝑦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𝑊𝑎𝑟𝑚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,?,?,?,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𝑆𝑎𝑚𝑒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2B46FAEE-50F1-43D2-869C-2B08745AE7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265" y="4360535"/>
                <a:ext cx="2133600" cy="3888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316B327E-6415-4AA2-BBD2-99A51DA8B2D6}"/>
                  </a:ext>
                </a:extLst>
              </p:cNvPr>
              <p:cNvSpPr/>
              <p:nvPr/>
            </p:nvSpPr>
            <p:spPr>
              <a:xfrm>
                <a:off x="5906770" y="4360535"/>
                <a:ext cx="2133600" cy="38883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𝑆𝑢𝑛𝑛𝑦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𝑊𝑎𝑟𝑚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,?,?,?,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𝑆𝑎𝑚𝑒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316B327E-6415-4AA2-BBD2-99A51DA8B2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770" y="4360535"/>
                <a:ext cx="2133600" cy="3888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316E244-7855-41CE-A930-CFFF68E093FC}"/>
              </a:ext>
            </a:extLst>
          </p:cNvPr>
          <p:cNvCxnSpPr>
            <a:cxnSpLocks/>
            <a:stCxn id="12" idx="1"/>
            <a:endCxn id="14" idx="2"/>
          </p:cNvCxnSpPr>
          <p:nvPr/>
        </p:nvCxnSpPr>
        <p:spPr>
          <a:xfrm flipH="1" flipV="1">
            <a:off x="1940560" y="4749373"/>
            <a:ext cx="716915" cy="407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F8372AD-DD92-4573-9211-D169DB8A0C3A}"/>
              </a:ext>
            </a:extLst>
          </p:cNvPr>
          <p:cNvCxnSpPr>
            <a:cxnSpLocks/>
            <a:stCxn id="14" idx="0"/>
            <a:endCxn id="13" idx="1"/>
          </p:cNvCxnSpPr>
          <p:nvPr/>
        </p:nvCxnSpPr>
        <p:spPr>
          <a:xfrm flipV="1">
            <a:off x="1940560" y="3849887"/>
            <a:ext cx="716916" cy="510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1CDD4A0-C85B-4918-8D6D-621A6844F822}"/>
              </a:ext>
            </a:extLst>
          </p:cNvPr>
          <p:cNvCxnSpPr>
            <a:cxnSpLocks/>
            <a:stCxn id="12" idx="0"/>
            <a:endCxn id="15" idx="2"/>
          </p:cNvCxnSpPr>
          <p:nvPr/>
        </p:nvCxnSpPr>
        <p:spPr>
          <a:xfrm flipH="1" flipV="1">
            <a:off x="4457065" y="4749373"/>
            <a:ext cx="636" cy="21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A66F732-C926-4EE0-A4DC-4261A270A8FC}"/>
              </a:ext>
            </a:extLst>
          </p:cNvPr>
          <p:cNvCxnSpPr>
            <a:stCxn id="15" idx="0"/>
            <a:endCxn id="13" idx="2"/>
          </p:cNvCxnSpPr>
          <p:nvPr/>
        </p:nvCxnSpPr>
        <p:spPr>
          <a:xfrm flipV="1">
            <a:off x="4457065" y="4044306"/>
            <a:ext cx="636" cy="316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20D3A62-5A2E-4E2D-9590-9CEFAC239DEE}"/>
              </a:ext>
            </a:extLst>
          </p:cNvPr>
          <p:cNvCxnSpPr>
            <a:stCxn id="12" idx="3"/>
            <a:endCxn id="16" idx="2"/>
          </p:cNvCxnSpPr>
          <p:nvPr/>
        </p:nvCxnSpPr>
        <p:spPr>
          <a:xfrm flipV="1">
            <a:off x="6257926" y="4749373"/>
            <a:ext cx="715644" cy="407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1F1490E-56BE-46BE-8B0F-ED7D001CBC36}"/>
              </a:ext>
            </a:extLst>
          </p:cNvPr>
          <p:cNvCxnSpPr>
            <a:stCxn id="16" idx="0"/>
            <a:endCxn id="13" idx="3"/>
          </p:cNvCxnSpPr>
          <p:nvPr/>
        </p:nvCxnSpPr>
        <p:spPr>
          <a:xfrm flipH="1" flipV="1">
            <a:off x="6257926" y="3849887"/>
            <a:ext cx="715644" cy="510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8E14867-E7EA-47A2-A1FC-AE78628EE031}"/>
              </a:ext>
            </a:extLst>
          </p:cNvPr>
          <p:cNvSpPr txBox="1"/>
          <p:nvPr/>
        </p:nvSpPr>
        <p:spPr>
          <a:xfrm>
            <a:off x="752475" y="3505200"/>
            <a:ext cx="1323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b="1"/>
              <a:t>Version Space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1689933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DA4425B-AB8F-4EDA-84CD-33F0DB82C1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MLE(Maximum Likelihood Estimation)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2CBE0-BCE3-47A5-BD63-2D0AD3F4459D}"/>
              </a:ext>
            </a:extLst>
          </p:cNvPr>
          <p:cNvSpPr txBox="1"/>
          <p:nvPr/>
        </p:nvSpPr>
        <p:spPr>
          <a:xfrm>
            <a:off x="238125" y="1257300"/>
            <a:ext cx="3959738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Likelihood</a:t>
            </a:r>
          </a:p>
          <a:p>
            <a:pPr algn="l"/>
            <a:r>
              <a:rPr lang="en-US" altLang="ko-KR" sz="1100"/>
              <a:t>: </a:t>
            </a:r>
            <a:r>
              <a:rPr lang="ko-KR" altLang="en-US" sz="1100"/>
              <a:t>조건부 확률값이나 확률 분포는아님</a:t>
            </a:r>
            <a:r>
              <a:rPr lang="en-US" altLang="ko-KR" sz="1100"/>
              <a:t>(</a:t>
            </a:r>
            <a:r>
              <a:rPr lang="ko-KR" altLang="en-US" sz="1100"/>
              <a:t>합이 </a:t>
            </a:r>
            <a:r>
              <a:rPr lang="en-US" altLang="ko-KR" sz="1100"/>
              <a:t>1</a:t>
            </a:r>
            <a:r>
              <a:rPr lang="ko-KR" altLang="en-US" sz="1100"/>
              <a:t>이 아니기떄문에</a:t>
            </a:r>
            <a:r>
              <a:rPr lang="en-US" altLang="ko-KR" sz="1100"/>
              <a:t>)</a:t>
            </a:r>
          </a:p>
          <a:p>
            <a:pPr algn="l"/>
            <a:r>
              <a:rPr lang="ko-KR" altLang="en-US" sz="1100"/>
              <a:t>예시 주머니</a:t>
            </a:r>
            <a:endParaRPr lang="en-US" altLang="ko-KR" sz="1100"/>
          </a:p>
          <a:p>
            <a:pPr algn="l"/>
            <a:r>
              <a:rPr lang="ko-KR" altLang="en-US" sz="1100"/>
              <a:t>비교값을 확인하여 선택의 폭을 줄일수있다 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MLE</a:t>
            </a:r>
          </a:p>
          <a:p>
            <a:pPr algn="l"/>
            <a:r>
              <a:rPr lang="en-US" altLang="ko-KR" sz="1100"/>
              <a:t>Measurement z</a:t>
            </a:r>
            <a:r>
              <a:rPr lang="ko-KR" altLang="en-US" sz="1100"/>
              <a:t>를 보고 </a:t>
            </a:r>
            <a:r>
              <a:rPr lang="en-US" altLang="ko-KR" sz="1100"/>
              <a:t>x</a:t>
            </a:r>
            <a:r>
              <a:rPr lang="ko-KR" altLang="en-US" sz="1100"/>
              <a:t>를 찾고자함</a:t>
            </a:r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1978978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DA4425B-AB8F-4EDA-84CD-33F0DB82C1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Naïve Bayes Classifier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77642-9418-423E-8F3B-5F46636A05C0}"/>
              </a:ext>
            </a:extLst>
          </p:cNvPr>
          <p:cNvSpPr txBox="1"/>
          <p:nvPr/>
        </p:nvSpPr>
        <p:spPr>
          <a:xfrm>
            <a:off x="228600" y="1257300"/>
            <a:ext cx="798195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Naïve Bayes Classifier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Optimal Classification</a:t>
            </a:r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925814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DA4425B-AB8F-4EDA-84CD-33F0DB82C1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847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5A56DB-AED4-41D0-8D84-B8EFCAA392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참고문헌</a:t>
            </a:r>
            <a:endParaRPr lang="en-US" altLang="ko-KR"/>
          </a:p>
          <a:p>
            <a:pPr>
              <a:buNone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hlinkClick r:id="rId2"/>
              </a:rPr>
              <a:t>https://www.edwith.org/machinelearning1_17/lecture/10580?isDesc=false</a:t>
            </a:r>
            <a:endParaRPr lang="en-US" altLang="ko-KR" sz="1100"/>
          </a:p>
          <a:p>
            <a:pPr algn="l"/>
            <a:r>
              <a:rPr lang="en-US" altLang="ko-KR" sz="1100">
                <a:hlinkClick r:id="rId3"/>
              </a:rPr>
              <a:t>https://zzsza.github.io/data/2018/04/19/rule-based-machine-learning-overview/</a:t>
            </a:r>
            <a:endParaRPr lang="en-US" altLang="ko-KR" sz="1100"/>
          </a:p>
          <a:p>
            <a:pPr algn="l"/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1098788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12349</TotalTime>
  <Pages>4</Pages>
  <Words>763</Words>
  <Characters>0</Characters>
  <Application>Microsoft Office PowerPoint</Application>
  <DocSecurity>0</DocSecurity>
  <PresentationFormat>화면 슬라이드 쇼(4:3)</PresentationFormat>
  <Lines>0</Lines>
  <Paragraphs>159</Paragraphs>
  <Slides>13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HY견고딕</vt:lpstr>
      <vt:lpstr>맑은 고딕</vt:lpstr>
      <vt:lpstr>Arial</vt:lpstr>
      <vt:lpstr>Arial Black</vt:lpstr>
      <vt:lpstr>Calibri</vt:lpstr>
      <vt:lpstr>Calibri Light</vt:lpstr>
      <vt:lpstr>Cambria Math</vt:lpstr>
      <vt:lpstr>Lato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251</cp:revision>
  <dcterms:modified xsi:type="dcterms:W3CDTF">2023-07-28T01:11:28Z</dcterms:modified>
  <cp:version>9.104.131.47063</cp:version>
</cp:coreProperties>
</file>