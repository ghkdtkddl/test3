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59" r:id="rId4"/>
    <p:sldId id="260" r:id="rId5"/>
    <p:sldId id="261" r:id="rId6"/>
    <p:sldId id="262" r:id="rId7"/>
    <p:sldId id="27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5" r:id="rId19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8485543-1849-4791-92E3-68CFEC39D1B1}">
          <p14:sldIdLst>
            <p14:sldId id="256"/>
            <p14:sldId id="258"/>
            <p14:sldId id="259"/>
            <p14:sldId id="260"/>
            <p14:sldId id="261"/>
            <p14:sldId id="262"/>
            <p14:sldId id="276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  <p:cmAuthor id="2" name="지훈 김" initials="지김" lastIdx="1" clrIdx="1">
    <p:extLst>
      <p:ext uri="{19B8F6BF-5375-455C-9EA6-DF929625EA0E}">
        <p15:presenceInfo xmlns:p15="http://schemas.microsoft.com/office/powerpoint/2012/main" userId="1f877c8ff6cf4c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1" autoAdjust="0"/>
    <p:restoredTop sz="82629" autoAdjust="0"/>
  </p:normalViewPr>
  <p:slideViewPr>
    <p:cSldViewPr snapToGrid="0" snapToObjects="1">
      <p:cViewPr>
        <p:scale>
          <a:sx n="100" d="100"/>
          <a:sy n="100" d="100"/>
        </p:scale>
        <p:origin x="2268" y="-114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/>
            </a:pPr>
            <a:r>
              <a:rPr lang="ko-KR" altLang="en-US" sz="1200"/>
              <a:t>예를 들어 연인의 카톡내용에서 하트가 대화의 반이고 욕설은 거의 없다</a:t>
            </a:r>
          </a:p>
          <a:p>
            <a:pPr algn="l">
              <a:defRPr/>
            </a:pPr>
            <a:r>
              <a:rPr lang="ko-KR" altLang="en-US" sz="1200"/>
              <a:t>확률로 표현하면 </a:t>
            </a:r>
            <a:r>
              <a:rPr lang="en-US" altLang="ko-KR" sz="1200"/>
              <a:t>P(</a:t>
            </a:r>
            <a:r>
              <a:rPr lang="ko-KR" altLang="en-US" sz="1200"/>
              <a:t>하트</a:t>
            </a:r>
            <a:r>
              <a:rPr lang="en-US" altLang="ko-KR" sz="1200"/>
              <a:t>) = 0.5 P(</a:t>
            </a:r>
            <a:r>
              <a:rPr lang="ko-KR" altLang="en-US" sz="1200"/>
              <a:t>욕설</a:t>
            </a:r>
            <a:r>
              <a:rPr lang="en-US" altLang="ko-KR" sz="1200"/>
              <a:t>) = 0.001</a:t>
            </a:r>
            <a:r>
              <a:rPr lang="ko-KR" altLang="en-US" sz="1200"/>
              <a:t>정도가 된다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대화를 인코딩을 할때  </a:t>
            </a:r>
            <a:r>
              <a:rPr lang="en-US" altLang="ko-KR" sz="1200"/>
              <a:t>bit</a:t>
            </a:r>
            <a:r>
              <a:rPr lang="ko-KR" altLang="en-US" sz="1200"/>
              <a:t>로 표현</a:t>
            </a:r>
          </a:p>
          <a:p>
            <a:pPr algn="l">
              <a:defRPr/>
            </a:pPr>
            <a:r>
              <a:rPr lang="ko-KR" altLang="en-US" sz="1200"/>
              <a:t>만약 </a:t>
            </a:r>
            <a:r>
              <a:rPr lang="en-US" altLang="ko-KR" sz="1200"/>
              <a:t>/// -&gt; </a:t>
            </a:r>
            <a:r>
              <a:rPr lang="ko-KR" altLang="en-US" sz="1200"/>
              <a:t>하트</a:t>
            </a:r>
            <a:r>
              <a:rPr lang="en-US" altLang="ko-KR" sz="1200"/>
              <a:t>,   o -&gt;</a:t>
            </a:r>
            <a:r>
              <a:rPr lang="ko-KR" altLang="en-US" sz="1200"/>
              <a:t>욕설일때  하트를 </a:t>
            </a:r>
            <a:r>
              <a:rPr lang="en-US" altLang="ko-KR" sz="1200"/>
              <a:t>4</a:t>
            </a:r>
            <a:r>
              <a:rPr lang="ko-KR" altLang="en-US" sz="1200"/>
              <a:t>번 보낸다 했을때  </a:t>
            </a:r>
            <a:r>
              <a:rPr lang="en-US" altLang="ko-KR" sz="1200"/>
              <a:t>///,///,///,///</a:t>
            </a:r>
            <a:r>
              <a:rPr lang="ko-KR" altLang="en-US" sz="1200"/>
              <a:t>의 길이가 되는 반면</a:t>
            </a:r>
          </a:p>
          <a:p>
            <a:pPr algn="l">
              <a:defRPr/>
            </a:pPr>
            <a:r>
              <a:rPr lang="ko-KR" altLang="en-US" sz="1200"/>
              <a:t>욕설을 </a:t>
            </a:r>
            <a:r>
              <a:rPr lang="en-US" altLang="ko-KR" sz="1200"/>
              <a:t>4</a:t>
            </a:r>
            <a:r>
              <a:rPr lang="ko-KR" altLang="en-US" sz="1200"/>
              <a:t>번 보낼땐 </a:t>
            </a:r>
            <a:r>
              <a:rPr lang="en-US" altLang="ko-KR" sz="1200"/>
              <a:t>o,o,o,o </a:t>
            </a:r>
            <a:r>
              <a:rPr lang="ko-KR" altLang="en-US" sz="1200"/>
              <a:t>대화의 반이 하트를 사용하는데 길이가 길고 욕설은 짧다</a:t>
            </a:r>
          </a:p>
          <a:p>
            <a:pPr algn="l">
              <a:defRPr/>
            </a:pPr>
            <a:r>
              <a:rPr lang="ko-KR" altLang="en-US" sz="1200"/>
              <a:t>비효율적이다</a:t>
            </a:r>
          </a:p>
          <a:p>
            <a:pPr algn="l">
              <a:defRPr/>
            </a:pPr>
            <a:r>
              <a:rPr lang="ko-KR" altLang="en-US" sz="1200"/>
              <a:t>이 두개의 예시를 바꿔보면 더 효율적일 것이다</a:t>
            </a:r>
            <a:r>
              <a:rPr lang="en-US" altLang="ko-KR" sz="1200"/>
              <a:t>.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확률에 따라 확률이 낮은 것을 길게 코딩</a:t>
            </a:r>
            <a:r>
              <a:rPr lang="en-US" altLang="ko-KR" sz="1200"/>
              <a:t>, </a:t>
            </a:r>
            <a:r>
              <a:rPr lang="ko-KR" altLang="en-US" sz="1200"/>
              <a:t>높으면 짧게 코딩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/>
              <a:t>확률이 다 동일하다고 가정</a:t>
            </a:r>
            <a:r>
              <a:rPr lang="en-US" altLang="ko-KR" sz="1200"/>
              <a:t>, P(</a:t>
            </a:r>
            <a:r>
              <a:rPr lang="ko-KR" altLang="en-US" sz="1200"/>
              <a:t>하트</a:t>
            </a:r>
            <a:r>
              <a:rPr lang="en-US" altLang="ko-KR" sz="1200"/>
              <a:t>) = 0.1, P(</a:t>
            </a:r>
            <a:r>
              <a:rPr lang="ko-KR" altLang="en-US" sz="1200"/>
              <a:t>욕설</a:t>
            </a:r>
            <a:r>
              <a:rPr lang="en-US" altLang="ko-KR" sz="1200"/>
              <a:t>) = 0.1</a:t>
            </a:r>
          </a:p>
          <a:p>
            <a:pPr algn="l"/>
            <a:r>
              <a:rPr lang="ko-KR" altLang="en-US" sz="1200"/>
              <a:t>실제로 </a:t>
            </a:r>
            <a:r>
              <a:rPr lang="en-US" altLang="ko-KR" sz="1200"/>
              <a:t>P</a:t>
            </a:r>
            <a:r>
              <a:rPr lang="ko-KR" altLang="en-US" sz="1200"/>
              <a:t>를 따르겠지만 내가 동일하게 생각한 확률분포는 </a:t>
            </a:r>
            <a:r>
              <a:rPr lang="en-US" altLang="ko-KR" sz="1200"/>
              <a:t>Q</a:t>
            </a:r>
            <a:r>
              <a:rPr lang="ko-KR" altLang="en-US" sz="1200"/>
              <a:t>이다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48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연애를 하는 동안 같이 먹었던 음식을 횟수로 정리한 히스토그램표이다</a:t>
            </a:r>
          </a:p>
          <a:p>
            <a:pPr lvl="0">
              <a:defRPr/>
            </a:pPr>
            <a:r>
              <a:rPr lang="ko-KR" altLang="en-US"/>
              <a:t>확률적으로 군만두가 높기때문에 여자친구가 어떤걸 먹고싶어하는지는 확률표를 보고 군만두라고 말할 수 있다</a:t>
            </a:r>
          </a:p>
          <a:p>
            <a:pPr lvl="0">
              <a:defRPr/>
            </a:pPr>
            <a:r>
              <a:rPr lang="ko-KR" altLang="en-US"/>
              <a:t>그렇게 되면 전체적인 횟수가 늘어나지만 군만두의 확률만 높아짐</a:t>
            </a:r>
          </a:p>
          <a:p>
            <a:pPr lvl="0">
              <a:defRPr/>
            </a:pPr>
            <a:r>
              <a:rPr lang="ko-KR" altLang="en-US"/>
              <a:t>군만두 질려서 먹기 싫다고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다음에는 좀 더 다른 방향으로 제안함</a:t>
            </a:r>
          </a:p>
          <a:p>
            <a:pPr lvl="0">
              <a:defRPr/>
            </a:pPr>
            <a:r>
              <a:rPr lang="ko-KR" altLang="en-US"/>
              <a:t>어떤 음식을 먹었을 때의 영향요인을 정리한 표 정리한것</a:t>
            </a:r>
            <a:r>
              <a:rPr lang="en-US" altLang="ko-KR"/>
              <a:t>, </a:t>
            </a:r>
            <a:r>
              <a:rPr lang="ko-KR" altLang="en-US"/>
              <a:t>그래서 이를 기반으로 저번의 파스타를 먹었을때의 오늘과 같은 영향요인이기 떄문에</a:t>
            </a:r>
          </a:p>
          <a:p>
            <a:pPr lvl="0">
              <a:defRPr/>
            </a:pPr>
            <a:r>
              <a:rPr lang="ko-KR" altLang="en-US"/>
              <a:t>파스타 선택했지만 </a:t>
            </a:r>
            <a:r>
              <a:rPr lang="en-US" altLang="ko-KR"/>
              <a:t>p(d|</a:t>
            </a:r>
            <a:r>
              <a:rPr lang="ko-KR" altLang="en-US"/>
              <a:t>파스타</a:t>
            </a:r>
            <a:r>
              <a:rPr lang="en-US" altLang="ko-KR"/>
              <a:t>), </a:t>
            </a:r>
            <a:r>
              <a:rPr lang="ko-KR" altLang="en-US"/>
              <a:t>오늘같은날 뭐 먹고싶은지 말해야지 무슨상관이냐 </a:t>
            </a:r>
            <a:r>
              <a:rPr lang="en-US" altLang="ko-KR"/>
              <a:t>p(f|data)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남자친구 센스없어서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이제는 </a:t>
            </a:r>
            <a:r>
              <a:rPr lang="en-US" altLang="ko-KR"/>
              <a:t>episode 1</a:t>
            </a:r>
            <a:r>
              <a:rPr lang="ko-KR" altLang="en-US"/>
              <a:t>에서 모은 </a:t>
            </a:r>
            <a:r>
              <a:rPr lang="en-US" altLang="ko-KR"/>
              <a:t>prior probability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에서 모은 </a:t>
            </a:r>
            <a:r>
              <a:rPr lang="en-US" altLang="ko-KR"/>
              <a:t>likelihood</a:t>
            </a:r>
            <a:r>
              <a:rPr lang="ko-KR" altLang="en-US"/>
              <a:t>의 정보가 있다</a:t>
            </a:r>
          </a:p>
          <a:p>
            <a:pPr lvl="0">
              <a:defRPr/>
            </a:pPr>
            <a:r>
              <a:rPr lang="ko-KR" altLang="en-US"/>
              <a:t>다양한 방법으로 접근해보자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다시 정리해보면 여자친구는 </a:t>
            </a:r>
            <a:r>
              <a:rPr lang="en-US" altLang="ko-KR"/>
              <a:t>p(food|data)</a:t>
            </a:r>
            <a:r>
              <a:rPr lang="ko-KR" altLang="en-US"/>
              <a:t>를 원하고 나는 </a:t>
            </a:r>
            <a:r>
              <a:rPr lang="en-US" altLang="ko-KR"/>
              <a:t>likelihood p(data|food)</a:t>
            </a:r>
            <a:r>
              <a:rPr lang="ko-KR" altLang="en-US"/>
              <a:t>의 정보가 있고 사전에 </a:t>
            </a:r>
            <a:r>
              <a:rPr lang="en-US" altLang="ko-KR"/>
              <a:t>prior probability</a:t>
            </a:r>
            <a:r>
              <a:rPr lang="ko-KR" altLang="en-US"/>
              <a:t>가 있다면</a:t>
            </a:r>
          </a:p>
          <a:p>
            <a:pPr lvl="0">
              <a:defRPr/>
            </a:pPr>
            <a:r>
              <a:rPr lang="ko-KR" altLang="en-US"/>
              <a:t>어떠한 법칙이 생각 나지 않는가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현실적으로 사전확률을 얻기 쉽지않거나 잘못 구하게 되면 큰일남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베이지안 룰에서 </a:t>
            </a:r>
            <a:r>
              <a:rPr lang="en-US" altLang="ko-KR"/>
              <a:t>p(b)</a:t>
            </a:r>
            <a:r>
              <a:rPr lang="ko-KR" altLang="en-US"/>
              <a:t>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Normalizing constant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임으로 무시가능</a:t>
            </a:r>
          </a:p>
          <a:p>
            <a:pPr lvl="0">
              <a:defRPr/>
            </a:pPr>
            <a:endParaRPr lang="ko-KR" altLang="en-US" b="0" i="0">
              <a:solidFill>
                <a:srgbClr val="333333"/>
              </a:solidFill>
              <a:effectLst/>
              <a:latin typeface="Jeju Gothic"/>
            </a:endParaRP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실제로 컨디션마다 음식의 확률을 구하는건 어렵다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,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 정보를 모은다는 입장에서는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likelihood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를 모오는게 더 쉽다</a:t>
            </a: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베이지룰의 진짜 의미는 우리가 구하기 쉬운데이터를 가지고 구하기 어려운데이터를 구하는 장치이 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MLE, MAP</a:t>
            </a:r>
            <a:r>
              <a:rPr lang="ko-KR" altLang="en-US"/>
              <a:t>표로작성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어떤 확률 분포에서 샘플이 나올수있는 가능성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likelihood</a:t>
            </a:r>
          </a:p>
          <a:p>
            <a:pPr>
              <a:defRPr/>
            </a:pPr>
            <a:r>
              <a:rPr lang="ko-KR" altLang="en-US"/>
              <a:t>샘플들의 곱을 통해 </a:t>
            </a:r>
            <a:r>
              <a:rPr lang="en-US" altLang="ko-KR"/>
              <a:t>likelihood</a:t>
            </a:r>
            <a:r>
              <a:rPr lang="ko-KR" altLang="en-US"/>
              <a:t>를 알 수 있음</a:t>
            </a:r>
          </a:p>
          <a:p>
            <a:pPr>
              <a:defRPr/>
            </a:pPr>
            <a:r>
              <a:rPr lang="ko-KR" altLang="en-US"/>
              <a:t>빨강 </a:t>
            </a:r>
            <a:r>
              <a:rPr lang="en-US" altLang="ko-KR"/>
              <a:t>=</a:t>
            </a:r>
            <a:r>
              <a:rPr lang="ko-KR" altLang="en-US"/>
              <a:t> 한국</a:t>
            </a:r>
            <a:r>
              <a:rPr lang="en-US" altLang="ko-KR"/>
              <a:t>,</a:t>
            </a:r>
            <a:r>
              <a:rPr lang="ko-KR" altLang="en-US"/>
              <a:t> 파랑 </a:t>
            </a:r>
            <a:r>
              <a:rPr lang="en-US" altLang="ko-KR"/>
              <a:t>=</a:t>
            </a:r>
            <a:r>
              <a:rPr lang="ko-KR" altLang="en-US"/>
              <a:t> 네덜란드의 키의 분포</a:t>
            </a:r>
          </a:p>
          <a:p>
            <a:pPr>
              <a:defRPr/>
            </a:pPr>
            <a:r>
              <a:rPr lang="en-US" altLang="ko-KR"/>
              <a:t>167</a:t>
            </a:r>
            <a:r>
              <a:rPr lang="ko-KR" altLang="en-US"/>
              <a:t>은 어디 확률분포에서 나온 데이터일까</a:t>
            </a:r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빨강색 </a:t>
            </a:r>
            <a:r>
              <a:rPr lang="en-US" altLang="ko-KR"/>
              <a:t>– </a:t>
            </a:r>
            <a:r>
              <a:rPr lang="ko-KR" altLang="en-US"/>
              <a:t>한국</a:t>
            </a:r>
            <a:r>
              <a:rPr lang="en-US" altLang="ko-KR"/>
              <a:t>, </a:t>
            </a:r>
            <a:r>
              <a:rPr lang="ko-KR" altLang="en-US"/>
              <a:t>보라색 </a:t>
            </a:r>
            <a:r>
              <a:rPr lang="en-US" altLang="ko-KR"/>
              <a:t>– </a:t>
            </a:r>
            <a:r>
              <a:rPr lang="ko-KR" altLang="en-US"/>
              <a:t>네덜란드 비교</a:t>
            </a:r>
            <a:endParaRPr lang="en-US" altLang="ko-KR"/>
          </a:p>
          <a:p>
            <a:pPr>
              <a:defRPr/>
            </a:pPr>
            <a:r>
              <a:rPr lang="en-US" altLang="ko-KR"/>
              <a:t>likelihood</a:t>
            </a:r>
            <a:r>
              <a:rPr lang="ko-KR" altLang="en-US"/>
              <a:t> 계산</a:t>
            </a:r>
          </a:p>
          <a:p>
            <a:pPr>
              <a:defRPr/>
            </a:pPr>
            <a:r>
              <a:rPr lang="ko-KR" altLang="en-US"/>
              <a:t>샘플이 있을때 어떤 확률분포에서 나올 가능성이 클까 비교할때 많이 씀</a:t>
            </a:r>
          </a:p>
          <a:p>
            <a:pPr>
              <a:defRPr/>
            </a:pPr>
            <a:r>
              <a:rPr lang="en-US" altLang="ko-KR"/>
              <a:t>likelihood function L</a:t>
            </a:r>
            <a:r>
              <a:rPr lang="ko-KR" altLang="en-US"/>
              <a:t>은 </a:t>
            </a:r>
            <a:r>
              <a:rPr lang="en-US" altLang="ko-KR"/>
              <a:t>L(u,a) =&gt; L(mean,standard)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딥러닝의 경우 많은 파라미터를 가지고 있기떄문에 벡터로 표시</a:t>
            </a:r>
            <a:endParaRPr lang="en-US" altLang="ko-KR"/>
          </a:p>
          <a:p>
            <a:r>
              <a:rPr lang="ko-KR" altLang="en-US"/>
              <a:t>지금은 뮤랑 시그마를 가진 벡터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67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628678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710468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710468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616613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6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 Entropy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73" r:id="rId5"/>
    <p:sldLayoutId id="2147483728" r:id="rId6"/>
    <p:sldLayoutId id="2147483734" r:id="rId7"/>
    <p:sldLayoutId id="2147483735" r:id="rId8"/>
    <p:sldLayoutId id="2147483736" r:id="rId9"/>
    <p:sldLayoutId id="2147483737" r:id="rId10"/>
    <p:sldLayoutId id="2147483730" r:id="rId11"/>
    <p:sldLayoutId id="214748373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with.org/machinelearning1_17/lecture/10575?isDesc=false" TargetMode="External"/><Relationship Id="rId3" Type="http://schemas.openxmlformats.org/officeDocument/2006/relationships/hyperlink" Target="https://velog.io/@yuns_u/%EC%86%90%EC%8B%A4%ED%95%A8%EC%88%98-%EA%B0%84%EB%9E%B5-%EC%A0%95%EB%A6%AC" TargetMode="External"/><Relationship Id="rId7" Type="http://schemas.openxmlformats.org/officeDocument/2006/relationships/hyperlink" Target="https://gaussian37.github.io/ml-concept-basic_information_theory/" TargetMode="External"/><Relationship Id="rId2" Type="http://schemas.openxmlformats.org/officeDocument/2006/relationships/hyperlink" Target="https://study2give.tistory.com/entry/%EB%A8%B8%EC%8B%A0%EB%9F%AC%EB%8B%9D-%EC%86%90%EC%8B%A4%ED%95%A8%EC%88%982-%EC%97%94%ED%8A%B8%EB%A1%9C%ED%94%BCEntropy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zsza.github.io/data/2018/04/19/rule-based-machine-learning-overview/" TargetMode="External"/><Relationship Id="rId5" Type="http://schemas.openxmlformats.org/officeDocument/2006/relationships/hyperlink" Target="https://www.edwith.org/machinelearning1_17/lecture/10580?isDesc=false" TargetMode="External"/><Relationship Id="rId10" Type="http://schemas.openxmlformats.org/officeDocument/2006/relationships/hyperlink" Target="https://hyeongminlee.github.io/post/bnn002_mle_map/" TargetMode="External"/><Relationship Id="rId4" Type="http://schemas.openxmlformats.org/officeDocument/2006/relationships/hyperlink" Target="https://darkpgmr.tistory.com/186" TargetMode="External"/><Relationship Id="rId9" Type="http://schemas.openxmlformats.org/officeDocument/2006/relationships/hyperlink" Target="https://www.youtube.com/watch?v=mxCmB1WE3R8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yeongminlee.github.io/post/bnn002_mle_map/" TargetMode="External"/><Relationship Id="rId2" Type="http://schemas.openxmlformats.org/officeDocument/2006/relationships/hyperlink" Target="https://warm-uk.tistory.com/49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데이터사이언스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/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400"/>
              <a:t>Entropy</a:t>
            </a:r>
            <a:endParaRPr lang="ko-KR" altLang="en-US" sz="24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2CF8CF-B21C-4E30-8F2D-4195CA1729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MLE vs MAP</a:t>
            </a:r>
          </a:p>
          <a:p>
            <a:endParaRPr lang="ko-KR" altLang="en-US"/>
          </a:p>
        </p:txBody>
      </p:sp>
      <p:sp>
        <p:nvSpPr>
          <p:cNvPr id="15" name="텍스트 개체 틀 6"/>
          <p:cNvSpPr txBox="1"/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  <p:sp>
        <p:nvSpPr>
          <p:cNvPr id="8" name="텍스트 개체 틀 6"/>
          <p:cNvSpPr txBox="1"/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/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불확실성의 척도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정보를 표현하는데 필요한 최소 평균 자원량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정보이론에서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정보를 정량화 하는 단위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정보가 클 수록 엔트로피가 크고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정보가 작으면 엔트로피가 작음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정보량의 수식</a:t>
                </a:r>
                <a:endParaRPr lang="en-US" altLang="ko-KR" sz="1200">
                  <a:latin typeface="+mn-ea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+mn-ea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+mn-ea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+mn-ea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+mn-ea"/>
                        </a:rPr>
                        <m:t>=−</m:t>
                      </m:r>
                      <m:func>
                        <m:funcPr>
                          <m:ctrlPr>
                            <a:rPr lang="en-US" altLang="ko-KR" sz="1200" b="0" i="1" smtClean="0">
                              <a:latin typeface="+mn-ea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sz="1200" b="0" i="1" smtClean="0"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+mn-ea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+mn-ea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sz="1200" b="0" i="1" smtClean="0">
                              <a:latin typeface="+mn-ea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+mn-ea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+mn-ea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- </a:t>
                </a:r>
                <a:r>
                  <a:rPr lang="ko-KR" altLang="en-US" sz="1200">
                    <a:latin typeface="+mn-ea"/>
                  </a:rPr>
                  <a:t>섀넌은 불확실성의 측정을 엔트로피라 했으며 </a:t>
                </a:r>
                <a:r>
                  <a:rPr lang="en-US" altLang="ko-KR" sz="1200">
                    <a:latin typeface="+mn-ea"/>
                  </a:rPr>
                  <a:t>bit</a:t>
                </a:r>
                <a:r>
                  <a:rPr lang="ko-KR" altLang="en-US" sz="1200">
                    <a:latin typeface="+mn-ea"/>
                  </a:rPr>
                  <a:t>로 단위로 사용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blipFill>
                <a:blip r:embed="rId3"/>
                <a:stretch>
                  <a:fillRect l="-70" t="-3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41A8DC8F-D8A6-4417-A9D7-7F0A38528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26" y="2386940"/>
            <a:ext cx="2393660" cy="38199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하트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대화의 반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거의 없음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두개의 단어를 확률로 표현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𝑃</m:t>
                    </m:r>
                    <m:r>
                      <a:rPr lang="en-US" altLang="ko-KR" sz="1200" b="0" i="1" smtClean="0">
                        <a:latin typeface="+mn-ea"/>
                      </a:rPr>
                      <m:t>(</m:t>
                    </m:r>
                    <m:r>
                      <a:rPr lang="ko-KR" altLang="en-US" sz="1200" i="1">
                        <a:latin typeface="+mn-ea"/>
                      </a:rPr>
                      <m:t>하</m:t>
                    </m:r>
                  </m:oMath>
                </a14:m>
                <a:r>
                  <a:rPr lang="ko-KR" altLang="en-US" sz="1200">
                    <a:latin typeface="+mn-ea"/>
                  </a:rPr>
                  <a:t>트</a:t>
                </a:r>
                <a:r>
                  <a:rPr lang="en-US" altLang="ko-KR" sz="1200">
                    <a:latin typeface="+mn-ea"/>
                  </a:rPr>
                  <a:t>) = 0.5,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𝑃</m:t>
                    </m:r>
                    <m:r>
                      <a:rPr lang="en-US" altLang="ko-KR" sz="1200" b="0" i="1" smtClean="0">
                        <a:latin typeface="+mn-ea"/>
                      </a:rPr>
                      <m:t>(</m:t>
                    </m:r>
                    <m:r>
                      <a:rPr lang="ko-KR" altLang="en-US" sz="1200" i="1">
                        <a:latin typeface="+mn-ea"/>
                      </a:rPr>
                      <m:t>욕</m:t>
                    </m:r>
                    <m:r>
                      <a:rPr lang="ko-KR" altLang="en-US" sz="1200" i="1" smtClean="0">
                        <a:latin typeface="+mn-ea"/>
                      </a:rPr>
                      <m:t>설</m:t>
                    </m:r>
                  </m:oMath>
                </a14:m>
                <a:r>
                  <a:rPr lang="en-US" altLang="ko-KR" sz="1200">
                    <a:latin typeface="+mn-ea"/>
                  </a:rPr>
                  <a:t>) = 0.001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대화를 인코딩 할 때 </a:t>
                </a:r>
                <a:r>
                  <a:rPr lang="en-US" altLang="ko-KR" sz="1200">
                    <a:latin typeface="+mn-ea"/>
                  </a:rPr>
                  <a:t>bit(0,1)</a:t>
                </a:r>
                <a:r>
                  <a:rPr lang="ko-KR" altLang="en-US" sz="1200">
                    <a:latin typeface="+mn-ea"/>
                  </a:rPr>
                  <a:t>로 표현을 한다 했을때 하트 </a:t>
                </a:r>
                <a:r>
                  <a:rPr lang="en-US" altLang="ko-KR" sz="1200">
                    <a:latin typeface="+mn-ea"/>
                  </a:rPr>
                  <a:t>= ‘///’,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= ‘o’</a:t>
                </a:r>
                <a:r>
                  <a:rPr lang="ko-KR" altLang="en-US" sz="1200">
                    <a:latin typeface="+mn-ea"/>
                  </a:rPr>
                  <a:t>의 형태로 보냄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연인에게 하트를 </a:t>
                </a:r>
                <a:r>
                  <a:rPr lang="en-US" altLang="ko-KR" sz="1200">
                    <a:latin typeface="+mn-ea"/>
                  </a:rPr>
                  <a:t>4</a:t>
                </a:r>
                <a:r>
                  <a:rPr lang="ko-KR" altLang="en-US" sz="1200">
                    <a:latin typeface="+mn-ea"/>
                  </a:rPr>
                  <a:t>번 보낼때는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‘///,///,///,///’</a:t>
                </a:r>
                <a:r>
                  <a:rPr lang="ko-KR" altLang="en-US" sz="1200">
                    <a:latin typeface="+mn-ea"/>
                  </a:rPr>
                  <a:t>의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길이이고 욕설일 경우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‘o,o,o,o’</a:t>
                </a:r>
                <a:r>
                  <a:rPr lang="ko-KR" altLang="en-US" sz="1200">
                    <a:latin typeface="+mn-ea"/>
                  </a:rPr>
                  <a:t>의 길이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비효율적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하트와 욕설의 형태를 바꾸면</a:t>
                </a:r>
                <a:r>
                  <a:rPr lang="en-US" altLang="ko-KR" sz="1200">
                    <a:latin typeface="+mn-ea"/>
                  </a:rPr>
                  <a:t>? =&gt; </a:t>
                </a:r>
                <a:r>
                  <a:rPr lang="ko-KR" altLang="en-US" sz="1200">
                    <a:latin typeface="+mn-ea"/>
                  </a:rPr>
                  <a:t>효율적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확률에 따라 확률이 낮은것을 길게 코딩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확률이 높으면 짧게 코딩 </a:t>
                </a:r>
                <a:r>
                  <a:rPr lang="en-US" altLang="ko-KR" sz="1200">
                    <a:latin typeface="+mn-ea"/>
                  </a:rPr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blipFill>
                <a:blip r:embed="rId5"/>
                <a:stretch>
                  <a:fillRect l="-95" t="-441" b="-2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BED6F5-D7C9-43C0-920C-528B06D51E37}"/>
              </a:ext>
            </a:extLst>
          </p:cNvPr>
          <p:cNvGrpSpPr/>
          <p:nvPr/>
        </p:nvGrpSpPr>
        <p:grpSpPr>
          <a:xfrm>
            <a:off x="2261849" y="4840806"/>
            <a:ext cx="2393659" cy="1788500"/>
            <a:chOff x="952500" y="4267200"/>
            <a:chExt cx="1847530" cy="14893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49E686-6A1F-4936-A055-665B9C0B70E7}"/>
                </a:ext>
              </a:extLst>
            </p:cNvPr>
            <p:cNvGrpSpPr/>
            <p:nvPr/>
          </p:nvGrpSpPr>
          <p:grpSpPr>
            <a:xfrm>
              <a:off x="952500" y="4325061"/>
              <a:ext cx="1847530" cy="1431517"/>
              <a:chOff x="952500" y="4325061"/>
              <a:chExt cx="1847530" cy="1431517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D1851B1-FEF4-4DC9-8E4D-109B875B0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025" y="5489575"/>
                <a:ext cx="13811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E8EF66CA-2200-40AB-9011-E709C4365F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025" y="4325061"/>
                <a:ext cx="0" cy="11645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3BBA901-2692-4BEE-A6D0-972012B4BF9C}"/>
                  </a:ext>
                </a:extLst>
              </p:cNvPr>
              <p:cNvCxnSpPr/>
              <p:nvPr/>
            </p:nvCxnSpPr>
            <p:spPr>
              <a:xfrm>
                <a:off x="2169160" y="5435600"/>
                <a:ext cx="0" cy="107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DB8F49-BEEB-4E76-BCFC-AA037E616674}"/>
                  </a:ext>
                </a:extLst>
              </p:cNvPr>
              <p:cNvSpPr txBox="1"/>
              <p:nvPr/>
            </p:nvSpPr>
            <p:spPr>
              <a:xfrm>
                <a:off x="2052639" y="5484183"/>
                <a:ext cx="152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099B78-C114-4174-AEC1-018CB18C8047}"/>
                  </a:ext>
                </a:extLst>
              </p:cNvPr>
              <p:cNvSpPr txBox="1"/>
              <p:nvPr/>
            </p:nvSpPr>
            <p:spPr>
              <a:xfrm>
                <a:off x="952500" y="4362450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길이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7CB429-210B-4148-B517-5B0363FEBB99}"/>
                  </a:ext>
                </a:extLst>
              </p:cNvPr>
              <p:cNvSpPr txBox="1"/>
              <p:nvPr/>
            </p:nvSpPr>
            <p:spPr>
              <a:xfrm>
                <a:off x="2276157" y="5494968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확률</a:t>
                </a:r>
              </a:p>
            </p:txBody>
          </p: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CEF114A-01CD-4C22-B6DC-93A4B10FE209}"/>
                </a:ext>
              </a:extLst>
            </p:cNvPr>
            <p:cNvSpPr/>
            <p:nvPr/>
          </p:nvSpPr>
          <p:spPr>
            <a:xfrm>
              <a:off x="1437494" y="4267200"/>
              <a:ext cx="718966" cy="1219200"/>
            </a:xfrm>
            <a:custGeom>
              <a:avLst/>
              <a:gdLst>
                <a:gd name="connsiteX0" fmla="*/ 718966 w 718966"/>
                <a:gd name="connsiteY0" fmla="*/ 1219200 h 1219200"/>
                <a:gd name="connsiteX1" fmla="*/ 337966 w 718966"/>
                <a:gd name="connsiteY1" fmla="*/ 1059180 h 1219200"/>
                <a:gd name="connsiteX2" fmla="*/ 132226 w 718966"/>
                <a:gd name="connsiteY2" fmla="*/ 769620 h 1219200"/>
                <a:gd name="connsiteX3" fmla="*/ 25546 w 718966"/>
                <a:gd name="connsiteY3" fmla="*/ 190500 h 1219200"/>
                <a:gd name="connsiteX4" fmla="*/ 2686 w 718966"/>
                <a:gd name="connsiteY4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966" h="1219200">
                  <a:moveTo>
                    <a:pt x="718966" y="1219200"/>
                  </a:moveTo>
                  <a:cubicBezTo>
                    <a:pt x="577361" y="1176655"/>
                    <a:pt x="435756" y="1134110"/>
                    <a:pt x="337966" y="1059180"/>
                  </a:cubicBezTo>
                  <a:cubicBezTo>
                    <a:pt x="240176" y="984250"/>
                    <a:pt x="184296" y="914400"/>
                    <a:pt x="132226" y="769620"/>
                  </a:cubicBezTo>
                  <a:cubicBezTo>
                    <a:pt x="80156" y="624840"/>
                    <a:pt x="47136" y="318770"/>
                    <a:pt x="25546" y="190500"/>
                  </a:cubicBezTo>
                  <a:cubicBezTo>
                    <a:pt x="3956" y="62230"/>
                    <a:pt x="-4934" y="35560"/>
                    <a:pt x="268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0135C3-C64D-4BFB-A142-19167AAD5197}"/>
              </a:ext>
            </a:extLst>
          </p:cNvPr>
          <p:cNvSpPr txBox="1"/>
          <p:nvPr/>
        </p:nvSpPr>
        <p:spPr>
          <a:xfrm>
            <a:off x="6799516" y="1294832"/>
            <a:ext cx="132600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0.5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0.001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8381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노란선은 </a:t>
                </a:r>
                <a:r>
                  <a:rPr lang="en-US" altLang="ko-KR" sz="1200">
                    <a:latin typeface="+mn-ea"/>
                  </a:rPr>
                  <a:t>log</a:t>
                </a:r>
                <a:r>
                  <a:rPr lang="ko-KR" altLang="en-US" sz="1200">
                    <a:latin typeface="+mn-ea"/>
                  </a:rPr>
                  <a:t>함수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파란선은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−</m:t>
                    </m:r>
                    <m:sSub>
                      <m:sSubPr>
                        <m:ctrlPr>
                          <a:rPr lang="en-US" altLang="ko-KR" sz="1200" b="0" i="1" smtClean="0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+mn-ea"/>
                          </a:rPr>
                          <m:t>log</m:t>
                        </m:r>
                      </m:e>
                      <m:sub>
                        <m:r>
                          <a:rPr lang="en-US" altLang="ko-KR" sz="1200" b="0" i="0" smtClean="0">
                            <a:latin typeface="+mn-ea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200" b="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+mn-ea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카톡방에서 하트와 욕설 뿐만아니라 다른 대화도 오가는데 이러한 랜덤확률 대비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solidFill>
                      <a:srgbClr val="FFC000"/>
                    </a:solidFill>
                    <a:latin typeface="+mn-ea"/>
                  </a:rPr>
                  <a:t> - </a:t>
                </a:r>
                <a:r>
                  <a:rPr lang="ko-KR" altLang="en-US" sz="1200">
                    <a:solidFill>
                      <a:srgbClr val="FFC000"/>
                    </a:solidFill>
                    <a:latin typeface="+mn-ea"/>
                  </a:rPr>
                  <a:t>최소 자원량을 랜덤한 입장에서 보면 기댓값으로 가야함</a:t>
                </a:r>
                <a:endParaRPr lang="en-US" altLang="ko-KR" sz="1200">
                  <a:solidFill>
                    <a:srgbClr val="FFC000"/>
                  </a:solidFill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 기댓값은 </a:t>
                </a:r>
                <a:r>
                  <a:rPr lang="en-US" altLang="ko-KR" sz="1200">
                    <a:latin typeface="+mn-ea"/>
                  </a:rPr>
                  <a:t>mean</a:t>
                </a:r>
                <a:r>
                  <a:rPr lang="ko-KR" altLang="en-US" sz="1200">
                    <a:latin typeface="+mn-ea"/>
                  </a:rPr>
                  <a:t>을 취해야 함으로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+mn-ea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ko-KR" altLang="en-US" sz="1200" i="1" smtClean="0">
                            <a:latin typeface="+mn-ea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+mn-ea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altLang="ko-KR" sz="1200" b="0" i="1" smtClean="0">
                            <a:latin typeface="+mn-ea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+mn-ea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+mn-ea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+mn-ea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r>
                  <a:rPr lang="ko-KR" altLang="en-US" sz="1200">
                    <a:latin typeface="+mn-ea"/>
                  </a:rPr>
                  <a:t>의 식이 됨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예를 들어 </a:t>
                </a:r>
                <a:r>
                  <a:rPr lang="en-US" altLang="ko-KR" sz="1200">
                    <a:latin typeface="+mn-ea"/>
                  </a:rPr>
                  <a:t>3</a:t>
                </a:r>
                <a:r>
                  <a:rPr lang="ko-KR" altLang="en-US" sz="1200">
                    <a:latin typeface="+mn-ea"/>
                  </a:rPr>
                  <a:t>개의 랜덤단어가 있다면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:3,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</a:t>
                </a:r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1/3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:4 ,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1/4 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</a:t>
                </a:r>
                <a:r>
                  <a:rPr lang="en-US" altLang="ko-KR" sz="1200">
                    <a:latin typeface="+mn-ea"/>
                  </a:rPr>
                  <a:t>: 5,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- 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+mn-ea"/>
                      </a:rPr>
                      <m:t>−</m:t>
                    </m:r>
                    <m:func>
                      <m:funcPr>
                        <m:ctrlPr>
                          <a:rPr lang="en-US" altLang="ko-KR" sz="1200" b="0" i="1" smtClean="0">
                            <a:latin typeface="+mn-ea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+mn-ea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+mn-ea"/>
                              </a:rPr>
                              <m:t>길</m:t>
                            </m:r>
                            <m:r>
                              <a:rPr lang="ko-KR" altLang="en-US" sz="1200" i="1" smtClean="0">
                                <a:latin typeface="+mn-ea"/>
                              </a:rPr>
                              <m:t>이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+mn-ea"/>
                          </a:rPr>
                          <m:t> ∗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+mn-ea"/>
                              </a:rPr>
                              <m:t>확</m:t>
                            </m:r>
                            <m:r>
                              <a:rPr lang="ko-KR" altLang="en-US" sz="1200" i="1" smtClean="0">
                                <a:latin typeface="+mn-ea"/>
                              </a:rPr>
                              <m:t>률</m:t>
                            </m:r>
                          </m:e>
                        </m:d>
                        <m:r>
                          <a:rPr lang="ko-KR" altLang="en-US" sz="1200" i="1">
                            <a:latin typeface="+mn-ea"/>
                          </a:rPr>
                          <m:t>을</m:t>
                        </m:r>
                        <m:r>
                          <a:rPr lang="en-US" altLang="ko-KR" sz="1200" b="0" i="1" smtClean="0">
                            <a:latin typeface="+mn-ea"/>
                          </a:rPr>
                          <m:t> </m:t>
                        </m:r>
                        <m:r>
                          <a:rPr lang="ko-KR" altLang="en-US" sz="1200" i="1">
                            <a:latin typeface="+mn-ea"/>
                          </a:rPr>
                          <m:t>합</m:t>
                        </m:r>
                        <m:r>
                          <a:rPr lang="ko-KR" altLang="en-US" sz="1200" i="1" smtClean="0">
                            <a:latin typeface="+mn-ea"/>
                          </a:rPr>
                          <m:t>치</m:t>
                        </m:r>
                        <m:r>
                          <a:rPr lang="ko-KR" altLang="en-US" sz="1200" i="1">
                            <a:latin typeface="+mn-ea"/>
                          </a:rPr>
                          <m:t>면</m:t>
                        </m:r>
                        <m:r>
                          <a:rPr lang="en-US" altLang="ko-KR" sz="1200" b="0" i="1" smtClean="0">
                            <a:latin typeface="+mn-ea"/>
                          </a:rPr>
                          <m:t> </m:t>
                        </m:r>
                        <m:r>
                          <a:rPr lang="ko-KR" altLang="en-US" sz="1200" i="1">
                            <a:latin typeface="+mn-ea"/>
                          </a:rPr>
                          <m:t>자</m:t>
                        </m:r>
                        <m:r>
                          <a:rPr lang="ko-KR" altLang="en-US" sz="1200" i="1" smtClean="0">
                            <a:latin typeface="+mn-ea"/>
                          </a:rPr>
                          <m:t>원</m:t>
                        </m:r>
                        <m:r>
                          <a:rPr lang="ko-KR" altLang="en-US" sz="1200" i="1">
                            <a:latin typeface="+mn-ea"/>
                          </a:rPr>
                          <m:t>량</m:t>
                        </m:r>
                        <m:r>
                          <a:rPr lang="ko-KR" altLang="en-US" sz="1200" i="1" smtClean="0">
                            <a:latin typeface="+mn-ea"/>
                          </a:rPr>
                          <m:t>의</m:t>
                        </m:r>
                        <m:r>
                          <a:rPr lang="en-US" altLang="ko-KR" sz="1200" b="0" i="1" smtClean="0">
                            <a:latin typeface="+mn-ea"/>
                          </a:rPr>
                          <m:t> </m:t>
                        </m:r>
                        <m:r>
                          <a:rPr lang="ko-KR" altLang="en-US" sz="1200" i="1">
                            <a:latin typeface="+mn-ea"/>
                          </a:rPr>
                          <m:t>최</m:t>
                        </m:r>
                        <m:r>
                          <a:rPr lang="ko-KR" altLang="en-US" sz="1200" i="1" smtClean="0">
                            <a:latin typeface="+mn-ea"/>
                          </a:rPr>
                          <m:t>소</m:t>
                        </m:r>
                        <m:r>
                          <a:rPr lang="en-US" altLang="ko-KR" sz="1200" b="0" i="1" smtClean="0">
                            <a:latin typeface="+mn-ea"/>
                          </a:rPr>
                          <m:t> </m:t>
                        </m:r>
                        <m:r>
                          <a:rPr lang="ko-KR" altLang="en-US" sz="1200" i="1">
                            <a:latin typeface="+mn-ea"/>
                          </a:rPr>
                          <m:t>기</m:t>
                        </m:r>
                        <m:r>
                          <a:rPr lang="ko-KR" altLang="en-US" sz="1200" i="1" smtClean="0">
                            <a:latin typeface="+mn-ea"/>
                          </a:rPr>
                          <m:t>댓</m:t>
                        </m:r>
                        <m:r>
                          <a:rPr lang="ko-KR" altLang="en-US" sz="1200" i="1">
                            <a:latin typeface="+mn-ea"/>
                          </a:rPr>
                          <m:t>값</m:t>
                        </m:r>
                      </m:e>
                    </m:func>
                  </m:oMath>
                </a14:m>
                <a:endParaRPr lang="en-US" altLang="ko-KR" sz="1200">
                  <a:latin typeface="+mn-ea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blipFill>
                <a:blip r:embed="rId3"/>
                <a:stretch>
                  <a:fillRect b="-2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7684D8-B27A-468F-8C89-26F326179413}"/>
              </a:ext>
            </a:extLst>
          </p:cNvPr>
          <p:cNvSpPr txBox="1"/>
          <p:nvPr/>
        </p:nvSpPr>
        <p:spPr>
          <a:xfrm>
            <a:off x="276225" y="6062891"/>
            <a:ext cx="560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높음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어떤값이 나올지 모름</a:t>
            </a:r>
            <a:r>
              <a:rPr lang="en-US" altLang="ko-KR" sz="1200">
                <a:latin typeface="+mn-ea"/>
              </a:rPr>
              <a:t>)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불균일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낮음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en-US" sz="1200">
                <a:latin typeface="+mn-ea"/>
              </a:rPr>
              <a:t>높은 확률로 그값이 나옴</a:t>
            </a:r>
            <a:r>
              <a:rPr lang="en-US" altLang="ko-KR" sz="1200">
                <a:latin typeface="+mn-ea"/>
              </a:rPr>
              <a:t>)</a:t>
            </a:r>
          </a:p>
          <a:p>
            <a:pPr algn="l"/>
            <a:endParaRPr lang="ko-KR" altLang="en-US" sz="120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B668F3-8228-40F2-81CE-AC496E95B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9" y="3374585"/>
            <a:ext cx="5604855" cy="233745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1B7942C-4219-4D49-B6FB-14A32B9484D3}"/>
              </a:ext>
            </a:extLst>
          </p:cNvPr>
          <p:cNvGrpSpPr/>
          <p:nvPr/>
        </p:nvGrpSpPr>
        <p:grpSpPr>
          <a:xfrm>
            <a:off x="6497575" y="1160920"/>
            <a:ext cx="2393659" cy="2927277"/>
            <a:chOff x="6201879" y="1230857"/>
            <a:chExt cx="2393659" cy="292727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5BED6F5-D7C9-43C0-920C-528B06D51E37}"/>
                </a:ext>
              </a:extLst>
            </p:cNvPr>
            <p:cNvGrpSpPr/>
            <p:nvPr/>
          </p:nvGrpSpPr>
          <p:grpSpPr>
            <a:xfrm>
              <a:off x="6201879" y="1469050"/>
              <a:ext cx="2393659" cy="1788500"/>
              <a:chOff x="952500" y="4267200"/>
              <a:chExt cx="1847530" cy="1489378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249E686-6A1F-4936-A055-665B9C0B70E7}"/>
                  </a:ext>
                </a:extLst>
              </p:cNvPr>
              <p:cNvGrpSpPr/>
              <p:nvPr/>
            </p:nvGrpSpPr>
            <p:grpSpPr>
              <a:xfrm>
                <a:off x="952500" y="4325061"/>
                <a:ext cx="1847530" cy="1431517"/>
                <a:chOff x="952500" y="4325061"/>
                <a:chExt cx="1847530" cy="1431517"/>
              </a:xfrm>
            </p:grpSpPr>
            <p:cxnSp>
              <p:nvCxnSpPr>
                <p:cNvPr id="12" name="직선 화살표 연결선 11">
                  <a:extLst>
                    <a:ext uri="{FF2B5EF4-FFF2-40B4-BE49-F238E27FC236}">
                      <a16:creationId xmlns:a16="http://schemas.microsoft.com/office/drawing/2014/main" id="{8D1851B1-FEF4-4DC9-8E4D-109B875B0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43025" y="5489575"/>
                  <a:ext cx="138112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직선 화살표 연결선 13">
                  <a:extLst>
                    <a:ext uri="{FF2B5EF4-FFF2-40B4-BE49-F238E27FC236}">
                      <a16:creationId xmlns:a16="http://schemas.microsoft.com/office/drawing/2014/main" id="{E8EF66CA-2200-40AB-9011-E709C4365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3025" y="4325061"/>
                  <a:ext cx="0" cy="116451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63BBA901-2692-4BEE-A6D0-972012B4BF9C}"/>
                    </a:ext>
                  </a:extLst>
                </p:cNvPr>
                <p:cNvCxnSpPr/>
                <p:nvPr/>
              </p:nvCxnSpPr>
              <p:spPr>
                <a:xfrm>
                  <a:off x="2169160" y="5435600"/>
                  <a:ext cx="0" cy="1079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DB8F49-BEEB-4E76-BCFC-AA037E616674}"/>
                    </a:ext>
                  </a:extLst>
                </p:cNvPr>
                <p:cNvSpPr txBox="1"/>
                <p:nvPr/>
              </p:nvSpPr>
              <p:spPr>
                <a:xfrm>
                  <a:off x="2052639" y="5484183"/>
                  <a:ext cx="1524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1</a:t>
                  </a:r>
                  <a:endParaRPr lang="ko-KR" altLang="en-US" sz="11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6099B78-C114-4174-AEC1-018CB18C8047}"/>
                    </a:ext>
                  </a:extLst>
                </p:cNvPr>
                <p:cNvSpPr txBox="1"/>
                <p:nvPr/>
              </p:nvSpPr>
              <p:spPr>
                <a:xfrm>
                  <a:off x="952500" y="4362450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길이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7CB429-210B-4148-B517-5B0363FEBB99}"/>
                    </a:ext>
                  </a:extLst>
                </p:cNvPr>
                <p:cNvSpPr txBox="1"/>
                <p:nvPr/>
              </p:nvSpPr>
              <p:spPr>
                <a:xfrm>
                  <a:off x="2276157" y="5494968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확률</a:t>
                  </a:r>
                </a:p>
              </p:txBody>
            </p:sp>
          </p:grp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CEF114A-01CD-4C22-B6DC-93A4B10FE209}"/>
                  </a:ext>
                </a:extLst>
              </p:cNvPr>
              <p:cNvSpPr/>
              <p:nvPr/>
            </p:nvSpPr>
            <p:spPr>
              <a:xfrm>
                <a:off x="1437494" y="4267200"/>
                <a:ext cx="718966" cy="1219200"/>
              </a:xfrm>
              <a:custGeom>
                <a:avLst/>
                <a:gdLst>
                  <a:gd name="connsiteX0" fmla="*/ 718966 w 718966"/>
                  <a:gd name="connsiteY0" fmla="*/ 1219200 h 1219200"/>
                  <a:gd name="connsiteX1" fmla="*/ 337966 w 718966"/>
                  <a:gd name="connsiteY1" fmla="*/ 1059180 h 1219200"/>
                  <a:gd name="connsiteX2" fmla="*/ 132226 w 718966"/>
                  <a:gd name="connsiteY2" fmla="*/ 769620 h 1219200"/>
                  <a:gd name="connsiteX3" fmla="*/ 25546 w 718966"/>
                  <a:gd name="connsiteY3" fmla="*/ 190500 h 1219200"/>
                  <a:gd name="connsiteX4" fmla="*/ 2686 w 718966"/>
                  <a:gd name="connsiteY4" fmla="*/ 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8966" h="1219200">
                    <a:moveTo>
                      <a:pt x="718966" y="1219200"/>
                    </a:moveTo>
                    <a:cubicBezTo>
                      <a:pt x="577361" y="1176655"/>
                      <a:pt x="435756" y="1134110"/>
                      <a:pt x="337966" y="1059180"/>
                    </a:cubicBezTo>
                    <a:cubicBezTo>
                      <a:pt x="240176" y="984250"/>
                      <a:pt x="184296" y="914400"/>
                      <a:pt x="132226" y="769620"/>
                    </a:cubicBezTo>
                    <a:cubicBezTo>
                      <a:pt x="80156" y="624840"/>
                      <a:pt x="47136" y="318770"/>
                      <a:pt x="25546" y="190500"/>
                    </a:cubicBezTo>
                    <a:cubicBezTo>
                      <a:pt x="3956" y="62230"/>
                      <a:pt x="-4934" y="35560"/>
                      <a:pt x="2686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086AC9E0-3C85-48CA-9525-9CE081A67F92}"/>
                </a:ext>
              </a:extLst>
            </p:cNvPr>
            <p:cNvSpPr/>
            <p:nvPr/>
          </p:nvSpPr>
          <p:spPr>
            <a:xfrm>
              <a:off x="7103891" y="2895600"/>
              <a:ext cx="738359" cy="1262534"/>
            </a:xfrm>
            <a:custGeom>
              <a:avLst/>
              <a:gdLst>
                <a:gd name="connsiteX0" fmla="*/ 39859 w 738359"/>
                <a:gd name="connsiteY0" fmla="*/ 1244600 h 1262534"/>
                <a:gd name="connsiteX1" fmla="*/ 52559 w 738359"/>
                <a:gd name="connsiteY1" fmla="*/ 1174750 h 1262534"/>
                <a:gd name="connsiteX2" fmla="*/ 14459 w 738359"/>
                <a:gd name="connsiteY2" fmla="*/ 558800 h 1262534"/>
                <a:gd name="connsiteX3" fmla="*/ 331959 w 738359"/>
                <a:gd name="connsiteY3" fmla="*/ 222250 h 1262534"/>
                <a:gd name="connsiteX4" fmla="*/ 738359 w 738359"/>
                <a:gd name="connsiteY4" fmla="*/ 0 h 126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8359" h="1262534">
                  <a:moveTo>
                    <a:pt x="39859" y="1244600"/>
                  </a:moveTo>
                  <a:cubicBezTo>
                    <a:pt x="48325" y="1266825"/>
                    <a:pt x="56792" y="1289050"/>
                    <a:pt x="52559" y="1174750"/>
                  </a:cubicBezTo>
                  <a:cubicBezTo>
                    <a:pt x="48326" y="1060450"/>
                    <a:pt x="-32108" y="717550"/>
                    <a:pt x="14459" y="558800"/>
                  </a:cubicBezTo>
                  <a:cubicBezTo>
                    <a:pt x="61026" y="400050"/>
                    <a:pt x="211309" y="315383"/>
                    <a:pt x="331959" y="222250"/>
                  </a:cubicBezTo>
                  <a:cubicBezTo>
                    <a:pt x="452609" y="129117"/>
                    <a:pt x="660042" y="43392"/>
                    <a:pt x="738359" y="0"/>
                  </a:cubicBez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/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blipFill>
                  <a:blip r:embed="rId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/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2E37DEB-1189-4C46-AD07-8DC746552DC5}"/>
              </a:ext>
            </a:extLst>
          </p:cNvPr>
          <p:cNvSpPr txBox="1"/>
          <p:nvPr/>
        </p:nvSpPr>
        <p:spPr>
          <a:xfrm>
            <a:off x="1306545" y="5662974"/>
            <a:ext cx="2202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불균일</a:t>
            </a:r>
            <a:r>
              <a:rPr lang="en-US" altLang="ko-KR" sz="1000"/>
              <a:t>(</a:t>
            </a:r>
            <a:r>
              <a:rPr lang="ko-KR" altLang="en-US" sz="1000"/>
              <a:t>엔트로피 낮음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1111D-110F-4602-BB5D-FFFFAB58F327}"/>
              </a:ext>
            </a:extLst>
          </p:cNvPr>
          <p:cNvSpPr txBox="1"/>
          <p:nvPr/>
        </p:nvSpPr>
        <p:spPr>
          <a:xfrm>
            <a:off x="4053840" y="5662974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균일</a:t>
            </a:r>
            <a:r>
              <a:rPr lang="en-US" altLang="ko-KR" sz="1000"/>
              <a:t>(</a:t>
            </a:r>
            <a:r>
              <a:rPr lang="ko-KR" altLang="en-US" sz="1000"/>
              <a:t>엔트로피 높음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70699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A8329C7-0083-442C-A027-134945892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Cross Entropy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/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&lt;Cross 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 분포 사이에 존재하는 정보량을 구하는 것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수식 </a:t>
                </a:r>
                <a:r>
                  <a:rPr lang="en-US" altLang="ko-KR" sz="1200">
                    <a:latin typeface="+mn-ea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200" i="1" smtClean="0">
                            <a:latin typeface="+mn-ea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+mn-ea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+mn-ea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+mn-ea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200" b="0" i="1" smtClean="0">
                                <a:latin typeface="+mn-ea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+mn-ea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+mn-ea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+mn-ea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+mn-ea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1200">
                    <a:latin typeface="+mn-ea"/>
                  </a:rPr>
                  <a:t>, Q</a:t>
                </a:r>
                <a:r>
                  <a:rPr lang="ko-KR" altLang="en-US" sz="1200">
                    <a:latin typeface="+mn-ea"/>
                  </a:rPr>
                  <a:t>는 예측값</a:t>
                </a:r>
                <a:r>
                  <a:rPr lang="en-US" altLang="ko-KR" sz="1200">
                    <a:latin typeface="+mn-ea"/>
                  </a:rPr>
                  <a:t>, P</a:t>
                </a:r>
                <a:r>
                  <a:rPr lang="ko-KR" altLang="en-US" sz="1200">
                    <a:latin typeface="+mn-ea"/>
                  </a:rPr>
                  <a:t>는 실제값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머신러닝을 통한 예측 모형에서 실제값과 예측값의 차이를 계산하는데 사용할수 있음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예측값이 맞는 경우는 </a:t>
                </a:r>
                <a:r>
                  <a:rPr lang="en-US" altLang="ko-KR" sz="1200">
                    <a:latin typeface="+mn-ea"/>
                  </a:rPr>
                  <a:t>0</a:t>
                </a:r>
                <a:r>
                  <a:rPr lang="ko-KR" altLang="en-US" sz="1200">
                    <a:latin typeface="+mn-ea"/>
                  </a:rPr>
                  <a:t>으로 수렴하고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아닌 경우는 값이 커짐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 차이를 줄이기 위한 엔트로피라 생각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blipFill>
                <a:blip r:embed="rId3"/>
                <a:stretch>
                  <a:fillRect l="-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CFCCC460-59AE-4AE7-A7AD-EA4902CA9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963" y="2228441"/>
            <a:ext cx="2393660" cy="3819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E59157-4E73-4D21-A117-43E67F5DE52F}"/>
              </a:ext>
            </a:extLst>
          </p:cNvPr>
          <p:cNvSpPr txBox="1"/>
          <p:nvPr/>
        </p:nvSpPr>
        <p:spPr>
          <a:xfrm>
            <a:off x="7029450" y="1246711"/>
            <a:ext cx="1183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0.1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 1</a:t>
            </a:r>
            <a:endParaRPr lang="ko-KR" altLang="en-US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/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vs Cross 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ko-KR" altLang="en-US" sz="1200">
                    <a:latin typeface="+mn-ea"/>
                  </a:rPr>
                  <a:t> 가방에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0.8/0.1/0.1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빨간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녹색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노랑 공이 들어가 있다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직감에는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0.2/0.2/0.6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 들어가 있을 것 같다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endParaRPr lang="en-US" altLang="ko-KR" sz="1200">
                  <a:solidFill>
                    <a:srgbClr val="212529"/>
                  </a:solidFill>
                  <a:latin typeface="-apple-system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=0.63</m:t>
                      </m:r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1.50</m:t>
                      </m:r>
                    </m:oMath>
                  </m:oMathPara>
                </a14:m>
                <a:endParaRPr lang="ko-KR" altLang="en-US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blipFill>
                <a:blip r:embed="rId5"/>
                <a:stretch>
                  <a:fillRect l="-136" t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967DA7-5F88-464E-A2DE-4D9E69279153}"/>
              </a:ext>
            </a:extLst>
          </p:cNvPr>
          <p:cNvSpPr/>
          <p:nvPr/>
        </p:nvSpPr>
        <p:spPr>
          <a:xfrm>
            <a:off x="836930" y="4714875"/>
            <a:ext cx="405765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650C9B9-25F5-4749-B8C8-AF4D6DE4D180}"/>
              </a:ext>
            </a:extLst>
          </p:cNvPr>
          <p:cNvSpPr/>
          <p:nvPr/>
        </p:nvSpPr>
        <p:spPr>
          <a:xfrm>
            <a:off x="1076325" y="495300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2AAA05-79BB-4CDC-A941-0B56E22054CA}"/>
              </a:ext>
            </a:extLst>
          </p:cNvPr>
          <p:cNvSpPr/>
          <p:nvPr/>
        </p:nvSpPr>
        <p:spPr>
          <a:xfrm>
            <a:off x="1768157" y="5080032"/>
            <a:ext cx="295275" cy="2889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BEE197-E3A3-4AB8-A465-F21C17757342}"/>
              </a:ext>
            </a:extLst>
          </p:cNvPr>
          <p:cNvSpPr/>
          <p:nvPr/>
        </p:nvSpPr>
        <p:spPr>
          <a:xfrm>
            <a:off x="1371600" y="5507053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95A7CC0-4FF5-4E3E-A379-84F4074F75A1}"/>
              </a:ext>
            </a:extLst>
          </p:cNvPr>
          <p:cNvSpPr/>
          <p:nvPr/>
        </p:nvSpPr>
        <p:spPr>
          <a:xfrm>
            <a:off x="2489118" y="504032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4BFC9B5-668D-425F-8500-731D37B77912}"/>
              </a:ext>
            </a:extLst>
          </p:cNvPr>
          <p:cNvSpPr/>
          <p:nvPr/>
        </p:nvSpPr>
        <p:spPr>
          <a:xfrm>
            <a:off x="3090816" y="524195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17C6A4-891E-4DC9-978D-5629AFCCB018}"/>
              </a:ext>
            </a:extLst>
          </p:cNvPr>
          <p:cNvSpPr/>
          <p:nvPr/>
        </p:nvSpPr>
        <p:spPr>
          <a:xfrm>
            <a:off x="2179749" y="5771348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FE44E6A-0503-4C44-AF0F-B6FEB6E81D41}"/>
              </a:ext>
            </a:extLst>
          </p:cNvPr>
          <p:cNvSpPr/>
          <p:nvPr/>
        </p:nvSpPr>
        <p:spPr>
          <a:xfrm>
            <a:off x="4211908" y="5582901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2D0457-D44E-4223-B37A-503271504BD6}"/>
              </a:ext>
            </a:extLst>
          </p:cNvPr>
          <p:cNvSpPr/>
          <p:nvPr/>
        </p:nvSpPr>
        <p:spPr>
          <a:xfrm>
            <a:off x="3333258" y="5775405"/>
            <a:ext cx="295275" cy="288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E2EB779-225C-4F86-86C2-5F20DA1B7EFF}"/>
              </a:ext>
            </a:extLst>
          </p:cNvPr>
          <p:cNvSpPr/>
          <p:nvPr/>
        </p:nvSpPr>
        <p:spPr>
          <a:xfrm>
            <a:off x="2570127" y="5481684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AD1CB73-0172-48E1-80C0-19760D3DDB34}"/>
              </a:ext>
            </a:extLst>
          </p:cNvPr>
          <p:cNvSpPr/>
          <p:nvPr/>
        </p:nvSpPr>
        <p:spPr>
          <a:xfrm>
            <a:off x="4118200" y="500441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361875-716B-44C6-8011-69F2E6431D30}"/>
              </a:ext>
            </a:extLst>
          </p:cNvPr>
          <p:cNvSpPr txBox="1"/>
          <p:nvPr/>
        </p:nvSpPr>
        <p:spPr>
          <a:xfrm>
            <a:off x="1768157" y="6315075"/>
            <a:ext cx="2350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Entropy vs Cross Entropy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3295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03007" y="3429000"/>
            <a:ext cx="7272169" cy="265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 MLE &gt;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원래의 모집단의 분포에 최대한 가깝게 파라미터를 추정하는 방법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머신러닝에서의 목표는 미지의 데이터에 대해 좋은 예측을 하는 것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주어진 데이터로부터 결과값을 잘 예측하는 것이 이에 속하며 일반화라고 말함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좋은 일반화성능을 얻기 위해서는 우리가 알고자하는 실제 확률 분포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모집단의 분포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로부터 데이터 수집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샘플링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하고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수집된 데이터를 가장 잘 설명하는 확률 분포 모델을 추정함으로써 알고자하는 실제 확률 분포를 근사한다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&lt;MLE</a:t>
            </a:r>
            <a:r>
              <a:rPr lang="ko-KR" altLang="en-US" sz="1200">
                <a:latin typeface="+mn-ea"/>
              </a:rPr>
              <a:t>가 딥러닝에서의 역할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Tx/>
              <a:buChar char="-"/>
              <a:defRPr/>
            </a:pPr>
            <a:r>
              <a:rPr lang="en-US" altLang="ko-KR" sz="1200">
                <a:latin typeface="+mn-ea"/>
              </a:rPr>
              <a:t>Likelihood</a:t>
            </a:r>
            <a:r>
              <a:rPr lang="ko-KR" altLang="en-US" sz="1200">
                <a:latin typeface="+mn-ea"/>
              </a:rPr>
              <a:t>는 신경망 또한 확률 분포 함수</a:t>
            </a:r>
          </a:p>
          <a:p>
            <a:pPr marL="171450" indent="-171450" algn="l">
              <a:buFontTx/>
              <a:buChar char="-"/>
              <a:defRPr/>
            </a:pPr>
            <a:r>
              <a:rPr lang="en-US" altLang="ko-KR" sz="1200">
                <a:latin typeface="+mn-ea"/>
              </a:rPr>
              <a:t>Multi-classification</a:t>
            </a:r>
            <a:r>
              <a:rPr lang="ko-KR" altLang="en-US" sz="1200">
                <a:latin typeface="+mn-ea"/>
              </a:rPr>
              <a:t>문제를 풀고하는 경우 </a:t>
            </a:r>
            <a:r>
              <a:rPr lang="en-US" altLang="ko-KR" sz="1200">
                <a:latin typeface="+mn-ea"/>
              </a:rPr>
              <a:t>0~n</a:t>
            </a:r>
            <a:r>
              <a:rPr lang="ko-KR" altLang="en-US" sz="1200">
                <a:latin typeface="+mn-ea"/>
              </a:rPr>
              <a:t>까지의 클래스를 예측하므로 이산확률 변수를 다루는 </a:t>
            </a:r>
            <a:r>
              <a:rPr lang="en-US" altLang="ko-KR" sz="1200">
                <a:latin typeface="+mn-ea"/>
              </a:rPr>
              <a:t>multinomial </a:t>
            </a:r>
            <a:r>
              <a:rPr lang="ko-KR" altLang="en-US" sz="1200">
                <a:latin typeface="+mn-ea"/>
              </a:rPr>
              <a:t>분포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다항분포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가 된다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문제를 해결할때 신경망의 마지막 </a:t>
            </a:r>
            <a:r>
              <a:rPr lang="en-US" altLang="ko-KR" sz="1200">
                <a:latin typeface="+mn-ea"/>
              </a:rPr>
              <a:t>layer</a:t>
            </a:r>
            <a:r>
              <a:rPr lang="ko-KR" altLang="en-US" sz="1200">
                <a:latin typeface="+mn-ea"/>
              </a:rPr>
              <a:t>에서 소프트맥스 연산 </a:t>
            </a:r>
            <a:r>
              <a:rPr lang="en-US" altLang="ko-KR" sz="1200">
                <a:latin typeface="+mn-ea"/>
              </a:rPr>
              <a:t>y</a:t>
            </a:r>
            <a:r>
              <a:rPr lang="ko-KR" altLang="en-US" sz="1200">
                <a:latin typeface="+mn-ea"/>
              </a:rPr>
              <a:t>의 결과값은 클래스별 확률값에 대한 분포 </a:t>
            </a:r>
            <a:r>
              <a:rPr lang="en-US" altLang="ko-KR" sz="1200">
                <a:latin typeface="+mn-ea"/>
              </a:rPr>
              <a:t>y^</a:t>
            </a:r>
            <a:r>
              <a:rPr lang="ko-KR" altLang="en-US" sz="1200">
                <a:latin typeface="+mn-ea"/>
              </a:rPr>
              <a:t>을 반환</a:t>
            </a:r>
            <a:endParaRPr lang="en-US" altLang="ko-KR" sz="120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63692" y="1325716"/>
            <a:ext cx="4570508" cy="2105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Likelihood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 Likelihood 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데이터가 특정 분포로부터 만들어졌을 확률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예를들어</a:t>
                </a:r>
                <a:r>
                  <a:rPr lang="en-US" altLang="ko-KR" sz="1200">
                    <a:latin typeface="+mn-ea"/>
                  </a:rPr>
                  <a:t>, X={1,1,1,1}</a:t>
                </a:r>
                <a:r>
                  <a:rPr lang="ko-KR" altLang="en-US" sz="1200">
                    <a:latin typeface="+mn-ea"/>
                  </a:rPr>
                  <a:t>이라는 데이터가 있을경우 어느 쪽 분포를 따를 확률이 높을까</a:t>
                </a:r>
                <a:r>
                  <a:rPr lang="en-US" altLang="ko-KR" sz="1200">
                    <a:latin typeface="+mn-ea"/>
                  </a:rPr>
                  <a:t>?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이런 상황에서 우리는 왼쪽 분포의 데이터 </a:t>
                </a:r>
                <a:r>
                  <a:rPr lang="en-US" altLang="ko-KR" sz="1200">
                    <a:latin typeface="+mn-ea"/>
                  </a:rPr>
                  <a:t>X</a:t>
                </a:r>
                <a:r>
                  <a:rPr lang="ko-KR" altLang="en-US" sz="1200">
                    <a:latin typeface="+mn-ea"/>
                  </a:rPr>
                  <a:t>에 대한 </a:t>
                </a:r>
                <a:r>
                  <a:rPr lang="en-US" altLang="ko-KR" sz="1200">
                    <a:latin typeface="+mn-ea"/>
                  </a:rPr>
                  <a:t>likelihood</a:t>
                </a:r>
                <a:r>
                  <a:rPr lang="ko-KR" altLang="en-US" sz="1200">
                    <a:latin typeface="+mn-ea"/>
                  </a:rPr>
                  <a:t>가 더 높다고 표현할 수 있음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&lt;Likelihood </a:t>
                </a:r>
                <a:r>
                  <a:rPr lang="ko-KR" altLang="en-US" sz="1200">
                    <a:latin typeface="+mn-ea"/>
                  </a:rPr>
                  <a:t>계산식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분포에서의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파라미터를 가지고 있는 정규분포라고 할때 정규분포의 식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&lt;MLE</a:t>
                </a:r>
                <a:r>
                  <a:rPr lang="ko-KR" altLang="en-US" sz="1200">
                    <a:latin typeface="+mn-ea"/>
                  </a:rPr>
                  <a:t>가 딥러닝에서의 역할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en-US" altLang="ko-KR" sz="1200">
                    <a:latin typeface="+mn-ea"/>
                  </a:rPr>
                  <a:t>Multi-classification</a:t>
                </a:r>
                <a:r>
                  <a:rPr lang="ko-KR" altLang="en-US" sz="1200">
                    <a:latin typeface="+mn-ea"/>
                  </a:rPr>
                  <a:t>문제를 풀고하는 경우 </a:t>
                </a:r>
                <a:r>
                  <a:rPr lang="en-US" altLang="ko-KR" sz="1200">
                    <a:latin typeface="+mn-ea"/>
                  </a:rPr>
                  <a:t>0~n</a:t>
                </a:r>
                <a:r>
                  <a:rPr lang="ko-KR" altLang="en-US" sz="1200">
                    <a:latin typeface="+mn-ea"/>
                  </a:rPr>
                  <a:t>까지의 클래스를 예측하므로 이산확률 변수를 다루는 </a:t>
                </a:r>
                <a:r>
                  <a:rPr lang="en-US" altLang="ko-KR" sz="1200">
                    <a:latin typeface="+mn-ea"/>
                  </a:rPr>
                  <a:t>multinomial </a:t>
                </a:r>
                <a:r>
                  <a:rPr lang="ko-KR" altLang="en-US" sz="1200">
                    <a:latin typeface="+mn-ea"/>
                  </a:rPr>
                  <a:t>분포</a:t>
                </a:r>
                <a:r>
                  <a:rPr lang="en-US" altLang="ko-KR" sz="1200">
                    <a:latin typeface="+mn-ea"/>
                  </a:rPr>
                  <a:t>(</a:t>
                </a:r>
                <a:r>
                  <a:rPr lang="ko-KR" altLang="en-US" sz="1200">
                    <a:latin typeface="+mn-ea"/>
                  </a:rPr>
                  <a:t>다항분포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임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문제를 해결할때 신경망의 마지막 </a:t>
                </a:r>
                <a:r>
                  <a:rPr lang="en-US" altLang="ko-KR" sz="1200">
                    <a:latin typeface="+mn-ea"/>
                  </a:rPr>
                  <a:t>layer</a:t>
                </a:r>
                <a:r>
                  <a:rPr lang="ko-KR" altLang="en-US" sz="1200">
                    <a:latin typeface="+mn-ea"/>
                  </a:rPr>
                  <a:t>에서 소프트맥스 연산 </a:t>
                </a:r>
                <a:r>
                  <a:rPr lang="en-US" altLang="ko-KR" sz="1200">
                    <a:latin typeface="+mn-ea"/>
                  </a:rPr>
                  <a:t>y</a:t>
                </a:r>
                <a:r>
                  <a:rPr lang="ko-KR" altLang="en-US" sz="1200">
                    <a:latin typeface="+mn-ea"/>
                  </a:rPr>
                  <a:t>의 결과값은 클래스별 확률값에 대한 분포 </a:t>
                </a:r>
                <a:r>
                  <a:rPr lang="en-US" altLang="ko-KR" sz="1200">
                    <a:latin typeface="+mn-ea"/>
                  </a:rPr>
                  <a:t>y^</a:t>
                </a:r>
                <a:r>
                  <a:rPr lang="ko-KR" altLang="en-US" sz="1200">
                    <a:latin typeface="+mn-ea"/>
                  </a:rPr>
                  <a:t>을 반환</a:t>
                </a:r>
                <a:endParaRPr lang="en-US" altLang="ko-KR" sz="1200">
                  <a:latin typeface="+mn-ea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blipFill>
                <a:blip r:embed="rId2"/>
                <a:stretch>
                  <a:fillRect l="-139" t="-210" b="-1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842D87F-AEE2-491F-BECB-71EDE689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8" y="1247663"/>
            <a:ext cx="5343832" cy="194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412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982" y="1494088"/>
            <a:ext cx="4075389" cy="180520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51918" y="1487570"/>
            <a:ext cx="4777638" cy="180520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422264" y="4413227"/>
            <a:ext cx="4130936" cy="13738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982" y="120886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1&gt;</a:t>
            </a:r>
            <a:endParaRPr lang="ko-KR" altLang="en-US" sz="1200" b="1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981" y="4029549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2&gt;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자유형: 도형 17"/>
              <p:cNvSpPr/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,15,29,14.5,8,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금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,7 |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파스타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자유형: 도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01266" y="3429000"/>
            <a:ext cx="4175600" cy="21539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70780" y="1382915"/>
            <a:ext cx="3689873" cy="13761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algn="l"/>
                <a:r>
                  <a:rPr lang="ko-KR" altLang="en-US" sz="1100">
                    <a:latin typeface="Cambria Math" panose="21474836470000000000" pitchFamily="18" charset="0"/>
                  </a:rPr>
                  <a:t>남자친구 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저번에도 이 음식에 이런 영향요인이였으니 파스타먹자</a:t>
                </a:r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𝑑𝑎𝑡𝑎</m:t>
                          </m:r>
                        </m:e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𝑓𝑜𝑜𝑑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:r>
                  <a:rPr lang="ko-KR" altLang="en-US" sz="1100" b="0">
                    <a:latin typeface="Cambria Math" panose="21474836470000000000" pitchFamily="18" charset="0"/>
                  </a:rPr>
                  <a:t>여자친구 </a:t>
                </a:r>
                <a:r>
                  <a:rPr lang="en-US" altLang="ko-KR" sz="1100" b="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오늘 같은날 뭐먹고 싶은지 말해야지 무슨 상관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?</a:t>
                </a:r>
                <a:endParaRPr lang="ar-AE" altLang="ko-KR" sz="1100" b="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(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𝑓𝑜𝑜𝑑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|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𝑑𝑎𝑡𝑎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blipFill>
                <a:blip r:embed="rId5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3"/>
          <p:cNvSpPr txBox="1"/>
          <p:nvPr/>
        </p:nvSpPr>
        <p:spPr>
          <a:xfrm>
            <a:off x="207264" y="304625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3&gt;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/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첫번째 만남 때 여자친구와 만나면서 먹었던 음식의 횟수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사전확률</a:t>
                </a:r>
                <a:r>
                  <a:rPr lang="en-US" altLang="ko-KR" sz="1100"/>
                  <a:t>(Prior Probability)</a:t>
                </a:r>
              </a:p>
              <a:p>
                <a:pPr algn="l"/>
                <a:r>
                  <a:rPr lang="ko-KR" altLang="en-US" sz="1100"/>
                  <a:t>두번째 만남 때 여자친구와 만나면서 음식을 먹었을때 영향요인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가늠도</a:t>
                </a:r>
                <a:r>
                  <a:rPr lang="en-US" altLang="ko-KR" sz="1100"/>
                  <a:t>(Likelihood)</a:t>
                </a:r>
              </a:p>
              <a:p>
                <a:pPr algn="l"/>
                <a:r>
                  <a:rPr lang="ko-KR" altLang="en-US" sz="1100"/>
                  <a:t>두번째 만남 때 </a:t>
                </a:r>
                <a:r>
                  <a:rPr lang="en-US" altLang="ko-KR" sz="1100"/>
                  <a:t>‘</a:t>
                </a:r>
                <a:r>
                  <a:rPr lang="ko-KR" altLang="en-US" sz="1100"/>
                  <a:t>아무거나</a:t>
                </a:r>
                <a:r>
                  <a:rPr lang="en-US" altLang="ko-KR" sz="1100"/>
                  <a:t>’</a:t>
                </a:r>
                <a:r>
                  <a:rPr lang="ko-KR" altLang="en-US" sz="1100"/>
                  <a:t>라고 말할때  여자친구가 원하는 음식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사후확률</a:t>
                </a:r>
                <a:r>
                  <a:rPr lang="en-US" altLang="ko-KR" sz="1100"/>
                  <a:t>(Posterior Probability)</a:t>
                </a:r>
              </a:p>
              <a:p>
                <a:pPr algn="l"/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식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𝐶𝑜𝑛𝑑𝑖𝑡𝑖𝑜𝑛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𝐹𝑜𝑜𝑑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𝐹𝑜𝑜𝑑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𝐶𝑜𝑛𝑑𝑖𝑡𝑖𝑜𝑛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 , 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blipFill>
                <a:blip r:embed="rId6"/>
                <a:stretch>
                  <a:fillRect t="-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3544906-4DAC-4C43-8C16-F6D53820D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MLE(Maximum likelihood estimation)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자유형: 도형 14"/>
              <p:cNvSpPr/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400" b="1" smtClean="0">
                          <a:latin typeface="+mn-ea"/>
                          <a:sym typeface="Cambria Math"/>
                        </a:rPr>
                        <m:t>𝐁𝐚𝐲𝐞</m:t>
                      </m:r>
                      <m:sSup>
                        <m:sSupPr>
                          <m:ctrlPr>
                            <a:rPr lang="ar-AE" sz="1400" b="1" i="1">
                              <a:latin typeface="+mn-ea"/>
                              <a:sym typeface="Cambria Math"/>
                            </a:rPr>
                          </m:ctrlPr>
                        </m:sSupPr>
                        <m:e>
                          <m:r>
                            <a:rPr lang="ar-AE" sz="1400" b="1">
                              <a:latin typeface="+mn-ea"/>
                              <a:sym typeface="Cambria Math"/>
                            </a:rPr>
                            <m:t>𝐬</m:t>
                          </m:r>
                        </m:e>
                        <m:sup>
                          <m:r>
                            <a:rPr lang="ar-AE" sz="1400" b="1" i="1">
                              <a:latin typeface="+mn-ea"/>
                              <a:sym typeface="Cambria Math"/>
                            </a:rPr>
                            <m:t>′</m:t>
                          </m:r>
                        </m:sup>
                      </m:sSup>
                      <m:r>
                        <a:rPr lang="ar-AE" sz="1400" b="1">
                          <a:latin typeface="+mn-ea"/>
                          <a:sym typeface="Cambria Math"/>
                        </a:rPr>
                        <m:t>𝐑𝐮𝐥𝐞</m:t>
                      </m:r>
                      <m:r>
                        <a:rPr lang="ar-AE" sz="1400" b="1">
                          <a:latin typeface="+mn-ea"/>
                          <a:sym typeface="Cambria Math"/>
                        </a:rPr>
                        <m:t> : </m:t>
                      </m:r>
                      <m:r>
                        <a:rPr lang="ar-AE" sz="1400">
                          <a:latin typeface="+mn-ea"/>
                          <a:sym typeface="Cambria Math"/>
                        </a:rPr>
                        <m:t> </m:t>
                      </m:r>
                      <m:r>
                        <a:rPr lang="ar-AE" sz="1400">
                          <a:latin typeface="+mn-ea"/>
                          <a:sym typeface="Cambria Math"/>
                        </a:rPr>
                        <m:t>𝑃</m:t>
                      </m:r>
                      <m:d>
                        <m:dPr>
                          <m:ctrlPr>
                            <a:rPr lang="ar-AE" sz="1400" i="1">
                              <a:latin typeface="+mn-ea"/>
                              <a:sym typeface="Cambria Math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+mn-ea"/>
                              <a:sym typeface="Cambria Math"/>
                            </a:rPr>
                            <m:t>𝐴</m:t>
                          </m:r>
                        </m:e>
                        <m:e>
                          <m:r>
                            <a:rPr lang="ar-AE" sz="1400">
                              <a:latin typeface="+mn-ea"/>
                              <a:sym typeface="Cambria Math"/>
                            </a:rPr>
                            <m:t>𝐵</m:t>
                          </m:r>
                        </m:e>
                      </m:d>
                      <m:r>
                        <a:rPr lang="ar-AE" sz="1400">
                          <a:latin typeface="+mn-ea"/>
                          <a:sym typeface="Cambria Math"/>
                        </a:rPr>
                        <m:t>= </m:t>
                      </m:r>
                      <m:f>
                        <m:fPr>
                          <m:ctrlPr>
                            <a:rPr lang="ar-AE" sz="1400" i="1">
                              <a:latin typeface="+mn-ea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1400" i="1">
                              <a:latin typeface="+mn-ea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+mn-ea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+mn-ea"/>
                                  <a:sym typeface="Cambria Math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ar-AE" sz="1400" i="1">
                                  <a:latin typeface="+mn-ea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1400" i="1">
                              <a:latin typeface="+mn-ea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+mn-ea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+mn-ea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 sz="1400" i="1">
                              <a:latin typeface="+mn-ea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+mn-ea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+mn-ea"/>
                                  <a:sym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sz="1400" b="0" i="1" smtClean="0">
                          <a:latin typeface="+mn-ea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 lang="en-US" sz="1400" b="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							</a:t>
                </a:r>
                <a:r>
                  <a:rPr lang="en-US" sz="1400">
                    <a:latin typeface="+mn-ea"/>
                    <a:sym typeface="Cambria Math"/>
                  </a:rPr>
                  <a:t>P(B)</a:t>
                </a:r>
                <a:r>
                  <a:rPr lang="ko-KR" altLang="en-US" sz="1400">
                    <a:latin typeface="+mn-ea"/>
                    <a:sym typeface="Cambria Math"/>
                  </a:rPr>
                  <a:t>는 </a:t>
                </a:r>
                <a:r>
                  <a:rPr lang="en-US" altLang="ko-KR" sz="1400">
                    <a:latin typeface="+mn-ea"/>
                    <a:sym typeface="Cambria Math"/>
                  </a:rPr>
                  <a:t>Normalizing constant</a:t>
                </a:r>
                <a:r>
                  <a:rPr lang="ko-KR" altLang="en-US" sz="1400">
                    <a:latin typeface="+mn-ea"/>
                    <a:sym typeface="Cambria Math"/>
                  </a:rPr>
                  <a:t>임으로 무시</a:t>
                </a:r>
                <a:endParaRPr lang="en-US" sz="1400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ar-AE" sz="1400" i="1">
                        <a:latin typeface="+mn-ea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+mn-ea"/>
                            <a:sym typeface="Cambria Math"/>
                          </a:rPr>
                          <m:t>𝐴</m:t>
                        </m:r>
                      </m:e>
                      <m:e>
                        <m:r>
                          <a:rPr lang="ar-AE" sz="1400" i="1">
                            <a:latin typeface="+mn-ea"/>
                            <a:sym typeface="Cambria Math"/>
                          </a:rPr>
                          <m:t>𝐵</m:t>
                        </m:r>
                      </m:e>
                    </m:d>
                    <m:r>
                      <a:rPr lang="ar-AE" sz="1400" i="1">
                        <a:latin typeface="+mn-ea"/>
                        <a:sym typeface="Cambria Math"/>
                      </a:rPr>
                      <m:t>= </m:t>
                    </m:r>
                    <m:r>
                      <a:rPr lang="ar-AE" sz="1400" i="1">
                        <a:latin typeface="+mn-ea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+mn-ea"/>
                            <a:sym typeface="Cambria Math"/>
                          </a:rPr>
                          <m:t>𝐵</m:t>
                        </m:r>
                      </m:e>
                      <m:e>
                        <m:r>
                          <a:rPr lang="ar-AE" sz="1400" i="1">
                            <a:latin typeface="+mn-ea"/>
                            <a:sym typeface="Cambria Math"/>
                          </a:rPr>
                          <m:t>𝐴</m:t>
                        </m:r>
                      </m:e>
                    </m:d>
                    <m:r>
                      <a:rPr lang="ar-AE" sz="1400" i="1">
                        <a:latin typeface="+mn-ea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+mn-ea"/>
                            <a:sym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140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>
                    <a:latin typeface="+mn-ea"/>
                  </a:rPr>
                  <a:t>	</a:t>
                </a:r>
              </a:p>
              <a:p>
                <a:pPr algn="l"/>
                <a:endParaRPr sz="1400">
                  <a:latin typeface="+mn-ea"/>
                </a:endParaRPr>
              </a:p>
            </p:txBody>
          </p:sp>
        </mc:Choice>
        <mc:Fallback>
          <p:sp>
            <p:nvSpPr>
              <p:cNvPr id="15" name="자유형: 도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88717" y="3060747"/>
            <a:ext cx="1139192" cy="258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Prior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자유형: 도형 16"/>
              <p:cNvSpPr/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)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∝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자유형: 도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64419" y="3060747"/>
            <a:ext cx="1384935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Posterior probability</a:t>
            </a:r>
            <a:endParaRPr sz="1100" b="1"/>
          </a:p>
        </p:txBody>
      </p:sp>
      <p:sp>
        <p:nvSpPr>
          <p:cNvPr id="19" name="TextBox 18"/>
          <p:cNvSpPr txBox="1"/>
          <p:nvPr/>
        </p:nvSpPr>
        <p:spPr>
          <a:xfrm>
            <a:off x="3687602" y="3060747"/>
            <a:ext cx="762953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likelihood</a:t>
            </a:r>
            <a:endParaRPr sz="1100" b="1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612AF2A1-11A8-4623-A943-A45CE5438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86519"/>
              </p:ext>
            </p:extLst>
          </p:nvPr>
        </p:nvGraphicFramePr>
        <p:xfrm>
          <a:off x="1419225" y="4232452"/>
          <a:ext cx="6534149" cy="11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2802">
                  <a:extLst>
                    <a:ext uri="{9D8B030D-6E8A-4147-A177-3AD203B41FA5}">
                      <a16:colId xmlns:a16="http://schemas.microsoft.com/office/drawing/2014/main" val="3902384449"/>
                    </a:ext>
                  </a:extLst>
                </a:gridCol>
                <a:gridCol w="323929">
                  <a:extLst>
                    <a:ext uri="{9D8B030D-6E8A-4147-A177-3AD203B41FA5}">
                      <a16:colId xmlns:a16="http://schemas.microsoft.com/office/drawing/2014/main" val="2086127051"/>
                    </a:ext>
                  </a:extLst>
                </a:gridCol>
                <a:gridCol w="1264085">
                  <a:extLst>
                    <a:ext uri="{9D8B030D-6E8A-4147-A177-3AD203B41FA5}">
                      <a16:colId xmlns:a16="http://schemas.microsoft.com/office/drawing/2014/main" val="2617394657"/>
                    </a:ext>
                  </a:extLst>
                </a:gridCol>
                <a:gridCol w="481528">
                  <a:extLst>
                    <a:ext uri="{9D8B030D-6E8A-4147-A177-3AD203B41FA5}">
                      <a16:colId xmlns:a16="http://schemas.microsoft.com/office/drawing/2014/main" val="259538936"/>
                    </a:ext>
                  </a:extLst>
                </a:gridCol>
                <a:gridCol w="2401805">
                  <a:extLst>
                    <a:ext uri="{9D8B030D-6E8A-4147-A177-3AD203B41FA5}">
                      <a16:colId xmlns:a16="http://schemas.microsoft.com/office/drawing/2014/main" val="2691380752"/>
                    </a:ext>
                  </a:extLst>
                </a:gridCol>
              </a:tblGrid>
              <a:tr h="225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likelihood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Posterior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37461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2800"/>
                        <a:t>X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 =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5805044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군만두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7321180"/>
                  </a:ext>
                </a:extLst>
              </a:tr>
              <a:tr h="323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삼겹살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20149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218A72D-1906-46AF-85E6-8F2C4D216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01034" y="1261828"/>
            <a:ext cx="5665731" cy="188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600" y="3732193"/>
            <a:ext cx="46210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Likelihood</a:t>
            </a:r>
            <a:r>
              <a:rPr lang="ko-KR" altLang="en-US" sz="1100"/>
              <a:t>는 정보를 모으는데 용이함 하지만 원하는 정보는 아닐수도있음</a:t>
            </a:r>
          </a:p>
          <a:p>
            <a:pPr algn="l">
              <a:defRPr/>
            </a:pPr>
            <a:endParaRPr lang="en-US" altLang="ko-KR" sz="1100"/>
          </a:p>
          <a:p>
            <a:pPr algn="l">
              <a:defRPr/>
            </a:pPr>
            <a:r>
              <a:rPr lang="ko-KR" altLang="en-US" sz="1100"/>
              <a:t>음식에서 조건을 만족하는 확률이 가장 높은게 </a:t>
            </a:r>
            <a:r>
              <a:rPr lang="en-US" altLang="ko-KR" sz="1100"/>
              <a:t>MLE, MLE</a:t>
            </a:r>
            <a:r>
              <a:rPr lang="ko-KR" altLang="en-US" sz="1100"/>
              <a:t>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US" altLang="ko-KR" sz="1100"/>
              <a:t>‘</a:t>
            </a:r>
            <a:r>
              <a:rPr lang="ko-KR" altLang="en-US" sz="1100"/>
              <a:t>파스타</a:t>
            </a:r>
            <a:r>
              <a:rPr lang="en-US" altLang="ko-KR" sz="1100"/>
              <a:t>’</a:t>
            </a:r>
          </a:p>
          <a:p>
            <a:pPr algn="l">
              <a:defRPr/>
            </a:pPr>
            <a:r>
              <a:rPr lang="ko-KR" altLang="en-US" sz="1100"/>
              <a:t>조건에서 음식을 만족하는 확률이 가장 높은게 </a:t>
            </a:r>
            <a:r>
              <a:rPr lang="en-US" altLang="ko-KR" sz="1100"/>
              <a:t>MAP</a:t>
            </a:r>
            <a:r>
              <a:rPr lang="ko-KR" altLang="en-US" sz="1100"/>
              <a:t>이다</a:t>
            </a:r>
            <a:r>
              <a:rPr lang="en-US" altLang="ko-KR" sz="1100"/>
              <a:t>.</a:t>
            </a:r>
          </a:p>
          <a:p>
            <a:pPr algn="l">
              <a:defRPr/>
            </a:pPr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/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smtClean="0"/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smtClean="0"/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/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/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/>
                                      <m:t>𝑃</m:t>
                                    </m:r>
                                    <m:r>
                                      <a:rPr lang="en-US" altLang="ko-KR" sz="1200" b="0" smtClean="0"/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sym typeface="Cambria Math"/>
                                  </a:rPr>
                                  <m:t>,7 | </m:t>
                                </m:r>
                                <m:r>
                                  <a:rPr lang="ko-KR" altLang="en-US" sz="1200"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/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smtClean="0"/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smtClean="0"/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/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/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/>
                                      <m:t>𝑃</m:t>
                                    </m:r>
                                    <m:r>
                                      <a:rPr lang="en-US" altLang="ko-KR" sz="1200" b="0" smtClean="0"/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sym typeface="Cambria Math"/>
                                  </a:rPr>
                                  <m:t> | </m:t>
                                </m:r>
                                <m:r>
                                  <a:rPr lang="ko-KR" altLang="en-US" sz="1200" smtClean="0"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sym typeface="Cambria Math"/>
                                  </a:rPr>
                                  <m:t>,7 </m:t>
                                </m:r>
                                <m:r>
                                  <a:rPr lang="en-US" altLang="ko-KR" sz="1200" b="0" smtClean="0"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33553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59" t="-114545" r="-100317" b="-2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159" t="-114545" r="-317" b="-2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11">
            <a:extLst>
              <a:ext uri="{FF2B5EF4-FFF2-40B4-BE49-F238E27FC236}">
                <a16:creationId xmlns:a16="http://schemas.microsoft.com/office/drawing/2014/main" id="{DBE3F6A6-650F-48BD-A6D9-8D9FFAE3B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60675"/>
              </p:ext>
            </p:extLst>
          </p:nvPr>
        </p:nvGraphicFramePr>
        <p:xfrm>
          <a:off x="5043014" y="3711898"/>
          <a:ext cx="3681886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756">
                  <a:extLst>
                    <a:ext uri="{9D8B030D-6E8A-4147-A177-3AD203B41FA5}">
                      <a16:colId xmlns:a16="http://schemas.microsoft.com/office/drawing/2014/main" val="656650998"/>
                    </a:ext>
                  </a:extLst>
                </a:gridCol>
                <a:gridCol w="2676130">
                  <a:extLst>
                    <a:ext uri="{9D8B030D-6E8A-4147-A177-3AD203B41FA5}">
                      <a16:colId xmlns:a16="http://schemas.microsoft.com/office/drawing/2014/main" val="1220709364"/>
                    </a:ext>
                  </a:extLst>
                </a:gridCol>
              </a:tblGrid>
              <a:tr h="231269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  Likelihood =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 = 0.82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3866585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 = 0.56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09322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 = 0.4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08287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1250" y="1382949"/>
            <a:ext cx="4525324" cy="2827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3819E0-BE39-417A-92B6-C14696368339}"/>
              </a:ext>
            </a:extLst>
          </p:cNvPr>
          <p:cNvSpPr txBox="1"/>
          <p:nvPr/>
        </p:nvSpPr>
        <p:spPr>
          <a:xfrm>
            <a:off x="666750" y="4619625"/>
            <a:ext cx="73437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Sample = { 150, 160, 161, 168, 170, 175 }</a:t>
            </a:r>
          </a:p>
          <a:p>
            <a:pPr algn="l"/>
            <a:r>
              <a:rPr lang="ko-KR" altLang="en-US" sz="1100"/>
              <a:t>어떤 확률 분포에서 샘플이 나올 수 있는 가능성 </a:t>
            </a:r>
            <a:r>
              <a:rPr lang="en-US" altLang="ko-KR" sz="1100"/>
              <a:t>-&gt; Likelihood</a:t>
            </a:r>
          </a:p>
          <a:p>
            <a:pPr algn="l"/>
            <a:r>
              <a:rPr lang="en-US" altLang="ko-KR" sz="1100"/>
              <a:t>Sample</a:t>
            </a:r>
            <a:r>
              <a:rPr lang="ko-KR" altLang="en-US" sz="1100"/>
              <a:t>들의 곱을 통해 </a:t>
            </a:r>
            <a:r>
              <a:rPr lang="en-US" altLang="ko-KR" sz="1100"/>
              <a:t>likelihood</a:t>
            </a:r>
            <a:r>
              <a:rPr lang="ko-KR" altLang="en-US" sz="1100"/>
              <a:t>를 알 수 있음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DE08494-16A6-40C1-A678-917E4F223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3B2FD2-DFB2-4143-964B-6A20A48D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2" y="1380997"/>
            <a:ext cx="6315956" cy="18290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/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키에대한 두개의 확률 분포 존재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빨강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한국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보라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네덜란드</a:t>
                </a:r>
                <a:r>
                  <a:rPr lang="en-US" altLang="ko-KR" sz="1100"/>
                  <a:t>)</a:t>
                </a:r>
              </a:p>
              <a:p>
                <a:pPr algn="l"/>
                <a:r>
                  <a:rPr lang="en-US" altLang="ko-KR" sz="1100"/>
                  <a:t> - sample</a:t>
                </a:r>
                <a:r>
                  <a:rPr lang="ko-KR" altLang="en-US" sz="1100"/>
                  <a:t>이 존재할 때 어떤 확률분포에서 나올 가능성이 클까 비교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167−165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C00000"/>
                    </a:solidFill>
                  </a:rPr>
                  <a:t>한국</a:t>
                </a:r>
                <a:endParaRPr lang="en-US" altLang="ko-KR" sz="1100">
                  <a:solidFill>
                    <a:srgbClr val="C00000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70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endParaRPr lang="en-US" altLang="ko-KR" sz="1100">
                  <a:solidFill>
                    <a:srgbClr val="7030A0"/>
                  </a:solidFill>
                </a:endParaRPr>
              </a:p>
              <a:p>
                <a:endParaRPr lang="en-US" altLang="ko-KR" sz="110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>
                    <a:solidFill>
                      <a:srgbClr val="7030A0"/>
                    </a:solidFill>
                  </a:rPr>
                  <a:t>=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mean, standard devation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을 뜻하여 한국과 네덜란드의 확률분포에 대한 정보를 담는다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즉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165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한국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170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네덜란드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=165,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=170,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위의 식에서 보았을 때 확실한건 아니다 단지 확률로 따질 뿐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아래의 식으로도 사용가능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/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데이터에 대해서 </a:t>
                </a:r>
                <a:r>
                  <a:rPr lang="ko-KR" altLang="en-US" sz="1100"/>
                  <a:t>한국과 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계산 했고 두개중의 값이 </a:t>
                </a:r>
                <a:r>
                  <a:rPr lang="en-US" altLang="ko-KR" sz="1100"/>
                  <a:t>1,2</a:t>
                </a:r>
                <a:r>
                  <a:rPr lang="ko-KR" altLang="en-US" sz="1100"/>
                  <a:t>번에 표시되며 더 높은 것이 </a:t>
                </a:r>
                <a:r>
                  <a:rPr lang="en-US" altLang="ko-KR" sz="1100"/>
                  <a:t>MLE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blipFill>
                <a:blip r:embed="rId4"/>
                <a:stretch>
                  <a:fillRect t="-1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3DC0F5-C0C1-43C4-9C61-D6F58AAABFD0}"/>
              </a:ext>
            </a:extLst>
          </p:cNvPr>
          <p:cNvCxnSpPr/>
          <p:nvPr/>
        </p:nvCxnSpPr>
        <p:spPr>
          <a:xfrm flipV="1">
            <a:off x="4457700" y="1744980"/>
            <a:ext cx="0" cy="119634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50A18E4-FEC7-4B48-A99F-D622BCDA5381}"/>
              </a:ext>
            </a:extLst>
          </p:cNvPr>
          <p:cNvCxnSpPr>
            <a:cxnSpLocks/>
          </p:cNvCxnSpPr>
          <p:nvPr/>
        </p:nvCxnSpPr>
        <p:spPr>
          <a:xfrm>
            <a:off x="4457700" y="1744980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1DF7F1A-BCDA-427E-8977-688D67E4749A}"/>
              </a:ext>
            </a:extLst>
          </p:cNvPr>
          <p:cNvCxnSpPr>
            <a:cxnSpLocks/>
          </p:cNvCxnSpPr>
          <p:nvPr/>
        </p:nvCxnSpPr>
        <p:spPr>
          <a:xfrm>
            <a:off x="4457700" y="2295524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891762-5C8C-4163-BB1E-B02D442EF4E2}"/>
              </a:ext>
            </a:extLst>
          </p:cNvPr>
          <p:cNvSpPr txBox="1"/>
          <p:nvPr/>
        </p:nvSpPr>
        <p:spPr>
          <a:xfrm>
            <a:off x="5684520" y="162306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6C0C0-6252-4C16-B56F-E20E70717E20}"/>
              </a:ext>
            </a:extLst>
          </p:cNvPr>
          <p:cNvSpPr txBox="1"/>
          <p:nvPr/>
        </p:nvSpPr>
        <p:spPr>
          <a:xfrm>
            <a:off x="5735704" y="215022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2</a:t>
            </a:r>
            <a:endParaRPr lang="ko-KR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AB2CADA5-AF65-4A9D-9FC3-AB10BA04A5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612" y="1255978"/>
            <a:ext cx="6962775" cy="26669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3429000"/>
            <a:ext cx="0" cy="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87D1AD-325B-4BA4-822F-407106D85C99}"/>
              </a:ext>
            </a:extLst>
          </p:cNvPr>
          <p:cNvCxnSpPr>
            <a:cxnSpLocks/>
          </p:cNvCxnSpPr>
          <p:nvPr/>
        </p:nvCxnSpPr>
        <p:spPr>
          <a:xfrm flipV="1">
            <a:off x="4146550" y="2091756"/>
            <a:ext cx="0" cy="15848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FCCBAD5-957A-4942-BF74-8F0F88D6A70C}"/>
              </a:ext>
            </a:extLst>
          </p:cNvPr>
          <p:cNvCxnSpPr>
            <a:cxnSpLocks/>
          </p:cNvCxnSpPr>
          <p:nvPr/>
        </p:nvCxnSpPr>
        <p:spPr>
          <a:xfrm flipH="1" flipV="1">
            <a:off x="4730750" y="2119630"/>
            <a:ext cx="57150" cy="15570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1ACF2E-977C-4F5F-A830-C57B0E8ECC6F}"/>
              </a:ext>
            </a:extLst>
          </p:cNvPr>
          <p:cNvSpPr txBox="1"/>
          <p:nvPr/>
        </p:nvSpPr>
        <p:spPr>
          <a:xfrm>
            <a:off x="4730750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170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CDCFF-8A22-4B47-B3AF-F8E78A959C4A}"/>
              </a:ext>
            </a:extLst>
          </p:cNvPr>
          <p:cNvSpPr txBox="1"/>
          <p:nvPr/>
        </p:nvSpPr>
        <p:spPr>
          <a:xfrm>
            <a:off x="3839846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165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08A97-A32A-4221-AB59-3834B9BABC59}"/>
              </a:ext>
            </a:extLst>
          </p:cNvPr>
          <p:cNvSpPr txBox="1"/>
          <p:nvPr/>
        </p:nvSpPr>
        <p:spPr>
          <a:xfrm>
            <a:off x="3306446" y="3680239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158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56622-13A2-4A48-97CE-20311FF6D23B}"/>
              </a:ext>
            </a:extLst>
          </p:cNvPr>
          <p:cNvSpPr txBox="1"/>
          <p:nvPr/>
        </p:nvSpPr>
        <p:spPr>
          <a:xfrm>
            <a:off x="3698558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163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01EEF-A265-463D-A249-4A8C0DB3B2FA}"/>
              </a:ext>
            </a:extLst>
          </p:cNvPr>
          <p:cNvSpPr txBox="1"/>
          <p:nvPr/>
        </p:nvSpPr>
        <p:spPr>
          <a:xfrm>
            <a:off x="4000819" y="3685502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166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CB76B-2EF1-420A-A561-9935A679A13E}"/>
              </a:ext>
            </a:extLst>
          </p:cNvPr>
          <p:cNvSpPr txBox="1"/>
          <p:nvPr/>
        </p:nvSpPr>
        <p:spPr>
          <a:xfrm>
            <a:off x="4267519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168</a:t>
            </a:r>
            <a:endParaRPr lang="ko-KR" altLang="en-US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/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Data = {158, 163, 166, 168}, </a:t>
                </a:r>
                <a:r>
                  <a:rPr lang="ko-KR" altLang="en-US" sz="1100"/>
                  <a:t>데이터는 독립적이라 가정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각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에 대한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구하고 곱하면 한국</a:t>
                </a:r>
                <a:r>
                  <a:rPr lang="en-US" altLang="ko-KR" sz="1100"/>
                  <a:t>,</a:t>
                </a:r>
                <a:r>
                  <a:rPr lang="ko-KR" altLang="en-US" sz="1100"/>
                  <a:t>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=165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FF0000"/>
                    </a:solidFill>
                  </a:rPr>
                  <a:t>한국</a:t>
                </a:r>
                <a:endParaRPr lang="en-US" altLang="ko-KR" sz="110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=170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 </a:t>
                </a:r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=165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=170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>
                  <a:solidFill>
                    <a:srgbClr val="7030A0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Data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는 한국에서 나왔을 가능성이 크다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계산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미분하기에 적당하지 않기에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를 취하면 곱셈이 덧셈으로 바뀜으로 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Log likelihood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라고 함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(x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최댓값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= y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최대값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계산상의 편의성을 위한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함수사용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blipFill>
                <a:blip r:embed="rId4"/>
                <a:stretch>
                  <a:fillRect t="-2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2DC9F1C-8748-42E9-A8D0-49064549F343}"/>
              </a:ext>
            </a:extLst>
          </p:cNvPr>
          <p:cNvCxnSpPr/>
          <p:nvPr/>
        </p:nvCxnSpPr>
        <p:spPr>
          <a:xfrm flipV="1">
            <a:off x="3656966" y="3295650"/>
            <a:ext cx="0" cy="386263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939C0-47D9-4682-87AC-0DE5B88FD519}"/>
              </a:ext>
            </a:extLst>
          </p:cNvPr>
          <p:cNvCxnSpPr>
            <a:cxnSpLocks/>
          </p:cNvCxnSpPr>
          <p:nvPr/>
        </p:nvCxnSpPr>
        <p:spPr>
          <a:xfrm flipV="1">
            <a:off x="4000819" y="2273300"/>
            <a:ext cx="0" cy="141220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0884616-7295-40F2-BEBD-226C529E1D5B}"/>
              </a:ext>
            </a:extLst>
          </p:cNvPr>
          <p:cNvCxnSpPr>
            <a:cxnSpLocks/>
          </p:cNvCxnSpPr>
          <p:nvPr/>
        </p:nvCxnSpPr>
        <p:spPr>
          <a:xfrm flipV="1">
            <a:off x="4231958" y="2203450"/>
            <a:ext cx="1" cy="14732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6EB3E2C-E437-4C0C-815D-5B366514CFAD}"/>
              </a:ext>
            </a:extLst>
          </p:cNvPr>
          <p:cNvCxnSpPr>
            <a:cxnSpLocks/>
          </p:cNvCxnSpPr>
          <p:nvPr/>
        </p:nvCxnSpPr>
        <p:spPr>
          <a:xfrm flipV="1">
            <a:off x="4373246" y="2533650"/>
            <a:ext cx="0" cy="114826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4EC0D8B-304D-4AD0-A9BC-E9B2636DD510}"/>
              </a:ext>
            </a:extLst>
          </p:cNvPr>
          <p:cNvGrpSpPr/>
          <p:nvPr/>
        </p:nvGrpSpPr>
        <p:grpSpPr>
          <a:xfrm>
            <a:off x="6762750" y="4545336"/>
            <a:ext cx="2195477" cy="1840502"/>
            <a:chOff x="6762750" y="4545336"/>
            <a:chExt cx="2195477" cy="1840502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37BD07D-C071-4AF6-A969-D3CC5DD874D9}"/>
                </a:ext>
              </a:extLst>
            </p:cNvPr>
            <p:cNvCxnSpPr/>
            <p:nvPr/>
          </p:nvCxnSpPr>
          <p:spPr>
            <a:xfrm>
              <a:off x="6762750" y="5492750"/>
              <a:ext cx="2152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13BCB35-027B-4579-903A-62B0E1C17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8115" y="4643439"/>
              <a:ext cx="0" cy="17423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3B8ECAE4-A320-4D01-8C4C-D463B988F4F0}"/>
                </a:ext>
              </a:extLst>
            </p:cNvPr>
            <p:cNvSpPr/>
            <p:nvPr/>
          </p:nvSpPr>
          <p:spPr>
            <a:xfrm>
              <a:off x="7839043" y="4899662"/>
              <a:ext cx="1038257" cy="1409698"/>
            </a:xfrm>
            <a:custGeom>
              <a:avLst/>
              <a:gdLst>
                <a:gd name="connsiteX0" fmla="*/ 17177 w 1038257"/>
                <a:gd name="connsiteY0" fmla="*/ 1188720 h 1188720"/>
                <a:gd name="connsiteX1" fmla="*/ 40037 w 1038257"/>
                <a:gd name="connsiteY1" fmla="*/ 601980 h 1188720"/>
                <a:gd name="connsiteX2" fmla="*/ 367697 w 1038257"/>
                <a:gd name="connsiteY2" fmla="*/ 243840 h 1188720"/>
                <a:gd name="connsiteX3" fmla="*/ 1038257 w 1038257"/>
                <a:gd name="connsiteY3" fmla="*/ 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57" h="1188720">
                  <a:moveTo>
                    <a:pt x="17177" y="1188720"/>
                  </a:moveTo>
                  <a:cubicBezTo>
                    <a:pt x="-603" y="974090"/>
                    <a:pt x="-18383" y="759460"/>
                    <a:pt x="40037" y="601980"/>
                  </a:cubicBezTo>
                  <a:cubicBezTo>
                    <a:pt x="98457" y="444500"/>
                    <a:pt x="201327" y="344170"/>
                    <a:pt x="367697" y="243840"/>
                  </a:cubicBezTo>
                  <a:cubicBezTo>
                    <a:pt x="534067" y="143510"/>
                    <a:pt x="906177" y="72390"/>
                    <a:pt x="103825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B3ED11-70C3-4958-896B-87ED09926FA1}"/>
                </a:ext>
              </a:extLst>
            </p:cNvPr>
            <p:cNvSpPr txBox="1"/>
            <p:nvPr/>
          </p:nvSpPr>
          <p:spPr>
            <a:xfrm>
              <a:off x="8744867" y="5508640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x</a:t>
              </a:r>
              <a:endParaRPr lang="ko-KR" altLang="en-US" sz="11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1B1756-9300-4B0E-A189-301827A1066D}"/>
                </a:ext>
              </a:extLst>
            </p:cNvPr>
            <p:cNvSpPr txBox="1"/>
            <p:nvPr/>
          </p:nvSpPr>
          <p:spPr>
            <a:xfrm>
              <a:off x="7544755" y="4545336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y</a:t>
              </a:r>
              <a:endParaRPr lang="ko-KR" alt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1E1678E-251E-4B0E-8C07-A3101CD3A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857F2C-B9A5-4D3D-9033-DAC47C388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279044"/>
            <a:ext cx="6697010" cy="23339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/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9</a:t>
                </a:r>
                <a:r>
                  <a:rPr lang="ko-KR" altLang="en-US" sz="1100"/>
                  <a:t>개의 확률 분포가 있고 </a:t>
                </a:r>
                <a:r>
                  <a:rPr lang="en-US" altLang="ko-KR" sz="1100"/>
                  <a:t>6</a:t>
                </a:r>
                <a:r>
                  <a:rPr lang="ko-KR" altLang="en-US" sz="1100"/>
                  <a:t>개의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가 존재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Data</a:t>
                </a:r>
                <a:r>
                  <a:rPr lang="ko-KR" altLang="en-US" sz="1100"/>
                  <a:t>에 대해 가장 높은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의 확률분포를 얻고자 한다면</a:t>
                </a:r>
                <a:r>
                  <a:rPr lang="en-US" altLang="ko-KR" sz="1100"/>
                  <a:t>?</a:t>
                </a: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altLang="ko-KR" sz="1100" b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ko-KR" sz="11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𝐷𝑎𝑡𝑎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 b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𝐷𝑎𝑡𝑎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∏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∑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:endParaRPr lang="ko-KR" altLang="en-US" sz="11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blipFill>
                <a:blip r:embed="rId4"/>
                <a:stretch>
                  <a:fillRect t="-273" b="-27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/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딥러닝의 경우 훨씬 많은 파라미터를 가짐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𝑀𝐿𝐸</m:t>
                              </m:r>
                            </m:sub>
                          </m:sSub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endParaRPr lang="en-US" altLang="ko-KR" sz="1100" b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blipFill>
                <a:blip r:embed="rId5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51B8-F8F5-44A7-B98C-39169BEA5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B0F-2D50-4781-BABE-FB220DD63E89}"/>
              </a:ext>
            </a:extLst>
          </p:cNvPr>
          <p:cNvSpPr txBox="1"/>
          <p:nvPr/>
        </p:nvSpPr>
        <p:spPr>
          <a:xfrm>
            <a:off x="268605" y="1643420"/>
            <a:ext cx="852297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2"/>
              </a:rPr>
              <a:t>https://study2give.tistory.com/entry/%EB%A8%B8%EC%8B%A0%EB%9F%AC%EB%8B%9D-%EC%86%90%EC%8B%A4%ED%95%A8%EC%88%982-%EC%97%94%ED%8A%B8%EB%A1%9C%ED%94%BCEntropy</a:t>
            </a:r>
            <a:endParaRPr lang="en-US" altLang="ko-KR" sz="1200"/>
          </a:p>
          <a:p>
            <a:r>
              <a:rPr lang="ko-KR" altLang="en-US" sz="1200">
                <a:hlinkClick r:id="rId3"/>
              </a:rPr>
              <a:t>https://velog.io/@yuns_u/%EC%86%90%EC%8B%A4%ED%95%A8%EC%88%98-%EA%B0%84%EB%9E%B5-%EC%A0%95%EB%A6%AC</a:t>
            </a:r>
            <a:endParaRPr lang="en-US" altLang="ko-KR" sz="1200"/>
          </a:p>
          <a:p>
            <a:r>
              <a:rPr lang="ko-KR" altLang="en-US" sz="1200">
                <a:hlinkClick r:id="rId4"/>
              </a:rPr>
              <a:t>https://darkpgmr.tistory.com/186</a:t>
            </a:r>
            <a:endParaRPr lang="en-US" altLang="ko-KR" sz="1200"/>
          </a:p>
          <a:p>
            <a:pPr algn="l"/>
            <a:r>
              <a:rPr lang="en-US" altLang="ko-KR" sz="1200">
                <a:hlinkClick r:id="rId5"/>
              </a:rPr>
              <a:t>https://www.edwith.org/machinelearning1_17/lecture/10580?isDesc=false</a:t>
            </a:r>
            <a:endParaRPr lang="en-US" altLang="ko-KR" sz="1200"/>
          </a:p>
          <a:p>
            <a:pPr algn="l"/>
            <a:r>
              <a:rPr lang="en-US" altLang="ko-KR" sz="1200">
                <a:hlinkClick r:id="rId6"/>
              </a:rPr>
              <a:t>https://zzsza.github.io/data/2018/04/19/rule-based-machine-learning-overview/</a:t>
            </a:r>
            <a:endParaRPr lang="en-US" altLang="ko-KR" sz="1200"/>
          </a:p>
          <a:p>
            <a:pPr algn="l"/>
            <a:r>
              <a:rPr lang="en-US" altLang="ko-KR" sz="1200">
                <a:hlinkClick r:id="rId7"/>
              </a:rPr>
              <a:t>https://gaussian37.github.io/ml-concept-basic_information_theory/</a:t>
            </a:r>
            <a:endParaRPr lang="en-US" altLang="ko-KR" sz="1200"/>
          </a:p>
          <a:p>
            <a:r>
              <a:rPr lang="en-US" altLang="ko-KR" sz="1000">
                <a:hlinkClick r:id="rId8"/>
              </a:rPr>
              <a:t>https://www.edwith.org/machinelearning1_17/lecture/10575?isDesc=false</a:t>
            </a:r>
            <a:endParaRPr lang="en-US" altLang="ko-KR" sz="1000"/>
          </a:p>
          <a:p>
            <a:r>
              <a:rPr lang="en-US" altLang="ko-KR" sz="1000">
                <a:hlinkClick r:id="rId9"/>
              </a:rPr>
              <a:t>https://www.youtube.com/watch?v=mxCmB1WE3R8</a:t>
            </a:r>
            <a:endParaRPr lang="en-US" altLang="ko-KR" sz="1000"/>
          </a:p>
          <a:p>
            <a:r>
              <a:rPr lang="en-US" altLang="ko-KR" sz="1000">
                <a:hlinkClick r:id="rId10"/>
              </a:rPr>
              <a:t>https://hyeongminlee.github.io/post/bnn002_mle_map/</a:t>
            </a:r>
            <a:endParaRPr lang="en-US" altLang="ko-KR" sz="1000"/>
          </a:p>
          <a:p>
            <a:endParaRPr lang="en-US" altLang="ko-KR" sz="1200"/>
          </a:p>
          <a:p>
            <a:endParaRPr lang="ko-KR" altLang="en-US" sz="1200"/>
          </a:p>
          <a:p>
            <a:endParaRPr lang="ko-KR" altLang="en-US" sz="1200"/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122315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F6325A9-6976-4C92-BFF2-A352556814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A68AC-CAA2-4574-96E5-D0293677E8E1}"/>
              </a:ext>
            </a:extLst>
          </p:cNvPr>
          <p:cNvSpPr txBox="1"/>
          <p:nvPr/>
        </p:nvSpPr>
        <p:spPr>
          <a:xfrm>
            <a:off x="415636" y="1270660"/>
            <a:ext cx="1659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자료</a:t>
            </a:r>
            <a:r>
              <a:rPr lang="en-US" altLang="ko-KR" sz="1100"/>
              <a:t> </a:t>
            </a:r>
            <a:r>
              <a:rPr lang="ko-KR" altLang="en-US" sz="1100"/>
              <a:t>정리해야할 블로그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6DD15-9C83-49DC-AEC7-9A355BE01868}"/>
              </a:ext>
            </a:extLst>
          </p:cNvPr>
          <p:cNvSpPr txBox="1"/>
          <p:nvPr/>
        </p:nvSpPr>
        <p:spPr>
          <a:xfrm>
            <a:off x="415636" y="1644133"/>
            <a:ext cx="4631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https://warm-uk.tistory.com/49</a:t>
            </a:r>
            <a:endParaRPr lang="en-US" altLang="ko-KR"/>
          </a:p>
          <a:p>
            <a:r>
              <a:rPr lang="en-US" altLang="ko-KR">
                <a:hlinkClick r:id="rId3"/>
              </a:rPr>
              <a:t>https://hyeongminlee.github.io/post/bnn002_mle_map/</a:t>
            </a:r>
            <a:r>
              <a:rPr lang="en-US" altLang="ko-KR"/>
              <a:t> -&gt; </a:t>
            </a:r>
            <a:r>
              <a:rPr lang="ko-KR" altLang="en-US"/>
              <a:t>공식유도</a:t>
            </a:r>
          </a:p>
        </p:txBody>
      </p:sp>
    </p:spTree>
    <p:extLst>
      <p:ext uri="{BB962C8B-B14F-4D97-AF65-F5344CB8AC3E}">
        <p14:creationId xmlns:p14="http://schemas.microsoft.com/office/powerpoint/2010/main" val="237246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2067</Words>
  <Application>Microsoft Office PowerPoint</Application>
  <PresentationFormat>화면 슬라이드 쇼(4:3)</PresentationFormat>
  <Paragraphs>271</Paragraphs>
  <Slides>18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-apple-system</vt:lpstr>
      <vt:lpstr>HY견고딕</vt:lpstr>
      <vt:lpstr>Jeju Gothic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347</cp:revision>
  <dcterms:modified xsi:type="dcterms:W3CDTF">2023-08-03T10:21:19Z</dcterms:modified>
  <cp:version>1000.0000.01</cp:version>
</cp:coreProperties>
</file>