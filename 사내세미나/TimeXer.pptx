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6" r:id="rId3"/>
    <p:sldId id="267" r:id="rId4"/>
    <p:sldId id="268" r:id="rId5"/>
    <p:sldId id="269" r:id="rId6"/>
    <p:sldId id="273" r:id="rId7"/>
    <p:sldId id="274" r:id="rId8"/>
    <p:sldId id="275" r:id="rId9"/>
    <p:sldId id="276" r:id="rId10"/>
    <p:sldId id="277" r:id="rId11"/>
    <p:sldId id="262" r:id="rId12"/>
    <p:sldId id="270" r:id="rId13"/>
    <p:sldId id="260" r:id="rId14"/>
    <p:sldId id="261" r:id="rId15"/>
    <p:sldId id="271" r:id="rId16"/>
    <p:sldId id="264" r:id="rId17"/>
    <p:sldId id="257" r:id="rId18"/>
    <p:sldId id="263" r:id="rId19"/>
    <p:sldId id="259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AFD140D-9612-44A3-9C9E-D23D9D1EFC4E}">
          <p14:sldIdLst>
            <p14:sldId id="256"/>
            <p14:sldId id="266"/>
            <p14:sldId id="267"/>
            <p14:sldId id="268"/>
            <p14:sldId id="269"/>
            <p14:sldId id="273"/>
            <p14:sldId id="274"/>
            <p14:sldId id="275"/>
            <p14:sldId id="276"/>
            <p14:sldId id="277"/>
            <p14:sldId id="262"/>
            <p14:sldId id="270"/>
            <p14:sldId id="260"/>
            <p14:sldId id="261"/>
            <p14:sldId id="271"/>
            <p14:sldId id="264"/>
          </p14:sldIdLst>
        </p14:section>
        <p14:section name="etc" id="{F2EE1C85-6CC7-42E2-BEE3-CC2DE8920887}">
          <p14:sldIdLst>
            <p14:sldId id="257"/>
            <p14:sldId id="263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62131-E5E4-4813-82D6-F46E79A00D33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1EB4F-D3FE-4FD1-B1FB-676F398969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66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attention</a:t>
            </a:r>
            <a:r>
              <a:rPr lang="ko-KR" altLang="en-US"/>
              <a:t> 그림 </a:t>
            </a:r>
            <a:r>
              <a:rPr lang="en-US" altLang="ko-KR"/>
              <a:t>- https://www.linkedin.com/pulse/what-self-attention-impact-large-language-models-llm-nikhil-goel-srpbc</a:t>
            </a:r>
          </a:p>
          <a:p>
            <a:r>
              <a:rPr lang="en-US" altLang="ko-KR"/>
              <a:t>self-attention</a:t>
            </a:r>
            <a:r>
              <a:rPr lang="ko-KR" altLang="en-US"/>
              <a:t> 그림 </a:t>
            </a:r>
            <a:r>
              <a:rPr lang="en-US" altLang="ko-KR"/>
              <a:t>: https://www.linkedin.com/posts/damienbenveniste_what-is-the-difference-between-self-attention-activity-7211029906166624257-m0Wn</a:t>
            </a:r>
          </a:p>
          <a:p>
            <a:r>
              <a:rPr lang="en-US" altLang="ko-KR"/>
              <a:t>self-attention</a:t>
            </a:r>
            <a:r>
              <a:rPr lang="ko-KR" altLang="en-US"/>
              <a:t>그림 </a:t>
            </a:r>
            <a:r>
              <a:rPr lang="en-US" altLang="ko-KR"/>
              <a:t>: https://kongsberg.tistory.com/47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1EB4F-D3FE-4FD1-B1FB-676F3989699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716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2D403-F3CF-47C9-B281-872CAF7B4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95D273-C7CE-4F1A-B12B-3A44376B0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94D125-5081-4D1A-967B-DBA2CCAB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3B43E5-2E28-40C5-AD56-4B53ABEE4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AC1031-AB6E-410F-A075-C36AF482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650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1D4F5-7C96-4F44-B778-F92E4B394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619E2F-5FC2-4CBE-AC3E-426C2A6CD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77638-7EFD-4135-99D3-997F97109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E7ABF-E7B8-4B7E-B1EF-1FE91479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615755-F6E1-4307-92AB-28DC1A95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21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EA588-ED7D-483E-A30A-C4D661AA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F6388C-136C-4056-99E2-FF2FD0F85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98B74-A6F0-4E6E-8FEE-3BB040C3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5F5472-7257-4575-BF0E-075DE156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F6B504-C220-4D88-8E34-70BBF785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3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8ED04-4F74-45E6-AB75-324FABE98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1576C3-A6F5-4380-AE49-2D589A67D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E9AD9D-017B-44EB-A9DA-FED219BFD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D3226C-3A10-4C0B-A416-181D19A16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C0F242-7B9C-4134-BBF7-46AD8145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60FD7C-AB81-41B3-8C22-EEC4B0FD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12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BEBF1-3CB6-46CB-BEEC-6DEB0BDB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7EF03A-3729-4DB8-B26D-9D02EC140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BA387E-1312-4315-8D10-C3E14D90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83B1CA-50E1-4FE0-9293-2FC5554E8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C58C810-0A70-439B-B7E4-837A0CFC6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D8E53C-DDC9-474E-98FE-D3A9733E7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CD49E8-5A83-47B5-8F0A-C2ABC1D67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A6FE9E-81AF-497F-930C-E8AFB071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627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AAB09-7375-4663-A70C-DC913EF3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C0C3D0-B5EF-4F3D-8EF1-B49F09CBD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329084-5F20-4DB2-AA41-0D6E246B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D90DD7-6AC4-4C10-A2E5-F695CA7E2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026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27A002-5CFB-4AFA-BABF-B372FCCB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EBBF6BC-D0E3-4027-8A35-805CCED4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C0ABA4-BBD4-426C-ABC5-167D5619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420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B662F-0748-44F5-91A1-0AAA00E0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BCAA9B-FAB5-49AF-9EC5-4415F854E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689760-A714-4AA0-BBCB-ADDC7769C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C1FE13-FDFF-4204-A8FA-DCBEBBCB9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91CEF9-C6A3-4474-9DAF-E59E18BF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A7896D-BC69-410B-A0D3-9E253032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55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CFBDC-F346-4555-A421-94C29EFB2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C45586-B1EC-415A-B931-6A9495419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4A9F16-DD8D-4DB4-8453-7CF726139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773F63-A2E5-4D2D-BA53-4E764B8C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3BC2BB-2355-44E3-BA35-4DCA4823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2DA2C3-8F47-480B-9B4E-944F342A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806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BEC0A-B014-47B0-ADEE-B834D726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05884B-B342-4FB6-B88D-3E2BB6708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900FEF-C29E-4A46-AAC4-E149A29F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5F292-ED2F-45E8-A032-7F7DB760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306FFF-DA42-4F67-822F-96543E85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69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AC8DFF-8B99-43B7-B8DF-B01331F67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30F632-4CA6-429F-A459-0A60ADBD8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19728-F949-4D19-B059-72963A9D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B23C49-6643-4557-917D-613FEA3F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8B18-D369-4AB7-A9FB-926F0378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65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8ABEEC-BCAD-4321-8E82-416CAB18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ADDA54-34D8-421B-AE1F-C8B432EC2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3CE1A-3B60-4E02-8DC3-CBC6C7EE2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4AE09-8C39-4879-846F-EB1AB0FE4F26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310044-49EB-4C28-8EED-C20FF8AD5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5AC15-75C5-4277-85B0-DCBC2CD2E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8324E-783C-4146-A8CC-BCC2946A2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30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4DB74-887A-4C5C-9CA4-68843990D7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TimeXer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5B3533-8A8F-41AF-8880-D9C90459E2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578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32A525-28F7-4053-960C-622A1D6CCC1D}"/>
              </a:ext>
            </a:extLst>
          </p:cNvPr>
          <p:cNvSpPr/>
          <p:nvPr/>
        </p:nvSpPr>
        <p:spPr>
          <a:xfrm>
            <a:off x="3780693" y="1072660"/>
            <a:ext cx="4396154" cy="4492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altLang="ko-KR"/>
              <a:t>Introduction</a:t>
            </a:r>
          </a:p>
          <a:p>
            <a:pPr marL="342900" indent="-342900" algn="ctr">
              <a:buAutoNum type="arabicPeriod"/>
            </a:pPr>
            <a:r>
              <a:rPr lang="en-US" altLang="ko-KR"/>
              <a:t>TimeXer </a:t>
            </a:r>
            <a:r>
              <a:rPr lang="ko-KR" altLang="en-US"/>
              <a:t>소개</a:t>
            </a:r>
            <a:endParaRPr lang="en-US" altLang="ko-KR"/>
          </a:p>
          <a:p>
            <a:pPr marL="342900" indent="-342900" algn="ctr">
              <a:buAutoNum type="arabicPeriod"/>
            </a:pPr>
            <a:r>
              <a:rPr lang="ko-KR" altLang="en-US"/>
              <a:t>실험 결과</a:t>
            </a:r>
            <a:endParaRPr lang="en-US" altLang="ko-KR"/>
          </a:p>
          <a:p>
            <a:pPr marL="342900" indent="-342900" algn="ctr">
              <a:buAutoNum type="arabicPeriod"/>
            </a:pPr>
            <a:r>
              <a:rPr lang="ko-KR" altLang="en-US"/>
              <a:t>결론</a:t>
            </a:r>
            <a:endParaRPr lang="en-US" altLang="ko-KR"/>
          </a:p>
          <a:p>
            <a:pPr marL="342900" indent="-342900" algn="ctr"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930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FC0F4-9F8D-48C7-B7DB-CA24F457808A}"/>
              </a:ext>
            </a:extLst>
          </p:cNvPr>
          <p:cNvSpPr txBox="1"/>
          <p:nvPr/>
        </p:nvSpPr>
        <p:spPr>
          <a:xfrm>
            <a:off x="334108" y="167054"/>
            <a:ext cx="289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/>
              <a:t>1. Introduction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27AEE-94BD-40B7-B428-A4BB0E551873}"/>
              </a:ext>
            </a:extLst>
          </p:cNvPr>
          <p:cNvSpPr txBox="1"/>
          <p:nvPr/>
        </p:nvSpPr>
        <p:spPr>
          <a:xfrm>
            <a:off x="334107" y="993531"/>
            <a:ext cx="63033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AutoNum type="arabicPeriod"/>
            </a:pPr>
            <a:r>
              <a:rPr lang="en-US" altLang="ko-KR" sz="1600"/>
              <a:t>TSF </a:t>
            </a:r>
            <a:r>
              <a:rPr lang="ko-KR" altLang="en-US" sz="1600"/>
              <a:t>모델 예측 시</a:t>
            </a:r>
            <a:r>
              <a:rPr lang="en-US" altLang="ko-KR" sz="1600"/>
              <a:t>, endogenous</a:t>
            </a:r>
            <a:r>
              <a:rPr lang="ko-KR" altLang="en-US" sz="1600"/>
              <a:t>만을 고려하는 것은 정확한 예측을 보장하기 어려움</a:t>
            </a:r>
            <a:endParaRPr lang="en-US" altLang="ko-KR" sz="1600"/>
          </a:p>
          <a:p>
            <a:pPr marL="228600" indent="-228600" algn="l">
              <a:buAutoNum type="arabicPeriod"/>
            </a:pPr>
            <a:endParaRPr lang="en-US" altLang="ko-KR" sz="1600"/>
          </a:p>
          <a:p>
            <a:pPr marL="228600" indent="-228600" algn="l">
              <a:buAutoNum type="arabicPeriod"/>
            </a:pPr>
            <a:r>
              <a:rPr lang="en-US" altLang="ko-KR" sz="1600"/>
              <a:t>exogenous</a:t>
            </a:r>
            <a:r>
              <a:rPr lang="ko-KR" altLang="en-US" sz="1600"/>
              <a:t>를 포함하면 다양한 변수간의 상관관계와 인과관계를 보다 포괄적으로 이해할 수 있으며 더 나은 성능과 해석 가능성을 얻을 수 있음</a:t>
            </a:r>
            <a:endParaRPr lang="en-US" altLang="ko-KR" sz="1600"/>
          </a:p>
          <a:p>
            <a:pPr marL="228600" indent="-228600" algn="l">
              <a:buAutoNum type="arabicPeriod"/>
            </a:pPr>
            <a:endParaRPr lang="en-US" altLang="ko-KR" sz="1600"/>
          </a:p>
          <a:p>
            <a:pPr marL="228600" indent="-228600" algn="l">
              <a:buAutoNum type="arabicPeriod"/>
            </a:pPr>
            <a:r>
              <a:rPr lang="ko-KR" altLang="en-US" sz="1600"/>
              <a:t>시계열 모델링 관점에서</a:t>
            </a:r>
            <a:r>
              <a:rPr lang="en-US" altLang="ko-KR" sz="1600"/>
              <a:t>, exogenous</a:t>
            </a:r>
            <a:r>
              <a:rPr lang="ko-KR" altLang="en-US" sz="1600"/>
              <a:t>는 예측 모델에 정보를 제공하는 목적이며 직접 예측할 필요는 없음</a:t>
            </a:r>
            <a:endParaRPr lang="en-US" altLang="ko-KR" sz="1600"/>
          </a:p>
          <a:p>
            <a:pPr marL="228600" indent="-228600" algn="l">
              <a:buAutoNum type="arabicPeriod"/>
            </a:pPr>
            <a:endParaRPr lang="en-US" altLang="ko-KR" sz="1600"/>
          </a:p>
          <a:p>
            <a:pPr marL="228600" indent="-228600" algn="l">
              <a:buAutoNum type="arabicPeriod"/>
            </a:pPr>
            <a:r>
              <a:rPr lang="en-US" altLang="ko-KR" sz="1600"/>
              <a:t>exogenous</a:t>
            </a:r>
            <a:r>
              <a:rPr lang="ko-KR" altLang="en-US" sz="1600"/>
              <a:t>를 활용하여 정확한 예측을 하기 위해</a:t>
            </a:r>
            <a:r>
              <a:rPr lang="en-US" altLang="ko-KR" sz="1600"/>
              <a:t>, </a:t>
            </a:r>
            <a:r>
              <a:rPr lang="en-US" altLang="ko-KR" sz="1600">
                <a:solidFill>
                  <a:srgbClr val="FF0000"/>
                </a:solidFill>
              </a:rPr>
              <a:t>endogeous</a:t>
            </a:r>
            <a:r>
              <a:rPr lang="ko-KR" altLang="en-US" sz="1600">
                <a:solidFill>
                  <a:srgbClr val="FF0000"/>
                </a:solidFill>
              </a:rPr>
              <a:t>의 시간적 의존성과 </a:t>
            </a:r>
            <a:r>
              <a:rPr lang="en-US" altLang="ko-KR" sz="1600">
                <a:solidFill>
                  <a:srgbClr val="FF0000"/>
                </a:solidFill>
              </a:rPr>
              <a:t>endogenous</a:t>
            </a:r>
            <a:r>
              <a:rPr lang="ko-KR" altLang="en-US" sz="1600">
                <a:solidFill>
                  <a:srgbClr val="FF0000"/>
                </a:solidFill>
              </a:rPr>
              <a:t>와 </a:t>
            </a:r>
            <a:r>
              <a:rPr lang="en-US" altLang="ko-KR" sz="1600">
                <a:solidFill>
                  <a:srgbClr val="FF0000"/>
                </a:solidFill>
              </a:rPr>
              <a:t>exogenous</a:t>
            </a:r>
            <a:r>
              <a:rPr lang="ko-KR" altLang="en-US" sz="1600">
                <a:solidFill>
                  <a:srgbClr val="FF0000"/>
                </a:solidFill>
              </a:rPr>
              <a:t>간의 상호연관성을 </a:t>
            </a:r>
            <a:r>
              <a:rPr lang="ko-KR" altLang="en-US" sz="1600"/>
              <a:t>포착하는 것이 필수이며 다층적 구조가 필요하다고 판단함</a:t>
            </a:r>
            <a:br>
              <a:rPr lang="en-US" altLang="ko-KR" sz="1600"/>
            </a:br>
            <a:endParaRPr lang="en-US" altLang="ko-KR" sz="1600"/>
          </a:p>
          <a:p>
            <a:pPr marL="228600" indent="-228600" algn="l">
              <a:buAutoNum type="arabicPeriod"/>
            </a:pPr>
            <a:endParaRPr lang="ko-KR" altLang="en-US" sz="160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8E60D45-1F71-4276-81DB-6D3AAA0AB624}"/>
              </a:ext>
            </a:extLst>
          </p:cNvPr>
          <p:cNvGrpSpPr/>
          <p:nvPr/>
        </p:nvGrpSpPr>
        <p:grpSpPr>
          <a:xfrm>
            <a:off x="6913411" y="2031854"/>
            <a:ext cx="5008043" cy="1890291"/>
            <a:chOff x="6922203" y="835323"/>
            <a:chExt cx="5008043" cy="189029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7BC9B0A-755E-43F7-9876-6124E6830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2203" y="835323"/>
              <a:ext cx="5008043" cy="1890291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72DAE8A-C0C2-428F-B557-ECEE6D31587A}"/>
                </a:ext>
              </a:extLst>
            </p:cNvPr>
            <p:cNvSpPr/>
            <p:nvPr/>
          </p:nvSpPr>
          <p:spPr>
            <a:xfrm>
              <a:off x="6994649" y="2057401"/>
              <a:ext cx="237392" cy="228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B864D88-1FF3-402C-B915-D90A8FC85FCA}"/>
                </a:ext>
              </a:extLst>
            </p:cNvPr>
            <p:cNvSpPr/>
            <p:nvPr/>
          </p:nvSpPr>
          <p:spPr>
            <a:xfrm>
              <a:off x="7274626" y="2057401"/>
              <a:ext cx="559319" cy="228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DEEA059-2138-46E7-BBD0-F8DB531546F0}"/>
              </a:ext>
            </a:extLst>
          </p:cNvPr>
          <p:cNvCxnSpPr>
            <a:stCxn id="12" idx="2"/>
          </p:cNvCxnSpPr>
          <p:nvPr/>
        </p:nvCxnSpPr>
        <p:spPr>
          <a:xfrm>
            <a:off x="7104553" y="3482532"/>
            <a:ext cx="244718" cy="600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8B38BC-A110-4422-B171-2C30F1DD9307}"/>
              </a:ext>
            </a:extLst>
          </p:cNvPr>
          <p:cNvSpPr txBox="1"/>
          <p:nvPr/>
        </p:nvSpPr>
        <p:spPr>
          <a:xfrm>
            <a:off x="6903437" y="4100417"/>
            <a:ext cx="145232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/>
              <a:t>endogenous</a:t>
            </a:r>
            <a:endParaRPr lang="ko-KR" altLang="en-US" sz="160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9ADF28A-B2B8-472F-80E2-07A6F493699A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7545494" y="3482532"/>
            <a:ext cx="1066572" cy="600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E26A3F-1A9B-4A7A-8D54-4CEBE0CFFA44}"/>
              </a:ext>
            </a:extLst>
          </p:cNvPr>
          <p:cNvSpPr txBox="1"/>
          <p:nvPr/>
        </p:nvSpPr>
        <p:spPr>
          <a:xfrm>
            <a:off x="8429864" y="4100417"/>
            <a:ext cx="154061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ko-KR" sz="1600"/>
              <a:t>exogenous</a:t>
            </a:r>
            <a:endParaRPr lang="ko-KR" altLang="en-US" sz="16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1BE00A-1A94-4F35-9F18-BC14805472AB}"/>
              </a:ext>
            </a:extLst>
          </p:cNvPr>
          <p:cNvSpPr/>
          <p:nvPr/>
        </p:nvSpPr>
        <p:spPr>
          <a:xfrm>
            <a:off x="7265834" y="4479005"/>
            <a:ext cx="4661022" cy="6003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/>
              <a:t>Timexer</a:t>
            </a:r>
            <a:r>
              <a:rPr lang="ko-KR" altLang="en-US" b="1"/>
              <a:t>는 </a:t>
            </a:r>
            <a:r>
              <a:rPr lang="en-US" altLang="ko-KR" b="1"/>
              <a:t>Many-to-one</a:t>
            </a:r>
            <a:r>
              <a:rPr lang="ko-KR" altLang="en-US" b="1"/>
              <a:t>이라고 생각</a:t>
            </a:r>
            <a:r>
              <a:rPr lang="en-US" altLang="ko-KR" b="1"/>
              <a:t>!</a:t>
            </a:r>
            <a:endParaRPr lang="ko-KR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565A1E-5483-404D-9320-B0B4FD02E1F3}"/>
                  </a:ext>
                </a:extLst>
              </p:cNvPr>
              <p:cNvSpPr txBox="1"/>
              <p:nvPr/>
            </p:nvSpPr>
            <p:spPr>
              <a:xfrm>
                <a:off x="6813749" y="1363585"/>
                <a:ext cx="5207365" cy="594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ko-KR" altLang="en-US" sz="1600"/>
                  <a:t> </a:t>
                </a:r>
                <a:r>
                  <a:rPr lang="en-US" altLang="ko-KR" sz="1600"/>
                  <a:t>endogeouns</a:t>
                </a:r>
                <a:r>
                  <a:rPr lang="ko-KR" altLang="en-US" sz="1600"/>
                  <a:t>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600"/>
                  <a:t> 대해 예측</a:t>
                </a:r>
                <a:endParaRPr lang="en-US" altLang="ko-KR" sz="1600"/>
              </a:p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ko-KR" altLang="en-US" sz="16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sz="1600"/>
                  <a:t> </a:t>
                </a:r>
                <a:r>
                  <a:rPr lang="en-US" altLang="ko-KR" sz="1600"/>
                  <a:t>exogeonus</a:t>
                </a:r>
                <a:r>
                  <a:rPr lang="ko-KR" altLang="en-US" sz="1600"/>
                  <a:t>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600"/>
                  <a:t> 예측을 도와주는 역할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565A1E-5483-404D-9320-B0B4FD02E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749" y="1363585"/>
                <a:ext cx="5207365" cy="594137"/>
              </a:xfrm>
              <a:prstGeom prst="rect">
                <a:avLst/>
              </a:prstGeom>
              <a:blipFill>
                <a:blip r:embed="rId3"/>
                <a:stretch>
                  <a:fillRect t="-3093" b="-123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그룹 30">
            <a:extLst>
              <a:ext uri="{FF2B5EF4-FFF2-40B4-BE49-F238E27FC236}">
                <a16:creationId xmlns:a16="http://schemas.microsoft.com/office/drawing/2014/main" id="{7087D362-F6FE-410B-9690-B3EA2E4C5912}"/>
              </a:ext>
            </a:extLst>
          </p:cNvPr>
          <p:cNvGrpSpPr/>
          <p:nvPr/>
        </p:nvGrpSpPr>
        <p:grpSpPr>
          <a:xfrm>
            <a:off x="409091" y="4248736"/>
            <a:ext cx="5336462" cy="2783630"/>
            <a:chOff x="1015761" y="4228974"/>
            <a:chExt cx="5336462" cy="2783630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87C8A178-8CDF-4350-B092-6A8C304AA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6752" y="4228974"/>
              <a:ext cx="1205941" cy="2277889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FDC1366-6C4E-464D-AF49-18457D3BEFD0}"/>
                </a:ext>
              </a:extLst>
            </p:cNvPr>
            <p:cNvSpPr txBox="1"/>
            <p:nvPr/>
          </p:nvSpPr>
          <p:spPr>
            <a:xfrm>
              <a:off x="1015761" y="6552446"/>
              <a:ext cx="17534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200"/>
                <a:t>&lt; </a:t>
              </a:r>
              <a:r>
                <a:rPr lang="ko-KR" altLang="en-US" sz="1200"/>
                <a:t>다층적 구조 예시 </a:t>
              </a:r>
              <a:r>
                <a:rPr lang="en-US" altLang="ko-KR" sz="1200"/>
                <a:t>&gt;</a:t>
              </a:r>
              <a:endParaRPr lang="ko-KR" altLang="en-US" sz="12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DC369D5-E211-4968-A52A-426ED756898B}"/>
                </a:ext>
              </a:extLst>
            </p:cNvPr>
            <p:cNvSpPr txBox="1"/>
            <p:nvPr/>
          </p:nvSpPr>
          <p:spPr>
            <a:xfrm>
              <a:off x="4018338" y="6550939"/>
              <a:ext cx="23338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200"/>
                <a:t>&lt; itansformer </a:t>
              </a:r>
              <a:r>
                <a:rPr lang="ko-KR" altLang="en-US" sz="1200"/>
                <a:t>아키텍처 예시 </a:t>
              </a:r>
              <a:r>
                <a:rPr lang="en-US" altLang="ko-KR" sz="1200"/>
                <a:t>&gt;</a:t>
              </a:r>
              <a:endParaRPr lang="ko-KR" altLang="en-US" sz="1200"/>
            </a:p>
          </p:txBody>
        </p: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F06CB456-2ADF-4BCF-9BA0-EF0FE6749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574" y="4464495"/>
            <a:ext cx="4832075" cy="202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5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FC0F4-9F8D-48C7-B7DB-CA24F457808A}"/>
              </a:ext>
            </a:extLst>
          </p:cNvPr>
          <p:cNvSpPr txBox="1"/>
          <p:nvPr/>
        </p:nvSpPr>
        <p:spPr>
          <a:xfrm>
            <a:off x="334107" y="166471"/>
            <a:ext cx="289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/>
              <a:t>2. TimeXer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27AEE-94BD-40B7-B428-A4BB0E551873}"/>
              </a:ext>
            </a:extLst>
          </p:cNvPr>
          <p:cNvSpPr txBox="1"/>
          <p:nvPr/>
        </p:nvSpPr>
        <p:spPr>
          <a:xfrm>
            <a:off x="334106" y="689886"/>
            <a:ext cx="7578541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/>
              <a:t>2-1. TimeXer </a:t>
            </a:r>
            <a:r>
              <a:rPr lang="ko-KR" altLang="en-US" sz="1600"/>
              <a:t>특징</a:t>
            </a:r>
            <a:endParaRPr lang="en-US" altLang="ko-KR" sz="1600"/>
          </a:p>
          <a:p>
            <a:pPr algn="l"/>
            <a:endParaRPr lang="en-US" altLang="ko-KR" sz="1600"/>
          </a:p>
          <a:p>
            <a:pPr marL="342900" indent="-342900" algn="l">
              <a:buAutoNum type="arabicPeriod"/>
            </a:pPr>
            <a:r>
              <a:rPr lang="en-US" altLang="ko-KR" sz="1600"/>
              <a:t>endogenous</a:t>
            </a:r>
            <a:r>
              <a:rPr lang="ko-KR" altLang="en-US" sz="1600"/>
              <a:t>의 패치 단위 토큰을 활용</a:t>
            </a:r>
            <a:br>
              <a:rPr lang="en-US" altLang="ko-KR" sz="1600"/>
            </a:br>
            <a:r>
              <a:rPr lang="en-US" altLang="ko-KR" sz="1600"/>
              <a:t>- </a:t>
            </a:r>
            <a:r>
              <a:rPr lang="ko-KR" altLang="en-US" sz="1600"/>
              <a:t>일정한 길이의 패치를 활용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- </a:t>
            </a:r>
            <a:r>
              <a:rPr lang="ko-KR" altLang="en-US" sz="1600"/>
              <a:t>패치 단위의 토큰을 활용하여 시간적 의존성 포착</a:t>
            </a:r>
            <a:br>
              <a:rPr lang="en-US" altLang="ko-KR" sz="1600"/>
            </a:br>
            <a:r>
              <a:rPr lang="en-US" altLang="ko-KR" sz="1600"/>
              <a:t>- non-overalp patch </a:t>
            </a:r>
            <a:r>
              <a:rPr lang="ko-KR" altLang="en-US" sz="1600"/>
              <a:t>사용</a:t>
            </a:r>
            <a:br>
              <a:rPr lang="en-US" altLang="ko-KR" sz="1600"/>
            </a:br>
            <a:r>
              <a:rPr lang="en-US" altLang="ko-KR" sz="1600"/>
              <a:t>=&gt; </a:t>
            </a:r>
            <a:r>
              <a:rPr lang="ko-KR" altLang="en-US" sz="1600"/>
              <a:t>최근 시계열 논문에서는 </a:t>
            </a:r>
            <a:r>
              <a:rPr lang="en-US" altLang="ko-KR" sz="1600"/>
              <a:t>non-overlap patch</a:t>
            </a:r>
            <a:r>
              <a:rPr lang="ko-KR" altLang="en-US" sz="1600"/>
              <a:t>를 사용한다고함</a:t>
            </a:r>
            <a:r>
              <a:rPr lang="en-US" altLang="ko-KR" sz="1600"/>
              <a:t>. </a:t>
            </a:r>
            <a:r>
              <a:rPr lang="ko-KR" altLang="en-US" sz="1600"/>
              <a:t>이미지 모델은 </a:t>
            </a:r>
            <a:r>
              <a:rPr lang="en-US" altLang="ko-KR" sz="1600"/>
              <a:t>overlap </a:t>
            </a:r>
            <a:r>
              <a:rPr lang="ko-KR" altLang="en-US" sz="1600"/>
              <a:t>될 시</a:t>
            </a:r>
            <a:r>
              <a:rPr lang="en-US" altLang="ko-KR" sz="1600"/>
              <a:t>, </a:t>
            </a:r>
            <a:r>
              <a:rPr lang="ko-KR" altLang="en-US" sz="1600"/>
              <a:t>겹치는 부분이 있지만 시계열은 없음</a:t>
            </a:r>
            <a:br>
              <a:rPr lang="en-US" altLang="ko-KR" sz="1600"/>
            </a:br>
            <a:r>
              <a:rPr lang="en-US" altLang="ko-KR" sz="1600"/>
              <a:t>( </a:t>
            </a:r>
            <a:r>
              <a:rPr lang="ko-KR" altLang="en-US" sz="1600"/>
              <a:t>논문 </a:t>
            </a:r>
            <a:r>
              <a:rPr lang="en-US" altLang="ko-KR" sz="1600"/>
              <a:t>B.1 </a:t>
            </a:r>
            <a:r>
              <a:rPr lang="ko-KR" altLang="en-US" sz="1600"/>
              <a:t>참고</a:t>
            </a:r>
            <a:r>
              <a:rPr lang="en-US" altLang="ko-KR" sz="1600"/>
              <a:t>)</a:t>
            </a:r>
            <a:br>
              <a:rPr lang="en-US" altLang="ko-KR" sz="1600"/>
            </a:br>
            <a:endParaRPr lang="en-US" altLang="ko-KR" sz="1600"/>
          </a:p>
          <a:p>
            <a:pPr marL="342900" indent="-342900" algn="l">
              <a:buAutoNum type="arabicPeriod"/>
            </a:pPr>
            <a:r>
              <a:rPr lang="ko-KR" altLang="en-US" sz="1600"/>
              <a:t>학습가능한 </a:t>
            </a:r>
            <a:r>
              <a:rPr lang="en-US" altLang="ko-KR" sz="1600"/>
              <a:t>global token </a:t>
            </a:r>
            <a:r>
              <a:rPr lang="ko-KR" altLang="en-US" sz="1600"/>
              <a:t>도입</a:t>
            </a:r>
            <a:br>
              <a:rPr lang="en-US" altLang="ko-KR" sz="1600"/>
            </a:br>
            <a:r>
              <a:rPr lang="en-US" altLang="ko-KR" sz="1600"/>
              <a:t>- Vision Transformer(VIT)</a:t>
            </a:r>
            <a:r>
              <a:rPr lang="ko-KR" altLang="en-US" sz="1600"/>
              <a:t>의 </a:t>
            </a:r>
            <a:r>
              <a:rPr lang="en-US" altLang="ko-KR" sz="1600"/>
              <a:t>class token </a:t>
            </a:r>
            <a:r>
              <a:rPr lang="ko-KR" altLang="en-US" sz="1600"/>
              <a:t>개념에서 영감을 받아 활용</a:t>
            </a:r>
            <a:br>
              <a:rPr lang="en-US" altLang="ko-KR" sz="1600"/>
            </a:br>
            <a:r>
              <a:rPr lang="en-US" altLang="ko-KR" sz="1600"/>
              <a:t>=&gt; VIT</a:t>
            </a:r>
            <a:r>
              <a:rPr lang="ko-KR" altLang="en-US" sz="1600"/>
              <a:t>의 </a:t>
            </a:r>
            <a:r>
              <a:rPr lang="en-US" altLang="ko-KR" sz="1600"/>
              <a:t>class token</a:t>
            </a:r>
            <a:r>
              <a:rPr lang="ko-KR" altLang="en-US" sz="1600"/>
              <a:t>이 전체 이미지의 요약된 표현을 학습하는 것과 유사함</a:t>
            </a:r>
            <a:br>
              <a:rPr lang="en-US" altLang="ko-KR" sz="1600"/>
            </a:br>
            <a:r>
              <a:rPr lang="en-US" altLang="ko-KR" sz="1600"/>
              <a:t>- </a:t>
            </a:r>
            <a:r>
              <a:rPr lang="ko-KR" altLang="en-US" sz="1600"/>
              <a:t>직접 내생변수와 외생변수를 연결하는게 아닌 </a:t>
            </a:r>
            <a:r>
              <a:rPr lang="en-US" altLang="ko-KR" sz="1600"/>
              <a:t>global token</a:t>
            </a:r>
            <a:r>
              <a:rPr lang="ko-KR" altLang="en-US" sz="1600"/>
              <a:t>을 활용해 간접적으로 정보 전달</a:t>
            </a:r>
            <a:r>
              <a:rPr lang="en-US" altLang="ko-KR" sz="1600"/>
              <a:t>. </a:t>
            </a:r>
            <a:r>
              <a:rPr lang="ko-KR" altLang="en-US" sz="1600"/>
              <a:t>직접적으로 전달 할 시 정보 불일치 에러가 발생</a:t>
            </a:r>
            <a:r>
              <a:rPr lang="en-US" altLang="ko-KR" sz="1600"/>
              <a:t>.</a:t>
            </a:r>
          </a:p>
          <a:p>
            <a:pPr marL="342900" indent="-342900" algn="l">
              <a:buAutoNum type="arabicPeriod"/>
            </a:pPr>
            <a:endParaRPr lang="en-US" altLang="ko-KR" sz="1600"/>
          </a:p>
          <a:p>
            <a:pPr marL="342900" indent="-342900" algn="l">
              <a:buAutoNum type="arabicPeriod"/>
            </a:pPr>
            <a:r>
              <a:rPr lang="en-US" altLang="ko-KR" sz="1600"/>
              <a:t>exogenous</a:t>
            </a:r>
            <a:r>
              <a:rPr lang="ko-KR" altLang="en-US" sz="1600"/>
              <a:t>의 변수 수준</a:t>
            </a:r>
            <a:r>
              <a:rPr lang="en-US" altLang="ko-KR" sz="1600"/>
              <a:t>(variate level)</a:t>
            </a:r>
            <a:r>
              <a:rPr lang="ko-KR" altLang="en-US" sz="1600"/>
              <a:t>의 표현 사용</a:t>
            </a:r>
            <a:br>
              <a:rPr lang="en-US" altLang="ko-KR" sz="1600"/>
            </a:br>
            <a:r>
              <a:rPr lang="en-US" altLang="ko-KR" sz="1600"/>
              <a:t>- </a:t>
            </a:r>
            <a:r>
              <a:rPr lang="ko-KR" altLang="en-US" sz="1600"/>
              <a:t>불규칙한 </a:t>
            </a:r>
            <a:r>
              <a:rPr lang="en-US" altLang="ko-KR" sz="1600"/>
              <a:t>exogenous</a:t>
            </a:r>
            <a:r>
              <a:rPr lang="ko-KR" altLang="en-US" sz="1600"/>
              <a:t> 문제 해결을 위해 </a:t>
            </a:r>
            <a:r>
              <a:rPr lang="en-US" altLang="ko-KR" sz="1600"/>
              <a:t>variate level </a:t>
            </a:r>
            <a:r>
              <a:rPr lang="ko-KR" altLang="en-US" sz="1600"/>
              <a:t>표현</a:t>
            </a:r>
            <a:br>
              <a:rPr lang="en-US" altLang="ko-KR" sz="1600"/>
            </a:br>
            <a:r>
              <a:rPr lang="en-US" altLang="ko-KR" sz="1600"/>
              <a:t>- </a:t>
            </a:r>
            <a:r>
              <a:rPr lang="ko-KR" altLang="en-US" sz="1600"/>
              <a:t>외부 요인이 </a:t>
            </a:r>
            <a:r>
              <a:rPr lang="en-US" altLang="ko-KR" sz="1600"/>
              <a:t>endogenous</a:t>
            </a:r>
            <a:r>
              <a:rPr lang="ko-KR" altLang="en-US" sz="1600"/>
              <a:t>에 미치는 영향 자연스럽게 통합</a:t>
            </a:r>
            <a:endParaRPr lang="en-US" altLang="ko-KR" sz="1600"/>
          </a:p>
          <a:p>
            <a:pPr marL="342900" indent="-342900" algn="l">
              <a:buAutoNum type="arabicPeriod"/>
            </a:pPr>
            <a:endParaRPr lang="en-US" altLang="ko-KR" sz="1600"/>
          </a:p>
          <a:p>
            <a:pPr marL="342900" indent="-342900" algn="l">
              <a:buAutoNum type="arabicPeriod"/>
            </a:pPr>
            <a:r>
              <a:rPr lang="ko-KR" altLang="en-US" sz="1600"/>
              <a:t>내생변수와 외생변수간의 </a:t>
            </a:r>
            <a:r>
              <a:rPr lang="ko-KR" altLang="en-US" sz="1600">
                <a:solidFill>
                  <a:srgbClr val="FF0000"/>
                </a:solidFill>
              </a:rPr>
              <a:t>과거 자료의 길이와 시간대를 맞출필요 없음</a:t>
            </a:r>
            <a:br>
              <a:rPr lang="en-US" altLang="ko-KR" sz="1600"/>
            </a:br>
            <a:r>
              <a:rPr lang="en-US" altLang="ko-KR" sz="1600"/>
              <a:t>- cross-attention</a:t>
            </a:r>
            <a:r>
              <a:rPr lang="ko-KR" altLang="en-US" sz="1600"/>
              <a:t>을 통해 내생 변수와 연결하여 길이가 달라도 중요한 정보만 선택적으로 반영하여 학습</a:t>
            </a:r>
            <a:br>
              <a:rPr lang="en-US" altLang="ko-KR" sz="1600"/>
            </a:br>
            <a:r>
              <a:rPr lang="en-US" altLang="ko-KR" sz="1600"/>
              <a:t>- </a:t>
            </a:r>
            <a:r>
              <a:rPr lang="ko-KR" altLang="en-US" sz="1600"/>
              <a:t>외생변수의 전체 과거 정보를 단일 벡터로 변환</a:t>
            </a:r>
            <a:r>
              <a:rPr lang="en-US" altLang="ko-KR" sz="1600"/>
              <a:t>(</a:t>
            </a:r>
            <a:r>
              <a:rPr lang="ko-KR" altLang="en-US" sz="1600"/>
              <a:t>변수 수준 임베딩 활용</a:t>
            </a:r>
            <a:r>
              <a:rPr lang="en-US" altLang="ko-KR" sz="1600"/>
              <a:t>) </a:t>
            </a:r>
          </a:p>
          <a:p>
            <a:pPr marL="342900" indent="-342900" algn="l">
              <a:buAutoNum type="arabicPeriod"/>
            </a:pPr>
            <a:endParaRPr lang="en-US" altLang="ko-KR" sz="1600"/>
          </a:p>
          <a:p>
            <a:pPr algn="l"/>
            <a:endParaRPr lang="en-US" altLang="ko-KR" sz="1600"/>
          </a:p>
          <a:p>
            <a:pPr marL="342900" indent="-342900" algn="l">
              <a:buAutoNum type="arabicPeriod"/>
            </a:pPr>
            <a:endParaRPr lang="ko-KR" altLang="en-US" sz="160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40125F4-2163-4463-8DB5-6CE8A7B473E9}"/>
              </a:ext>
            </a:extLst>
          </p:cNvPr>
          <p:cNvGrpSpPr/>
          <p:nvPr/>
        </p:nvGrpSpPr>
        <p:grpSpPr>
          <a:xfrm>
            <a:off x="7912647" y="3489709"/>
            <a:ext cx="3945246" cy="2071193"/>
            <a:chOff x="7461443" y="535803"/>
            <a:chExt cx="3945246" cy="207119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94F1F4F-5B01-4D1B-80E3-DDF972546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1443" y="535803"/>
              <a:ext cx="3945246" cy="180678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DEEC3E7-0B73-400E-A8A8-D27A01C29EA3}"/>
                </a:ext>
              </a:extLst>
            </p:cNvPr>
            <p:cNvSpPr txBox="1"/>
            <p:nvPr/>
          </p:nvSpPr>
          <p:spPr>
            <a:xfrm>
              <a:off x="8511207" y="2329997"/>
              <a:ext cx="23338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&lt; exogenous token</a:t>
              </a:r>
              <a:r>
                <a:rPr lang="ko-KR" altLang="en-US" sz="1200"/>
                <a:t>화 </a:t>
              </a:r>
              <a:r>
                <a:rPr lang="en-US" altLang="ko-KR" sz="1200"/>
                <a:t>&gt;</a:t>
              </a:r>
              <a:endParaRPr lang="ko-KR" altLang="en-US" sz="120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C75C69F-6592-4242-8E33-D5A493EF792D}"/>
              </a:ext>
            </a:extLst>
          </p:cNvPr>
          <p:cNvGrpSpPr/>
          <p:nvPr/>
        </p:nvGrpSpPr>
        <p:grpSpPr>
          <a:xfrm>
            <a:off x="7110947" y="408970"/>
            <a:ext cx="4621057" cy="2002465"/>
            <a:chOff x="7003338" y="2858872"/>
            <a:chExt cx="5173776" cy="2258601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F4A8E01-D88A-4473-92B1-8B97547CF581}"/>
                </a:ext>
              </a:extLst>
            </p:cNvPr>
            <p:cNvGrpSpPr/>
            <p:nvPr/>
          </p:nvGrpSpPr>
          <p:grpSpPr>
            <a:xfrm>
              <a:off x="7003338" y="2858872"/>
              <a:ext cx="5173776" cy="1909892"/>
              <a:chOff x="7293716" y="2637692"/>
              <a:chExt cx="5173776" cy="1909892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EC49CBC2-9B18-491F-80BD-A5E311386D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93716" y="2637692"/>
                <a:ext cx="4315427" cy="1895740"/>
              </a:xfrm>
              <a:prstGeom prst="rect">
                <a:avLst/>
              </a:prstGeom>
            </p:spPr>
          </p:pic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53CC6D3-4B83-4EF2-84E2-1963766A0C62}"/>
                  </a:ext>
                </a:extLst>
              </p:cNvPr>
              <p:cNvSpPr/>
              <p:nvPr/>
            </p:nvSpPr>
            <p:spPr>
              <a:xfrm>
                <a:off x="10999177" y="3337644"/>
                <a:ext cx="509954" cy="120994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2031E60-FCA7-4D4B-990F-1C8ECD113800}"/>
                  </a:ext>
                </a:extLst>
              </p:cNvPr>
              <p:cNvSpPr/>
              <p:nvPr/>
            </p:nvSpPr>
            <p:spPr>
              <a:xfrm>
                <a:off x="10999177" y="2926843"/>
                <a:ext cx="509954" cy="37667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B9861ED2-5BC4-4DAC-A13C-689019625365}"/>
                  </a:ext>
                </a:extLst>
              </p:cNvPr>
              <p:cNvSpPr/>
              <p:nvPr/>
            </p:nvSpPr>
            <p:spPr>
              <a:xfrm>
                <a:off x="11609143" y="2848708"/>
                <a:ext cx="858349" cy="3766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/>
                  <a:t>global </a:t>
                </a:r>
              </a:p>
              <a:p>
                <a:pPr algn="ctr"/>
                <a:r>
                  <a:rPr lang="en-US" altLang="ko-KR" sz="1200" b="1"/>
                  <a:t>token</a:t>
                </a:r>
                <a:endParaRPr lang="ko-KR" altLang="en-US" sz="1200" b="1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911838F-B557-4D10-8702-87F421EEFC5A}"/>
                  </a:ext>
                </a:extLst>
              </p:cNvPr>
              <p:cNvSpPr/>
              <p:nvPr/>
            </p:nvSpPr>
            <p:spPr>
              <a:xfrm>
                <a:off x="11609143" y="3691070"/>
                <a:ext cx="858349" cy="3766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/>
                  <a:t>patch</a:t>
                </a:r>
              </a:p>
              <a:p>
                <a:pPr algn="ctr"/>
                <a:r>
                  <a:rPr lang="en-US" altLang="ko-KR" sz="1200" b="1"/>
                  <a:t>token</a:t>
                </a:r>
                <a:endParaRPr lang="ko-KR" altLang="en-US" sz="1200" b="1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AC1E6E8-2034-4F1B-8BB8-D32A262B3ED3}"/>
                </a:ext>
              </a:extLst>
            </p:cNvPr>
            <p:cNvSpPr txBox="1"/>
            <p:nvPr/>
          </p:nvSpPr>
          <p:spPr>
            <a:xfrm>
              <a:off x="8716361" y="4840474"/>
              <a:ext cx="23338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&lt; endogenous </a:t>
              </a:r>
              <a:r>
                <a:rPr lang="ko-KR" altLang="en-US" sz="1200"/>
                <a:t>토큰화 </a:t>
              </a:r>
              <a:r>
                <a:rPr lang="en-US" altLang="ko-KR" sz="1200"/>
                <a:t>&gt;</a:t>
              </a:r>
              <a:endParaRPr lang="ko-KR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803376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FC0F4-9F8D-48C7-B7DB-CA24F457808A}"/>
              </a:ext>
            </a:extLst>
          </p:cNvPr>
          <p:cNvSpPr txBox="1"/>
          <p:nvPr/>
        </p:nvSpPr>
        <p:spPr>
          <a:xfrm>
            <a:off x="334107" y="166471"/>
            <a:ext cx="289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/>
              <a:t>2. TimeXer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27AEE-94BD-40B7-B428-A4BB0E551873}"/>
              </a:ext>
            </a:extLst>
          </p:cNvPr>
          <p:cNvSpPr txBox="1"/>
          <p:nvPr/>
        </p:nvSpPr>
        <p:spPr>
          <a:xfrm>
            <a:off x="334107" y="689886"/>
            <a:ext cx="63033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/>
              <a:t>2-2. TimeXer </a:t>
            </a:r>
            <a:r>
              <a:rPr lang="ko-KR" altLang="en-US" sz="1600"/>
              <a:t>아키텍처</a:t>
            </a:r>
            <a:endParaRPr lang="en-US" altLang="ko-KR" sz="1600"/>
          </a:p>
          <a:p>
            <a:pPr algn="l"/>
            <a:endParaRPr lang="en-US" altLang="ko-KR" sz="1600"/>
          </a:p>
          <a:p>
            <a:pPr marL="342900" indent="-342900" algn="l">
              <a:buAutoNum type="arabicPeriod"/>
            </a:pPr>
            <a:r>
              <a:rPr lang="en-US" altLang="ko-KR" sz="1600"/>
              <a:t>endogenous embedding</a:t>
            </a:r>
          </a:p>
          <a:p>
            <a:pPr marL="342900" indent="-342900" algn="l">
              <a:buAutoNum type="arabicPeriod"/>
            </a:pPr>
            <a:r>
              <a:rPr lang="en-US" altLang="ko-KR" sz="1600"/>
              <a:t>exogenous</a:t>
            </a:r>
            <a:r>
              <a:rPr lang="ko-KR" altLang="en-US" sz="1600"/>
              <a:t> </a:t>
            </a:r>
            <a:r>
              <a:rPr lang="en-US" altLang="ko-KR" sz="1600"/>
              <a:t>embedding</a:t>
            </a:r>
          </a:p>
          <a:p>
            <a:pPr marL="342900" indent="-342900" algn="l">
              <a:buAutoNum type="arabicPeriod"/>
            </a:pPr>
            <a:r>
              <a:rPr lang="en-US" altLang="ko-KR" sz="1600"/>
              <a:t>endogenous self-attention</a:t>
            </a:r>
            <a:br>
              <a:rPr lang="en-US" altLang="ko-KR" sz="1600"/>
            </a:br>
            <a:r>
              <a:rPr lang="en-US" altLang="ko-KR" sz="1600"/>
              <a:t>3-1 global</a:t>
            </a:r>
            <a:r>
              <a:rPr lang="ko-KR" altLang="en-US" sz="1600"/>
              <a:t> </a:t>
            </a:r>
            <a:r>
              <a:rPr lang="en-US" altLang="ko-KR" sz="1600"/>
              <a:t>token</a:t>
            </a:r>
          </a:p>
          <a:p>
            <a:pPr marL="342900" indent="-342900" algn="l">
              <a:buAutoNum type="arabicPeriod"/>
            </a:pPr>
            <a:r>
              <a:rPr lang="en-US" altLang="ko-KR" sz="1600"/>
              <a:t>exogenous to endogenous cross-attention </a:t>
            </a:r>
          </a:p>
          <a:p>
            <a:pPr algn="l"/>
            <a:endParaRPr lang="en-US" altLang="ko-KR" sz="1600"/>
          </a:p>
          <a:p>
            <a:pPr marL="342900" indent="-342900" algn="l">
              <a:buAutoNum type="arabicPeriod"/>
            </a:pP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277858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FC0F4-9F8D-48C7-B7DB-CA24F457808A}"/>
              </a:ext>
            </a:extLst>
          </p:cNvPr>
          <p:cNvSpPr txBox="1"/>
          <p:nvPr/>
        </p:nvSpPr>
        <p:spPr>
          <a:xfrm>
            <a:off x="334107" y="166471"/>
            <a:ext cx="289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/>
              <a:t>2. TimeXer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27AEE-94BD-40B7-B428-A4BB0E551873}"/>
              </a:ext>
            </a:extLst>
          </p:cNvPr>
          <p:cNvSpPr txBox="1"/>
          <p:nvPr/>
        </p:nvSpPr>
        <p:spPr>
          <a:xfrm>
            <a:off x="334107" y="689886"/>
            <a:ext cx="6303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/>
              <a:t>2-2. TimeXer </a:t>
            </a:r>
            <a:r>
              <a:rPr lang="ko-KR" altLang="en-US" sz="1600"/>
              <a:t>아키텍처</a:t>
            </a:r>
            <a:endParaRPr lang="en-US" altLang="ko-KR" sz="1600"/>
          </a:p>
          <a:p>
            <a:pPr algn="l"/>
            <a:endParaRPr lang="en-US" altLang="ko-KR" sz="1600"/>
          </a:p>
          <a:p>
            <a:pPr algn="l"/>
            <a:r>
              <a:rPr lang="en-US" altLang="ko-KR" sz="1600"/>
              <a:t>1. endogenous embedding</a:t>
            </a:r>
            <a:endParaRPr lang="ko-KR" alt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1B2213-BCEE-4E7E-B694-EEBB7BE067FF}"/>
              </a:ext>
            </a:extLst>
          </p:cNvPr>
          <p:cNvSpPr txBox="1"/>
          <p:nvPr/>
        </p:nvSpPr>
        <p:spPr>
          <a:xfrm>
            <a:off x="334107" y="1687354"/>
            <a:ext cx="609746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1. 정의</a:t>
            </a:r>
          </a:p>
          <a:p>
            <a:r>
              <a:rPr lang="ko-KR" altLang="en-US" sz="1000"/>
              <a:t> - 모델이 예측하려는 타켓 변수</a:t>
            </a:r>
          </a:p>
          <a:p>
            <a:r>
              <a:rPr lang="ko-KR" altLang="en-US" sz="1000"/>
              <a:t> - 시계열 데이터를 patch 단위로 나누고 global token을 추가하여 transformer 구조에서 활용</a:t>
            </a:r>
          </a:p>
          <a:p>
            <a:endParaRPr lang="ko-KR" altLang="en-US" sz="1000"/>
          </a:p>
          <a:p>
            <a:r>
              <a:rPr lang="ko-KR" altLang="en-US" sz="1000"/>
              <a:t>2. 목적</a:t>
            </a:r>
          </a:p>
          <a:p>
            <a:r>
              <a:rPr lang="ko-KR" altLang="en-US" sz="1000"/>
              <a:t> - 시간적 종속성 학습</a:t>
            </a:r>
          </a:p>
          <a:p>
            <a:r>
              <a:rPr lang="ko-KR" altLang="en-US" sz="1000"/>
              <a:t>  =&gt; 시계열 데이터의 흐름과 패턴을 효과적으로 캡처</a:t>
            </a:r>
          </a:p>
          <a:p>
            <a:r>
              <a:rPr lang="ko-KR" altLang="en-US" sz="1000"/>
              <a:t> - exogenous와 상호작용</a:t>
            </a:r>
          </a:p>
          <a:p>
            <a:r>
              <a:rPr lang="ko-KR" altLang="en-US" sz="1000"/>
              <a:t>  =&gt; exogenous 변수와의 정보 전달 원할하게 함</a:t>
            </a:r>
          </a:p>
          <a:p>
            <a:r>
              <a:rPr lang="ko-KR" altLang="en-US" sz="1000"/>
              <a:t> - 전체 시계열 데이터의 대표적인 특징 표현</a:t>
            </a:r>
          </a:p>
          <a:p>
            <a:r>
              <a:rPr lang="ko-KR" altLang="en-US" sz="1000"/>
              <a:t>  =&gt; learnable global token을 사용하여 중요한 정보 학습</a:t>
            </a:r>
          </a:p>
          <a:p>
            <a:endParaRPr lang="ko-KR" altLang="en-US" sz="1000"/>
          </a:p>
          <a:p>
            <a:r>
              <a:rPr lang="ko-KR" altLang="en-US" sz="1000"/>
              <a:t>3. endogenous embedding 구조</a:t>
            </a:r>
          </a:p>
          <a:p>
            <a:r>
              <a:rPr lang="ko-KR" altLang="en-US" sz="1000"/>
              <a:t> 3.1 Patching</a:t>
            </a:r>
          </a:p>
          <a:p>
            <a:r>
              <a:rPr lang="ko-KR" altLang="en-US" sz="1000"/>
              <a:t>  - 시계열 데이터를 고정된 길이로 patch 분할</a:t>
            </a:r>
          </a:p>
          <a:p>
            <a:r>
              <a:rPr lang="ko-KR" altLang="en-US" sz="1000"/>
              <a:t>  - 각 patch는 독립적인 시계열 조각으로 변환</a:t>
            </a:r>
          </a:p>
          <a:p>
            <a:r>
              <a:rPr lang="ko-KR" altLang="en-US" sz="1000"/>
              <a:t> 3.2 patch embedding</a:t>
            </a:r>
          </a:p>
          <a:p>
            <a:r>
              <a:rPr lang="ko-KR" altLang="en-US" sz="1000"/>
              <a:t>  - 각 패치를 고정된 차원의 벡터로 변환</a:t>
            </a:r>
          </a:p>
          <a:p>
            <a:r>
              <a:rPr lang="ko-KR" altLang="en-US" sz="1000"/>
              <a:t>  - position embedding을 추ㅏ하여 시간적 순서 정보를 보존</a:t>
            </a:r>
          </a:p>
          <a:p>
            <a:r>
              <a:rPr lang="ko-KR" altLang="en-US" sz="1000"/>
              <a:t> 3.3 global token 추가</a:t>
            </a:r>
          </a:p>
          <a:p>
            <a:r>
              <a:rPr lang="ko-KR" altLang="en-US" sz="1000"/>
              <a:t>  - vit class token의 이미지 전체 정보를 요약하여 분류에 활용하는것에서 영감을 받음</a:t>
            </a:r>
          </a:p>
          <a:p>
            <a:r>
              <a:rPr lang="ko-KR" altLang="en-US" sz="1000"/>
              <a:t>  - learnable global token을 도입하여 endogenous 시계열 전체의 대표적인 정보 학습</a:t>
            </a:r>
          </a:p>
          <a:p>
            <a:r>
              <a:rPr lang="ko-KR" altLang="en-US" sz="1000"/>
              <a:t>  - exogenous와의 정보 교환시 중앙 허브 역할</a:t>
            </a:r>
          </a:p>
          <a:p>
            <a:r>
              <a:rPr lang="ko-KR" altLang="en-US" sz="1000"/>
              <a:t>  - 입력 데이터의 패치들과 함께 transformer encoder에 입력됨</a:t>
            </a:r>
          </a:p>
          <a:p>
            <a:endParaRPr lang="ko-KR" altLang="en-US" sz="1000"/>
          </a:p>
          <a:p>
            <a:r>
              <a:rPr lang="ko-KR" altLang="en-US" sz="1000"/>
              <a:t>4. endogenous embedding에 사용되는 attention mechanism</a:t>
            </a:r>
          </a:p>
          <a:p>
            <a:r>
              <a:rPr lang="ko-KR" altLang="en-US" sz="1000"/>
              <a:t> 4-1. self-attention</a:t>
            </a:r>
          </a:p>
          <a:p>
            <a:r>
              <a:rPr lang="ko-KR" altLang="en-US" sz="1000"/>
              <a:t>  - 각 패치 간의 상호작용을 학습하여 시계열 내 패턴 포착</a:t>
            </a:r>
          </a:p>
          <a:p>
            <a:r>
              <a:rPr lang="ko-KR" altLang="en-US" sz="1000"/>
              <a:t>  - 긴 시퀀스에서도 멀리 떨어진 데이터 간의 관계를 모델링 가능</a:t>
            </a:r>
          </a:p>
          <a:p>
            <a:endParaRPr lang="ko-KR" altLang="en-US" sz="1000"/>
          </a:p>
          <a:p>
            <a:r>
              <a:rPr lang="ko-KR" altLang="en-US" sz="1000"/>
              <a:t> 4.2 cross-attention</a:t>
            </a:r>
          </a:p>
          <a:p>
            <a:r>
              <a:rPr lang="ko-KR" altLang="en-US" sz="1000"/>
              <a:t>  - exogenous 변수와 global token간의 정보 교환</a:t>
            </a:r>
          </a:p>
          <a:p>
            <a:r>
              <a:rPr lang="ko-KR" altLang="en-US" sz="1000"/>
              <a:t>  - exogenous 변수가 미치는 영향을 반영함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725CC6-7449-4563-9BB2-84AB6C161FFE}"/>
              </a:ext>
            </a:extLst>
          </p:cNvPr>
          <p:cNvSpPr/>
          <p:nvPr/>
        </p:nvSpPr>
        <p:spPr>
          <a:xfrm>
            <a:off x="8414238" y="351137"/>
            <a:ext cx="2954216" cy="1213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patch </a:t>
            </a:r>
            <a:r>
              <a:rPr lang="ko-KR" altLang="en-US"/>
              <a:t>과정</a:t>
            </a:r>
            <a:endParaRPr lang="en-US" altLang="ko-KR"/>
          </a:p>
          <a:p>
            <a:pPr algn="ctr"/>
            <a:r>
              <a:rPr lang="en-US" altLang="ko-KR"/>
              <a:t>vit class</a:t>
            </a:r>
            <a:r>
              <a:rPr lang="ko-KR" altLang="en-US"/>
              <a:t> </a:t>
            </a:r>
            <a:r>
              <a:rPr lang="en-US" altLang="ko-KR"/>
              <a:t>token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D66921A-1ADA-4C2E-B739-009185BD6331}"/>
              </a:ext>
            </a:extLst>
          </p:cNvPr>
          <p:cNvGrpSpPr/>
          <p:nvPr/>
        </p:nvGrpSpPr>
        <p:grpSpPr>
          <a:xfrm>
            <a:off x="6431571" y="1838504"/>
            <a:ext cx="5877089" cy="2428929"/>
            <a:chOff x="6431571" y="1838504"/>
            <a:chExt cx="5877089" cy="242892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523B862-0A06-40E0-9E1A-9E418FD5A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31571" y="1838504"/>
              <a:ext cx="5877089" cy="218270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6E20D7-B274-481E-B473-265CF53E2638}"/>
                </a:ext>
              </a:extLst>
            </p:cNvPr>
            <p:cNvSpPr txBox="1"/>
            <p:nvPr/>
          </p:nvSpPr>
          <p:spPr>
            <a:xfrm>
              <a:off x="8678007" y="4021212"/>
              <a:ext cx="22332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/>
                <a:t>&lt;Vision Transformer class</a:t>
              </a:r>
              <a:r>
                <a:rPr lang="ko-KR" altLang="en-US" sz="1000"/>
                <a:t> </a:t>
              </a:r>
              <a:r>
                <a:rPr lang="en-US" altLang="ko-KR" sz="1000"/>
                <a:t>token&gt;</a:t>
              </a:r>
              <a:endParaRPr lang="ko-KR" alt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3971970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FC0F4-9F8D-48C7-B7DB-CA24F457808A}"/>
              </a:ext>
            </a:extLst>
          </p:cNvPr>
          <p:cNvSpPr txBox="1"/>
          <p:nvPr/>
        </p:nvSpPr>
        <p:spPr>
          <a:xfrm>
            <a:off x="334107" y="166471"/>
            <a:ext cx="289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/>
              <a:t>2. TimeXer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27AEE-94BD-40B7-B428-A4BB0E551873}"/>
              </a:ext>
            </a:extLst>
          </p:cNvPr>
          <p:cNvSpPr txBox="1"/>
          <p:nvPr/>
        </p:nvSpPr>
        <p:spPr>
          <a:xfrm>
            <a:off x="334107" y="689886"/>
            <a:ext cx="6303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/>
              <a:t>2-2. TimeXer </a:t>
            </a:r>
            <a:r>
              <a:rPr lang="ko-KR" altLang="en-US" sz="1600"/>
              <a:t>아키텍처</a:t>
            </a:r>
            <a:endParaRPr lang="en-US" altLang="ko-KR" sz="1600"/>
          </a:p>
          <a:p>
            <a:pPr algn="l"/>
            <a:endParaRPr lang="en-US" altLang="ko-KR" sz="1600"/>
          </a:p>
          <a:p>
            <a:pPr algn="l"/>
            <a:r>
              <a:rPr lang="en-US" altLang="ko-KR" sz="1600"/>
              <a:t>2. exogenous embedding</a:t>
            </a:r>
            <a:endParaRPr lang="ko-KR" alt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1B2213-BCEE-4E7E-B694-EEBB7BE067FF}"/>
              </a:ext>
            </a:extLst>
          </p:cNvPr>
          <p:cNvSpPr txBox="1"/>
          <p:nvPr/>
        </p:nvSpPr>
        <p:spPr>
          <a:xfrm>
            <a:off x="334107" y="1687354"/>
            <a:ext cx="609746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1. </a:t>
            </a:r>
            <a:r>
              <a:rPr lang="ko-KR" altLang="en-US" sz="1000"/>
              <a:t>정의</a:t>
            </a:r>
          </a:p>
          <a:p>
            <a:r>
              <a:rPr lang="en-US" altLang="ko-KR" sz="1000"/>
              <a:t>- </a:t>
            </a:r>
            <a:r>
              <a:rPr lang="ko-KR" altLang="en-US" sz="1000"/>
              <a:t>예측 대상이 아닌 외부 정보</a:t>
            </a:r>
            <a:r>
              <a:rPr lang="en-US" altLang="ko-KR" sz="1000"/>
              <a:t>(</a:t>
            </a:r>
            <a:r>
              <a:rPr lang="ko-KR" altLang="en-US" sz="1000"/>
              <a:t>보조변수</a:t>
            </a:r>
            <a:r>
              <a:rPr lang="en-US" altLang="ko-KR" sz="1000"/>
              <a:t>), endogenous </a:t>
            </a:r>
            <a:r>
              <a:rPr lang="ko-KR" altLang="en-US" sz="1000"/>
              <a:t>변수의 예측 정확도를 높이는 역할</a:t>
            </a:r>
          </a:p>
          <a:p>
            <a:r>
              <a:rPr lang="en-US" altLang="ko-KR" sz="1000"/>
              <a:t>- endogenous </a:t>
            </a:r>
            <a:r>
              <a:rPr lang="ko-KR" altLang="en-US" sz="1000"/>
              <a:t>패치에 바로 연결하면 정보 불일치가 발생할 수 있으므로</a:t>
            </a:r>
            <a:r>
              <a:rPr lang="en-US" altLang="ko-KR" sz="1000"/>
              <a:t>, </a:t>
            </a:r>
            <a:r>
              <a:rPr lang="ko-KR" altLang="en-US" sz="1000"/>
              <a:t>독립적인 </a:t>
            </a:r>
            <a:r>
              <a:rPr lang="en-US" altLang="ko-KR" sz="1000"/>
              <a:t>embedding</a:t>
            </a:r>
            <a:r>
              <a:rPr lang="ko-KR" altLang="en-US" sz="1000"/>
              <a:t>을 사용해야함</a:t>
            </a:r>
          </a:p>
          <a:p>
            <a:endParaRPr lang="ko-KR" altLang="en-US" sz="1000"/>
          </a:p>
          <a:p>
            <a:r>
              <a:rPr lang="en-US" altLang="ko-KR" sz="1000"/>
              <a:t>2. </a:t>
            </a:r>
            <a:r>
              <a:rPr lang="ko-KR" altLang="en-US" sz="1000"/>
              <a:t>목적</a:t>
            </a:r>
          </a:p>
          <a:p>
            <a:r>
              <a:rPr lang="en-US" altLang="ko-KR" sz="1000"/>
              <a:t>- endogenous </a:t>
            </a:r>
            <a:r>
              <a:rPr lang="ko-KR" altLang="en-US" sz="1000"/>
              <a:t>변수의 예측을 보조하는 역할</a:t>
            </a:r>
          </a:p>
          <a:p>
            <a:r>
              <a:rPr lang="en-US" altLang="ko-KR" sz="1000"/>
              <a:t>- exogenous </a:t>
            </a:r>
            <a:r>
              <a:rPr lang="ko-KR" altLang="en-US" sz="1000"/>
              <a:t>변수의 불규칙성을 효과적으로 처리</a:t>
            </a:r>
          </a:p>
          <a:p>
            <a:r>
              <a:rPr lang="en-US" altLang="ko-KR" sz="1000"/>
              <a:t>- </a:t>
            </a:r>
            <a:r>
              <a:rPr lang="ko-KR" altLang="en-US" sz="1000"/>
              <a:t>시계열의 시차</a:t>
            </a:r>
            <a:r>
              <a:rPr lang="en-US" altLang="ko-KR" sz="1000"/>
              <a:t>(time lage) </a:t>
            </a:r>
            <a:r>
              <a:rPr lang="ko-KR" altLang="en-US" sz="1000"/>
              <a:t>문제 해결</a:t>
            </a:r>
          </a:p>
          <a:p>
            <a:endParaRPr lang="ko-KR" altLang="en-US" sz="1000"/>
          </a:p>
          <a:p>
            <a:r>
              <a:rPr lang="en-US" altLang="ko-KR" sz="1000"/>
              <a:t>3. exogenous embedding</a:t>
            </a:r>
            <a:r>
              <a:rPr lang="ko-KR" altLang="en-US" sz="1000"/>
              <a:t>의 주요 설계</a:t>
            </a:r>
          </a:p>
          <a:p>
            <a:r>
              <a:rPr lang="en-US" altLang="ko-KR" sz="1000"/>
              <a:t>3.1 exogenous </a:t>
            </a:r>
            <a:r>
              <a:rPr lang="ko-KR" altLang="en-US" sz="1000"/>
              <a:t>데이터를 </a:t>
            </a:r>
            <a:r>
              <a:rPr lang="en-US" altLang="ko-KR" sz="1000"/>
              <a:t>variate token</a:t>
            </a:r>
            <a:r>
              <a:rPr lang="ko-KR" altLang="en-US" sz="1000"/>
              <a:t>으로 변환</a:t>
            </a:r>
          </a:p>
          <a:p>
            <a:r>
              <a:rPr lang="en-US" altLang="ko-KR" sz="1000"/>
              <a:t>- exogenous </a:t>
            </a:r>
            <a:r>
              <a:rPr lang="ko-KR" altLang="en-US" sz="1000"/>
              <a:t>변수의 특성을 반영하기 위해 </a:t>
            </a:r>
            <a:r>
              <a:rPr lang="en-US" altLang="ko-KR" sz="1000"/>
              <a:t>variate-level embedding</a:t>
            </a:r>
            <a:r>
              <a:rPr lang="ko-KR" altLang="en-US" sz="1000"/>
              <a:t>을 사용</a:t>
            </a:r>
          </a:p>
          <a:p>
            <a:r>
              <a:rPr lang="en-US" altLang="ko-KR" sz="1000"/>
              <a:t>- exogenous </a:t>
            </a:r>
            <a:r>
              <a:rPr lang="ko-KR" altLang="en-US" sz="1000"/>
              <a:t>데이터를 독립적인 </a:t>
            </a:r>
            <a:r>
              <a:rPr lang="en-US" altLang="ko-KR" sz="1000"/>
              <a:t>variate token</a:t>
            </a:r>
            <a:r>
              <a:rPr lang="ko-KR" altLang="en-US" sz="1000"/>
              <a:t>으로 변환</a:t>
            </a:r>
          </a:p>
          <a:p>
            <a:r>
              <a:rPr lang="en-US" altLang="ko-KR" sz="1000"/>
              <a:t>- timexer</a:t>
            </a:r>
            <a:r>
              <a:rPr lang="ko-KR" altLang="en-US" sz="1000"/>
              <a:t>의 차이점은 기존의 </a:t>
            </a:r>
            <a:r>
              <a:rPr lang="en-US" altLang="ko-KR" sz="1000"/>
              <a:t>transformer </a:t>
            </a:r>
            <a:r>
              <a:rPr lang="ko-KR" altLang="en-US" sz="1000"/>
              <a:t>기반 시계열 모델들은 </a:t>
            </a:r>
            <a:r>
              <a:rPr lang="en-US" altLang="ko-KR" sz="1000"/>
              <a:t>endogenous</a:t>
            </a:r>
            <a:r>
              <a:rPr lang="ko-KR" altLang="en-US" sz="1000"/>
              <a:t>와 </a:t>
            </a:r>
            <a:r>
              <a:rPr lang="en-US" altLang="ko-KR" sz="1000"/>
              <a:t>exogenous</a:t>
            </a:r>
            <a:r>
              <a:rPr lang="ko-KR" altLang="en-US" sz="1000"/>
              <a:t>를 동일하게 취급하지만 </a:t>
            </a:r>
            <a:r>
              <a:rPr lang="en-US" altLang="ko-KR" sz="1000"/>
              <a:t>exogenous </a:t>
            </a:r>
            <a:r>
              <a:rPr lang="ko-KR" altLang="en-US" sz="1000"/>
              <a:t>변수를 </a:t>
            </a:r>
            <a:r>
              <a:rPr lang="en-US" altLang="ko-KR" sz="1000"/>
              <a:t>variate-level token</a:t>
            </a:r>
            <a:r>
              <a:rPr lang="ko-KR" altLang="en-US" sz="1000"/>
              <a:t>으로 </a:t>
            </a:r>
            <a:r>
              <a:rPr lang="en-US" altLang="ko-KR" sz="1000"/>
              <a:t>embedding</a:t>
            </a:r>
            <a:r>
              <a:rPr lang="ko-KR" altLang="en-US" sz="1000"/>
              <a:t>하여 독립적으로 처리</a:t>
            </a:r>
          </a:p>
          <a:p>
            <a:r>
              <a:rPr lang="en-US" altLang="ko-KR" sz="1000"/>
              <a:t>- </a:t>
            </a:r>
            <a:r>
              <a:rPr lang="ko-KR" altLang="en-US" sz="1000"/>
              <a:t>즉</a:t>
            </a:r>
            <a:r>
              <a:rPr lang="en-US" altLang="ko-KR" sz="1000"/>
              <a:t>, exogenous </a:t>
            </a:r>
            <a:r>
              <a:rPr lang="ko-KR" altLang="en-US" sz="1000"/>
              <a:t>변수의 전체 시계열을 하나의 벡터로 변환하여</a:t>
            </a:r>
            <a:r>
              <a:rPr lang="en-US" altLang="ko-KR" sz="1000"/>
              <a:t>, </a:t>
            </a:r>
            <a:r>
              <a:rPr lang="ko-KR" altLang="en-US" sz="1000"/>
              <a:t>개별 변수 간의 정보 손실을 줄이고 </a:t>
            </a:r>
            <a:r>
              <a:rPr lang="en-US" altLang="ko-KR" sz="1000"/>
              <a:t>exogenous</a:t>
            </a:r>
            <a:r>
              <a:rPr lang="ko-KR" altLang="en-US" sz="1000"/>
              <a:t>의 효율성을 높임</a:t>
            </a:r>
          </a:p>
          <a:p>
            <a:endParaRPr lang="ko-KR" altLang="en-US" sz="1000"/>
          </a:p>
          <a:p>
            <a:r>
              <a:rPr lang="en-US" altLang="ko-KR" sz="1000"/>
              <a:t>3.2 variate embedding </a:t>
            </a:r>
            <a:r>
              <a:rPr lang="ko-KR" altLang="en-US" sz="1000"/>
              <a:t>과정</a:t>
            </a:r>
            <a:r>
              <a:rPr lang="en-US" altLang="ko-KR" sz="1000"/>
              <a:t>-&gt; </a:t>
            </a:r>
            <a:r>
              <a:rPr lang="ko-KR" altLang="en-US" sz="1000"/>
              <a:t>다시 확인</a:t>
            </a:r>
            <a:r>
              <a:rPr lang="en-US" altLang="ko-KR" sz="1000"/>
              <a:t>, </a:t>
            </a:r>
            <a:r>
              <a:rPr lang="ko-KR" altLang="en-US" sz="1000"/>
              <a:t>이해 필요</a:t>
            </a:r>
          </a:p>
          <a:p>
            <a:r>
              <a:rPr lang="en-US" altLang="ko-KR" sz="1000"/>
              <a:t>- </a:t>
            </a:r>
            <a:r>
              <a:rPr lang="ko-KR" altLang="en-US" sz="1000"/>
              <a:t>선형 프로젝션을 통해 고정된 크기의 </a:t>
            </a:r>
            <a:r>
              <a:rPr lang="en-US" altLang="ko-KR" sz="1000"/>
              <a:t>variate token</a:t>
            </a:r>
            <a:r>
              <a:rPr lang="ko-KR" altLang="en-US" sz="1000"/>
              <a:t>으로 변환</a:t>
            </a:r>
          </a:p>
          <a:p>
            <a:r>
              <a:rPr lang="en-US" altLang="ko-KR" sz="1000"/>
              <a:t>- exogenous </a:t>
            </a:r>
            <a:r>
              <a:rPr lang="ko-KR" altLang="en-US" sz="1000"/>
              <a:t>데이터 길이와 관계없이 고정된 크기 </a:t>
            </a:r>
            <a:r>
              <a:rPr lang="en-US" altLang="ko-KR" sz="1000"/>
              <a:t>D</a:t>
            </a:r>
            <a:r>
              <a:rPr lang="ko-KR" altLang="en-US" sz="1000"/>
              <a:t>의 </a:t>
            </a:r>
            <a:r>
              <a:rPr lang="en-US" altLang="ko-KR" sz="1000"/>
              <a:t>token</a:t>
            </a:r>
            <a:r>
              <a:rPr lang="ko-KR" altLang="en-US" sz="1000"/>
              <a:t>으로 생성</a:t>
            </a:r>
          </a:p>
          <a:p>
            <a:r>
              <a:rPr lang="en-US" altLang="ko-KR" sz="1000"/>
              <a:t>- exognenous </a:t>
            </a:r>
            <a:r>
              <a:rPr lang="ko-KR" altLang="en-US" sz="1000"/>
              <a:t>변수 수</a:t>
            </a:r>
            <a:r>
              <a:rPr lang="en-US" altLang="ko-KR" sz="1000"/>
              <a:t>(C)</a:t>
            </a:r>
            <a:r>
              <a:rPr lang="ko-KR" altLang="en-US" sz="1000"/>
              <a:t>만큼 </a:t>
            </a:r>
            <a:r>
              <a:rPr lang="en-US" altLang="ko-KR" sz="1000"/>
              <a:t>variate token</a:t>
            </a:r>
            <a:r>
              <a:rPr lang="ko-KR" altLang="en-US" sz="1000"/>
              <a:t>이 생성됨</a:t>
            </a:r>
          </a:p>
          <a:p>
            <a:endParaRPr lang="ko-KR" altLang="en-US" sz="1000"/>
          </a:p>
          <a:p>
            <a:r>
              <a:rPr lang="en-US" altLang="ko-KR" sz="1000"/>
              <a:t>3.3 exogenous </a:t>
            </a:r>
            <a:r>
              <a:rPr lang="ko-KR" altLang="en-US" sz="1000"/>
              <a:t>정보는 직접 </a:t>
            </a:r>
            <a:r>
              <a:rPr lang="en-US" altLang="ko-KR" sz="1000"/>
              <a:t>endogenous </a:t>
            </a:r>
            <a:r>
              <a:rPr lang="ko-KR" altLang="en-US" sz="1000"/>
              <a:t>패치에 연결되지 않음</a:t>
            </a:r>
          </a:p>
          <a:p>
            <a:r>
              <a:rPr lang="en-US" altLang="ko-KR" sz="1000"/>
              <a:t>- endogenous </a:t>
            </a:r>
            <a:r>
              <a:rPr lang="ko-KR" altLang="en-US" sz="1000"/>
              <a:t>패치에 직접 연결하지 않는 대신에 </a:t>
            </a:r>
            <a:r>
              <a:rPr lang="en-US" altLang="ko-KR" sz="1000"/>
              <a:t>global token</a:t>
            </a:r>
            <a:r>
              <a:rPr lang="ko-KR" altLang="en-US" sz="1000"/>
              <a:t>을 통해 </a:t>
            </a:r>
            <a:r>
              <a:rPr lang="en-US" altLang="ko-KR" sz="1000"/>
              <a:t>endogenous </a:t>
            </a:r>
            <a:r>
              <a:rPr lang="ko-KR" altLang="en-US" sz="1000"/>
              <a:t>변수와 상호작용함</a:t>
            </a:r>
          </a:p>
          <a:p>
            <a:r>
              <a:rPr lang="en-US" altLang="ko-KR" sz="1000"/>
              <a:t>- global token</a:t>
            </a:r>
            <a:r>
              <a:rPr lang="ko-KR" altLang="en-US" sz="1000"/>
              <a:t>이 </a:t>
            </a:r>
            <a:r>
              <a:rPr lang="en-US" altLang="ko-KR" sz="1000"/>
              <a:t>exogenous </a:t>
            </a:r>
            <a:r>
              <a:rPr lang="ko-KR" altLang="en-US" sz="1000"/>
              <a:t>정보와 </a:t>
            </a:r>
            <a:r>
              <a:rPr lang="en-US" altLang="ko-KR" sz="1000"/>
              <a:t>cross-attention</a:t>
            </a:r>
            <a:r>
              <a:rPr lang="ko-KR" altLang="en-US" sz="1000"/>
              <a:t>을 통해 관계를 학습</a:t>
            </a:r>
          </a:p>
          <a:p>
            <a:r>
              <a:rPr lang="en-US" altLang="ko-KR" sz="1000"/>
              <a:t>- exogenous </a:t>
            </a:r>
            <a:r>
              <a:rPr lang="ko-KR" altLang="en-US" sz="1000"/>
              <a:t>정보가 필요한 시점에만 </a:t>
            </a:r>
            <a:r>
              <a:rPr lang="en-US" altLang="ko-KR" sz="1000"/>
              <a:t>endogenous </a:t>
            </a:r>
            <a:r>
              <a:rPr lang="ko-KR" altLang="en-US" sz="1000"/>
              <a:t>패치에 영향을 줌 </a:t>
            </a:r>
            <a:r>
              <a:rPr lang="en-US" altLang="ko-KR" sz="1000"/>
              <a:t>-&gt;?</a:t>
            </a:r>
          </a:p>
          <a:p>
            <a:endParaRPr lang="en-US" altLang="ko-KR" sz="1000"/>
          </a:p>
          <a:p>
            <a:r>
              <a:rPr lang="en-US" altLang="ko-KR" sz="1000"/>
              <a:t>4. exogenous embedding</a:t>
            </a:r>
            <a:r>
              <a:rPr lang="ko-KR" altLang="en-US" sz="1000"/>
              <a:t>의 핵심 역할</a:t>
            </a:r>
          </a:p>
          <a:p>
            <a:r>
              <a:rPr lang="en-US" altLang="ko-KR" sz="1000"/>
              <a:t>- exogenous </a:t>
            </a:r>
            <a:r>
              <a:rPr lang="ko-KR" altLang="en-US" sz="1000"/>
              <a:t>데이터를 독립적인 </a:t>
            </a:r>
            <a:r>
              <a:rPr lang="en-US" altLang="ko-KR" sz="1000"/>
              <a:t>variate-level token</a:t>
            </a:r>
            <a:r>
              <a:rPr lang="ko-KR" altLang="en-US" sz="1000"/>
              <a:t>으로 변환하여 정보 정합성 유지</a:t>
            </a:r>
          </a:p>
          <a:p>
            <a:r>
              <a:rPr lang="en-US" altLang="ko-KR" sz="1000"/>
              <a:t>- endogenous </a:t>
            </a:r>
            <a:r>
              <a:rPr lang="ko-KR" altLang="en-US" sz="1000"/>
              <a:t>변수와의 직접 연결 피하고</a:t>
            </a:r>
            <a:r>
              <a:rPr lang="en-US" altLang="ko-KR" sz="1000"/>
              <a:t>, global token</a:t>
            </a:r>
            <a:r>
              <a:rPr lang="ko-KR" altLang="en-US" sz="1000"/>
              <a:t>을 통해 조정된 정보만 반영</a:t>
            </a:r>
          </a:p>
          <a:p>
            <a:r>
              <a:rPr lang="en-US" altLang="ko-KR" sz="1000"/>
              <a:t>- missing value </a:t>
            </a:r>
            <a:r>
              <a:rPr lang="ko-KR" altLang="en-US" sz="1000"/>
              <a:t>등의 문제를 해결</a:t>
            </a:r>
          </a:p>
          <a:p>
            <a:endParaRPr lang="ko-KR" altLang="en-US" sz="1000"/>
          </a:p>
          <a:p>
            <a:r>
              <a:rPr lang="en-US" altLang="ko-KR" sz="1000"/>
              <a:t>5. exogenous embedding</a:t>
            </a:r>
            <a:r>
              <a:rPr lang="ko-KR" altLang="en-US" sz="1000"/>
              <a:t>이 적용되는 </a:t>
            </a:r>
            <a:r>
              <a:rPr lang="en-US" altLang="ko-KR" sz="1000"/>
              <a:t>attention mechanism</a:t>
            </a:r>
          </a:p>
          <a:p>
            <a:r>
              <a:rPr lang="en-US" altLang="ko-KR" sz="1000"/>
              <a:t> 5.1 global token</a:t>
            </a:r>
            <a:r>
              <a:rPr lang="ko-KR" altLang="en-US" sz="1000"/>
              <a:t>과 </a:t>
            </a:r>
            <a:r>
              <a:rPr lang="en-US" altLang="ko-KR" sz="1000"/>
              <a:t>exogenous token </a:t>
            </a:r>
            <a:r>
              <a:rPr lang="ko-KR" altLang="en-US" sz="1000"/>
              <a:t>간 </a:t>
            </a:r>
            <a:r>
              <a:rPr lang="en-US" altLang="ko-KR" sz="1000"/>
              <a:t>cross-attention</a:t>
            </a:r>
          </a:p>
          <a:p>
            <a:r>
              <a:rPr lang="en-US" altLang="ko-KR" sz="1000"/>
              <a:t>  - exogenous </a:t>
            </a:r>
            <a:r>
              <a:rPr lang="ko-KR" altLang="en-US" sz="1000"/>
              <a:t>변수는 </a:t>
            </a:r>
            <a:r>
              <a:rPr lang="en-US" altLang="ko-KR" sz="1000"/>
              <a:t>variate token</a:t>
            </a:r>
            <a:r>
              <a:rPr lang="ko-KR" altLang="en-US" sz="1000"/>
              <a:t>으로 변환 후 </a:t>
            </a:r>
            <a:r>
              <a:rPr lang="en-US" altLang="ko-KR" sz="1000"/>
              <a:t>global token</a:t>
            </a:r>
            <a:r>
              <a:rPr lang="ko-KR" altLang="en-US" sz="1000"/>
              <a:t>과 연결하여 </a:t>
            </a:r>
            <a:r>
              <a:rPr lang="en-US" altLang="ko-KR" sz="1000"/>
              <a:t>endgoenous</a:t>
            </a:r>
            <a:r>
              <a:rPr lang="ko-KR" altLang="en-US" sz="1000"/>
              <a:t>와 </a:t>
            </a:r>
            <a:r>
              <a:rPr lang="en-US" altLang="ko-KR" sz="1000"/>
              <a:t>exogenous</a:t>
            </a:r>
            <a:r>
              <a:rPr lang="ko-KR" altLang="en-US" sz="1000"/>
              <a:t>간의 정보 전달을 함</a:t>
            </a:r>
          </a:p>
          <a:p>
            <a:r>
              <a:rPr lang="ko-KR" altLang="en-US" sz="1000"/>
              <a:t>  </a:t>
            </a:r>
            <a:r>
              <a:rPr lang="en-US" altLang="ko-KR" sz="1000"/>
              <a:t>- global token</a:t>
            </a:r>
            <a:r>
              <a:rPr lang="ko-KR" altLang="en-US" sz="1000"/>
              <a:t>은 필요한 </a:t>
            </a:r>
            <a:r>
              <a:rPr lang="en-US" altLang="ko-KR" sz="1000"/>
              <a:t>exogenous </a:t>
            </a:r>
            <a:r>
              <a:rPr lang="ko-KR" altLang="en-US" sz="1000"/>
              <a:t>정보를 선택적으로 반영하여 </a:t>
            </a:r>
            <a:r>
              <a:rPr lang="en-US" altLang="ko-KR" sz="1000"/>
              <a:t>endogenous </a:t>
            </a:r>
            <a:r>
              <a:rPr lang="ko-KR" altLang="en-US" sz="1000"/>
              <a:t>패치와 다시 상호작용</a:t>
            </a:r>
            <a:r>
              <a:rPr lang="en-US" altLang="ko-KR" sz="1000"/>
              <a:t>.</a:t>
            </a:r>
          </a:p>
          <a:p>
            <a:r>
              <a:rPr lang="en-US" altLang="ko-KR" sz="1000"/>
              <a:t>  - </a:t>
            </a:r>
            <a:r>
              <a:rPr lang="ko-KR" altLang="en-US" sz="1000"/>
              <a:t>이를 통해 </a:t>
            </a:r>
            <a:r>
              <a:rPr lang="en-US" altLang="ko-KR" sz="1000"/>
              <a:t>exogenous </a:t>
            </a:r>
            <a:r>
              <a:rPr lang="ko-KR" altLang="en-US" sz="1000"/>
              <a:t>변수가 </a:t>
            </a:r>
            <a:r>
              <a:rPr lang="en-US" altLang="ko-KR" sz="1000"/>
              <a:t>endogenous </a:t>
            </a:r>
            <a:r>
              <a:rPr lang="ko-KR" altLang="en-US" sz="1000"/>
              <a:t>예측에 영향을 미칠 수 있도록 조정됨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A9EB36-1886-4BC5-86B1-698BCED9AD12}"/>
              </a:ext>
            </a:extLst>
          </p:cNvPr>
          <p:cNvSpPr/>
          <p:nvPr/>
        </p:nvSpPr>
        <p:spPr>
          <a:xfrm>
            <a:off x="7225078" y="3745337"/>
            <a:ext cx="4406412" cy="60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exogenous token </a:t>
            </a:r>
            <a:r>
              <a:rPr lang="en-US" altLang="ko-KR" sz="1100">
                <a:sym typeface="Wingdings" panose="05000000000000000000" pitchFamily="2" charset="2"/>
              </a:rPr>
              <a:t></a:t>
            </a:r>
            <a:r>
              <a:rPr lang="en-US" altLang="ko-KR" sz="1100"/>
              <a:t> global token </a:t>
            </a:r>
            <a:r>
              <a:rPr lang="en-US" altLang="ko-KR" sz="1100">
                <a:sym typeface="Wingdings" panose="05000000000000000000" pitchFamily="2" charset="2"/>
              </a:rPr>
              <a:t> endogenous patch token</a:t>
            </a:r>
          </a:p>
          <a:p>
            <a:pPr algn="ctr"/>
            <a:r>
              <a:rPr lang="ko-KR" altLang="en-US" sz="1100">
                <a:sym typeface="Wingdings" panose="05000000000000000000" pitchFamily="2" charset="2"/>
              </a:rPr>
              <a:t>그림</a:t>
            </a:r>
            <a:endParaRPr lang="ko-KR" altLang="en-US" sz="11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47E40FC-147F-4547-A19D-B3671D2F7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861" y="1437997"/>
            <a:ext cx="3562847" cy="199100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17B92B-DAEF-4F52-98D9-2B7AFF61E702}"/>
              </a:ext>
            </a:extLst>
          </p:cNvPr>
          <p:cNvSpPr/>
          <p:nvPr/>
        </p:nvSpPr>
        <p:spPr>
          <a:xfrm>
            <a:off x="7225078" y="5278130"/>
            <a:ext cx="4406412" cy="60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cross-attention</a:t>
            </a:r>
            <a:endParaRPr lang="ko-KR" altLang="en-US" sz="11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2E3AF04-438C-43DB-83F2-E2A3258E8388}"/>
              </a:ext>
            </a:extLst>
          </p:cNvPr>
          <p:cNvSpPr/>
          <p:nvPr/>
        </p:nvSpPr>
        <p:spPr>
          <a:xfrm>
            <a:off x="7473820" y="0"/>
            <a:ext cx="4254760" cy="1437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channel + temporal attention</a:t>
            </a:r>
            <a:r>
              <a:rPr lang="ko-KR" altLang="en-US"/>
              <a:t>사용하면 어떨까</a:t>
            </a:r>
            <a:r>
              <a:rPr lang="en-US" altLang="ko-KR"/>
              <a:t>..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92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FC0F4-9F8D-48C7-B7DB-CA24F457808A}"/>
              </a:ext>
            </a:extLst>
          </p:cNvPr>
          <p:cNvSpPr txBox="1"/>
          <p:nvPr/>
        </p:nvSpPr>
        <p:spPr>
          <a:xfrm>
            <a:off x="334107" y="166471"/>
            <a:ext cx="289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/>
              <a:t>2. TimeXer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27AEE-94BD-40B7-B428-A4BB0E551873}"/>
              </a:ext>
            </a:extLst>
          </p:cNvPr>
          <p:cNvSpPr txBox="1"/>
          <p:nvPr/>
        </p:nvSpPr>
        <p:spPr>
          <a:xfrm>
            <a:off x="334107" y="689886"/>
            <a:ext cx="63033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/>
              <a:t>2-2. TimeXer </a:t>
            </a:r>
            <a:r>
              <a:rPr lang="ko-KR" altLang="en-US" sz="1600"/>
              <a:t>아키텍처</a:t>
            </a:r>
            <a:endParaRPr lang="en-US" altLang="ko-KR" sz="1600"/>
          </a:p>
          <a:p>
            <a:pPr algn="l"/>
            <a:endParaRPr lang="en-US" altLang="ko-KR" sz="1600"/>
          </a:p>
          <a:p>
            <a:pPr algn="l"/>
            <a:r>
              <a:rPr lang="en-US" altLang="ko-KR" sz="1600"/>
              <a:t>3. endogenous self-attention</a:t>
            </a:r>
          </a:p>
          <a:p>
            <a:pPr marL="342900" indent="-342900" algn="l">
              <a:buAutoNum type="arabicPeriod"/>
            </a:pPr>
            <a:endParaRPr lang="en-US" altLang="ko-KR" sz="1600"/>
          </a:p>
          <a:p>
            <a:pPr algn="l"/>
            <a:endParaRPr lang="en-US" altLang="ko-KR" sz="1600"/>
          </a:p>
          <a:p>
            <a:pPr marL="342900" indent="-342900" algn="l">
              <a:buAutoNum type="arabicPeriod"/>
            </a:pPr>
            <a:endParaRPr lang="ko-KR" alt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1B2213-BCEE-4E7E-B694-EEBB7BE067FF}"/>
                  </a:ext>
                </a:extLst>
              </p:cNvPr>
              <p:cNvSpPr txBox="1"/>
              <p:nvPr/>
            </p:nvSpPr>
            <p:spPr>
              <a:xfrm>
                <a:off x="334107" y="1687354"/>
                <a:ext cx="6097464" cy="2730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/>
                  <a:t>1. 정의</a:t>
                </a:r>
              </a:p>
              <a:p>
                <a:r>
                  <a:rPr lang="ko-KR" altLang="en-US" sz="1000"/>
                  <a:t> -</a:t>
                </a:r>
                <a:r>
                  <a:rPr lang="en-US" altLang="ko-KR" sz="1000"/>
                  <a:t> attentio</a:t>
                </a:r>
                <a:r>
                  <a:rPr lang="ko-KR" altLang="en-US" sz="1000"/>
                  <a:t>은 </a:t>
                </a:r>
                <a:r>
                  <a:rPr lang="en-US" altLang="ko-KR" sz="1000"/>
                  <a:t>‘</a:t>
                </a:r>
                <a:r>
                  <a:rPr lang="ko-KR" altLang="en-US" sz="1000"/>
                  <a:t>집중</a:t>
                </a:r>
                <a:r>
                  <a:rPr lang="en-US" altLang="ko-KR" sz="1000"/>
                  <a:t>＇</a:t>
                </a:r>
                <a:r>
                  <a:rPr lang="ko-KR" altLang="en-US" sz="1000"/>
                  <a:t>이라는 뜻이므로 어떤 무언가를 더 집중하겠다</a:t>
                </a:r>
                <a:r>
                  <a:rPr lang="en-US" altLang="ko-KR" sz="1000"/>
                  <a:t>. </a:t>
                </a:r>
                <a:r>
                  <a:rPr lang="ko-KR" altLang="en-US" sz="1000"/>
                  <a:t>즉</a:t>
                </a:r>
                <a:r>
                  <a:rPr lang="en-US" altLang="ko-KR" sz="1000"/>
                  <a:t>, </a:t>
                </a:r>
                <a:r>
                  <a:rPr lang="ko-KR" altLang="en-US" sz="1000"/>
                  <a:t>더 높은 가중치를 부여하겠다는 의미</a:t>
                </a:r>
                <a:endParaRPr lang="en-US" altLang="ko-KR" sz="1000"/>
              </a:p>
              <a:p>
                <a:pPr marL="171450" indent="-171450">
                  <a:buFontTx/>
                  <a:buChar char="-"/>
                </a:pPr>
                <a:r>
                  <a:rPr lang="ko-KR" altLang="en-US" sz="1000"/>
                  <a:t>예를 들어</a:t>
                </a:r>
                <a:r>
                  <a:rPr lang="en-US" altLang="ko-KR" sz="1000"/>
                  <a:t>, </a:t>
                </a:r>
                <a:r>
                  <a:rPr lang="ko-KR" altLang="en-US" sz="1000"/>
                  <a:t>학교 별 수시 기준이 있는데 학교에서 국</a:t>
                </a:r>
                <a:r>
                  <a:rPr lang="en-US" altLang="ko-KR" sz="1000"/>
                  <a:t>, </a:t>
                </a:r>
                <a:r>
                  <a:rPr lang="ko-KR" altLang="en-US" sz="1000"/>
                  <a:t>영</a:t>
                </a:r>
                <a:r>
                  <a:rPr lang="en-US" altLang="ko-KR" sz="1000"/>
                  <a:t>, </a:t>
                </a:r>
                <a:r>
                  <a:rPr lang="ko-KR" altLang="en-US" sz="1000"/>
                  <a:t>수</a:t>
                </a:r>
                <a:r>
                  <a:rPr lang="en-US" altLang="ko-KR" sz="1000"/>
                  <a:t>, </a:t>
                </a:r>
                <a:r>
                  <a:rPr lang="ko-KR" altLang="en-US" sz="1000"/>
                  <a:t>과중 우리는 영</a:t>
                </a:r>
                <a:r>
                  <a:rPr lang="en-US" altLang="ko-KR" sz="1000"/>
                  <a:t>, </a:t>
                </a:r>
                <a:r>
                  <a:rPr lang="ko-KR" altLang="en-US" sz="1000"/>
                  <a:t>수만 보겠다는 가중치를 주는 거임</a:t>
                </a:r>
                <a:endParaRPr lang="en-US" altLang="ko-KR" sz="1000"/>
              </a:p>
              <a:p>
                <a:pPr marL="171450" indent="-171450">
                  <a:buFontTx/>
                  <a:buChar char="-"/>
                </a:pPr>
                <a:r>
                  <a:rPr lang="en-US" altLang="ko-KR" sz="1000"/>
                  <a:t>endogoenous</a:t>
                </a:r>
                <a:r>
                  <a:rPr lang="ko-KR" altLang="en-US" sz="1000"/>
                  <a:t> </a:t>
                </a:r>
                <a:r>
                  <a:rPr lang="en-US" altLang="ko-KR" sz="1000"/>
                  <a:t>self-attention</a:t>
                </a:r>
                <a:r>
                  <a:rPr lang="ko-KR" altLang="en-US" sz="1000"/>
                  <a:t>은 </a:t>
                </a:r>
                <a:r>
                  <a:rPr lang="en-US" altLang="ko-KR" sz="1000"/>
                  <a:t>endogenous </a:t>
                </a:r>
                <a:r>
                  <a:rPr lang="ko-KR" altLang="en-US" sz="1000"/>
                  <a:t>변수 내의 시간적 관계를 학습</a:t>
                </a:r>
                <a:endParaRPr lang="en-US" altLang="ko-KR" sz="1000"/>
              </a:p>
              <a:p>
                <a:pPr marL="171450" indent="-171450">
                  <a:buFontTx/>
                  <a:buChar char="-"/>
                </a:pPr>
                <a:r>
                  <a:rPr lang="en-US" altLang="ko-KR" sz="1000"/>
                  <a:t>patch-to-patch</a:t>
                </a:r>
                <a:r>
                  <a:rPr lang="ko-KR" altLang="en-US" sz="1000"/>
                  <a:t> 및 </a:t>
                </a:r>
                <a:r>
                  <a:rPr lang="en-US" altLang="ko-KR" sz="1000"/>
                  <a:t>global token</a:t>
                </a:r>
                <a:r>
                  <a:rPr lang="ko-KR" altLang="en-US" sz="1000"/>
                  <a:t>을 활용한 </a:t>
                </a:r>
                <a:r>
                  <a:rPr lang="en-US" altLang="ko-KR" sz="1000"/>
                  <a:t>attention</a:t>
                </a:r>
                <a:r>
                  <a:rPr lang="ko-KR" altLang="en-US" sz="1000"/>
                  <a:t>을 통해 시계열 패턴 포착</a:t>
                </a:r>
                <a:endParaRPr lang="en-US" altLang="ko-KR" sz="1000"/>
              </a:p>
              <a:p>
                <a:r>
                  <a:rPr lang="en-US" altLang="ko-KR" sz="1000"/>
                  <a:t>2. </a:t>
                </a:r>
                <a:r>
                  <a:rPr lang="ko-KR" altLang="en-US" sz="1000"/>
                  <a:t>필요성</a:t>
                </a:r>
                <a:endParaRPr lang="en-US" altLang="ko-KR" sz="1000"/>
              </a:p>
              <a:p>
                <a:r>
                  <a:rPr lang="en-US" altLang="ko-KR" sz="1000"/>
                  <a:t> - patch</a:t>
                </a:r>
                <a:r>
                  <a:rPr lang="ko-KR" altLang="en-US" sz="1000"/>
                  <a:t>간의 관계를 학습하여 시계열 패턴을 효과적으로 모델링</a:t>
                </a:r>
                <a:endParaRPr lang="en-US" altLang="ko-KR" sz="1000"/>
              </a:p>
              <a:p>
                <a:r>
                  <a:rPr lang="en-US" altLang="ko-KR" sz="1000"/>
                  <a:t> - global token</a:t>
                </a:r>
                <a:r>
                  <a:rPr lang="ko-KR" altLang="en-US" sz="1000"/>
                  <a:t>을 통해 전체적인 시계열 구조 반영</a:t>
                </a:r>
                <a:endParaRPr lang="en-US" altLang="ko-KR" sz="1000"/>
              </a:p>
              <a:p>
                <a:r>
                  <a:rPr lang="en-US" altLang="ko-KR" sz="1000"/>
                  <a:t>3. endogenous self-attention </a:t>
                </a:r>
                <a:r>
                  <a:rPr lang="ko-KR" altLang="en-US" sz="1000"/>
                  <a:t>동작 방식</a:t>
                </a:r>
                <a:endParaRPr lang="en-US" altLang="ko-KR" sz="10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𝑒𝑛</m:t>
                              </m:r>
                            </m:sub>
                          </m:sSub>
                        </m:e>
                      </m:acc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𝑒𝑛</m:t>
                              </m:r>
                            </m:sub>
                          </m:sSub>
                        </m:e>
                      </m:acc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𝐿𝑎𝑦𝑒𝑟𝑁𝑜𝑟𝑚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𝑒𝑛</m:t>
                              </m:r>
                            </m:sub>
                            <m:sup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𝑒𝑛</m:t>
                              </m:r>
                            </m:sub>
                            <m:sup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d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𝑠𝑒𝑙𝑓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𝑎𝑡𝑡𝑒𝑛𝑡𝑖𝑜𝑛</m:t>
                      </m:r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  <m:t>𝑒𝑛</m:t>
                                  </m:r>
                                </m:sub>
                                <m:sup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</m:sSubSup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  <m:t>𝑒𝑛</m:t>
                                  </m:r>
                                </m:sub>
                                <m:sup>
                                  <m:r>
                                    <a:rPr lang="en-US" altLang="ko-KR" sz="1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000"/>
              </a:p>
              <a:p>
                <a:r>
                  <a:rPr lang="en-US" altLang="ko-KR" sz="1000"/>
                  <a:t> -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</m:sub>
                      <m:sup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ko-KR" sz="1000"/>
                  <a:t>: </a:t>
                </a:r>
                <a:r>
                  <a:rPr lang="ko-KR" altLang="en-US" sz="1000"/>
                  <a:t>일정 길이의 패치 그룹</a:t>
                </a:r>
                <a:r>
                  <a:rPr lang="en-US" altLang="ko-KR" sz="100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</m:sub>
                      <m:sup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ko-KR" sz="1000"/>
                  <a:t> : </a:t>
                </a:r>
                <a:r>
                  <a:rPr lang="ko-KR" altLang="en-US" sz="1000"/>
                  <a:t>해당 패치 그룹과 연결된 </a:t>
                </a:r>
                <a:r>
                  <a:rPr lang="en-US" altLang="ko-KR" sz="1000"/>
                  <a:t>global token, </a:t>
                </a:r>
              </a:p>
              <a:p>
                <a:r>
                  <a:rPr lang="en-US" altLang="ko-KR" sz="1000"/>
                  <a:t> - </a:t>
                </a:r>
                <a:r>
                  <a:rPr lang="ko-KR" altLang="en-US" sz="1000"/>
                  <a:t>시계열 데이터를 일정 길이 패치로 분할</a:t>
                </a:r>
                <a:r>
                  <a:rPr lang="en-US" altLang="ko-KR" sz="1000"/>
                  <a:t>, </a:t>
                </a:r>
                <a:r>
                  <a:rPr lang="ko-KR" altLang="en-US" sz="1000"/>
                  <a:t>각 패치 그룹에는 학습 가능한 </a:t>
                </a:r>
                <a:r>
                  <a:rPr lang="en-US" altLang="ko-KR" sz="1000"/>
                  <a:t>global token </a:t>
                </a:r>
                <a:r>
                  <a:rPr lang="ko-KR" altLang="en-US" sz="1000"/>
                  <a:t>추가</a:t>
                </a:r>
                <a:endParaRPr lang="en-US" altLang="ko-KR" sz="1000"/>
              </a:p>
              <a:p>
                <a:r>
                  <a:rPr lang="en-US" altLang="ko-KR" sz="1000"/>
                  <a:t> - </a:t>
                </a:r>
                <a:r>
                  <a:rPr lang="ko-KR" altLang="en-US" sz="1000"/>
                  <a:t>각 패치 그룹과 </a:t>
                </a:r>
                <a:r>
                  <a:rPr lang="en-US" altLang="ko-KR" sz="1000"/>
                  <a:t>global token</a:t>
                </a:r>
                <a:r>
                  <a:rPr lang="ko-KR" altLang="en-US" sz="1000"/>
                  <a:t>을 하나의 </a:t>
                </a:r>
                <a:r>
                  <a:rPr lang="en-US" altLang="ko-KR" sz="1000"/>
                  <a:t>self-attention </a:t>
                </a:r>
                <a:r>
                  <a:rPr lang="ko-KR" altLang="en-US" sz="1000"/>
                  <a:t>입력으로 사용하여 연산 수행</a:t>
                </a:r>
                <a:endParaRPr lang="en-US" altLang="ko-KR" sz="1000"/>
              </a:p>
              <a:p>
                <a:r>
                  <a:rPr lang="en-US" altLang="ko-KR" sz="1000"/>
                  <a:t> - self-attention</a:t>
                </a:r>
                <a:r>
                  <a:rPr lang="ko-KR" altLang="en-US" sz="1000"/>
                  <a:t>이 끝나고 난뒤 </a:t>
                </a:r>
                <a:r>
                  <a:rPr lang="en-US" altLang="ko-KR" sz="1000"/>
                  <a:t>LayerNorm</a:t>
                </a:r>
                <a:r>
                  <a:rPr lang="ko-KR" altLang="en-US" sz="1000"/>
                  <a:t>과 </a:t>
                </a:r>
                <a:r>
                  <a:rPr lang="en-US" altLang="ko-KR" sz="1000"/>
                  <a:t>Residual Connection</a:t>
                </a:r>
                <a:r>
                  <a:rPr lang="ko-KR" altLang="en-US" sz="1000"/>
                  <a:t>을 통해 정규화 및 보정</a:t>
                </a:r>
                <a:endParaRPr lang="en-US" altLang="ko-KR" sz="1000"/>
              </a:p>
              <a:p>
                <a:r>
                  <a:rPr lang="en-US" altLang="ko-KR" sz="1000"/>
                  <a:t> - </a:t>
                </a:r>
                <a:r>
                  <a:rPr lang="ko-KR" altLang="en-US" sz="1000"/>
                  <a:t>최종적으로 </a:t>
                </a:r>
                <a:r>
                  <a:rPr lang="en-US" altLang="ko-KR" sz="1000"/>
                  <a:t>endogenous </a:t>
                </a:r>
                <a:r>
                  <a:rPr lang="ko-KR" altLang="en-US" sz="1000"/>
                  <a:t>패치 간 정보 학습과 </a:t>
                </a:r>
                <a:r>
                  <a:rPr lang="en-US" altLang="ko-KR" sz="1000"/>
                  <a:t>global token</a:t>
                </a:r>
                <a:r>
                  <a:rPr lang="ko-KR" altLang="en-US" sz="1000"/>
                  <a:t>을 통한 시계열 전체 요약</a:t>
                </a:r>
                <a:r>
                  <a:rPr lang="en-US" altLang="ko-KR" sz="100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1B2213-BCEE-4E7E-B694-EEBB7BE06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07" y="1687354"/>
                <a:ext cx="6097464" cy="27309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D98E-8FA9-44F6-9EF7-1A82471EB68E}"/>
              </a:ext>
            </a:extLst>
          </p:cNvPr>
          <p:cNvSpPr/>
          <p:nvPr/>
        </p:nvSpPr>
        <p:spPr>
          <a:xfrm>
            <a:off x="8179780" y="3653549"/>
            <a:ext cx="3727939" cy="60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패치 자르는 거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B6081E-A7A1-48E5-81D8-E558B829A53B}"/>
              </a:ext>
            </a:extLst>
          </p:cNvPr>
          <p:cNvSpPr/>
          <p:nvPr/>
        </p:nvSpPr>
        <p:spPr>
          <a:xfrm>
            <a:off x="8050824" y="4528383"/>
            <a:ext cx="3727939" cy="60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layernorm </a:t>
            </a:r>
            <a:r>
              <a:rPr lang="ko-KR" altLang="en-US"/>
              <a:t>그림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3104CA-BEC2-4D9F-AE12-8EFCF3523A60}"/>
              </a:ext>
            </a:extLst>
          </p:cNvPr>
          <p:cNvSpPr/>
          <p:nvPr/>
        </p:nvSpPr>
        <p:spPr>
          <a:xfrm>
            <a:off x="8050823" y="5539657"/>
            <a:ext cx="3727939" cy="60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timexer </a:t>
            </a:r>
            <a:r>
              <a:rPr lang="ko-KR" altLang="en-US"/>
              <a:t>아키텍처 그림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1864852-1C79-4122-85A3-5C17FFE6A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594" y="0"/>
            <a:ext cx="4801330" cy="260358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C0E617B-5EA7-4221-BD7B-481130422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80" y="4153324"/>
            <a:ext cx="3520613" cy="264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agram">
            <a:extLst>
              <a:ext uri="{FF2B5EF4-FFF2-40B4-BE49-F238E27FC236}">
                <a16:creationId xmlns:a16="http://schemas.microsoft.com/office/drawing/2014/main" id="{0294C8A1-E9EC-42C4-8C56-1E32995DF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669" y="280163"/>
            <a:ext cx="5504379" cy="505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123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FC0F4-9F8D-48C7-B7DB-CA24F457808A}"/>
              </a:ext>
            </a:extLst>
          </p:cNvPr>
          <p:cNvSpPr txBox="1"/>
          <p:nvPr/>
        </p:nvSpPr>
        <p:spPr>
          <a:xfrm>
            <a:off x="334107" y="166471"/>
            <a:ext cx="289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/>
              <a:t>2. TimeXer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27AEE-94BD-40B7-B428-A4BB0E551873}"/>
              </a:ext>
            </a:extLst>
          </p:cNvPr>
          <p:cNvSpPr txBox="1"/>
          <p:nvPr/>
        </p:nvSpPr>
        <p:spPr>
          <a:xfrm>
            <a:off x="334107" y="689886"/>
            <a:ext cx="63033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/>
              <a:t>2-2. TimeXer </a:t>
            </a:r>
            <a:r>
              <a:rPr lang="ko-KR" altLang="en-US" sz="1600"/>
              <a:t>아키텍처</a:t>
            </a:r>
            <a:endParaRPr lang="en-US" altLang="ko-KR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A49AFA-7E69-4896-8E9C-35B7CB553887}"/>
              </a:ext>
            </a:extLst>
          </p:cNvPr>
          <p:cNvSpPr txBox="1"/>
          <p:nvPr/>
        </p:nvSpPr>
        <p:spPr>
          <a:xfrm>
            <a:off x="334107" y="1116631"/>
            <a:ext cx="63033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/>
              <a:t>4. global token </a:t>
            </a:r>
            <a:r>
              <a:rPr lang="ko-KR" altLang="en-US" sz="1600"/>
              <a:t>역할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856AC7-E4A7-4643-8352-36F78B67DB5B}"/>
              </a:ext>
            </a:extLst>
          </p:cNvPr>
          <p:cNvSpPr txBox="1"/>
          <p:nvPr/>
        </p:nvSpPr>
        <p:spPr>
          <a:xfrm>
            <a:off x="407376" y="1573915"/>
            <a:ext cx="609746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1. 정의</a:t>
            </a:r>
          </a:p>
          <a:p>
            <a:r>
              <a:rPr lang="ko-KR" altLang="en-US" sz="1000"/>
              <a:t> - </a:t>
            </a:r>
            <a:r>
              <a:rPr lang="en-US" altLang="ko-KR" sz="1000"/>
              <a:t>endogenous </a:t>
            </a:r>
            <a:r>
              <a:rPr lang="ko-KR" altLang="en-US" sz="1000"/>
              <a:t>변수의 장기적인 패턴을 요약하고 </a:t>
            </a:r>
            <a:r>
              <a:rPr lang="en-US" altLang="ko-KR" sz="1000"/>
              <a:t>exogenous </a:t>
            </a:r>
            <a:r>
              <a:rPr lang="ko-KR" altLang="en-US" sz="1000"/>
              <a:t>정보와의 연결을 담당</a:t>
            </a:r>
            <a:r>
              <a:rPr lang="en-US" altLang="ko-KR" sz="1000"/>
              <a:t>(?)</a:t>
            </a:r>
            <a:r>
              <a:rPr lang="ko-KR" altLang="en-US" sz="1000"/>
              <a:t>하는 학습가능한 벡터</a:t>
            </a:r>
            <a:endParaRPr lang="en-US" altLang="ko-KR" sz="1000"/>
          </a:p>
          <a:p>
            <a:r>
              <a:rPr lang="en-US" altLang="ko-KR" sz="1000"/>
              <a:t> - </a:t>
            </a:r>
            <a:r>
              <a:rPr lang="ko-KR" altLang="en-US" sz="1000"/>
              <a:t>기존 </a:t>
            </a:r>
            <a:r>
              <a:rPr lang="en-US" altLang="ko-KR" sz="1000"/>
              <a:t>VIT</a:t>
            </a:r>
            <a:r>
              <a:rPr lang="ko-KR" altLang="en-US" sz="1000"/>
              <a:t>의 </a:t>
            </a:r>
            <a:r>
              <a:rPr lang="en-US" altLang="ko-KR" sz="1000"/>
              <a:t>class token</a:t>
            </a:r>
            <a:r>
              <a:rPr lang="ko-KR" altLang="en-US" sz="1000"/>
              <a:t>개념에서 영감을 받음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2. 목적</a:t>
            </a:r>
            <a:endParaRPr lang="en-US" altLang="ko-KR" sz="1000"/>
          </a:p>
          <a:p>
            <a:r>
              <a:rPr lang="en-US" altLang="ko-KR" sz="1000"/>
              <a:t> 1) endogenous self-attentio</a:t>
            </a:r>
            <a:r>
              <a:rPr lang="ko-KR" altLang="en-US" sz="1000"/>
              <a:t>을 통해 </a:t>
            </a:r>
            <a:r>
              <a:rPr lang="en-US" altLang="ko-KR" sz="1000"/>
              <a:t>patch </a:t>
            </a:r>
            <a:r>
              <a:rPr lang="ko-KR" altLang="en-US" sz="1000"/>
              <a:t>정보 요약</a:t>
            </a:r>
            <a:br>
              <a:rPr lang="en-US" altLang="ko-KR" sz="1000"/>
            </a:br>
            <a:r>
              <a:rPr lang="en-US" altLang="ko-KR" sz="1000"/>
              <a:t>   - endogenous patch</a:t>
            </a:r>
            <a:r>
              <a:rPr lang="ko-KR" altLang="en-US" sz="1000"/>
              <a:t>들과 함께 </a:t>
            </a:r>
            <a:r>
              <a:rPr lang="en-US" altLang="ko-KR" sz="1000"/>
              <a:t>self-attentio</a:t>
            </a:r>
            <a:r>
              <a:rPr lang="ko-KR" altLang="en-US" sz="1000"/>
              <a:t>을 수행하여 </a:t>
            </a:r>
            <a:r>
              <a:rPr lang="en-US" altLang="ko-KR" sz="1000"/>
              <a:t>global token</a:t>
            </a:r>
            <a:r>
              <a:rPr lang="ko-KR" altLang="en-US" sz="1000"/>
              <a:t>이 </a:t>
            </a:r>
            <a:r>
              <a:rPr lang="en-US" altLang="ko-KR" sz="1000"/>
              <a:t>endgoenuos </a:t>
            </a:r>
            <a:r>
              <a:rPr lang="ko-KR" altLang="en-US" sz="1000"/>
              <a:t>정보의 핵심 패턴 학습</a:t>
            </a:r>
            <a:br>
              <a:rPr lang="en-US" altLang="ko-KR" sz="1000"/>
            </a:br>
            <a:r>
              <a:rPr lang="en-US" altLang="ko-KR" sz="1000"/>
              <a:t>   - patch</a:t>
            </a:r>
            <a:r>
              <a:rPr lang="ko-KR" altLang="en-US" sz="1000"/>
              <a:t>들은 직접 학습되지 않고</a:t>
            </a:r>
            <a:r>
              <a:rPr lang="en-US" altLang="ko-KR" sz="1000"/>
              <a:t>, global token</a:t>
            </a:r>
            <a:r>
              <a:rPr lang="ko-KR" altLang="en-US" sz="1000"/>
              <a:t>이 정보를 종합하여 업데이트 됨</a:t>
            </a:r>
            <a:br>
              <a:rPr lang="en-US" altLang="ko-KR" sz="1000"/>
            </a:br>
            <a:r>
              <a:rPr lang="en-US" altLang="ko-KR" sz="1000"/>
              <a:t>   - self-attention</a:t>
            </a:r>
            <a:r>
              <a:rPr lang="ko-KR" altLang="en-US" sz="1000"/>
              <a:t>을 활용하여 시간적 패턴 학습</a:t>
            </a:r>
            <a:br>
              <a:rPr lang="en-US" altLang="ko-KR" sz="1000"/>
            </a:br>
            <a:endParaRPr lang="en-US" altLang="ko-KR" sz="1000"/>
          </a:p>
          <a:p>
            <a:r>
              <a:rPr lang="en-US" altLang="ko-KR" sz="1000"/>
              <a:t> 2) exogenous</a:t>
            </a:r>
            <a:r>
              <a:rPr lang="ko-KR" altLang="en-US" sz="1000"/>
              <a:t>와 </a:t>
            </a:r>
            <a:r>
              <a:rPr lang="en-US" altLang="ko-KR" sz="1000"/>
              <a:t>endogenous</a:t>
            </a:r>
            <a:r>
              <a:rPr lang="ko-KR" altLang="en-US" sz="1000"/>
              <a:t>의 </a:t>
            </a:r>
            <a:r>
              <a:rPr lang="en-US" altLang="ko-KR" sz="1000"/>
              <a:t>cross-attention </a:t>
            </a:r>
            <a:r>
              <a:rPr lang="ko-KR" altLang="en-US" sz="1000"/>
              <a:t>수행</a:t>
            </a:r>
            <a:br>
              <a:rPr lang="en-US" altLang="ko-KR" sz="1000"/>
            </a:br>
            <a:r>
              <a:rPr lang="en-US" altLang="ko-KR" sz="1000"/>
              <a:t>   - exogenous token</a:t>
            </a:r>
            <a:r>
              <a:rPr lang="ko-KR" altLang="en-US" sz="1000"/>
              <a:t>들과 </a:t>
            </a:r>
            <a:r>
              <a:rPr lang="en-US" altLang="ko-KR" sz="1000"/>
              <a:t>cross-attention</a:t>
            </a:r>
            <a:r>
              <a:rPr lang="ko-KR" altLang="en-US" sz="1000"/>
              <a:t>을 수행하여 </a:t>
            </a:r>
            <a:r>
              <a:rPr lang="en-US" altLang="ko-KR" sz="1000"/>
              <a:t>exogenous </a:t>
            </a:r>
            <a:r>
              <a:rPr lang="ko-KR" altLang="en-US" sz="1000"/>
              <a:t>데이터를 반영하고 중요 부분을 선택적으로 학습 </a:t>
            </a:r>
            <a:r>
              <a:rPr lang="en-US" altLang="ko-KR" sz="1000"/>
              <a:t>=&gt; </a:t>
            </a:r>
            <a:r>
              <a:rPr lang="ko-KR" altLang="en-US" sz="1000">
                <a:solidFill>
                  <a:srgbClr val="FF0000"/>
                </a:solidFill>
              </a:rPr>
              <a:t>선택적으로 학습</a:t>
            </a:r>
            <a:r>
              <a:rPr lang="en-US" altLang="ko-KR" sz="1000">
                <a:solidFill>
                  <a:srgbClr val="FF0000"/>
                </a:solidFill>
              </a:rPr>
              <a:t>?</a:t>
            </a:r>
          </a:p>
          <a:p>
            <a:r>
              <a:rPr lang="en-US" altLang="ko-KR" sz="1000"/>
              <a:t> 3) </a:t>
            </a:r>
            <a:r>
              <a:rPr lang="ko-KR" altLang="en-US" sz="1000"/>
              <a:t>업데이트된 </a:t>
            </a:r>
            <a:r>
              <a:rPr lang="en-US" altLang="ko-KR" sz="1000"/>
              <a:t>global token</a:t>
            </a:r>
            <a:r>
              <a:rPr lang="ko-KR" altLang="en-US" sz="1000"/>
              <a:t>이 다시 </a:t>
            </a:r>
            <a:r>
              <a:rPr lang="en-US" altLang="ko-KR" sz="1000"/>
              <a:t>self-attention </a:t>
            </a:r>
            <a:r>
              <a:rPr lang="ko-KR" altLang="en-US" sz="1000"/>
              <a:t>수행</a:t>
            </a:r>
            <a:br>
              <a:rPr lang="en-US" altLang="ko-KR" sz="1000"/>
            </a:br>
            <a:r>
              <a:rPr lang="en-US" altLang="ko-KR" sz="1000"/>
              <a:t>   - cross-attentio</a:t>
            </a:r>
            <a:r>
              <a:rPr lang="ko-KR" altLang="en-US" sz="1000"/>
              <a:t>을 수행을 통해 </a:t>
            </a:r>
            <a:r>
              <a:rPr lang="en-US" altLang="ko-KR" sz="1000"/>
              <a:t>exogenous </a:t>
            </a:r>
            <a:r>
              <a:rPr lang="ko-KR" altLang="en-US" sz="1000"/>
              <a:t>정보 반영 후</a:t>
            </a:r>
            <a:r>
              <a:rPr lang="en-US" altLang="ko-KR" sz="1000"/>
              <a:t>, global token</a:t>
            </a:r>
            <a:r>
              <a:rPr lang="ko-KR" altLang="en-US" sz="1000"/>
              <a:t>이 다시 </a:t>
            </a:r>
            <a:r>
              <a:rPr lang="en-US" altLang="ko-KR" sz="1000"/>
              <a:t>patch</a:t>
            </a:r>
            <a:r>
              <a:rPr lang="ko-KR" altLang="en-US" sz="1000"/>
              <a:t>들과 함께 </a:t>
            </a:r>
            <a:r>
              <a:rPr lang="en-US" altLang="ko-KR" sz="1000"/>
              <a:t>self-attention</a:t>
            </a:r>
            <a:r>
              <a:rPr lang="ko-KR" altLang="en-US" sz="1000"/>
              <a:t>을 통해 얻은 정보를 다시 </a:t>
            </a:r>
            <a:r>
              <a:rPr lang="en-US" altLang="ko-KR" sz="1000"/>
              <a:t>patch</a:t>
            </a:r>
            <a:r>
              <a:rPr lang="ko-KR" altLang="en-US" sz="1000"/>
              <a:t>에게 전달하여 예측 성능 향상 </a:t>
            </a:r>
            <a:r>
              <a:rPr lang="en-US" altLang="ko-KR" sz="1000"/>
              <a:t>=&gt; </a:t>
            </a:r>
            <a:r>
              <a:rPr lang="ko-KR" altLang="en-US" sz="1000">
                <a:highlight>
                  <a:srgbClr val="FFFF00"/>
                </a:highlight>
              </a:rPr>
              <a:t>이는 </a:t>
            </a:r>
            <a:r>
              <a:rPr lang="en-US" altLang="ko-KR" sz="1000">
                <a:highlight>
                  <a:srgbClr val="FFFF00"/>
                </a:highlight>
              </a:rPr>
              <a:t>encoder layer =2</a:t>
            </a:r>
            <a:r>
              <a:rPr lang="ko-KR" altLang="en-US" sz="1000">
                <a:highlight>
                  <a:srgbClr val="FFFF00"/>
                </a:highlight>
              </a:rPr>
              <a:t>일경우 논문에서는 이 내용을 넣지 않음</a:t>
            </a:r>
            <a:endParaRPr lang="en-US" altLang="ko-KR" sz="1000">
              <a:highlight>
                <a:srgbClr val="FFFF00"/>
              </a:highlight>
            </a:endParaRPr>
          </a:p>
          <a:p>
            <a:endParaRPr lang="en-US" altLang="ko-KR" sz="1000">
              <a:highlight>
                <a:srgbClr val="FFFF00"/>
              </a:highlight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9B15668-1748-43B4-86C8-F46E85D64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840" y="1285908"/>
            <a:ext cx="5614472" cy="256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1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FC0F4-9F8D-48C7-B7DB-CA24F457808A}"/>
              </a:ext>
            </a:extLst>
          </p:cNvPr>
          <p:cNvSpPr txBox="1"/>
          <p:nvPr/>
        </p:nvSpPr>
        <p:spPr>
          <a:xfrm>
            <a:off x="334107" y="166471"/>
            <a:ext cx="289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/>
              <a:t>2. TimeXer</a:t>
            </a:r>
            <a:endParaRPr lang="ko-KR" alt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27AEE-94BD-40B7-B428-A4BB0E551873}"/>
              </a:ext>
            </a:extLst>
          </p:cNvPr>
          <p:cNvSpPr txBox="1"/>
          <p:nvPr/>
        </p:nvSpPr>
        <p:spPr>
          <a:xfrm>
            <a:off x="334107" y="689886"/>
            <a:ext cx="63033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/>
              <a:t>2-2. TimeXer </a:t>
            </a:r>
            <a:r>
              <a:rPr lang="ko-KR" altLang="en-US" sz="1600"/>
              <a:t>아키텍처</a:t>
            </a:r>
            <a:endParaRPr lang="en-US" altLang="ko-KR" sz="1600"/>
          </a:p>
          <a:p>
            <a:pPr algn="l"/>
            <a:endParaRPr lang="en-US" altLang="ko-KR" sz="1600"/>
          </a:p>
          <a:p>
            <a:pPr algn="l"/>
            <a:r>
              <a:rPr lang="en-US" altLang="ko-KR" sz="1600"/>
              <a:t>5. endogenous</a:t>
            </a:r>
            <a:r>
              <a:rPr lang="ko-KR" altLang="en-US" sz="1600"/>
              <a:t>와 </a:t>
            </a:r>
            <a:r>
              <a:rPr lang="en-US" altLang="ko-KR" sz="1600"/>
              <a:t>exogenous cross-attention</a:t>
            </a:r>
          </a:p>
          <a:p>
            <a:pPr algn="l"/>
            <a:endParaRPr lang="en-US" altLang="ko-KR" sz="1600"/>
          </a:p>
          <a:p>
            <a:pPr marL="342900" indent="-342900" algn="l">
              <a:buAutoNum type="arabicPeriod"/>
            </a:pPr>
            <a:endParaRPr lang="ko-KR" alt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1B2213-BCEE-4E7E-B694-EEBB7BE067FF}"/>
              </a:ext>
            </a:extLst>
          </p:cNvPr>
          <p:cNvSpPr txBox="1"/>
          <p:nvPr/>
        </p:nvSpPr>
        <p:spPr>
          <a:xfrm>
            <a:off x="334107" y="1687354"/>
            <a:ext cx="60974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1. 정의</a:t>
            </a:r>
          </a:p>
          <a:p>
            <a:r>
              <a:rPr lang="ko-KR" altLang="en-US" sz="1000"/>
              <a:t> - 한 집합 정보</a:t>
            </a:r>
            <a:r>
              <a:rPr lang="en-US" altLang="ko-KR" sz="1000"/>
              <a:t>(Query)</a:t>
            </a:r>
            <a:r>
              <a:rPr lang="ko-KR" altLang="en-US" sz="1000"/>
              <a:t>가 다른 집합</a:t>
            </a:r>
            <a:r>
              <a:rPr lang="en-US" altLang="ko-KR" sz="1000"/>
              <a:t>(key,value)</a:t>
            </a:r>
            <a:r>
              <a:rPr lang="ko-KR" altLang="en-US" sz="1000"/>
              <a:t>에서 중요한 정보를 학습하는 방식이며 </a:t>
            </a:r>
            <a:r>
              <a:rPr lang="en-US" altLang="ko-KR" sz="1000"/>
              <a:t>Timxer</a:t>
            </a:r>
            <a:r>
              <a:rPr lang="ko-KR" altLang="en-US" sz="1000"/>
              <a:t>에서는</a:t>
            </a:r>
            <a:r>
              <a:rPr lang="en-US" altLang="ko-KR" sz="1000"/>
              <a:t> endogenous </a:t>
            </a:r>
            <a:r>
              <a:rPr lang="ko-KR" altLang="en-US" sz="1000"/>
              <a:t>데이터에서 </a:t>
            </a:r>
            <a:r>
              <a:rPr lang="en-US" altLang="ko-KR" sz="1000"/>
              <a:t>query</a:t>
            </a:r>
            <a:r>
              <a:rPr lang="ko-KR" altLang="en-US" sz="1000"/>
              <a:t>를</a:t>
            </a:r>
            <a:r>
              <a:rPr lang="en-US" altLang="ko-KR" sz="1000"/>
              <a:t>, exogenous </a:t>
            </a:r>
            <a:r>
              <a:rPr lang="ko-KR" altLang="en-US" sz="1000"/>
              <a:t>데이터에서 </a:t>
            </a:r>
            <a:r>
              <a:rPr lang="en-US" altLang="ko-KR" sz="1000"/>
              <a:t>key</a:t>
            </a:r>
            <a:r>
              <a:rPr lang="ko-KR" altLang="en-US" sz="1000"/>
              <a:t>와 </a:t>
            </a:r>
            <a:r>
              <a:rPr lang="en-US" altLang="ko-KR" sz="1000"/>
              <a:t>value</a:t>
            </a:r>
            <a:r>
              <a:rPr lang="ko-KR" altLang="en-US" sz="1000"/>
              <a:t> 정보 교환을 수행</a:t>
            </a:r>
            <a:endParaRPr lang="en-US" altLang="ko-KR" sz="1000"/>
          </a:p>
          <a:p>
            <a:r>
              <a:rPr lang="en-US" altLang="ko-KR" sz="1000"/>
              <a:t>  - </a:t>
            </a:r>
            <a:r>
              <a:rPr lang="ko-KR" altLang="en-US" sz="1000"/>
              <a:t>즉</a:t>
            </a:r>
            <a:r>
              <a:rPr lang="en-US" altLang="ko-KR" sz="1000"/>
              <a:t>, exogenous </a:t>
            </a:r>
            <a:r>
              <a:rPr lang="ko-KR" altLang="en-US" sz="1000"/>
              <a:t>데이터 중 </a:t>
            </a:r>
            <a:r>
              <a:rPr lang="en-US" altLang="ko-KR" sz="1000"/>
              <a:t>endogenous </a:t>
            </a:r>
            <a:r>
              <a:rPr lang="ko-KR" altLang="en-US" sz="1000"/>
              <a:t>예측에 중요한 부분을 학습하여 반영하는 것</a:t>
            </a:r>
            <a:endParaRPr lang="en-US" altLang="ko-KR" sz="1000"/>
          </a:p>
          <a:p>
            <a:endParaRPr lang="en-US" altLang="ko-KR" sz="1000"/>
          </a:p>
          <a:p>
            <a:r>
              <a:rPr lang="en-US" altLang="ko-KR" sz="1000"/>
              <a:t>2. </a:t>
            </a:r>
            <a:r>
              <a:rPr lang="ko-KR" altLang="en-US" sz="1000"/>
              <a:t>목적</a:t>
            </a:r>
            <a:endParaRPr lang="en-US" altLang="ko-KR" sz="1000"/>
          </a:p>
          <a:p>
            <a:r>
              <a:rPr lang="en-US" altLang="ko-KR" sz="1000"/>
              <a:t>  -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A9EB36-1886-4BC5-86B1-698BCED9AD12}"/>
              </a:ext>
            </a:extLst>
          </p:cNvPr>
          <p:cNvSpPr/>
          <p:nvPr/>
        </p:nvSpPr>
        <p:spPr>
          <a:xfrm>
            <a:off x="8243058" y="866491"/>
            <a:ext cx="1591408" cy="60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수정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C1D9EE-8478-4E2B-9846-7264ADC54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885" y="1770751"/>
            <a:ext cx="5493754" cy="4004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930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7298DA-3828-4505-BDB6-808ADAC19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792" y="-52536"/>
            <a:ext cx="5483139" cy="342900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5763E997-DF3B-48DB-B876-2D167517B3CA}"/>
              </a:ext>
            </a:extLst>
          </p:cNvPr>
          <p:cNvGrpSpPr/>
          <p:nvPr/>
        </p:nvGrpSpPr>
        <p:grpSpPr>
          <a:xfrm>
            <a:off x="158262" y="158262"/>
            <a:ext cx="5969977" cy="2238014"/>
            <a:chOff x="158262" y="158262"/>
            <a:chExt cx="5969977" cy="223801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5AA42E-8947-48FC-8159-9FF6677470F4}"/>
                </a:ext>
              </a:extLst>
            </p:cNvPr>
            <p:cNvSpPr txBox="1"/>
            <p:nvPr/>
          </p:nvSpPr>
          <p:spPr>
            <a:xfrm>
              <a:off x="227853" y="158262"/>
              <a:ext cx="31931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200"/>
                <a:t>내생변수 임베딩</a:t>
              </a:r>
              <a:r>
                <a:rPr lang="en-US" altLang="ko-KR" sz="1200"/>
                <a:t>(endogenous embedding)</a:t>
              </a:r>
              <a:endParaRPr lang="ko-KR" altLang="en-US" sz="12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C3782E-31C5-4AE6-9558-C654BFEACA27}"/>
                </a:ext>
              </a:extLst>
            </p:cNvPr>
            <p:cNvSpPr txBox="1"/>
            <p:nvPr/>
          </p:nvSpPr>
          <p:spPr>
            <a:xfrm>
              <a:off x="158262" y="457284"/>
              <a:ext cx="5969977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200"/>
                <a:t>기존 트랜스포머 모델들은 시간 토큰으로 변환후 </a:t>
              </a:r>
              <a:r>
                <a:rPr lang="en-US" altLang="ko-KR" sz="1200"/>
                <a:t>self-attention</a:t>
              </a:r>
              <a:r>
                <a:rPr lang="ko-KR" altLang="en-US" sz="1200"/>
                <a:t>에 적용하여 시간의존성 학습</a:t>
              </a:r>
              <a:endParaRPr lang="en-US" altLang="ko-KR" sz="1200"/>
            </a:p>
            <a:p>
              <a:pPr algn="l"/>
              <a:r>
                <a:rPr lang="en-US" altLang="ko-KR" sz="1200"/>
                <a:t>timexer</a:t>
              </a:r>
              <a:r>
                <a:rPr lang="ko-KR" altLang="en-US" sz="1200"/>
                <a:t>는 내생변수내의 시간적 변화를 정확히 예측하고자 패치를 사용하되 </a:t>
              </a:r>
              <a:r>
                <a:rPr lang="en-US" altLang="ko-KR" sz="1200"/>
                <a:t>non-overlap </a:t>
              </a:r>
              <a:r>
                <a:rPr lang="ko-KR" altLang="en-US" sz="1200"/>
                <a:t>겹치지 않게 사용한다</a:t>
              </a:r>
              <a:r>
                <a:rPr lang="en-US" altLang="ko-KR" sz="1200"/>
                <a:t>. </a:t>
              </a:r>
            </a:p>
            <a:p>
              <a:pPr algn="l"/>
              <a:r>
                <a:rPr lang="ko-KR" altLang="en-US" sz="1200"/>
                <a:t>앞에서 말했듯이 내생변수와 외생변수의 역할이 다르므로 서로 다르게 임베딩을 하기 때문에 직접적인 연결을 하면 정보 불일치 에러가 발생함</a:t>
              </a:r>
              <a:r>
                <a:rPr lang="en-US" altLang="ko-KR" sz="1200"/>
                <a:t>. </a:t>
              </a:r>
              <a:r>
                <a:rPr lang="ko-KR" altLang="en-US" sz="1200"/>
                <a:t>이를 위해 학습 가능한</a:t>
              </a:r>
              <a:r>
                <a:rPr lang="en-US" altLang="ko-KR" sz="1200"/>
                <a:t> global token</a:t>
              </a:r>
              <a:r>
                <a:rPr lang="ko-KR" altLang="en-US" sz="1200"/>
                <a:t>을 도입함</a:t>
              </a:r>
              <a:r>
                <a:rPr lang="en-US" altLang="ko-KR" sz="1200"/>
                <a:t>. </a:t>
              </a:r>
              <a:r>
                <a:rPr lang="ko-KR" altLang="en-US" sz="1200"/>
                <a:t>이는 내생변수 시간 패치로 인과정보를 전달하는데 도움을 줌</a:t>
              </a:r>
              <a:endParaRPr lang="en-US" altLang="ko-KR" sz="1200"/>
            </a:p>
            <a:p>
              <a:pPr algn="l"/>
              <a:r>
                <a:rPr lang="ko-KR" altLang="en-US" sz="1200"/>
                <a:t>결과적으로 내생변수의 임베딩에는 패치로 나뉜 토큰들과 학습가능한 </a:t>
              </a:r>
              <a:r>
                <a:rPr lang="en-US" altLang="ko-KR" sz="1200"/>
                <a:t>global token</a:t>
              </a:r>
              <a:r>
                <a:rPr lang="ko-KR" altLang="en-US" sz="1200"/>
                <a:t>을 임베딩한다</a:t>
              </a:r>
              <a:r>
                <a:rPr lang="en-US" altLang="ko-KR" sz="1200"/>
                <a:t>.</a:t>
              </a:r>
              <a:endParaRPr lang="ko-KR" altLang="en-US" sz="120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30A8355-6417-40B1-B321-B88E91539B5C}"/>
              </a:ext>
            </a:extLst>
          </p:cNvPr>
          <p:cNvGrpSpPr/>
          <p:nvPr/>
        </p:nvGrpSpPr>
        <p:grpSpPr>
          <a:xfrm>
            <a:off x="158262" y="2661944"/>
            <a:ext cx="5969977" cy="1130019"/>
            <a:chOff x="158262" y="158262"/>
            <a:chExt cx="5969977" cy="113001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2E6CDC-096F-40AB-ACE1-69B18FCC4F55}"/>
                </a:ext>
              </a:extLst>
            </p:cNvPr>
            <p:cNvSpPr txBox="1"/>
            <p:nvPr/>
          </p:nvSpPr>
          <p:spPr>
            <a:xfrm>
              <a:off x="158262" y="158262"/>
              <a:ext cx="37894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200"/>
                <a:t>외생변수 임베딩</a:t>
              </a:r>
              <a:r>
                <a:rPr lang="en-US" altLang="ko-KR" sz="1200"/>
                <a:t>(exogenous embedding)</a:t>
              </a:r>
              <a:endParaRPr lang="ko-KR" altLang="en-US" sz="12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F3E6722-7CE2-46BC-9CDC-A0E8E5906122}"/>
                </a:ext>
              </a:extLst>
            </p:cNvPr>
            <p:cNvSpPr txBox="1"/>
            <p:nvPr/>
          </p:nvSpPr>
          <p:spPr>
            <a:xfrm>
              <a:off x="158262" y="457284"/>
              <a:ext cx="596997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200"/>
                <a:t>외생변수는 내생 변수의 정확한 예측을 지원하는 역할임</a:t>
              </a:r>
              <a:r>
                <a:rPr lang="en-US" altLang="ko-KR" sz="1200"/>
                <a:t>.</a:t>
              </a:r>
            </a:p>
            <a:p>
              <a:pPr algn="l"/>
              <a:r>
                <a:rPr lang="ko-KR" altLang="en-US" sz="1200"/>
                <a:t>변수 간의 상호작용은 변수 수준의 표현을 통해 보다 자연스럽게 포착할 수 있으며</a:t>
              </a:r>
              <a:endParaRPr lang="en-US" altLang="ko-KR" sz="1200"/>
            </a:p>
            <a:p>
              <a:pPr algn="l"/>
              <a:r>
                <a:rPr lang="ko-KR" altLang="en-US" sz="1200"/>
                <a:t>결측값</a:t>
              </a:r>
              <a:r>
                <a:rPr lang="en-US" altLang="ko-KR" sz="1200"/>
                <a:t>, </a:t>
              </a:r>
              <a:r>
                <a:rPr lang="ko-KR" altLang="en-US" sz="1200"/>
                <a:t>시간 불일치</a:t>
              </a:r>
              <a:r>
                <a:rPr lang="en-US" altLang="ko-KR" sz="1200"/>
                <a:t>, </a:t>
              </a:r>
              <a:r>
                <a:rPr lang="ko-KR" altLang="en-US" sz="1200"/>
                <a:t>주파수 차이 등 과 같은 문제를 유연하게 처리할 수 있다</a:t>
              </a:r>
              <a:r>
                <a:rPr lang="en-US" altLang="ko-KR" sz="1200"/>
                <a:t>.</a:t>
              </a:r>
            </a:p>
            <a:p>
              <a:pPr algn="l"/>
              <a:r>
                <a:rPr lang="en-US" altLang="ko-KR" sz="1200"/>
                <a:t>=&gt; </a:t>
              </a:r>
              <a:r>
                <a:rPr lang="ko-KR" altLang="en-US" sz="1200"/>
                <a:t>전체적인 정보를 유지하는게 더 중요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498466-6C4A-407A-BF5C-272C3E6040EB}"/>
              </a:ext>
            </a:extLst>
          </p:cNvPr>
          <p:cNvGrpSpPr/>
          <p:nvPr/>
        </p:nvGrpSpPr>
        <p:grpSpPr>
          <a:xfrm>
            <a:off x="158262" y="4115605"/>
            <a:ext cx="5969977" cy="2792012"/>
            <a:chOff x="158262" y="158262"/>
            <a:chExt cx="5969977" cy="279201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11BA24-7B28-4BE1-B1FF-984B9E79A85F}"/>
                </a:ext>
              </a:extLst>
            </p:cNvPr>
            <p:cNvSpPr txBox="1"/>
            <p:nvPr/>
          </p:nvSpPr>
          <p:spPr>
            <a:xfrm>
              <a:off x="158262" y="158262"/>
              <a:ext cx="18024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200"/>
                <a:t>내생변수 </a:t>
              </a:r>
              <a:r>
                <a:rPr lang="en-US" altLang="ko-KR" sz="1200"/>
                <a:t>self-attention</a:t>
              </a:r>
              <a:endParaRPr lang="ko-KR" altLang="en-US" sz="12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B05FBF-455F-4B05-B9F7-47E0FCC98756}"/>
                </a:ext>
              </a:extLst>
            </p:cNvPr>
            <p:cNvSpPr txBox="1"/>
            <p:nvPr/>
          </p:nvSpPr>
          <p:spPr>
            <a:xfrm>
              <a:off x="158262" y="457284"/>
              <a:ext cx="5969977" cy="249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200"/>
                <a:t>정확한 시계열 예측을 위해 내생 변수 내의 본질적인 시간적 의존성 발견 중요</a:t>
              </a:r>
              <a:endParaRPr lang="en-US" altLang="ko-KR" sz="1200"/>
            </a:p>
            <a:p>
              <a:pPr algn="l"/>
              <a:r>
                <a:rPr lang="ko-KR" altLang="en-US" sz="1200"/>
                <a:t>외생 변수의 변수 수준 표현과의 상호작용도 고려</a:t>
              </a:r>
              <a:endParaRPr lang="en-US" altLang="ko-KR" sz="1200"/>
            </a:p>
            <a:p>
              <a:pPr algn="l"/>
              <a:r>
                <a:rPr lang="ko-KR" altLang="en-US" sz="1200"/>
                <a:t>내생 변수의 시간 패치 간 </a:t>
              </a:r>
              <a:r>
                <a:rPr lang="en-US" altLang="ko-KR" sz="1200"/>
                <a:t>self-attenion</a:t>
              </a:r>
              <a:r>
                <a:rPr lang="ko-KR" altLang="en-US" sz="1200"/>
                <a:t>뿐만 아니라 학습 가능한 </a:t>
              </a:r>
              <a:r>
                <a:rPr lang="en-US" altLang="ko-KR" sz="1200"/>
                <a:t>global token</a:t>
              </a:r>
              <a:r>
                <a:rPr lang="ko-KR" altLang="en-US" sz="1200"/>
                <a:t>이 내생 변수와 외생 변수 간의 연결 다리 역할을 한다</a:t>
              </a:r>
              <a:r>
                <a:rPr lang="en-US" altLang="ko-KR" sz="1200"/>
                <a:t>.</a:t>
              </a:r>
            </a:p>
            <a:p>
              <a:pPr algn="l"/>
              <a:endParaRPr lang="en-US" altLang="ko-KR" sz="1200"/>
            </a:p>
            <a:p>
              <a:pPr algn="l"/>
              <a:r>
                <a:rPr lang="en-US" altLang="ko-KR" sz="1200"/>
                <a:t>global token </a:t>
              </a:r>
              <a:r>
                <a:rPr lang="ko-KR" altLang="en-US" sz="1200"/>
                <a:t>역할</a:t>
              </a:r>
              <a:endParaRPr lang="en-US" altLang="ko-KR" sz="1200"/>
            </a:p>
            <a:p>
              <a:pPr algn="l"/>
              <a:r>
                <a:rPr lang="en-US" altLang="ko-KR" sz="1200"/>
                <a:t>global token</a:t>
              </a:r>
              <a:r>
                <a:rPr lang="ko-KR" altLang="en-US" sz="1200"/>
                <a:t>은 </a:t>
              </a:r>
              <a:r>
                <a:rPr lang="en-US" altLang="ko-KR" sz="1200"/>
                <a:t>cross-attention</a:t>
              </a:r>
              <a:r>
                <a:rPr lang="ko-KR" altLang="en-US" sz="1200"/>
                <a:t>에서 비대칭적인</a:t>
              </a:r>
              <a:r>
                <a:rPr lang="en-US" altLang="ko-KR" sz="1200"/>
                <a:t>? </a:t>
              </a:r>
              <a:r>
                <a:rPr lang="ko-KR" altLang="en-US" sz="1200"/>
                <a:t>역할을 수행</a:t>
              </a:r>
              <a:endParaRPr lang="en-US" altLang="ko-KR" sz="1200"/>
            </a:p>
            <a:p>
              <a:pPr marL="228600" indent="-228600" algn="l">
                <a:buAutoNum type="arabicPeriod"/>
              </a:pPr>
              <a:r>
                <a:rPr lang="en-US" altLang="ko-KR" sz="1200"/>
                <a:t>patch-to-global : global token</a:t>
              </a:r>
              <a:r>
                <a:rPr lang="ko-KR" altLang="en-US" sz="1200"/>
                <a:t>은 시간 패치 토큰에 주목</a:t>
              </a:r>
              <a:r>
                <a:rPr lang="en-US" altLang="ko-KR" sz="1200"/>
                <a:t>, </a:t>
              </a:r>
              <a:r>
                <a:rPr lang="ko-KR" altLang="en-US" sz="1200"/>
                <a:t>시계열 전체에서 패치 단위 정보 집계</a:t>
              </a:r>
              <a:endParaRPr lang="en-US" altLang="ko-KR" sz="1200"/>
            </a:p>
            <a:p>
              <a:pPr marL="228600" indent="-228600" algn="l">
                <a:buAutoNum type="arabicPeriod"/>
              </a:pPr>
              <a:r>
                <a:rPr lang="en-US" altLang="ko-KR" sz="1200"/>
                <a:t>global-to-patch : </a:t>
              </a:r>
              <a:r>
                <a:rPr lang="ko-KR" altLang="en-US" sz="1200"/>
                <a:t>각 시간 패치 토큰은 </a:t>
              </a:r>
              <a:r>
                <a:rPr lang="en-US" altLang="ko-KR" sz="1200"/>
                <a:t>global token</a:t>
              </a:r>
              <a:r>
                <a:rPr lang="ko-KR" altLang="en-US" sz="1200"/>
                <a:t>을 주목하여 변수 수준의 상관관계 학습</a:t>
              </a:r>
              <a:endParaRPr lang="en-US" altLang="ko-KR" sz="1200"/>
            </a:p>
            <a:p>
              <a:pPr algn="l"/>
              <a:r>
                <a:rPr lang="ko-KR" altLang="en-US" sz="1200"/>
                <a:t>이러한 구조는 내생 변수 내의 시간적 의존성을 종합적으로 학습하고 불규칙한 외생 변수들과의 상호작용을 효과적으로 수행할 수 있도록함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BDB5E6-B005-43D2-81C0-47F1828E656D}"/>
                  </a:ext>
                </a:extLst>
              </p:cNvPr>
              <p:cNvSpPr txBox="1"/>
              <p:nvPr/>
            </p:nvSpPr>
            <p:spPr>
              <a:xfrm>
                <a:off x="6330792" y="3431478"/>
                <a:ext cx="5580184" cy="3604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 algn="l">
                  <a:buAutoNum type="arabicPeriod"/>
                </a:pPr>
                <a:r>
                  <a:rPr lang="ko-KR" altLang="en-US" sz="1200"/>
                  <a:t>내생변수는 일정한 길이의 패치로 변환하고 글로벌 토큰을 생성하여 전체 시계열 정보를 학습하고 외생변수는 개별 변수 수준의 토큰으로 변환되어 내생 변수의 보조 정보로 활용하여 임베딩</a:t>
                </a:r>
                <a:endParaRPr lang="en-US" altLang="ko-KR" sz="1200"/>
              </a:p>
              <a:p>
                <a:pPr marL="228600" indent="-228600" algn="l">
                  <a:buAutoNum type="arabicPeriod"/>
                </a:pPr>
                <a:r>
                  <a:rPr lang="ko-KR" altLang="en-US" sz="1200"/>
                  <a:t>내생 변수의 패치 단위 토큰과 글로벌 토큰을 함께 </a:t>
                </a:r>
                <a:r>
                  <a:rPr lang="en-US" altLang="ko-KR" sz="1200"/>
                  <a:t>self-attention</a:t>
                </a:r>
                <a:r>
                  <a:rPr lang="ko-KR" altLang="en-US" sz="1200"/>
                  <a:t>에 입력하여</a:t>
                </a:r>
                <a:r>
                  <a:rPr lang="en-US" altLang="ko-KR" sz="1200"/>
                  <a:t>, </a:t>
                </a:r>
                <a:r>
                  <a:rPr lang="ko-KR" altLang="en-US" sz="1200"/>
                  <a:t>시간적 의존성을 학습하고 </a:t>
                </a:r>
                <a:r>
                  <a:rPr lang="en-US" altLang="ko-KR" sz="1200"/>
                  <a:t>layer norm</a:t>
                </a:r>
                <a:r>
                  <a:rPr lang="ko-KR" altLang="en-US" sz="1200"/>
                  <a:t>을 적용하여 데이터 분포를 정규화하고 학습을 안정화함</a:t>
                </a:r>
                <a:r>
                  <a:rPr lang="en-US" altLang="ko-KR" sz="1200"/>
                  <a:t>.</a:t>
                </a:r>
              </a:p>
              <a:p>
                <a:pPr marL="228600" indent="-228600" algn="l">
                  <a:buAutoNum type="arabicPeriod"/>
                </a:pPr>
                <a:r>
                  <a:rPr lang="ko-KR" altLang="en-US" sz="1200"/>
                  <a:t>내생변수를 </a:t>
                </a:r>
                <a:r>
                  <a:rPr lang="en-US" altLang="ko-KR" sz="1200"/>
                  <a:t>query</a:t>
                </a:r>
                <a:r>
                  <a:rPr lang="ko-KR" altLang="en-US" sz="1200"/>
                  <a:t>로</a:t>
                </a:r>
                <a:r>
                  <a:rPr lang="en-US" altLang="ko-KR" sz="1200"/>
                  <a:t>, </a:t>
                </a:r>
                <a:r>
                  <a:rPr lang="ko-KR" altLang="en-US" sz="1200"/>
                  <a:t>외생변수를 </a:t>
                </a:r>
                <a:r>
                  <a:rPr lang="en-US" altLang="ko-KR" sz="1200"/>
                  <a:t>key, value</a:t>
                </a:r>
                <a:r>
                  <a:rPr lang="ko-KR" altLang="en-US" sz="1200"/>
                  <a:t>로 사용하여 두 변수 유형간의 연결을 구축</a:t>
                </a:r>
                <a:br>
                  <a:rPr lang="en-US" altLang="ko-KR" sz="1200"/>
                </a:br>
                <a:r>
                  <a:rPr lang="en-US" altLang="ko-KR" sz="1200"/>
                  <a:t>-&gt; </a:t>
                </a:r>
                <a:r>
                  <a:rPr lang="ko-KR" altLang="en-US" sz="1200"/>
                  <a:t>외생변수는 변수 수준 토큰으로 임베딩</a:t>
                </a:r>
                <a:r>
                  <a:rPr lang="en-US" altLang="ko-KR" sz="1200"/>
                  <a:t>, </a:t>
                </a:r>
                <a:r>
                  <a:rPr lang="ko-KR" altLang="en-US" sz="1200"/>
                  <a:t>내생변수의 학습된 글로벌 토큰을 사용하여 외생 변수의 정보를 집계함</a:t>
                </a:r>
                <a:r>
                  <a:rPr lang="en-US" altLang="ko-KR" sz="1200"/>
                  <a:t>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𝐿𝑎𝑦𝑒𝑟𝑁𝑜𝑟𝑚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𝐶𝑟𝑜𝑠𝑠𝐴𝑡𝑡𝑒𝑛𝑡𝑖𝑜𝑛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𝑒𝑥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200"/>
              </a:p>
              <a:p>
                <a:pPr algn="l"/>
                <a:r>
                  <a:rPr lang="en-US" altLang="ko-KR" sz="1200"/>
                  <a:t>4. layerNorm </a:t>
                </a:r>
                <a:r>
                  <a:rPr lang="ko-KR" altLang="en-US" sz="1200"/>
                  <a:t>적용</a:t>
                </a:r>
                <a:endParaRPr lang="en-US" altLang="ko-KR" sz="1200"/>
              </a:p>
              <a:p>
                <a:pPr algn="l"/>
                <a:r>
                  <a:rPr lang="en-US" altLang="ko-KR" sz="1200">
                    <a:solidFill>
                      <a:srgbClr val="FF0000"/>
                    </a:solidFill>
                  </a:rPr>
                  <a:t>- Gradient vanishing </a:t>
                </a:r>
                <a:r>
                  <a:rPr lang="ko-KR" altLang="en-US" sz="1200">
                    <a:solidFill>
                      <a:srgbClr val="FF0000"/>
                    </a:solidFill>
                  </a:rPr>
                  <a:t>문제 해결과 각 </a:t>
                </a:r>
                <a:r>
                  <a:rPr lang="en-US" altLang="ko-KR" sz="1200">
                    <a:solidFill>
                      <a:srgbClr val="FF0000"/>
                    </a:solidFill>
                  </a:rPr>
                  <a:t>layer</a:t>
                </a:r>
                <a:r>
                  <a:rPr lang="ko-KR" altLang="en-US" sz="1200">
                    <a:solidFill>
                      <a:srgbClr val="FF0000"/>
                    </a:solidFill>
                  </a:rPr>
                  <a:t>에서 데이터의 분포를 정규화하여 학습을 안정화할 수 있음</a:t>
                </a:r>
                <a:endParaRPr lang="en-US" altLang="ko-KR" sz="1200">
                  <a:solidFill>
                    <a:srgbClr val="FF0000"/>
                  </a:solidFill>
                </a:endParaRPr>
              </a:p>
              <a:p>
                <a:pPr algn="l"/>
                <a:r>
                  <a:rPr lang="en-US" altLang="ko-KR" sz="1200"/>
                  <a:t>5. Feed-Forward layer </a:t>
                </a:r>
                <a:r>
                  <a:rPr lang="ko-KR" altLang="en-US" sz="1200"/>
                  <a:t>적용 </a:t>
                </a:r>
                <a:r>
                  <a:rPr lang="en-US" altLang="ko-KR" sz="1200"/>
                  <a:t>– </a:t>
                </a:r>
                <a:r>
                  <a:rPr lang="ko-KR" altLang="en-US" sz="1200"/>
                  <a:t>최적화된 토큰 출력</a:t>
                </a:r>
                <a:endParaRPr lang="en-US" altLang="ko-KR" sz="1200"/>
              </a:p>
              <a:p>
                <a:pPr algn="l"/>
                <a:r>
                  <a:rPr lang="en-US" altLang="ko-KR" sz="1200"/>
                  <a:t>6. </a:t>
                </a:r>
                <a:r>
                  <a:rPr lang="en-US" altLang="ko-KR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TimeXer</a:t>
                </a:r>
                <a:r>
                  <a:rPr lang="ko-KR" altLang="en-US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는 </a:t>
                </a:r>
                <a:r>
                  <a:rPr lang="en-US" altLang="ko-KR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Transformer</a:t>
                </a:r>
                <a:r>
                  <a:rPr lang="ko-KR" altLang="en-US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와 유사하게 </a:t>
                </a:r>
                <a:r>
                  <a:rPr lang="en-US" altLang="ko-KR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L</a:t>
                </a:r>
                <a:r>
                  <a:rPr lang="ko-KR" altLang="en-US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개의 블록을 반복 수행하며</a:t>
                </a:r>
                <a:r>
                  <a:rPr lang="en-US" altLang="ko-KR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, </a:t>
                </a:r>
                <a:r>
                  <a:rPr lang="ko-KR" altLang="en-US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각 블록에서 </a:t>
                </a:r>
                <a:r>
                  <a:rPr lang="en-US" altLang="ko-KR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Self-Attention</a:t>
                </a:r>
                <a:r>
                  <a:rPr lang="ko-KR" altLang="en-US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과 </a:t>
                </a:r>
                <a:r>
                  <a:rPr lang="en-US" altLang="ko-KR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Cross-Attention</a:t>
                </a:r>
                <a:r>
                  <a:rPr lang="ko-KR" altLang="en-US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을 통해 정보를 점진적으로 최적화함</a:t>
                </a:r>
                <a:r>
                  <a:rPr lang="en-US" altLang="ko-KR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.</a:t>
                </a:r>
                <a:br>
                  <a:rPr lang="ko-KR" altLang="en-US" sz="1200"/>
                </a:br>
                <a:r>
                  <a:rPr lang="ko-KR" altLang="en-US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이를 통해</a:t>
                </a:r>
                <a:r>
                  <a:rPr lang="en-US" altLang="ko-KR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, </a:t>
                </a:r>
                <a:r>
                  <a:rPr lang="ko-KR" altLang="en-US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내생 변수의 시간적 패턴을 학습하고</a:t>
                </a:r>
                <a:r>
                  <a:rPr lang="en-US" altLang="ko-KR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, </a:t>
                </a:r>
                <a:r>
                  <a:rPr lang="ko-KR" altLang="en-US" sz="1200" b="0" i="0">
                    <a:solidFill>
                      <a:srgbClr val="0D0D0D"/>
                    </a:solidFill>
                    <a:effectLst/>
                    <a:latin typeface="ui-sans-serif"/>
                  </a:rPr>
                  <a:t>외생 변수의 보조 정보까지 효과적으로 반영할 수 있도록 설계됨</a:t>
                </a:r>
                <a:endParaRPr lang="ko-KR" altLang="en-US" sz="120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BDB5E6-B005-43D2-81C0-47F1828E6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792" y="3431478"/>
                <a:ext cx="5580184" cy="3604320"/>
              </a:xfrm>
              <a:prstGeom prst="rect">
                <a:avLst/>
              </a:prstGeom>
              <a:blipFill>
                <a:blip r:embed="rId3"/>
                <a:stretch>
                  <a:fillRect l="-219" t="-508" b="-1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920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FC0F4-9F8D-48C7-B7DB-CA24F457808A}"/>
              </a:ext>
            </a:extLst>
          </p:cNvPr>
          <p:cNvSpPr txBox="1"/>
          <p:nvPr/>
        </p:nvSpPr>
        <p:spPr>
          <a:xfrm>
            <a:off x="334107" y="166471"/>
            <a:ext cx="289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/>
              <a:t>3. </a:t>
            </a:r>
            <a:r>
              <a:rPr lang="ko-KR" altLang="en-US" b="1"/>
              <a:t>실험 결과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23AE047-251D-4613-8941-DACF688AE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88" y="641566"/>
            <a:ext cx="4368905" cy="15820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E0E4A7-4D3C-4A9D-AD25-88C012EFD8BC}"/>
              </a:ext>
            </a:extLst>
          </p:cNvPr>
          <p:cNvSpPr txBox="1"/>
          <p:nvPr/>
        </p:nvSpPr>
        <p:spPr>
          <a:xfrm>
            <a:off x="5539154" y="848462"/>
            <a:ext cx="3745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/>
              <a:t>입력길이 </a:t>
            </a:r>
            <a:r>
              <a:rPr lang="en-US" altLang="ko-KR" sz="1200"/>
              <a:t>168</a:t>
            </a:r>
            <a:r>
              <a:rPr lang="ko-KR" altLang="en-US" sz="1200"/>
              <a:t>개의 데이터를 입력받아</a:t>
            </a:r>
            <a:r>
              <a:rPr lang="en-US" altLang="ko-KR" sz="1200"/>
              <a:t>. 24</a:t>
            </a:r>
            <a:r>
              <a:rPr lang="ko-KR" altLang="en-US" sz="1200"/>
              <a:t>개의 미래값을 예측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BF2BB79-4A8E-4907-A392-B57F5A417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89" y="2726406"/>
            <a:ext cx="4420924" cy="17900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76EE3A1-1B70-4EBC-9E35-2EE7BD415EA2}"/>
              </a:ext>
            </a:extLst>
          </p:cNvPr>
          <p:cNvSpPr txBox="1"/>
          <p:nvPr/>
        </p:nvSpPr>
        <p:spPr>
          <a:xfrm>
            <a:off x="5539154" y="2826734"/>
            <a:ext cx="3745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/>
              <a:t>입력길이 </a:t>
            </a:r>
            <a:r>
              <a:rPr lang="en-US" altLang="ko-KR" sz="1200"/>
              <a:t>96</a:t>
            </a:r>
            <a:r>
              <a:rPr lang="ko-KR" altLang="en-US" sz="1200"/>
              <a:t>개의 데이터를 입력받아</a:t>
            </a:r>
            <a:r>
              <a:rPr lang="en-US" altLang="ko-KR" sz="1200"/>
              <a:t>. 96, 192, 336, 720</a:t>
            </a:r>
            <a:r>
              <a:rPr lang="ko-KR" altLang="en-US" sz="1200"/>
              <a:t>개의 미래값을 예측하여 평균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0DCBE9E-5DDF-419F-95B6-DEB00CB4D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14" y="5036110"/>
            <a:ext cx="4449864" cy="16066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F2DA0F8-F95B-43C2-86DC-DF8BA3ACC06E}"/>
              </a:ext>
            </a:extLst>
          </p:cNvPr>
          <p:cNvSpPr txBox="1"/>
          <p:nvPr/>
        </p:nvSpPr>
        <p:spPr>
          <a:xfrm>
            <a:off x="5269523" y="4722851"/>
            <a:ext cx="54305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/>
              <a:t>ours : Timexer</a:t>
            </a:r>
          </a:p>
          <a:p>
            <a:pPr algn="l"/>
            <a:r>
              <a:rPr lang="en-US" altLang="ko-KR" sz="1200"/>
              <a:t>Replace : </a:t>
            </a:r>
            <a:r>
              <a:rPr lang="ko-KR" altLang="en-US" sz="1200"/>
              <a:t>외생변수 </a:t>
            </a:r>
            <a:r>
              <a:rPr lang="en-US" altLang="ko-KR" sz="1200"/>
              <a:t>Variate token</a:t>
            </a:r>
            <a:r>
              <a:rPr lang="ko-KR" altLang="en-US" sz="1200"/>
              <a:t>을 </a:t>
            </a:r>
            <a:r>
              <a:rPr lang="en-US" altLang="ko-KR" sz="1200"/>
              <a:t>patch token</a:t>
            </a:r>
            <a:r>
              <a:rPr lang="ko-KR" altLang="en-US" sz="1200"/>
              <a:t>으로 사용</a:t>
            </a:r>
            <a:endParaRPr lang="en-US" altLang="ko-KR" sz="1200"/>
          </a:p>
          <a:p>
            <a:pPr algn="l"/>
            <a:r>
              <a:rPr lang="en-US" altLang="ko-KR" sz="1200"/>
              <a:t>Remove : </a:t>
            </a:r>
            <a:r>
              <a:rPr lang="ko-KR" altLang="en-US" sz="1200"/>
              <a:t>내생변수 </a:t>
            </a:r>
            <a:r>
              <a:rPr lang="en-US" altLang="ko-KR" sz="1200"/>
              <a:t>Patch token</a:t>
            </a:r>
            <a:r>
              <a:rPr lang="ko-KR" altLang="en-US" sz="1200"/>
              <a:t>과 </a:t>
            </a:r>
            <a:r>
              <a:rPr lang="en-US" altLang="ko-KR" sz="1200"/>
              <a:t>global token</a:t>
            </a:r>
            <a:r>
              <a:rPr lang="ko-KR" altLang="en-US" sz="1200"/>
              <a:t>에서 </a:t>
            </a:r>
            <a:r>
              <a:rPr lang="en-US" altLang="ko-KR" sz="1200"/>
              <a:t>patch token</a:t>
            </a:r>
            <a:r>
              <a:rPr lang="ko-KR" altLang="en-US" sz="1200"/>
              <a:t>만을 사용</a:t>
            </a:r>
            <a:endParaRPr lang="en-US" altLang="ko-KR" sz="1200"/>
          </a:p>
          <a:p>
            <a:pPr algn="l"/>
            <a:r>
              <a:rPr lang="en-US" altLang="ko-KR" sz="1200"/>
              <a:t>Add : cross-attention</a:t>
            </a:r>
            <a:r>
              <a:rPr lang="ko-KR" altLang="en-US" sz="1200"/>
              <a:t>을 사용하지 않고 내생변수에 외생 변수 </a:t>
            </a:r>
            <a:r>
              <a:rPr lang="en-US" altLang="ko-KR" sz="1200"/>
              <a:t>variate token</a:t>
            </a:r>
            <a:r>
              <a:rPr lang="ko-KR" altLang="en-US" sz="1200"/>
              <a:t>을 직접 추가</a:t>
            </a:r>
            <a:br>
              <a:rPr lang="en-US" altLang="ko-KR" sz="1200"/>
            </a:br>
            <a:r>
              <a:rPr lang="en-US" altLang="ko-KR" sz="1200"/>
              <a:t>=&gt; </a:t>
            </a:r>
            <a:r>
              <a:rPr lang="ko-KR" altLang="en-US" sz="1200"/>
              <a:t>내생 변수 예측에 필요하지 않은 정보 포함되어 성능이 떨어질것으로 예상</a:t>
            </a:r>
            <a:endParaRPr lang="en-US" altLang="ko-KR" sz="1200"/>
          </a:p>
          <a:p>
            <a:pPr algn="l"/>
            <a:r>
              <a:rPr lang="en-US" altLang="ko-KR" sz="1200"/>
              <a:t>concate : cross-attention </a:t>
            </a:r>
            <a:r>
              <a:rPr lang="ko-KR" altLang="en-US" sz="1200"/>
              <a:t>사용하지 않고 내생변수에 외생 변수 </a:t>
            </a:r>
            <a:r>
              <a:rPr lang="en-US" altLang="ko-KR" sz="1200"/>
              <a:t>variate token</a:t>
            </a:r>
            <a:r>
              <a:rPr lang="ko-KR" altLang="en-US" sz="1200"/>
              <a:t>을 이어붙임</a:t>
            </a:r>
          </a:p>
        </p:txBody>
      </p:sp>
    </p:spTree>
    <p:extLst>
      <p:ext uri="{BB962C8B-B14F-4D97-AF65-F5344CB8AC3E}">
        <p14:creationId xmlns:p14="http://schemas.microsoft.com/office/powerpoint/2010/main" val="311768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E9F693-5E86-4197-914A-6042F268E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0" y="237544"/>
            <a:ext cx="5169005" cy="18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3B14DF-BD77-4C25-AD98-E9036F52BA95}"/>
              </a:ext>
            </a:extLst>
          </p:cNvPr>
          <p:cNvSpPr txBox="1"/>
          <p:nvPr/>
        </p:nvSpPr>
        <p:spPr>
          <a:xfrm>
            <a:off x="5433646" y="606669"/>
            <a:ext cx="44313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/>
              <a:t>입력길이 </a:t>
            </a:r>
            <a:r>
              <a:rPr lang="en-US" altLang="ko-KR" sz="1200"/>
              <a:t>168</a:t>
            </a:r>
            <a:r>
              <a:rPr lang="ko-KR" altLang="en-US" sz="1200"/>
              <a:t>개의 데이터를 입력받아</a:t>
            </a:r>
            <a:r>
              <a:rPr lang="en-US" altLang="ko-KR" sz="1200"/>
              <a:t>. 24</a:t>
            </a:r>
            <a:r>
              <a:rPr lang="ko-KR" altLang="en-US" sz="1200"/>
              <a:t>개의 미래값을 예측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C92845-E637-439D-8BA7-B9812B73E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80" y="2284293"/>
            <a:ext cx="5230551" cy="21178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B4C2B0-8332-4FF2-B299-6943726876AF}"/>
              </a:ext>
            </a:extLst>
          </p:cNvPr>
          <p:cNvSpPr txBox="1"/>
          <p:nvPr/>
        </p:nvSpPr>
        <p:spPr>
          <a:xfrm>
            <a:off x="5433646" y="2499946"/>
            <a:ext cx="443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/>
              <a:t>입력길이 </a:t>
            </a:r>
            <a:r>
              <a:rPr lang="en-US" altLang="ko-KR" sz="1200"/>
              <a:t>96</a:t>
            </a:r>
            <a:r>
              <a:rPr lang="ko-KR" altLang="en-US" sz="1200"/>
              <a:t>개의 데이터를 입력받아</a:t>
            </a:r>
            <a:r>
              <a:rPr lang="en-US" altLang="ko-KR" sz="1200"/>
              <a:t>. 96, 192, 336, 720</a:t>
            </a:r>
            <a:r>
              <a:rPr lang="ko-KR" altLang="en-US" sz="1200"/>
              <a:t>개의 미래값을 예측하여 평균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73248D-0C2B-4EE6-BD71-86DFAB911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05" y="4627582"/>
            <a:ext cx="5264791" cy="19008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681C0C-E049-4453-9938-96E8ABC13421}"/>
              </a:ext>
            </a:extLst>
          </p:cNvPr>
          <p:cNvSpPr txBox="1"/>
          <p:nvPr/>
        </p:nvSpPr>
        <p:spPr>
          <a:xfrm>
            <a:off x="5559669" y="4627582"/>
            <a:ext cx="64250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/>
              <a:t>ours : Timexer</a:t>
            </a:r>
          </a:p>
          <a:p>
            <a:pPr algn="l"/>
            <a:r>
              <a:rPr lang="en-US" altLang="ko-KR" sz="1200"/>
              <a:t>Replace : </a:t>
            </a:r>
            <a:r>
              <a:rPr lang="ko-KR" altLang="en-US" sz="1200"/>
              <a:t>외생변수 </a:t>
            </a:r>
            <a:r>
              <a:rPr lang="en-US" altLang="ko-KR" sz="1200"/>
              <a:t>Variate token</a:t>
            </a:r>
            <a:r>
              <a:rPr lang="ko-KR" altLang="en-US" sz="1200"/>
              <a:t>을 </a:t>
            </a:r>
            <a:r>
              <a:rPr lang="en-US" altLang="ko-KR" sz="1200"/>
              <a:t>patch token</a:t>
            </a:r>
            <a:r>
              <a:rPr lang="ko-KR" altLang="en-US" sz="1200"/>
              <a:t>으로 사용</a:t>
            </a:r>
            <a:endParaRPr lang="en-US" altLang="ko-KR" sz="1200"/>
          </a:p>
          <a:p>
            <a:pPr algn="l"/>
            <a:r>
              <a:rPr lang="en-US" altLang="ko-KR" sz="1200"/>
              <a:t>Remove : </a:t>
            </a:r>
            <a:r>
              <a:rPr lang="ko-KR" altLang="en-US" sz="1200"/>
              <a:t>내생변수 </a:t>
            </a:r>
            <a:r>
              <a:rPr lang="en-US" altLang="ko-KR" sz="1200"/>
              <a:t>Patch token</a:t>
            </a:r>
            <a:r>
              <a:rPr lang="ko-KR" altLang="en-US" sz="1200"/>
              <a:t>과 </a:t>
            </a:r>
            <a:r>
              <a:rPr lang="en-US" altLang="ko-KR" sz="1200"/>
              <a:t>global token</a:t>
            </a:r>
            <a:r>
              <a:rPr lang="ko-KR" altLang="en-US" sz="1200"/>
              <a:t>에서 </a:t>
            </a:r>
            <a:r>
              <a:rPr lang="en-US" altLang="ko-KR" sz="1200"/>
              <a:t>patch token</a:t>
            </a:r>
            <a:r>
              <a:rPr lang="ko-KR" altLang="en-US" sz="1200"/>
              <a:t>만을 사용</a:t>
            </a:r>
            <a:endParaRPr lang="en-US" altLang="ko-KR" sz="1200"/>
          </a:p>
          <a:p>
            <a:pPr algn="l"/>
            <a:r>
              <a:rPr lang="en-US" altLang="ko-KR" sz="1200"/>
              <a:t>Add : cross-attention</a:t>
            </a:r>
            <a:r>
              <a:rPr lang="ko-KR" altLang="en-US" sz="1200"/>
              <a:t>을 사용하지 않고 내생변수에 외생 변수 </a:t>
            </a:r>
            <a:r>
              <a:rPr lang="en-US" altLang="ko-KR" sz="1200"/>
              <a:t>variate token</a:t>
            </a:r>
            <a:r>
              <a:rPr lang="ko-KR" altLang="en-US" sz="1200"/>
              <a:t>을 직접 추가</a:t>
            </a:r>
            <a:br>
              <a:rPr lang="en-US" altLang="ko-KR" sz="1200"/>
            </a:br>
            <a:r>
              <a:rPr lang="en-US" altLang="ko-KR" sz="1200"/>
              <a:t>=&gt; </a:t>
            </a:r>
            <a:r>
              <a:rPr lang="ko-KR" altLang="en-US" sz="1200"/>
              <a:t>내생 변수 예측에 필요하지 않은 정보 포함되어 성능이 떨어질것으로 예상</a:t>
            </a:r>
            <a:endParaRPr lang="en-US" altLang="ko-KR" sz="1200"/>
          </a:p>
          <a:p>
            <a:pPr algn="l"/>
            <a:r>
              <a:rPr lang="en-US" altLang="ko-KR" sz="1200"/>
              <a:t>concate : cross-attention </a:t>
            </a:r>
            <a:r>
              <a:rPr lang="ko-KR" altLang="en-US" sz="1200"/>
              <a:t>사용하지 않고 내생변수에 외생 변수 </a:t>
            </a:r>
            <a:r>
              <a:rPr lang="en-US" altLang="ko-KR" sz="1200"/>
              <a:t>variate token</a:t>
            </a:r>
            <a:r>
              <a:rPr lang="ko-KR" altLang="en-US" sz="1200"/>
              <a:t>을 이어붙임</a:t>
            </a:r>
          </a:p>
        </p:txBody>
      </p:sp>
    </p:spTree>
    <p:extLst>
      <p:ext uri="{BB962C8B-B14F-4D97-AF65-F5344CB8AC3E}">
        <p14:creationId xmlns:p14="http://schemas.microsoft.com/office/powerpoint/2010/main" val="1394194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16DA85-7F52-4797-BCF9-A7A19EBE1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91"/>
            <a:ext cx="6124182" cy="18032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061B3F-31F7-420B-BE21-5F41217C78A3}"/>
              </a:ext>
            </a:extLst>
          </p:cNvPr>
          <p:cNvSpPr txBox="1"/>
          <p:nvPr/>
        </p:nvSpPr>
        <p:spPr>
          <a:xfrm>
            <a:off x="6541477" y="153291"/>
            <a:ext cx="5354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/>
              <a:t>외생변수와 내생 변수의 입력 길이를 같이 늘리는것이 효과적</a:t>
            </a:r>
            <a:r>
              <a:rPr lang="en-US" altLang="ko-KR" sz="1200"/>
              <a:t>.</a:t>
            </a:r>
          </a:p>
          <a:p>
            <a:pPr algn="l"/>
            <a:r>
              <a:rPr lang="ko-KR" altLang="en-US" sz="1200"/>
              <a:t>하지만</a:t>
            </a:r>
            <a:r>
              <a:rPr lang="en-US" altLang="ko-KR" sz="1200"/>
              <a:t>, </a:t>
            </a:r>
            <a:r>
              <a:rPr lang="ko-KR" altLang="en-US" sz="1200"/>
              <a:t>지나치게 길면 어텐션이 분산되어 중요한 정보에 집중하기 어려움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D8F933-3327-4808-ABE2-078238D41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9" y="2096433"/>
            <a:ext cx="5994151" cy="22478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516B6B-3818-41BB-B8D9-FCEE403EA7E3}"/>
              </a:ext>
            </a:extLst>
          </p:cNvPr>
          <p:cNvSpPr txBox="1"/>
          <p:nvPr/>
        </p:nvSpPr>
        <p:spPr>
          <a:xfrm>
            <a:off x="6251331" y="2096433"/>
            <a:ext cx="5530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/>
              <a:t>내생변수 </a:t>
            </a:r>
            <a:r>
              <a:rPr lang="en-US" altLang="ko-KR" sz="1200"/>
              <a:t>co2</a:t>
            </a:r>
            <a:r>
              <a:rPr lang="ko-KR" altLang="en-US" sz="1200"/>
              <a:t>와 강한 상관관계를 가지고 있는것을 확인하려면 </a:t>
            </a:r>
            <a:r>
              <a:rPr lang="en-US" altLang="ko-KR" sz="1200"/>
              <a:t>attention </a:t>
            </a:r>
            <a:r>
              <a:rPr lang="ko-KR" altLang="en-US" sz="1200"/>
              <a:t>맵에서 색깔이 강한 부분을 확인한다</a:t>
            </a:r>
            <a:r>
              <a:rPr lang="en-US" altLang="ko-KR" sz="1200"/>
              <a:t>.</a:t>
            </a:r>
          </a:p>
          <a:p>
            <a:pPr algn="l"/>
            <a:r>
              <a:rPr lang="ko-KR" altLang="en-US" sz="1200"/>
              <a:t>노란색의 </a:t>
            </a:r>
            <a:r>
              <a:rPr lang="en-US" altLang="ko-KR" sz="1200"/>
              <a:t>attention</a:t>
            </a:r>
            <a:r>
              <a:rPr lang="ko-KR" altLang="en-US" sz="1200"/>
              <a:t>맵은 외생변수 공기밀도이며 비슷한 패턴이 있는것을 확인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036363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FC0F4-9F8D-48C7-B7DB-CA24F457808A}"/>
              </a:ext>
            </a:extLst>
          </p:cNvPr>
          <p:cNvSpPr txBox="1"/>
          <p:nvPr/>
        </p:nvSpPr>
        <p:spPr>
          <a:xfrm>
            <a:off x="334107" y="166471"/>
            <a:ext cx="289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/>
              <a:t>4. </a:t>
            </a:r>
            <a:r>
              <a:rPr lang="ko-KR" altLang="en-US" b="1"/>
              <a:t>결론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B42845-CC73-483C-8BD4-9A340EE3A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40" y="951082"/>
            <a:ext cx="5907326" cy="3393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F36616-B4F6-4836-8DFC-07912C919C42}"/>
              </a:ext>
            </a:extLst>
          </p:cNvPr>
          <p:cNvSpPr txBox="1"/>
          <p:nvPr/>
        </p:nvSpPr>
        <p:spPr>
          <a:xfrm>
            <a:off x="71443" y="4521136"/>
            <a:ext cx="62150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TimeXer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에서 내생 변수는 일정한 간격으로 패치를 구성하여 토큰화하며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추가적으로 전역적인 패턴을 학습할 수 있도록 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Global Token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을 포함한다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.</a:t>
            </a:r>
            <a:br>
              <a:rPr lang="ko-KR" altLang="en-US" sz="1200"/>
            </a:b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외생 변수는 개별 변수 단위로 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Variate Token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으로 변환되며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Cross-Attention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을 통해 내생 변수와 연결된다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.</a:t>
            </a:r>
            <a:br>
              <a:rPr lang="ko-KR" altLang="en-US" sz="1200"/>
            </a:b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내생 변수는 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Self-Attention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을 통해 시간적 의존성을 학습하고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Cross-Attention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을 통해 외생 변수와의 상관관계를 학습한다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.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특히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Global Token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을 활용하여 내생 변수와 외생 변수 간의 정보 전달을 효과적으로 조정할 수 있으며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이를 통해 모델이 중요한 패턴을 더욱 정확하게 학습할 수 있었다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.</a:t>
            </a:r>
            <a:br>
              <a:rPr lang="ko-KR" altLang="en-US" sz="1200"/>
            </a:b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TimeXer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는 단변량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(Univariate)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및 다변량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(Multivariate)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데이터에서 다양한 예측 길이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(Prediction Length)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에 대해 우수한 성능을 보였으며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결측값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(Value Missing),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시간 불일치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(Temporal Misalignment),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시계열 이질성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(Series Heterogeneity)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과 같은 현실적인 시계열 예측 문제를 해결할 수 있는 가능성을 보여주었다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.</a:t>
            </a:r>
            <a:endParaRPr lang="en-US" altLang="ko-KR" sz="120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78A3800-6B31-48C7-B4DB-EA3F28CF79FB}"/>
              </a:ext>
            </a:extLst>
          </p:cNvPr>
          <p:cNvGrpSpPr/>
          <p:nvPr/>
        </p:nvGrpSpPr>
        <p:grpSpPr>
          <a:xfrm>
            <a:off x="6776809" y="2226601"/>
            <a:ext cx="5230551" cy="2117821"/>
            <a:chOff x="6665441" y="408540"/>
            <a:chExt cx="5230551" cy="211782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7BD79F3-704C-43A8-AD7D-2593F7F3C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5441" y="408540"/>
              <a:ext cx="5230551" cy="2117821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5304E8C-3A89-4932-80DA-E131ABD28144}"/>
                </a:ext>
              </a:extLst>
            </p:cNvPr>
            <p:cNvSpPr/>
            <p:nvPr/>
          </p:nvSpPr>
          <p:spPr>
            <a:xfrm>
              <a:off x="7524750" y="2238375"/>
              <a:ext cx="566738" cy="2000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DB5FD31-9E59-4F68-8AB3-16C45B38A969}"/>
              </a:ext>
            </a:extLst>
          </p:cNvPr>
          <p:cNvSpPr txBox="1"/>
          <p:nvPr/>
        </p:nvSpPr>
        <p:spPr>
          <a:xfrm>
            <a:off x="6591300" y="4431323"/>
            <a:ext cx="5600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/>
              <a:t>table 3</a:t>
            </a:r>
            <a:r>
              <a:rPr lang="ko-KR" altLang="en-US" sz="1200"/>
              <a:t>에서 다른 다변량 데이터들과는 다르게 </a:t>
            </a:r>
            <a:r>
              <a:rPr lang="en-US" altLang="ko-KR" sz="1200"/>
              <a:t>traffic </a:t>
            </a:r>
            <a:r>
              <a:rPr lang="ko-KR" altLang="en-US" sz="1200"/>
              <a:t>데이터에서 성능이 </a:t>
            </a:r>
            <a:r>
              <a:rPr lang="en-US" altLang="ko-KR" sz="1200"/>
              <a:t>itransformer</a:t>
            </a:r>
            <a:r>
              <a:rPr lang="ko-KR" altLang="en-US" sz="1200"/>
              <a:t>보다 낮은것으로 보였다</a:t>
            </a:r>
            <a:r>
              <a:rPr lang="en-US" altLang="ko-KR" sz="1200"/>
              <a:t>. </a:t>
            </a:r>
            <a:r>
              <a:rPr lang="ko-KR" altLang="en-US" sz="1200"/>
              <a:t>이는 </a:t>
            </a:r>
            <a:r>
              <a:rPr lang="en-US" altLang="ko-KR" sz="1200"/>
              <a:t>timexer</a:t>
            </a:r>
            <a:r>
              <a:rPr lang="ko-KR" altLang="en-US" sz="1200"/>
              <a:t>가 미래예측의 전체적인 추세를 효과적으로 예측했지만</a:t>
            </a:r>
            <a:r>
              <a:rPr lang="en-US" altLang="ko-KR" sz="1200"/>
              <a:t>, </a:t>
            </a:r>
            <a:r>
              <a:rPr lang="ko-KR" altLang="en-US" sz="1200"/>
              <a:t>급격한 변동</a:t>
            </a:r>
            <a:r>
              <a:rPr lang="en-US" altLang="ko-KR" sz="1200"/>
              <a:t>(spike)</a:t>
            </a:r>
            <a:r>
              <a:rPr lang="ko-KR" altLang="en-US" sz="1200"/>
              <a:t>의 수치 값을 정확히 예측하는 데 아쉬운 부분이 있다</a:t>
            </a:r>
            <a:r>
              <a:rPr lang="en-US" altLang="ko-KR" sz="1200"/>
              <a:t>.</a:t>
            </a:r>
          </a:p>
          <a:p>
            <a:pPr algn="l"/>
            <a:r>
              <a:rPr lang="ko-KR" altLang="en-US" sz="1200"/>
              <a:t>이는 </a:t>
            </a:r>
            <a:r>
              <a:rPr lang="en-US" altLang="ko-KR" sz="1200"/>
              <a:t>timxer</a:t>
            </a:r>
            <a:r>
              <a:rPr lang="ko-KR" altLang="en-US" sz="1200"/>
              <a:t>와 </a:t>
            </a:r>
            <a:r>
              <a:rPr lang="en-US" altLang="ko-KR" sz="1200"/>
              <a:t>patchTST</a:t>
            </a:r>
            <a:r>
              <a:rPr lang="ko-KR" altLang="en-US" sz="1200"/>
              <a:t>는 패치단위의 표현방식으로 시간적 종속성을 효과적으로 학습할 수 있으며 전체적인 추세 예측의 정확성을 높이는데 기여한다</a:t>
            </a:r>
            <a:r>
              <a:rPr lang="en-US" altLang="ko-KR" sz="1200"/>
              <a:t>.</a:t>
            </a:r>
          </a:p>
          <a:p>
            <a:pPr algn="l"/>
            <a:r>
              <a:rPr lang="ko-KR" altLang="en-US" sz="1200"/>
              <a:t>반면</a:t>
            </a:r>
            <a:r>
              <a:rPr lang="en-US" altLang="ko-KR" sz="1200"/>
              <a:t>, Itransformer</a:t>
            </a:r>
            <a:r>
              <a:rPr lang="ko-KR" altLang="en-US" sz="1200"/>
              <a:t>는 변수 단위의 상관관계에 초점을 맞춰 시간적 상관관계는 선형 변환을 통해 학습한다</a:t>
            </a:r>
            <a:r>
              <a:rPr lang="en-US" altLang="ko-KR" sz="1200"/>
              <a:t>.</a:t>
            </a:r>
          </a:p>
          <a:p>
            <a:pPr algn="l"/>
            <a:r>
              <a:rPr lang="ko-KR" altLang="en-US" sz="1200"/>
              <a:t>따라서</a:t>
            </a:r>
            <a:r>
              <a:rPr lang="en-US" altLang="ko-KR" sz="1200"/>
              <a:t>. </a:t>
            </a:r>
            <a:r>
              <a:rPr lang="ko-KR" altLang="en-US" sz="1200"/>
              <a:t>지나치게 많은 패치가 존재할경우</a:t>
            </a:r>
            <a:r>
              <a:rPr lang="en-US" altLang="ko-KR" sz="1200"/>
              <a:t>, </a:t>
            </a:r>
            <a:r>
              <a:rPr lang="ko-KR" altLang="en-US" sz="1200"/>
              <a:t>모델이 전체적인 추세 변화에 초점을 맞추기 때문에 </a:t>
            </a:r>
            <a:r>
              <a:rPr lang="en-US" altLang="ko-KR" sz="1200"/>
              <a:t>spike</a:t>
            </a:r>
            <a:r>
              <a:rPr lang="ko-KR" altLang="en-US" sz="1200"/>
              <a:t>의 정확한 값을 예측하는 데 어려움이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87390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210335-4884-4844-AA49-F8920DD09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3" y="116447"/>
            <a:ext cx="6373319" cy="36610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CED8FE-3B8C-4D13-8C34-5F496E8C35B1}"/>
              </a:ext>
            </a:extLst>
          </p:cNvPr>
          <p:cNvSpPr txBox="1"/>
          <p:nvPr/>
        </p:nvSpPr>
        <p:spPr>
          <a:xfrm>
            <a:off x="246186" y="4695134"/>
            <a:ext cx="70514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TimeXer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에서 내생 변수는 일정한 간격으로 패치를 구성하여 토큰화하며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추가적으로 전역적인 패턴을 학습할 수 있도록 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Global Token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을 포함한다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.</a:t>
            </a:r>
            <a:br>
              <a:rPr lang="ko-KR" altLang="en-US" sz="1200"/>
            </a:b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외생 변수는 개별 변수 단위로 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Variate Token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으로 변환되며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Cross-Attention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을 통해 내생 변수와 연결된다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.</a:t>
            </a:r>
            <a:br>
              <a:rPr lang="ko-KR" altLang="en-US" sz="1200"/>
            </a:b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내생 변수는 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Self-Attention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을 통해 시간적 의존성을 학습하고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Cross-Attention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을 통해 외생 변수와의 상관관계를 학습한다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.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특히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Global Token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을 활용하여 내생 변수와 외생 변수 간의 정보 전달을 효과적으로 조정할 수 있으며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이를 통해 모델이 중요한 패턴을 더욱 정확하게 학습할 수 있었다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.</a:t>
            </a:r>
            <a:br>
              <a:rPr lang="ko-KR" altLang="en-US" sz="1200"/>
            </a:b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TimeXer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는 단변량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(Univariate)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및 다변량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(Multivariate)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데이터에서 다양한 예측 길이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(Prediction Length)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에 대해 우수한 성능을 보였으며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,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결측값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(Value Missing),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시간 불일치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(Temporal Misalignment), 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시계열 이질성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(Series Heterogeneity)</a:t>
            </a:r>
            <a:r>
              <a:rPr lang="ko-KR" altLang="en-US" sz="1200" i="0">
                <a:solidFill>
                  <a:srgbClr val="0D0D0D"/>
                </a:solidFill>
                <a:effectLst/>
                <a:latin typeface="ui-sans-serif"/>
              </a:rPr>
              <a:t>과 같은 현실적인 시계열 예측 문제를 해결할 수 있는 가능성을 보여주었다</a:t>
            </a:r>
            <a:r>
              <a:rPr lang="en-US" altLang="ko-KR" sz="1200" i="0">
                <a:solidFill>
                  <a:srgbClr val="0D0D0D"/>
                </a:solidFill>
                <a:effectLst/>
                <a:latin typeface="ui-sans-serif"/>
              </a:rPr>
              <a:t>.</a:t>
            </a:r>
            <a:endParaRPr lang="en-US" altLang="ko-KR" sz="120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A972C59-6CC0-4A60-96FA-3D8C60C02F3B}"/>
              </a:ext>
            </a:extLst>
          </p:cNvPr>
          <p:cNvGrpSpPr/>
          <p:nvPr/>
        </p:nvGrpSpPr>
        <p:grpSpPr>
          <a:xfrm>
            <a:off x="6630271" y="116447"/>
            <a:ext cx="5230551" cy="2117821"/>
            <a:chOff x="6665441" y="408540"/>
            <a:chExt cx="5230551" cy="211782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761FF48-2067-45B1-9981-B27C9790D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5441" y="408540"/>
              <a:ext cx="5230551" cy="211782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7A52519-24E2-4E1B-B037-844F3A52BAEC}"/>
                </a:ext>
              </a:extLst>
            </p:cNvPr>
            <p:cNvSpPr/>
            <p:nvPr/>
          </p:nvSpPr>
          <p:spPr>
            <a:xfrm>
              <a:off x="7524750" y="2238375"/>
              <a:ext cx="566738" cy="2000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88553A-40F8-4F1E-9804-D25A84C320BD}"/>
              </a:ext>
            </a:extLst>
          </p:cNvPr>
          <p:cNvSpPr txBox="1"/>
          <p:nvPr/>
        </p:nvSpPr>
        <p:spPr>
          <a:xfrm>
            <a:off x="6444762" y="2321169"/>
            <a:ext cx="5600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/>
              <a:t>table 3</a:t>
            </a:r>
            <a:r>
              <a:rPr lang="ko-KR" altLang="en-US" sz="1200"/>
              <a:t>에서 다른 다변량 데이터들과는 다르게 </a:t>
            </a:r>
            <a:r>
              <a:rPr lang="en-US" altLang="ko-KR" sz="1200"/>
              <a:t>traffic </a:t>
            </a:r>
            <a:r>
              <a:rPr lang="ko-KR" altLang="en-US" sz="1200"/>
              <a:t>데이터에서 성능이 </a:t>
            </a:r>
            <a:r>
              <a:rPr lang="en-US" altLang="ko-KR" sz="1200"/>
              <a:t>itransformer</a:t>
            </a:r>
            <a:r>
              <a:rPr lang="ko-KR" altLang="en-US" sz="1200"/>
              <a:t>보다 낮은것으로 보였다</a:t>
            </a:r>
            <a:r>
              <a:rPr lang="en-US" altLang="ko-KR" sz="1200"/>
              <a:t>. </a:t>
            </a:r>
            <a:r>
              <a:rPr lang="ko-KR" altLang="en-US" sz="1200"/>
              <a:t>이는 </a:t>
            </a:r>
            <a:r>
              <a:rPr lang="en-US" altLang="ko-KR" sz="1200"/>
              <a:t>timexer</a:t>
            </a:r>
            <a:r>
              <a:rPr lang="ko-KR" altLang="en-US" sz="1200"/>
              <a:t>가 미래예측의 전체적인 추세를 효과적으로 예측했지만</a:t>
            </a:r>
            <a:r>
              <a:rPr lang="en-US" altLang="ko-KR" sz="1200"/>
              <a:t>, </a:t>
            </a:r>
            <a:r>
              <a:rPr lang="ko-KR" altLang="en-US" sz="1200"/>
              <a:t>급격한 변동</a:t>
            </a:r>
            <a:r>
              <a:rPr lang="en-US" altLang="ko-KR" sz="1200"/>
              <a:t>(spike)</a:t>
            </a:r>
            <a:r>
              <a:rPr lang="ko-KR" altLang="en-US" sz="1200"/>
              <a:t>의 수치 값을 정확히 예측하는 데 아쉬운 부분이 있다</a:t>
            </a:r>
            <a:r>
              <a:rPr lang="en-US" altLang="ko-KR" sz="1200"/>
              <a:t>.</a:t>
            </a:r>
          </a:p>
          <a:p>
            <a:pPr algn="l"/>
            <a:r>
              <a:rPr lang="ko-KR" altLang="en-US" sz="1200"/>
              <a:t>이는 </a:t>
            </a:r>
            <a:r>
              <a:rPr lang="en-US" altLang="ko-KR" sz="1200"/>
              <a:t>timxer</a:t>
            </a:r>
            <a:r>
              <a:rPr lang="ko-KR" altLang="en-US" sz="1200"/>
              <a:t>와 </a:t>
            </a:r>
            <a:r>
              <a:rPr lang="en-US" altLang="ko-KR" sz="1200"/>
              <a:t>patchTST</a:t>
            </a:r>
            <a:r>
              <a:rPr lang="ko-KR" altLang="en-US" sz="1200"/>
              <a:t>는 패치단위의 표현방식으로 시간적 종속성을 효과적으로 학습할 수 있으며 전체적인 추세 예측의 정확성을 높이는데 기여한다</a:t>
            </a:r>
            <a:r>
              <a:rPr lang="en-US" altLang="ko-KR" sz="1200"/>
              <a:t>.</a:t>
            </a:r>
          </a:p>
          <a:p>
            <a:pPr algn="l"/>
            <a:r>
              <a:rPr lang="ko-KR" altLang="en-US" sz="1200"/>
              <a:t>반면</a:t>
            </a:r>
            <a:r>
              <a:rPr lang="en-US" altLang="ko-KR" sz="1200"/>
              <a:t>, Itransformer</a:t>
            </a:r>
            <a:r>
              <a:rPr lang="ko-KR" altLang="en-US" sz="1200"/>
              <a:t>는 변수 단위의 상관관계에 초점을 맞춰 시간적 상관관계는 선형 변환을 통해 학습한다</a:t>
            </a:r>
            <a:r>
              <a:rPr lang="en-US" altLang="ko-KR" sz="1200"/>
              <a:t>.</a:t>
            </a:r>
          </a:p>
          <a:p>
            <a:pPr algn="l"/>
            <a:r>
              <a:rPr lang="ko-KR" altLang="en-US" sz="1200"/>
              <a:t>따라서</a:t>
            </a:r>
            <a:r>
              <a:rPr lang="en-US" altLang="ko-KR" sz="1200"/>
              <a:t>. </a:t>
            </a:r>
            <a:r>
              <a:rPr lang="ko-KR" altLang="en-US" sz="1200"/>
              <a:t>지나치게 많은 패치가 존재할경우</a:t>
            </a:r>
            <a:r>
              <a:rPr lang="en-US" altLang="ko-KR" sz="1200"/>
              <a:t>, </a:t>
            </a:r>
            <a:r>
              <a:rPr lang="ko-KR" altLang="en-US" sz="1200"/>
              <a:t>모델이 전체적인 추세 변화에 초점을 맞추기 때문에 </a:t>
            </a:r>
            <a:r>
              <a:rPr lang="en-US" altLang="ko-KR" sz="1200"/>
              <a:t>spike</a:t>
            </a:r>
            <a:r>
              <a:rPr lang="ko-KR" altLang="en-US" sz="1200"/>
              <a:t>의 정확한 값을 예측하는 데 어려움이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1785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B98A87B-8B16-4C94-B9B6-575A33534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37" y="15639"/>
            <a:ext cx="4075600" cy="2677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65D2A-DE15-4FCC-A563-DA714F727E80}"/>
              </a:ext>
            </a:extLst>
          </p:cNvPr>
          <p:cNvSpPr txBox="1"/>
          <p:nvPr/>
        </p:nvSpPr>
        <p:spPr>
          <a:xfrm>
            <a:off x="4580793" y="562432"/>
            <a:ext cx="5220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endogenous</a:t>
            </a:r>
            <a:r>
              <a:rPr lang="ko-KR" altLang="en-US" sz="1200"/>
              <a:t>만을 고려하는것은 정확한 예측을 보장하기 어렵다</a:t>
            </a:r>
            <a:r>
              <a:rPr lang="en-US" altLang="ko-KR" sz="1200"/>
              <a:t>. </a:t>
            </a:r>
            <a:r>
              <a:rPr lang="ko-KR" altLang="en-US" sz="1200"/>
              <a:t>외생변수는 내생 변수에 대한 중요한 외부 정보를 제공할 수 있다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timexer</a:t>
            </a:r>
            <a:r>
              <a:rPr lang="ko-KR" altLang="en-US" sz="1200"/>
              <a:t>는 트랜스포머 기반에 </a:t>
            </a:r>
            <a:r>
              <a:rPr lang="en-US" altLang="ko-KR" sz="1200"/>
              <a:t>endogeous</a:t>
            </a:r>
            <a:r>
              <a:rPr lang="ko-KR" altLang="en-US" sz="1200"/>
              <a:t>와 </a:t>
            </a:r>
            <a:r>
              <a:rPr lang="en-US" altLang="ko-KR" sz="1200"/>
              <a:t>exogenous </a:t>
            </a:r>
            <a:r>
              <a:rPr lang="ko-KR" altLang="en-US" sz="1200"/>
              <a:t>정보를 효과적으로 통합하고 패치 단위의 </a:t>
            </a:r>
            <a:r>
              <a:rPr lang="en-US" altLang="ko-KR" sz="1200"/>
              <a:t>self-attention</a:t>
            </a:r>
            <a:r>
              <a:rPr lang="ko-KR" altLang="en-US" sz="1200"/>
              <a:t>과 </a:t>
            </a:r>
            <a:r>
              <a:rPr lang="en-US" altLang="ko-KR" sz="1200"/>
              <a:t>cross-attention</a:t>
            </a:r>
            <a:r>
              <a:rPr lang="ko-KR" altLang="en-US" sz="1200"/>
              <a:t>을 동시에 사용한다</a:t>
            </a:r>
            <a:r>
              <a:rPr lang="en-US" altLang="ko-KR" sz="1200"/>
              <a:t>. </a:t>
            </a:r>
            <a:r>
              <a:rPr lang="ko-KR" altLang="en-US" sz="1200"/>
              <a:t>또한 </a:t>
            </a:r>
            <a:r>
              <a:rPr lang="en-US" altLang="ko-KR" sz="1200"/>
              <a:t>global token</a:t>
            </a:r>
            <a:r>
              <a:rPr lang="ko-KR" altLang="en-US" sz="1200"/>
              <a:t>을 학습하여 외생 변수 시계열에 포함된 인과적 정보를 내생 변수의 시간 패치와 효과적으로 연결한다</a:t>
            </a:r>
            <a:r>
              <a:rPr lang="en-US" altLang="ko-KR" sz="1200"/>
              <a:t>.</a:t>
            </a:r>
            <a:r>
              <a:rPr lang="ko-KR" altLang="en-US" sz="1200"/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E178C9-80DA-468C-9C18-98C35B77C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4" y="2935829"/>
            <a:ext cx="7706824" cy="6035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B54E5F-4529-4564-8CA6-53DC280FEF91}"/>
              </a:ext>
            </a:extLst>
          </p:cNvPr>
          <p:cNvSpPr txBox="1"/>
          <p:nvPr/>
        </p:nvSpPr>
        <p:spPr>
          <a:xfrm>
            <a:off x="33614" y="3607465"/>
            <a:ext cx="770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외생변수를 포함하면 다양한 변수간의 상관관계와 인과관계를 보다 포괄적으로 이해하며 더 나은 성능과 해석 가능성을 얻을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8B09D31-2CAB-45AE-B7C2-992545526A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0451"/>
          <a:stretch/>
        </p:blipFill>
        <p:spPr>
          <a:xfrm>
            <a:off x="33614" y="4137219"/>
            <a:ext cx="7706824" cy="8395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44C0DB-1EE1-4892-9770-EA1C4513E83C}"/>
              </a:ext>
            </a:extLst>
          </p:cNvPr>
          <p:cNvSpPr txBox="1"/>
          <p:nvPr/>
        </p:nvSpPr>
        <p:spPr>
          <a:xfrm>
            <a:off x="132710" y="5044877"/>
            <a:ext cx="7706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/>
              <a:t>시계열 모델링 관점에서</a:t>
            </a:r>
            <a:r>
              <a:rPr lang="en-US" altLang="ko-KR" sz="1200"/>
              <a:t>, </a:t>
            </a:r>
            <a:r>
              <a:rPr lang="ko-KR" altLang="en-US" sz="1200"/>
              <a:t>외생변수는 예측 모델에 정보를 제공하는 목적이며 직접 예측할 필요는 없다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CE2B0A8-6F2B-4010-91B7-63675CD6E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14" y="5346003"/>
            <a:ext cx="7805920" cy="8002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D54268-521B-412F-AAB2-F356B696018C}"/>
              </a:ext>
            </a:extLst>
          </p:cNvPr>
          <p:cNvSpPr txBox="1"/>
          <p:nvPr/>
        </p:nvSpPr>
        <p:spPr>
          <a:xfrm>
            <a:off x="132710" y="6146215"/>
            <a:ext cx="770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/>
              <a:t>외생변수를 활용한 정확한 예측을 하려면</a:t>
            </a:r>
            <a:r>
              <a:rPr lang="en-US" altLang="ko-KR" sz="1200"/>
              <a:t>, </a:t>
            </a:r>
            <a:r>
              <a:rPr lang="ko-KR" altLang="en-US" sz="1200"/>
              <a:t>내생 변수 내부의 시간적 의존성과 내생 변수와 외생변수간의 상호 연관성을 포착하는 것이 필수다</a:t>
            </a:r>
            <a:r>
              <a:rPr lang="en-US" altLang="ko-KR" sz="1200"/>
              <a:t>. </a:t>
            </a:r>
            <a:r>
              <a:rPr lang="ko-KR" altLang="en-US" sz="1200"/>
              <a:t>이는 다층적 구조가 필요하다고 판단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21A209C-5247-434F-B19D-24A39287C5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565" y="1941888"/>
            <a:ext cx="4232305" cy="15974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5F8AD7B-291D-4EF4-9493-870946B7DE51}"/>
              </a:ext>
            </a:extLst>
          </p:cNvPr>
          <p:cNvSpPr txBox="1"/>
          <p:nvPr/>
        </p:nvSpPr>
        <p:spPr>
          <a:xfrm>
            <a:off x="8071338" y="3727938"/>
            <a:ext cx="3965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/>
              <a:t>x</a:t>
            </a:r>
            <a:r>
              <a:rPr lang="ko-KR" altLang="en-US" sz="1200"/>
              <a:t>는 내생변수</a:t>
            </a:r>
            <a:r>
              <a:rPr lang="en-US" altLang="ko-KR" sz="1200"/>
              <a:t>, z</a:t>
            </a:r>
            <a:r>
              <a:rPr lang="ko-KR" altLang="en-US" sz="1200"/>
              <a:t>는 외생변수로 외생변수는 보조 정보로 사용되며 직접 에측할 필요는 없다</a:t>
            </a:r>
            <a:r>
              <a:rPr lang="en-US" altLang="ko-KR" sz="1200"/>
              <a:t>. </a:t>
            </a:r>
          </a:p>
          <a:p>
            <a:pPr algn="l"/>
            <a:r>
              <a:rPr lang="ko-KR" altLang="en-US" sz="1200"/>
              <a:t>결측값</a:t>
            </a:r>
            <a:r>
              <a:rPr lang="en-US" altLang="ko-KR" sz="1200"/>
              <a:t>, </a:t>
            </a:r>
            <a:r>
              <a:rPr lang="ko-KR" altLang="en-US" sz="1200"/>
              <a:t>빈도 불일치</a:t>
            </a:r>
            <a:r>
              <a:rPr lang="en-US" altLang="ko-KR" sz="1200"/>
              <a:t>, </a:t>
            </a:r>
            <a:r>
              <a:rPr lang="ko-KR" altLang="en-US" sz="1200"/>
              <a:t>시간 정렬 불일치</a:t>
            </a:r>
            <a:r>
              <a:rPr lang="en-US" altLang="ko-KR" sz="1200"/>
              <a:t>, </a:t>
            </a:r>
            <a:r>
              <a:rPr lang="ko-KR" altLang="en-US" sz="1200"/>
              <a:t>길이 불일치의 문제가 발생할 가능성이 높기에 내생변수와 외생변수를 구분하여 처리하는것이 필요</a:t>
            </a:r>
            <a:r>
              <a:rPr lang="en-US" altLang="ko-KR" sz="1200"/>
              <a:t>.</a:t>
            </a:r>
          </a:p>
          <a:p>
            <a:pPr algn="l"/>
            <a:r>
              <a:rPr lang="ko-KR" altLang="en-US" sz="1200"/>
              <a:t>내생변수는 패치</a:t>
            </a:r>
            <a:r>
              <a:rPr lang="en-US" altLang="ko-KR" sz="1200"/>
              <a:t>, </a:t>
            </a:r>
            <a:r>
              <a:rPr lang="ko-KR" altLang="en-US" sz="1200"/>
              <a:t>외생변수는 변수 마다 토큰으로 학습</a:t>
            </a:r>
          </a:p>
        </p:txBody>
      </p:sp>
    </p:spTree>
    <p:extLst>
      <p:ext uri="{BB962C8B-B14F-4D97-AF65-F5344CB8AC3E}">
        <p14:creationId xmlns:p14="http://schemas.microsoft.com/office/powerpoint/2010/main" val="851834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212AF9-2405-46B9-AD4E-68AAA7232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9" y="271685"/>
            <a:ext cx="5943249" cy="13021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9E2F20-76F3-4489-B0AD-BA7281CF63BB}"/>
              </a:ext>
            </a:extLst>
          </p:cNvPr>
          <p:cNvSpPr txBox="1"/>
          <p:nvPr/>
        </p:nvSpPr>
        <p:spPr>
          <a:xfrm>
            <a:off x="6286500" y="140677"/>
            <a:ext cx="58149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/>
              <a:t>첫째</a:t>
            </a:r>
            <a:r>
              <a:rPr lang="en-US" altLang="ko-KR" sz="1200"/>
              <a:t>, </a:t>
            </a:r>
            <a:r>
              <a:rPr lang="ko-KR" altLang="en-US" sz="1200"/>
              <a:t>내생 변수의 패치 단위 토큰을 활용하여 시간적 의존성 포착</a:t>
            </a:r>
            <a:endParaRPr lang="en-US" altLang="ko-KR" sz="1200"/>
          </a:p>
          <a:p>
            <a:pPr algn="l"/>
            <a:r>
              <a:rPr lang="ko-KR" altLang="en-US" sz="1200"/>
              <a:t>둘째</a:t>
            </a:r>
            <a:r>
              <a:rPr lang="en-US" altLang="ko-KR" sz="1200"/>
              <a:t>, </a:t>
            </a:r>
            <a:r>
              <a:rPr lang="ko-KR" altLang="en-US" sz="1200"/>
              <a:t>불규칙한 외생변수 문제를 해결하기 위해</a:t>
            </a:r>
            <a:r>
              <a:rPr lang="en-US" altLang="ko-KR" sz="1200"/>
              <a:t>,</a:t>
            </a:r>
            <a:r>
              <a:rPr lang="ko-KR" altLang="en-US" sz="1200"/>
              <a:t> 변수 수준의 표현을 사용하여 외부 요인이 내생 변수에 미치는 영향을 자연스럽게 통합</a:t>
            </a:r>
            <a:endParaRPr lang="en-US" altLang="ko-KR" sz="1200"/>
          </a:p>
          <a:p>
            <a:pPr algn="l"/>
            <a:r>
              <a:rPr lang="en-US" altLang="ko-KR" sz="1200"/>
              <a:t>=&gt; </a:t>
            </a:r>
            <a:r>
              <a:rPr lang="ko-KR" altLang="en-US" sz="1200"/>
              <a:t>외생 변수의 전체 정보를 벡터화</a:t>
            </a:r>
            <a:endParaRPr lang="en-US" altLang="ko-KR" sz="1200"/>
          </a:p>
          <a:p>
            <a:pPr algn="l"/>
            <a:r>
              <a:rPr lang="ko-KR" altLang="en-US" sz="1200"/>
              <a:t>셋째</a:t>
            </a:r>
            <a:r>
              <a:rPr lang="en-US" altLang="ko-KR" sz="1200"/>
              <a:t>, vit</a:t>
            </a:r>
            <a:r>
              <a:rPr lang="ko-KR" altLang="en-US" sz="1200"/>
              <a:t>의 영감을 받아</a:t>
            </a:r>
            <a:r>
              <a:rPr lang="en-US" altLang="ko-KR" sz="1200"/>
              <a:t>. </a:t>
            </a:r>
            <a:r>
              <a:rPr lang="ko-KR" altLang="en-US" sz="1200"/>
              <a:t>각 내생 변수 시계열에 대해 학습 가능한 글로벌 토큰을 도입하여</a:t>
            </a:r>
            <a:r>
              <a:rPr lang="en-US" altLang="ko-KR" sz="1200"/>
              <a:t>, </a:t>
            </a:r>
            <a:r>
              <a:rPr lang="ko-KR" altLang="en-US" sz="1200"/>
              <a:t>시계열의 육안으로 보이는 정보를 반영</a:t>
            </a:r>
            <a:endParaRPr lang="en-US" altLang="ko-KR" sz="1200"/>
          </a:p>
          <a:p>
            <a:pPr algn="l"/>
            <a:r>
              <a:rPr lang="en-US" altLang="ko-KR" sz="1200"/>
              <a:t>=&gt; </a:t>
            </a:r>
            <a:r>
              <a:rPr lang="ko-KR" altLang="en-US" sz="1200"/>
              <a:t>내생 변수와 외생변수를 간접적으로 </a:t>
            </a:r>
            <a:r>
              <a:rPr lang="en-US" altLang="ko-KR" sz="1200"/>
              <a:t>global token</a:t>
            </a:r>
            <a:r>
              <a:rPr lang="ko-KR" altLang="en-US" sz="1200"/>
              <a:t>으로 연결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6E7DFE-22FC-432A-9E0C-818F9486A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9" y="2213839"/>
            <a:ext cx="6082938" cy="5381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77B5DB-430F-4449-9A96-B01242B5F4AC}"/>
              </a:ext>
            </a:extLst>
          </p:cNvPr>
          <p:cNvSpPr txBox="1"/>
          <p:nvPr/>
        </p:nvSpPr>
        <p:spPr>
          <a:xfrm>
            <a:off x="6286500" y="1661746"/>
            <a:ext cx="56710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solidFill>
                  <a:srgbClr val="FF0000"/>
                </a:solidFill>
              </a:rPr>
              <a:t>내생 변수 예측에 유용한 정보를 제공하는 모든 시계열은 과거 자료의 길이와 관계없이 외생 변수로 사용할 수 있다</a:t>
            </a:r>
            <a:endParaRPr lang="en-US" altLang="ko-KR" sz="1200">
              <a:solidFill>
                <a:srgbClr val="FF0000"/>
              </a:solidFill>
            </a:endParaRPr>
          </a:p>
          <a:p>
            <a:pPr marL="171450" indent="-171450" algn="l">
              <a:buFont typeface="Symbol" panose="05050102010706020507" pitchFamily="18" charset="2"/>
              <a:buChar char="Þ"/>
            </a:pPr>
            <a:r>
              <a:rPr lang="ko-KR" altLang="en-US" sz="1200"/>
              <a:t>변수 수준 임베딩 활용</a:t>
            </a:r>
            <a:r>
              <a:rPr lang="en-US" altLang="ko-KR" sz="1200"/>
              <a:t>, </a:t>
            </a:r>
            <a:r>
              <a:rPr lang="ko-KR" altLang="en-US" sz="1200"/>
              <a:t>외생변수의 전체 과거 정보를 단일 벡터로 변환</a:t>
            </a:r>
            <a:endParaRPr lang="en-US" altLang="ko-KR" sz="1200"/>
          </a:p>
          <a:p>
            <a:pPr marL="171450" indent="-171450" algn="l">
              <a:buFont typeface="Symbol" panose="05050102010706020507" pitchFamily="18" charset="2"/>
              <a:buChar char="Þ"/>
            </a:pPr>
            <a:r>
              <a:rPr lang="en-US" altLang="ko-KR" sz="1200"/>
              <a:t>Cross attention</a:t>
            </a:r>
            <a:r>
              <a:rPr lang="ko-KR" altLang="en-US" sz="1200"/>
              <a:t>을 통해 내생 변수와 연결</a:t>
            </a:r>
            <a:r>
              <a:rPr lang="en-US" altLang="ko-KR" sz="1200"/>
              <a:t>, </a:t>
            </a:r>
            <a:r>
              <a:rPr lang="ko-KR" altLang="en-US" sz="1200"/>
              <a:t>과거 자료의 길이가 다르더라도 </a:t>
            </a:r>
            <a:r>
              <a:rPr lang="en-US" altLang="ko-KR" sz="1200"/>
              <a:t>cross-attention</a:t>
            </a:r>
            <a:r>
              <a:rPr lang="ko-KR" altLang="en-US" sz="1200"/>
              <a:t>이 중요한 정보만 선택적으로 반영하여 학습함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ko-KR" altLang="en-US" sz="1200"/>
              <a:t>즉</a:t>
            </a:r>
            <a:r>
              <a:rPr lang="en-US" altLang="ko-KR" sz="1200"/>
              <a:t>, </a:t>
            </a:r>
            <a:r>
              <a:rPr lang="ko-KR" altLang="en-US" sz="1200"/>
              <a:t>외생 변수의 특정 시간대 정보만 내생 변수의 예측에 반영하도록 조절</a:t>
            </a:r>
            <a:endParaRPr lang="en-US" altLang="ko-KR" sz="1200"/>
          </a:p>
          <a:p>
            <a:pPr marL="171450" indent="-171450" algn="l">
              <a:buFont typeface="Symbol" panose="05050102010706020507" pitchFamily="18" charset="2"/>
              <a:buChar char="Þ"/>
            </a:pPr>
            <a:r>
              <a:rPr lang="ko-KR" altLang="en-US" sz="1200"/>
              <a:t>글로벌 토큰 도입</a:t>
            </a:r>
            <a:r>
              <a:rPr lang="en-US" altLang="ko-KR" sz="1200"/>
              <a:t>, </a:t>
            </a:r>
            <a:r>
              <a:rPr lang="ko-KR" altLang="en-US" sz="1200"/>
              <a:t>내생 변수와 외생 변수의 시간 정렬 불일치 문제 해결</a:t>
            </a:r>
            <a:br>
              <a:rPr lang="en-US" altLang="ko-KR" sz="1200"/>
            </a:br>
            <a:r>
              <a:rPr lang="en-US" altLang="ko-KR" sz="1200"/>
              <a:t>-</a:t>
            </a:r>
            <a:r>
              <a:rPr lang="ko-KR" altLang="en-US" sz="1200"/>
              <a:t> 내생 변수와 외생 변수를 직접 연결하는게 아닌 </a:t>
            </a:r>
            <a:r>
              <a:rPr lang="en-US" altLang="ko-KR" sz="1200"/>
              <a:t>global token</a:t>
            </a:r>
            <a:r>
              <a:rPr lang="ko-KR" altLang="en-US" sz="1200"/>
              <a:t>을 통해 간접적으로 정보 전달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ko-KR" altLang="en-US" sz="1200">
                <a:highlight>
                  <a:srgbClr val="FFFF00"/>
                </a:highlight>
              </a:rPr>
              <a:t>어떻게 조절하는거지</a:t>
            </a:r>
            <a:r>
              <a:rPr lang="en-US" altLang="ko-KR" sz="1200">
                <a:highlight>
                  <a:srgbClr val="FFFF00"/>
                </a:highligh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1368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8D3843-C528-45DD-9BFA-892DD9D9E850}"/>
                  </a:ext>
                </a:extLst>
              </p:cNvPr>
              <p:cNvSpPr txBox="1"/>
              <p:nvPr/>
            </p:nvSpPr>
            <p:spPr>
              <a:xfrm>
                <a:off x="84030" y="281354"/>
                <a:ext cx="630797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200"/>
                  <a:t>linear projection</a:t>
                </a:r>
              </a:p>
              <a:p>
                <a:pPr algn="l"/>
                <a:endParaRPr lang="en-US" altLang="ko-KR" sz="12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ko-KR" sz="1200" b="0"/>
              </a:p>
              <a:p>
                <a:pPr algn="l"/>
                <a:r>
                  <a:rPr lang="ko-KR" altLang="en-US" sz="1200"/>
                  <a:t>선형 변환은 입력 벡터 </a:t>
                </a:r>
                <a:r>
                  <a:rPr lang="en-US" altLang="ko-KR" sz="1200"/>
                  <a:t>x</a:t>
                </a:r>
                <a:r>
                  <a:rPr lang="ko-KR" altLang="en-US" sz="1200"/>
                  <a:t>를 특정 가중치 행렬 </a:t>
                </a:r>
                <a:r>
                  <a:rPr lang="en-US" altLang="ko-KR" sz="1200"/>
                  <a:t>W</a:t>
                </a:r>
                <a:r>
                  <a:rPr lang="ko-KR" altLang="en-US" sz="1200"/>
                  <a:t>를 이용하여 새로운 차원 벡터 </a:t>
                </a:r>
                <a:r>
                  <a:rPr lang="en-US" altLang="ko-KR" sz="1200"/>
                  <a:t>y</a:t>
                </a:r>
                <a:r>
                  <a:rPr lang="ko-KR" altLang="en-US" sz="1200"/>
                  <a:t>로 변환하는 연산</a:t>
                </a:r>
                <a:r>
                  <a:rPr lang="en-US" altLang="ko-KR" sz="1200"/>
                  <a:t>.</a:t>
                </a:r>
              </a:p>
              <a:p>
                <a:pPr algn="l"/>
                <a:r>
                  <a:rPr lang="ko-KR" altLang="en-US" sz="1200"/>
                  <a:t>일반적으로 </a:t>
                </a:r>
                <a:r>
                  <a:rPr lang="en-US" altLang="ko-KR" sz="1200"/>
                  <a:t>D</a:t>
                </a:r>
                <a:r>
                  <a:rPr lang="ko-KR" altLang="en-US" sz="1200"/>
                  <a:t>차원으로 변환하는 </a:t>
                </a:r>
                <a:r>
                  <a:rPr lang="en-US" altLang="ko-KR" sz="1200"/>
                  <a:t>FC LAYER</a:t>
                </a:r>
                <a:r>
                  <a:rPr lang="ko-KR" altLang="en-US" sz="1200"/>
                  <a:t>로 사용</a:t>
                </a:r>
                <a:endParaRPr lang="en-US" altLang="ko-KR" sz="1200"/>
              </a:p>
              <a:p>
                <a:pPr algn="l"/>
                <a:endParaRPr lang="en-US" altLang="ko-KR" sz="1200"/>
              </a:p>
              <a:p>
                <a:pPr algn="l"/>
                <a:endParaRPr lang="en-US" altLang="ko-KR" sz="1200"/>
              </a:p>
              <a:p>
                <a:pPr algn="l"/>
                <a:r>
                  <a:rPr lang="en-US" altLang="ko-KR" sz="1200"/>
                  <a:t>1. </a:t>
                </a:r>
                <a:r>
                  <a:rPr lang="ko-KR" altLang="en-US" sz="1200"/>
                  <a:t>차원 변환이 필요할때</a:t>
                </a:r>
                <a:endParaRPr lang="en-US" altLang="ko-KR" sz="1200"/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200"/>
                  <a:t>모델에는 고정된 차원 벡터 입력을 필요로 함</a:t>
                </a:r>
                <a:r>
                  <a:rPr lang="en-US" altLang="ko-KR" sz="1200"/>
                  <a:t>.</a:t>
                </a: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200"/>
                  <a:t>입력 데이터를 고정된 차원으로 매핑하는 과정에서 </a:t>
                </a:r>
                <a:r>
                  <a:rPr lang="en-US" altLang="ko-KR" sz="1200"/>
                  <a:t>linear projection</a:t>
                </a:r>
                <a:r>
                  <a:rPr lang="ko-KR" altLang="en-US" sz="1200"/>
                  <a:t>이 필요</a:t>
                </a:r>
                <a:endParaRPr lang="en-US" altLang="ko-KR" sz="1200"/>
              </a:p>
              <a:p>
                <a:pPr algn="l"/>
                <a:r>
                  <a:rPr lang="en-US" altLang="ko-KR" sz="1200"/>
                  <a:t>2. feature extraction(</a:t>
                </a:r>
                <a:r>
                  <a:rPr lang="ko-KR" altLang="en-US" sz="1200"/>
                  <a:t>특징 추출</a:t>
                </a:r>
                <a:r>
                  <a:rPr lang="en-US" altLang="ko-KR" sz="1200"/>
                  <a:t>)</a:t>
                </a: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200"/>
                  <a:t>원보 데이터의 중요한 특징을 추출하는 과정에서 </a:t>
                </a:r>
                <a:r>
                  <a:rPr lang="en-US" altLang="ko-KR" sz="1200"/>
                  <a:t>linear projection</a:t>
                </a:r>
                <a:r>
                  <a:rPr lang="ko-KR" altLang="en-US" sz="1200"/>
                  <a:t>이 활용</a:t>
                </a:r>
                <a:endParaRPr lang="en-US" altLang="ko-KR" sz="1200"/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200"/>
                  <a:t>원본 데이터의 </a:t>
                </a:r>
                <a:r>
                  <a:rPr lang="en-US" altLang="ko-KR" sz="1200"/>
                  <a:t>raw feature </a:t>
                </a:r>
                <a:r>
                  <a:rPr lang="ko-KR" altLang="en-US" sz="1200"/>
                  <a:t>그대로 사용하지 않고</a:t>
                </a:r>
                <a:r>
                  <a:rPr lang="en-US" altLang="ko-KR" sz="1200"/>
                  <a:t>, </a:t>
                </a:r>
                <a:r>
                  <a:rPr lang="ko-KR" altLang="en-US" sz="1200"/>
                  <a:t>선형 변환을 통해 중요한 정보만 추출하여 입력으로 사용</a:t>
                </a:r>
                <a:endParaRPr lang="en-US" altLang="ko-KR" sz="1200"/>
              </a:p>
              <a:p>
                <a:pPr marL="171450" indent="-171450" algn="l">
                  <a:buFontTx/>
                  <a:buChar char="-"/>
                </a:pPr>
                <a:endParaRPr lang="ko-KR" altLang="en-US" sz="120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8D3843-C528-45DD-9BFA-892DD9D9E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30" y="281354"/>
                <a:ext cx="6307977" cy="3046988"/>
              </a:xfrm>
              <a:prstGeom prst="rect">
                <a:avLst/>
              </a:prstGeom>
              <a:blipFill>
                <a:blip r:embed="rId2"/>
                <a:stretch>
                  <a:fillRect l="-1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458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28600" indent="-228600" algn="l">
          <a:buAutoNum type="arabicPeriod"/>
          <a:defRPr sz="16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20208</TotalTime>
  <Words>2971</Words>
  <Application>Microsoft Office PowerPoint</Application>
  <PresentationFormat>와이드스크린</PresentationFormat>
  <Paragraphs>264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ui-sans-serif</vt:lpstr>
      <vt:lpstr>맑은 고딕</vt:lpstr>
      <vt:lpstr>Arial</vt:lpstr>
      <vt:lpstr>Cambria Math</vt:lpstr>
      <vt:lpstr>Symbol</vt:lpstr>
      <vt:lpstr>Office 테마</vt:lpstr>
      <vt:lpstr>TimeXer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TimeXer</dc:title>
  <dc:creator>지훈 김</dc:creator>
  <cp:lastModifiedBy>지훈 김</cp:lastModifiedBy>
  <cp:revision>48</cp:revision>
  <dcterms:created xsi:type="dcterms:W3CDTF">2025-02-24T23:53:32Z</dcterms:created>
  <dcterms:modified xsi:type="dcterms:W3CDTF">2025-03-11T00:42:18Z</dcterms:modified>
</cp:coreProperties>
</file>