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8"/>
  </p:notesMasterIdLst>
  <p:handoutMasterIdLst>
    <p:handoutMasterId r:id="rId19"/>
  </p:handoutMasterIdLst>
  <p:sldIdLst>
    <p:sldId id="256" r:id="rId2"/>
    <p:sldId id="457" r:id="rId3"/>
    <p:sldId id="408" r:id="rId4"/>
    <p:sldId id="453" r:id="rId5"/>
    <p:sldId id="454" r:id="rId6"/>
    <p:sldId id="455" r:id="rId7"/>
    <p:sldId id="461" r:id="rId8"/>
    <p:sldId id="456" r:id="rId9"/>
    <p:sldId id="460" r:id="rId10"/>
    <p:sldId id="462" r:id="rId11"/>
    <p:sldId id="463" r:id="rId12"/>
    <p:sldId id="459" r:id="rId13"/>
    <p:sldId id="451" r:id="rId14"/>
    <p:sldId id="441" r:id="rId15"/>
    <p:sldId id="458" r:id="rId16"/>
    <p:sldId id="306" r:id="rId17"/>
  </p:sldIdLst>
  <p:sldSz cx="9144000" cy="6858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h" initials="j" lastIdx="3" clrIdx="0">
    <p:extLst>
      <p:ext uri="{19B8F6BF-5375-455C-9EA6-DF929625EA0E}">
        <p15:presenceInfo xmlns:p15="http://schemas.microsoft.com/office/powerpoint/2012/main" userId="j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2C6FAD"/>
    <a:srgbClr val="BBD5ED"/>
    <a:srgbClr val="FFABAB"/>
    <a:srgbClr val="FFD03B"/>
    <a:srgbClr val="FFCCCC"/>
    <a:srgbClr val="FDD7D7"/>
    <a:srgbClr val="F6D55C"/>
    <a:srgbClr val="666699"/>
    <a:srgbClr val="FBC0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76" autoAdjust="0"/>
    <p:restoredTop sz="78235" autoAdjust="0"/>
  </p:normalViewPr>
  <p:slideViewPr>
    <p:cSldViewPr snapToGrid="0" snapToObjects="1">
      <p:cViewPr varScale="1">
        <p:scale>
          <a:sx n="89" d="100"/>
          <a:sy n="89" d="100"/>
        </p:scale>
        <p:origin x="1824" y="66"/>
      </p:cViewPr>
      <p:guideLst>
        <p:guide orient="horz" pos="2157"/>
        <p:guide pos="28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77" d="100"/>
          <a:sy n="77" d="100"/>
        </p:scale>
        <p:origin x="3156" y="120"/>
      </p:cViewPr>
      <p:guideLst>
        <p:guide orient="horz" pos="2157"/>
        <p:guide pos="287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837" y="0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/>
          <a:lstStyle>
            <a:lvl1pPr algn="r">
              <a:defRPr sz="1200"/>
            </a:lvl1pPr>
          </a:lstStyle>
          <a:p>
            <a:fld id="{86BECE3D-28DF-44F2-BBF4-A1F550C97DF1}" type="datetimeFigureOut">
              <a:rPr lang="ko-KR" altLang="en-US" smtClean="0"/>
              <a:t>2023-08-02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837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 anchor="b"/>
          <a:lstStyle>
            <a:lvl1pPr algn="r">
              <a:defRPr sz="1200"/>
            </a:lvl1pPr>
          </a:lstStyle>
          <a:p>
            <a:fld id="{9CCD6CBE-4E81-4091-B594-FAD27E600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6148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205" y="2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/>
          <a:lstStyle>
            <a:lvl1pPr algn="r">
              <a:defRPr sz="1200"/>
            </a:lvl1pPr>
          </a:lstStyle>
          <a:p>
            <a:fld id="{3A58FB49-0BA5-40AA-BFC7-FBD141E0550C}" type="datetimeFigureOut">
              <a:rPr lang="ko-KR" altLang="en-US" smtClean="0"/>
              <a:t>2023-08-02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5" tIns="47238" rIns="94475" bIns="472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78" y="4925839"/>
            <a:ext cx="5683914" cy="4029039"/>
          </a:xfrm>
          <a:prstGeom prst="rect">
            <a:avLst/>
          </a:prstGeom>
        </p:spPr>
        <p:txBody>
          <a:bodyPr vert="horz" lIns="94475" tIns="47238" rIns="94475" bIns="4723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0755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205" y="9720755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 anchor="b"/>
          <a:lstStyle>
            <a:lvl1pPr algn="r">
              <a:defRPr sz="1200"/>
            </a:lvl1pPr>
          </a:lstStyle>
          <a:p>
            <a:fld id="{81BAB70A-F45A-47C3-B1C3-08DF0F4D1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10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sz="1200"/>
              <a:t>예를 들어 연인의 카톡내용에서 하트가 대화의 반이고 욕설은 거의 없다</a:t>
            </a:r>
            <a:endParaRPr lang="en-US" altLang="ko-KR" sz="1200"/>
          </a:p>
          <a:p>
            <a:pPr algn="l"/>
            <a:r>
              <a:rPr lang="ko-KR" altLang="en-US" sz="1200"/>
              <a:t>확률로 표현하면 </a:t>
            </a:r>
            <a:r>
              <a:rPr lang="en-US" altLang="ko-KR" sz="1200"/>
              <a:t>P(</a:t>
            </a:r>
            <a:r>
              <a:rPr lang="ko-KR" altLang="en-US" sz="1200"/>
              <a:t>하트</a:t>
            </a:r>
            <a:r>
              <a:rPr lang="en-US" altLang="ko-KR" sz="1200"/>
              <a:t>) = 0.5 P(</a:t>
            </a:r>
            <a:r>
              <a:rPr lang="ko-KR" altLang="en-US" sz="1200"/>
              <a:t>욕설</a:t>
            </a:r>
            <a:r>
              <a:rPr lang="en-US" altLang="ko-KR" sz="1200"/>
              <a:t>) = 0.001</a:t>
            </a:r>
            <a:r>
              <a:rPr lang="ko-KR" altLang="en-US" sz="1200"/>
              <a:t>정도가 된다</a:t>
            </a:r>
            <a:endParaRPr lang="en-US" altLang="ko-KR" sz="1200"/>
          </a:p>
          <a:p>
            <a:pPr algn="l"/>
            <a:endParaRPr lang="en-US" altLang="ko-KR" sz="1200"/>
          </a:p>
          <a:p>
            <a:pPr algn="l"/>
            <a:r>
              <a:rPr lang="ko-KR" altLang="en-US" sz="1200"/>
              <a:t>대화를 인코딩을 할때  </a:t>
            </a:r>
            <a:r>
              <a:rPr lang="en-US" altLang="ko-KR" sz="1200"/>
              <a:t>bit</a:t>
            </a:r>
            <a:r>
              <a:rPr lang="ko-KR" altLang="en-US" sz="1200"/>
              <a:t>로 표현</a:t>
            </a:r>
            <a:endParaRPr lang="en-US" altLang="ko-KR" sz="1200"/>
          </a:p>
          <a:p>
            <a:pPr algn="l"/>
            <a:r>
              <a:rPr lang="ko-KR" altLang="en-US" sz="1200"/>
              <a:t>만약 </a:t>
            </a:r>
            <a:r>
              <a:rPr lang="en-US" altLang="ko-KR" sz="1200"/>
              <a:t>/// -&gt; </a:t>
            </a:r>
            <a:r>
              <a:rPr lang="ko-KR" altLang="en-US" sz="1200"/>
              <a:t>하트</a:t>
            </a:r>
            <a:r>
              <a:rPr lang="en-US" altLang="ko-KR" sz="1200"/>
              <a:t>,   o -&gt;</a:t>
            </a:r>
            <a:r>
              <a:rPr lang="ko-KR" altLang="en-US" sz="1200"/>
              <a:t>욕설일때  하트를 </a:t>
            </a:r>
            <a:r>
              <a:rPr lang="en-US" altLang="ko-KR" sz="1200"/>
              <a:t>4</a:t>
            </a:r>
            <a:r>
              <a:rPr lang="ko-KR" altLang="en-US" sz="1200"/>
              <a:t>번 보낸다 했을때  </a:t>
            </a:r>
            <a:r>
              <a:rPr lang="en-US" altLang="ko-KR" sz="1200"/>
              <a:t>///,///,///,///</a:t>
            </a:r>
            <a:r>
              <a:rPr lang="ko-KR" altLang="en-US" sz="1200"/>
              <a:t>의 길이가 되는 반면</a:t>
            </a:r>
            <a:endParaRPr lang="en-US" altLang="ko-KR" sz="1200"/>
          </a:p>
          <a:p>
            <a:pPr algn="l"/>
            <a:r>
              <a:rPr lang="ko-KR" altLang="en-US" sz="1200"/>
              <a:t>욕설을 </a:t>
            </a:r>
            <a:r>
              <a:rPr lang="en-US" altLang="ko-KR" sz="1200"/>
              <a:t>4</a:t>
            </a:r>
            <a:r>
              <a:rPr lang="ko-KR" altLang="en-US" sz="1200"/>
              <a:t>번 보낼땐 </a:t>
            </a:r>
            <a:r>
              <a:rPr lang="en-US" altLang="ko-KR" sz="1200"/>
              <a:t>o,o,o,o </a:t>
            </a:r>
            <a:r>
              <a:rPr lang="ko-KR" altLang="en-US" sz="1200"/>
              <a:t>대화의 반이 하트를 사용하는데 길이가 길고 욕설은 짧다</a:t>
            </a:r>
            <a:endParaRPr lang="en-US" altLang="ko-KR" sz="1200"/>
          </a:p>
          <a:p>
            <a:pPr algn="l"/>
            <a:r>
              <a:rPr lang="ko-KR" altLang="en-US" sz="1200"/>
              <a:t>비효율적이다</a:t>
            </a:r>
            <a:endParaRPr lang="en-US" altLang="ko-KR" sz="1200"/>
          </a:p>
          <a:p>
            <a:pPr algn="l"/>
            <a:r>
              <a:rPr lang="ko-KR" altLang="en-US" sz="1200"/>
              <a:t>이 두개의 예시를 바꿔보면 더 효율적일 것이다</a:t>
            </a:r>
            <a:r>
              <a:rPr lang="en-US" altLang="ko-KR" sz="1200"/>
              <a:t>.</a:t>
            </a:r>
          </a:p>
          <a:p>
            <a:pPr algn="l"/>
            <a:endParaRPr lang="en-US" altLang="ko-KR" sz="1200"/>
          </a:p>
          <a:p>
            <a:pPr algn="l"/>
            <a:r>
              <a:rPr lang="ko-KR" altLang="en-US" sz="1200"/>
              <a:t>확률에 따라 확률이 낮은 것을 길게 코딩</a:t>
            </a:r>
            <a:r>
              <a:rPr lang="en-US" altLang="ko-KR" sz="1200"/>
              <a:t>, </a:t>
            </a:r>
            <a:r>
              <a:rPr lang="ko-KR" altLang="en-US" sz="1200"/>
              <a:t>높으면 짧게 코딩</a:t>
            </a:r>
            <a:endParaRPr lang="en-US" altLang="ko-KR" sz="1200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B70A-F45A-47C3-B1C3-08DF0F4D192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374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B70A-F45A-47C3-B1C3-08DF0F4D192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299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연애를 하는 동안 같이 먹었던 음식을 횟수로 정리한 히스토그램표이다</a:t>
            </a:r>
            <a:endParaRPr lang="en-US" altLang="ko-KR"/>
          </a:p>
          <a:p>
            <a:r>
              <a:rPr lang="ko-KR" altLang="en-US"/>
              <a:t>확률적으로 군만두가 높기때문에 여자친구가 어떤걸 먹고싶어하는지는 확률표를 보고 군만두라고 말할 수 있다</a:t>
            </a:r>
            <a:endParaRPr lang="en-US" altLang="ko-KR"/>
          </a:p>
          <a:p>
            <a:r>
              <a:rPr lang="ko-KR" altLang="en-US"/>
              <a:t>그렇게 되면 전체적인 횟수가 늘어나지만 군만두의 확률만 높아짐</a:t>
            </a:r>
            <a:endParaRPr lang="en-US" altLang="ko-KR"/>
          </a:p>
          <a:p>
            <a:r>
              <a:rPr lang="ko-KR" altLang="en-US"/>
              <a:t>군만두 질려서 먹기 싫다고 헤어짐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다음에는 좀 더 다른 방향으로 제안함</a:t>
            </a:r>
            <a:endParaRPr lang="en-US" altLang="ko-KR"/>
          </a:p>
          <a:p>
            <a:r>
              <a:rPr lang="ko-KR" altLang="en-US"/>
              <a:t>어떤 음식을 먹었을 때의 영향요인을 정리한 표 정리한것</a:t>
            </a:r>
            <a:r>
              <a:rPr lang="en-US" altLang="ko-KR"/>
              <a:t>, </a:t>
            </a:r>
            <a:r>
              <a:rPr lang="ko-KR" altLang="en-US"/>
              <a:t>그래서 이를 기반으로 저번의 파스타를 먹었을때의 오늘과 같은 영향요인이기 떄문에</a:t>
            </a:r>
            <a:endParaRPr lang="en-US" altLang="ko-KR"/>
          </a:p>
          <a:p>
            <a:r>
              <a:rPr lang="ko-KR" altLang="en-US"/>
              <a:t>파스타 선택했지만 </a:t>
            </a:r>
            <a:r>
              <a:rPr lang="en-US" altLang="ko-KR"/>
              <a:t>p(d|</a:t>
            </a:r>
            <a:r>
              <a:rPr lang="ko-KR" altLang="en-US"/>
              <a:t>파스타</a:t>
            </a:r>
            <a:r>
              <a:rPr lang="en-US" altLang="ko-KR"/>
              <a:t>), </a:t>
            </a:r>
            <a:r>
              <a:rPr lang="ko-KR" altLang="en-US"/>
              <a:t>오늘같은날 뭐 먹고싶은지 말해야지 무슨상관이냐 </a:t>
            </a:r>
            <a:r>
              <a:rPr lang="en-US" altLang="ko-KR"/>
              <a:t>p(f|data)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B70A-F45A-47C3-B1C3-08DF0F4D192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857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남자친구 센스없어서 헤어짐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이제는 </a:t>
            </a:r>
            <a:r>
              <a:rPr lang="en-US" altLang="ko-KR"/>
              <a:t>episode 1</a:t>
            </a:r>
            <a:r>
              <a:rPr lang="ko-KR" altLang="en-US"/>
              <a:t>에서 모은 </a:t>
            </a:r>
            <a:r>
              <a:rPr lang="en-US" altLang="ko-KR"/>
              <a:t>prior probability</a:t>
            </a:r>
            <a:r>
              <a:rPr lang="ko-KR" altLang="en-US"/>
              <a:t>와 </a:t>
            </a:r>
            <a:r>
              <a:rPr lang="en-US" altLang="ko-KR"/>
              <a:t>2</a:t>
            </a:r>
            <a:r>
              <a:rPr lang="ko-KR" altLang="en-US"/>
              <a:t>에서 모은 </a:t>
            </a:r>
            <a:r>
              <a:rPr lang="en-US" altLang="ko-KR"/>
              <a:t>likelihood</a:t>
            </a:r>
            <a:r>
              <a:rPr lang="ko-KR" altLang="en-US"/>
              <a:t>의 정보가 있다</a:t>
            </a:r>
            <a:endParaRPr lang="en-US" altLang="ko-KR"/>
          </a:p>
          <a:p>
            <a:r>
              <a:rPr lang="ko-KR" altLang="en-US"/>
              <a:t>다양한 방법으로 접근해보자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다시 정리해보면 여자친구는 </a:t>
            </a:r>
            <a:r>
              <a:rPr lang="en-US" altLang="ko-KR"/>
              <a:t>p(food|data)</a:t>
            </a:r>
            <a:r>
              <a:rPr lang="ko-KR" altLang="en-US"/>
              <a:t>를 원하고 나는 </a:t>
            </a:r>
            <a:r>
              <a:rPr lang="en-US" altLang="ko-KR"/>
              <a:t>likelihood p(data|food)</a:t>
            </a:r>
            <a:r>
              <a:rPr lang="ko-KR" altLang="en-US"/>
              <a:t>의 정보가 있고 사전에 </a:t>
            </a:r>
            <a:r>
              <a:rPr lang="en-US" altLang="ko-KR"/>
              <a:t>prior probability</a:t>
            </a:r>
            <a:r>
              <a:rPr lang="ko-KR" altLang="en-US"/>
              <a:t>가 있다면</a:t>
            </a:r>
            <a:endParaRPr lang="en-US" altLang="ko-KR"/>
          </a:p>
          <a:p>
            <a:r>
              <a:rPr lang="ko-KR" altLang="en-US"/>
              <a:t>어떠한 법칙이 생각 나지 않는가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B70A-F45A-47C3-B1C3-08DF0F4D192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23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현실적으로 사전확률을 얻기 쉽지않거나 잘못 구하게 되면 큰일남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베이지안 룰에서 </a:t>
            </a:r>
            <a:r>
              <a:rPr lang="en-US" altLang="ko-KR"/>
              <a:t>p(b)</a:t>
            </a:r>
            <a:r>
              <a:rPr lang="ko-KR" altLang="en-US"/>
              <a:t>는 </a:t>
            </a:r>
            <a:r>
              <a:rPr lang="en-US" altLang="ko-KR" b="0" i="0">
                <a:solidFill>
                  <a:srgbClr val="333333"/>
                </a:solidFill>
                <a:effectLst/>
                <a:latin typeface="Jeju Gothic"/>
              </a:rPr>
              <a:t>Normalizing constant</a:t>
            </a:r>
            <a:r>
              <a:rPr lang="ko-KR" altLang="en-US" b="0" i="0">
                <a:solidFill>
                  <a:srgbClr val="333333"/>
                </a:solidFill>
                <a:effectLst/>
                <a:latin typeface="Jeju Gothic"/>
              </a:rPr>
              <a:t>임으로 무시가능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B70A-F45A-47C3-B1C3-08DF0F4D192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90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345" y="1693545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10105"/>
            <a:ext cx="9144000" cy="11093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355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740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텍스트 개체 틀 6"/>
          <p:cNvSpPr txBox="1">
            <a:spLocks noGrp="1"/>
          </p:cNvSpPr>
          <p:nvPr>
            <p:ph type="body" sz="quarter" idx="14"/>
          </p:nvPr>
        </p:nvSpPr>
        <p:spPr>
          <a:xfrm>
            <a:off x="0" y="4535805"/>
            <a:ext cx="9144635" cy="47561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algn="ctr" latinLnBrk="0">
              <a:buFontTx/>
              <a:buNone/>
              <a:defRPr lang="en-GB" alt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charset="0"/>
                <a:ea typeface="HY견고딕" charset="0"/>
              </a:defRPr>
            </a:lvl1pPr>
          </a:lstStyle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37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150" y="1693649"/>
            <a:ext cx="9144000" cy="2582059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359"/>
            <a:ext cx="9144000" cy="1956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11"/>
            <a:ext cx="9144000" cy="1707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A12FF3-B48F-4CEB-A598-F2FF8F12B519}"/>
              </a:ext>
            </a:extLst>
          </p:cNvPr>
          <p:cNvSpPr/>
          <p:nvPr userDrawn="1"/>
        </p:nvSpPr>
        <p:spPr>
          <a:xfrm>
            <a:off x="0" y="5939395"/>
            <a:ext cx="9144000" cy="918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AAD1CA-9854-4AD2-9A09-9128641DB0C3}"/>
              </a:ext>
            </a:extLst>
          </p:cNvPr>
          <p:cNvGrpSpPr/>
          <p:nvPr userDrawn="1"/>
        </p:nvGrpSpPr>
        <p:grpSpPr>
          <a:xfrm>
            <a:off x="6985686" y="5020795"/>
            <a:ext cx="2158314" cy="1837205"/>
            <a:chOff x="9919316" y="4585315"/>
            <a:chExt cx="2272684" cy="2272684"/>
          </a:xfrm>
        </p:grpSpPr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909E612A-71C7-4167-80E9-977EAF958603}"/>
                </a:ext>
              </a:extLst>
            </p:cNvPr>
            <p:cNvSpPr/>
            <p:nvPr/>
          </p:nvSpPr>
          <p:spPr>
            <a:xfrm rot="5400000">
              <a:off x="11055658" y="4585315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FF4A6971-B874-4CDC-9E32-6F72593F0560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A4CB350A-E6D0-4928-9917-C0668D0FD153}"/>
                </a:ext>
              </a:extLst>
            </p:cNvPr>
            <p:cNvSpPr/>
            <p:nvPr/>
          </p:nvSpPr>
          <p:spPr>
            <a:xfrm rot="5400000">
              <a:off x="11055658" y="5721657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8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09788"/>
            <a:ext cx="9144000" cy="11096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292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86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0" y="453567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161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83305" y="236918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83305" y="1450975"/>
            <a:ext cx="4315460" cy="356870"/>
            <a:chOff x="3583305" y="1450975"/>
            <a:chExt cx="4315460" cy="356870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83305" y="326961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grpSp>
        <p:nvGrpSpPr>
          <p:cNvPr id="15" name="그룹 14"/>
          <p:cNvGrpSpPr/>
          <p:nvPr userDrawn="1"/>
        </p:nvGrpSpPr>
        <p:grpSpPr>
          <a:xfrm>
            <a:off x="3583305" y="4170045"/>
            <a:ext cx="4330700" cy="338455"/>
            <a:chOff x="3583305" y="4170045"/>
            <a:chExt cx="4330700" cy="338455"/>
          </a:xfrm>
        </p:grpSpPr>
        <p:sp>
          <p:nvSpPr>
            <p:cNvPr id="23" name="TextBox 22"/>
            <p:cNvSpPr txBox="1">
              <a:spLocks/>
            </p:cNvSpPr>
            <p:nvPr userDrawn="1"/>
          </p:nvSpPr>
          <p:spPr>
            <a:xfrm>
              <a:off x="3583305" y="4170045"/>
              <a:ext cx="337375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4.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3674745" y="450850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8B66F11-5D02-4F59-B59B-8EE82468D934}"/>
              </a:ext>
            </a:extLst>
          </p:cNvPr>
          <p:cNvGrpSpPr/>
          <p:nvPr userDrawn="1"/>
        </p:nvGrpSpPr>
        <p:grpSpPr>
          <a:xfrm>
            <a:off x="3583305" y="5067935"/>
            <a:ext cx="6702425" cy="339090"/>
            <a:chOff x="3583305" y="5067935"/>
            <a:chExt cx="6702425" cy="339090"/>
          </a:xfrm>
        </p:grpSpPr>
        <p:sp>
          <p:nvSpPr>
            <p:cNvPr id="27" name="TextBox 26"/>
            <p:cNvSpPr txBox="1">
              <a:spLocks/>
            </p:cNvSpPr>
            <p:nvPr userDrawn="1"/>
          </p:nvSpPr>
          <p:spPr>
            <a:xfrm>
              <a:off x="3583305" y="5067935"/>
              <a:ext cx="670306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5.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3674745" y="540702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텍스트 상자 1"/>
          <p:cNvSpPr txBox="1">
            <a:spLocks/>
          </p:cNvSpPr>
          <p:nvPr/>
        </p:nvSpPr>
        <p:spPr>
          <a:xfrm>
            <a:off x="3940175" y="1471295"/>
            <a:ext cx="3500755" cy="34163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79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49650" y="303847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49650" y="2120265"/>
            <a:ext cx="4316095" cy="357505"/>
            <a:chOff x="3583305" y="1450975"/>
            <a:chExt cx="4316095" cy="357505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49650" y="393890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0D4A21-775F-47F7-8A71-3C0AB26EA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5875" y="2120265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111D8129-9C51-4746-B42C-E30B0CFFB1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6510" y="302641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40" name="텍스트 개체 틀 2">
            <a:extLst>
              <a:ext uri="{FF2B5EF4-FFF2-40B4-BE49-F238E27FC236}">
                <a16:creationId xmlns:a16="http://schemas.microsoft.com/office/drawing/2014/main" id="{FBA89A38-4604-4945-B611-7E24E9FFC8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510" y="391287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74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0"/>
            <a:ext cx="9144000" cy="103632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  <a:tileRect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268605" y="531495"/>
            <a:ext cx="605726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39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 userDrawn="1"/>
        </p:nvSpPr>
        <p:spPr>
          <a:xfrm>
            <a:off x="0" y="1032510"/>
            <a:ext cx="9144000" cy="1009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직사각형 51"/>
          <p:cNvSpPr/>
          <p:nvPr userDrawn="1"/>
        </p:nvSpPr>
        <p:spPr>
          <a:xfrm>
            <a:off x="0" y="644271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68770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4824730" y="1054735"/>
            <a:ext cx="4301490" cy="247650"/>
            <a:chOff x="4824730" y="1054735"/>
            <a:chExt cx="4301490" cy="247650"/>
          </a:xfrm>
        </p:grpSpPr>
        <p:sp>
          <p:nvSpPr>
            <p:cNvPr id="29" name="직사각형 28"/>
            <p:cNvSpPr/>
            <p:nvPr userDrawn="1"/>
          </p:nvSpPr>
          <p:spPr>
            <a:xfrm>
              <a:off x="4824730" y="1056005"/>
              <a:ext cx="2148840" cy="2463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INTRODUCTION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A677E20-C4CE-43D7-8121-447A3D04B307}"/>
                </a:ext>
              </a:extLst>
            </p:cNvPr>
            <p:cNvSpPr/>
            <p:nvPr userDrawn="1"/>
          </p:nvSpPr>
          <p:spPr>
            <a:xfrm>
              <a:off x="6977380" y="1054735"/>
              <a:ext cx="2148840" cy="24638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PROJECT</a:t>
              </a:r>
              <a:endParaRPr lang="ko-KR" altLang="en-US" sz="105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2" name="텍스트 개체 틀 21"/>
          <p:cNvSpPr>
            <a:spLocks noGrp="1"/>
          </p:cNvSpPr>
          <p:nvPr>
            <p:ph type="body" sz="quarter" idx="11" hasCustomPrompt="1"/>
          </p:nvPr>
        </p:nvSpPr>
        <p:spPr>
          <a:xfrm>
            <a:off x="268605" y="219710"/>
            <a:ext cx="4898390" cy="41846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pPr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  <a:latin typeface="맑은 고딕" charset="0"/>
                <a:ea typeface="맑은 고딕" charset="0"/>
                <a:cs typeface="+mn-cs"/>
              </a:rPr>
              <a:t>PORTFOLIO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  <a:latin typeface="맑은 고딕" charset="0"/>
              <a:ea typeface="맑은 고딕" charset="0"/>
              <a:cs typeface="+mn-cs"/>
            </a:endParaRPr>
          </a:p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30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Cross Entropy</a:t>
                </a: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 Entropy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53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Cross Entropy</a:t>
                </a: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Entropy</a:t>
                </a: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771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Cross Entropy</a:t>
                </a: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Entropy</a:t>
                </a: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037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직사각형 6"/>
          <p:cNvSpPr>
            <a:spLocks/>
          </p:cNvSpPr>
          <p:nvPr userDrawn="1"/>
        </p:nvSpPr>
        <p:spPr>
          <a:xfrm>
            <a:off x="0" y="716280"/>
            <a:ext cx="9144635" cy="1016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solidFill>
                <a:schemeClr val="accent5">
                  <a:lumMod val="50000"/>
                </a:schemeClr>
              </a:solidFill>
              <a:latin typeface="HY견고딕" charset="0"/>
              <a:ea typeface="HY견고딕" charset="0"/>
            </a:endParaRPr>
          </a:p>
        </p:txBody>
      </p:sp>
      <p:sp>
        <p:nvSpPr>
          <p:cNvPr id="3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r>
              <a:rPr lang="ko-KR" altLang="en-US" sz="1600" b="1">
                <a:latin typeface="Arial Black" charset="0"/>
              </a:rPr>
              <a:t>참고</a:t>
            </a: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74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자유형 5"/>
          <p:cNvSpPr/>
          <p:nvPr userDrawn="1"/>
        </p:nvSpPr>
        <p:spPr>
          <a:xfrm>
            <a:off x="-220345" y="1868170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TextBox 6"/>
          <p:cNvSpPr txBox="1"/>
          <p:nvPr userDrawn="1"/>
        </p:nvSpPr>
        <p:spPr>
          <a:xfrm>
            <a:off x="1285240" y="2482215"/>
            <a:ext cx="6777990" cy="76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0"/>
            <a:r>
              <a:rPr lang="ko-KR" altLang="en-US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  <a:r>
              <a:rPr lang="en-US" altLang="ko-KR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32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6721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D494E-9A8C-4064-A675-DDDE5251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" y="1710055"/>
            <a:ext cx="7886700" cy="28524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86235-E225-44F2-AEE7-6594F1FE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205" y="4589780"/>
            <a:ext cx="7886700" cy="149987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E81B25-1300-449B-BED3-50A8067F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8035" cy="365760"/>
          </a:xfrm>
        </p:spPr>
        <p:txBody>
          <a:bodyPr/>
          <a:lstStyle/>
          <a:p>
            <a:fld id="{886427A3-7A7B-471F-9052-B4F6CB5735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17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11BA9C9-ACA8-4929-8E38-3AE1CAD68E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94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33" r:id="rId4"/>
    <p:sldLayoutId id="2147483728" r:id="rId5"/>
    <p:sldLayoutId id="2147483734" r:id="rId6"/>
    <p:sldLayoutId id="2147483735" r:id="rId7"/>
    <p:sldLayoutId id="2147483736" r:id="rId8"/>
    <p:sldLayoutId id="2147483737" r:id="rId9"/>
    <p:sldLayoutId id="2147483730" r:id="rId10"/>
    <p:sldLayoutId id="214748373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zzsza.github.io/data/2018/04/19/rule-based-machine-learning-overview/" TargetMode="External"/><Relationship Id="rId2" Type="http://schemas.openxmlformats.org/officeDocument/2006/relationships/hyperlink" Target="https://www.edwith.org/machinelearning1_17/lecture/10580?isDesc=false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gaussian37.github.io/ml-concept-basic_information_theory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yeongminlee.github.io/post/bnn002_mle_map/" TargetMode="External"/><Relationship Id="rId2" Type="http://schemas.openxmlformats.org/officeDocument/2006/relationships/hyperlink" Target="https://warm-uk.tistory.com/49" TargetMode="Externa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6600825" y="5478145"/>
            <a:ext cx="2542540" cy="496570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UST21 부설 연구소 </a:t>
            </a:r>
          </a:p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김지훈</a:t>
            </a:r>
          </a:p>
        </p:txBody>
      </p:sp>
      <p:sp>
        <p:nvSpPr>
          <p:cNvPr id="5" name="직사각형 4"/>
          <p:cNvSpPr>
            <a:spLocks/>
          </p:cNvSpPr>
          <p:nvPr/>
        </p:nvSpPr>
        <p:spPr>
          <a:xfrm>
            <a:off x="0" y="2234565"/>
            <a:ext cx="9145270" cy="1419225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6000" b="0">
                <a:solidFill>
                  <a:schemeClr val="tx1"/>
                </a:solidFill>
              </a:rPr>
              <a:t>데이터사이언스</a:t>
            </a:r>
          </a:p>
        </p:txBody>
      </p:sp>
    </p:spTree>
    <p:extLst>
      <p:ext uri="{BB962C8B-B14F-4D97-AF65-F5344CB8AC3E}">
        <p14:creationId xmlns:p14="http://schemas.microsoft.com/office/powerpoint/2010/main" val="423025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2E4E8A-2A43-4E8E-937D-DF191A71E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705" y="3703955"/>
            <a:ext cx="7886700" cy="2852420"/>
          </a:xfrm>
        </p:spPr>
        <p:txBody>
          <a:bodyPr/>
          <a:lstStyle/>
          <a:p>
            <a:r>
              <a:rPr lang="en-US" altLang="ko-KR"/>
              <a:t>https://soundprovider.tistory.com/entry/3-Maximum-Likelihood-EstimationMLE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F6C541-F24D-4141-B8A2-9A4EBEA52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23E28C-5224-4AEA-A6FC-CE90662F4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338" y="995580"/>
            <a:ext cx="5001323" cy="714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ED86E2-34F0-4EA7-BD37-4F3EB968DA29}"/>
              </a:ext>
            </a:extLst>
          </p:cNvPr>
          <p:cNvSpPr txBox="1"/>
          <p:nvPr/>
        </p:nvSpPr>
        <p:spPr>
          <a:xfrm>
            <a:off x="774700" y="194388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https://www.youtube.com/watch?v=fVY45dhzetw</a:t>
            </a:r>
          </a:p>
        </p:txBody>
      </p:sp>
    </p:spTree>
    <p:extLst>
      <p:ext uri="{BB962C8B-B14F-4D97-AF65-F5344CB8AC3E}">
        <p14:creationId xmlns:p14="http://schemas.microsoft.com/office/powerpoint/2010/main" val="1487501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상자 6"/>
          <p:cNvSpPr txBox="1">
            <a:spLocks/>
          </p:cNvSpPr>
          <p:nvPr/>
        </p:nvSpPr>
        <p:spPr>
          <a:xfrm>
            <a:off x="3890645" y="5037455"/>
            <a:ext cx="3508375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95A8B6C-64EB-49EA-B8E4-B4CEECCF63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0644" y="2102801"/>
            <a:ext cx="4739549" cy="370205"/>
          </a:xfrm>
        </p:spPr>
        <p:txBody>
          <a:bodyPr/>
          <a:lstStyle/>
          <a:p>
            <a:r>
              <a:rPr lang="en-US" altLang="ko-KR" sz="2400"/>
              <a:t>Entropy</a:t>
            </a:r>
            <a:endParaRPr lang="ko-KR" altLang="en-US" sz="2400"/>
          </a:p>
        </p:txBody>
      </p:sp>
      <p:sp>
        <p:nvSpPr>
          <p:cNvPr id="15" name="텍스트 개체 틀 6">
            <a:extLst>
              <a:ext uri="{FF2B5EF4-FFF2-40B4-BE49-F238E27FC236}">
                <a16:creationId xmlns:a16="http://schemas.microsoft.com/office/drawing/2014/main" id="{0848AE5B-1115-44CA-B0EE-2DA9F36489C1}"/>
              </a:ext>
            </a:extLst>
          </p:cNvPr>
          <p:cNvSpPr txBox="1">
            <a:spLocks/>
          </p:cNvSpPr>
          <p:nvPr/>
        </p:nvSpPr>
        <p:spPr>
          <a:xfrm>
            <a:off x="3890645" y="3885881"/>
            <a:ext cx="37211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641D312C-478B-4F9C-87EE-A8124196DF70}"/>
              </a:ext>
            </a:extLst>
          </p:cNvPr>
          <p:cNvSpPr txBox="1">
            <a:spLocks/>
          </p:cNvSpPr>
          <p:nvPr/>
        </p:nvSpPr>
        <p:spPr>
          <a:xfrm>
            <a:off x="3890645" y="3893741"/>
            <a:ext cx="4070507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83C7C7-E020-4758-B66D-60925D120BF6}"/>
              </a:ext>
            </a:extLst>
          </p:cNvPr>
          <p:cNvSpPr txBox="1"/>
          <p:nvPr/>
        </p:nvSpPr>
        <p:spPr>
          <a:xfrm>
            <a:off x="5133975" y="180975"/>
            <a:ext cx="88998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100"/>
              <a:t>테일러급수</a:t>
            </a:r>
            <a:endParaRPr lang="en-US" altLang="ko-KR" sz="1100"/>
          </a:p>
          <a:p>
            <a:pPr algn="l"/>
            <a:r>
              <a:rPr lang="en-US" altLang="ko-KR" sz="1100"/>
              <a:t>Mae mle</a:t>
            </a:r>
          </a:p>
          <a:p>
            <a:pPr algn="l"/>
            <a:r>
              <a:rPr lang="ko-KR" altLang="en-US" sz="1100"/>
              <a:t>엔트로피</a:t>
            </a:r>
          </a:p>
        </p:txBody>
      </p:sp>
      <p:sp>
        <p:nvSpPr>
          <p:cNvPr id="9" name="텍스트 개체 틀 6">
            <a:extLst>
              <a:ext uri="{FF2B5EF4-FFF2-40B4-BE49-F238E27FC236}">
                <a16:creationId xmlns:a16="http://schemas.microsoft.com/office/drawing/2014/main" id="{58D61788-ED8E-43CC-B78F-8A88FA0F6935}"/>
              </a:ext>
            </a:extLst>
          </p:cNvPr>
          <p:cNvSpPr txBox="1">
            <a:spLocks/>
          </p:cNvSpPr>
          <p:nvPr/>
        </p:nvSpPr>
        <p:spPr>
          <a:xfrm>
            <a:off x="3890643" y="2998811"/>
            <a:ext cx="4739549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MLE</a:t>
            </a:r>
            <a:endParaRPr lang="ko-KR" altLang="en-US"/>
          </a:p>
        </p:txBody>
      </p:sp>
      <p:sp>
        <p:nvSpPr>
          <p:cNvPr id="10" name="텍스트 개체 틀 6">
            <a:extLst>
              <a:ext uri="{FF2B5EF4-FFF2-40B4-BE49-F238E27FC236}">
                <a16:creationId xmlns:a16="http://schemas.microsoft.com/office/drawing/2014/main" id="{1A0ECC17-855D-46A3-B054-01407D5569FB}"/>
              </a:ext>
            </a:extLst>
          </p:cNvPr>
          <p:cNvSpPr txBox="1">
            <a:spLocks/>
          </p:cNvSpPr>
          <p:nvPr/>
        </p:nvSpPr>
        <p:spPr>
          <a:xfrm>
            <a:off x="3890643" y="3901601"/>
            <a:ext cx="4739549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MAP</a:t>
            </a: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F85CBCE-26DA-4B65-83BE-DA9FB14AAC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Entropy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BDF497-DEF0-47D8-8489-405BC6247D75}"/>
                  </a:ext>
                </a:extLst>
              </p:cNvPr>
              <p:cNvSpPr txBox="1"/>
              <p:nvPr/>
            </p:nvSpPr>
            <p:spPr>
              <a:xfrm>
                <a:off x="247650" y="1247775"/>
                <a:ext cx="8658225" cy="16158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&lt;Entropy&gt;</a:t>
                </a:r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불확실성의 척도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정보를 표현하는데 필요한 최소 평균 자원량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정보이론에서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정보를 정량화 하는 단위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정보가 클 수록 엔트로피가 크고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정보가 작으면 엔트로피가 작음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정보량의 수식</a:t>
                </a:r>
                <a:endParaRPr lang="en-US" altLang="ko-KR" sz="110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sz="1100" b="0"/>
              </a:p>
              <a:p>
                <a:pPr algn="l"/>
                <a:r>
                  <a:rPr lang="ko-KR" altLang="en-US" sz="1100"/>
                  <a:t> </a:t>
                </a:r>
                <a:r>
                  <a:rPr lang="en-US" altLang="ko-KR" sz="1100"/>
                  <a:t>- </a:t>
                </a:r>
                <a:r>
                  <a:rPr lang="ko-KR" altLang="en-US" sz="1100"/>
                  <a:t>섀넌은 불확실성의 측정을 엔트로피라 했으며 </a:t>
                </a:r>
                <a:r>
                  <a:rPr lang="en-US" altLang="ko-KR" sz="1100"/>
                  <a:t>bit</a:t>
                </a:r>
                <a:r>
                  <a:rPr lang="ko-KR" altLang="en-US" sz="1100"/>
                  <a:t>로 단위로 사용</a:t>
                </a:r>
                <a:endParaRPr lang="en-US" altLang="ko-KR" sz="1100"/>
              </a:p>
              <a:p>
                <a:pPr algn="l"/>
                <a:endParaRPr lang="ko-KR" altLang="en-US" sz="11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BDF497-DEF0-47D8-8489-405BC6247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" y="1247775"/>
                <a:ext cx="8658225" cy="1615827"/>
              </a:xfrm>
              <a:prstGeom prst="rect">
                <a:avLst/>
              </a:prstGeom>
              <a:blipFill>
                <a:blip r:embed="rId3"/>
                <a:stretch>
                  <a:fillRect t="-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41A8DC8F-D8A6-4417-A9D7-7F0A38528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4796" y="2186494"/>
            <a:ext cx="2393660" cy="38199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F3CF09-A8BD-4C2C-BE88-837787BEF846}"/>
                  </a:ext>
                </a:extLst>
              </p:cNvPr>
              <p:cNvSpPr txBox="1"/>
              <p:nvPr/>
            </p:nvSpPr>
            <p:spPr>
              <a:xfrm>
                <a:off x="409575" y="2895601"/>
                <a:ext cx="5554726" cy="12804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100"/>
                  <a:t>&lt;Entropy </a:t>
                </a:r>
                <a:r>
                  <a:rPr lang="ko-KR" altLang="en-US" sz="1100"/>
                  <a:t>예시</a:t>
                </a:r>
                <a:r>
                  <a:rPr lang="en-US" altLang="ko-KR" sz="1100"/>
                  <a:t>&gt;</a:t>
                </a:r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하트 </a:t>
                </a:r>
                <a:r>
                  <a:rPr lang="en-US" altLang="ko-KR" sz="1100"/>
                  <a:t>: </a:t>
                </a:r>
                <a:r>
                  <a:rPr lang="ko-KR" altLang="en-US" sz="1100"/>
                  <a:t>대화의 반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욕설 </a:t>
                </a:r>
                <a:r>
                  <a:rPr lang="en-US" altLang="ko-KR" sz="1100"/>
                  <a:t>: </a:t>
                </a:r>
                <a:r>
                  <a:rPr lang="ko-KR" altLang="en-US" sz="1100"/>
                  <a:t>거의 없음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두개의 단어를 확률로 표현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하</m:t>
                    </m:r>
                  </m:oMath>
                </a14:m>
                <a:r>
                  <a:rPr lang="ko-KR" altLang="en-US" sz="1100"/>
                  <a:t>트</a:t>
                </a:r>
                <a:r>
                  <a:rPr lang="en-US" altLang="ko-KR" sz="1100"/>
                  <a:t>) = 0.5,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욕</m:t>
                    </m:r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설</m:t>
                    </m:r>
                  </m:oMath>
                </a14:m>
                <a:r>
                  <a:rPr lang="en-US" altLang="ko-KR" sz="1100"/>
                  <a:t>) = 0.001</a:t>
                </a:r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대화를 인코딩 할 때 </a:t>
                </a:r>
                <a:r>
                  <a:rPr lang="en-US" altLang="ko-KR" sz="1100"/>
                  <a:t>bit(0,1)</a:t>
                </a:r>
                <a:r>
                  <a:rPr lang="ko-KR" altLang="en-US" sz="1100"/>
                  <a:t>로 표현을 한다 했을때 하트 </a:t>
                </a:r>
                <a:r>
                  <a:rPr lang="en-US" altLang="ko-KR" sz="1100"/>
                  <a:t>= ‘///’, </a:t>
                </a:r>
                <a:r>
                  <a:rPr lang="ko-KR" altLang="en-US" sz="1100"/>
                  <a:t>욕설 </a:t>
                </a:r>
                <a:r>
                  <a:rPr lang="en-US" altLang="ko-KR" sz="1100"/>
                  <a:t>= ‘o’</a:t>
                </a:r>
                <a:r>
                  <a:rPr lang="ko-KR" altLang="en-US" sz="1100"/>
                  <a:t>의 형태로 보냄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연인에게 하트를 </a:t>
                </a:r>
                <a:r>
                  <a:rPr lang="en-US" altLang="ko-KR" sz="1100"/>
                  <a:t>4</a:t>
                </a:r>
                <a:r>
                  <a:rPr lang="ko-KR" altLang="en-US" sz="1100"/>
                  <a:t>번 보낼때는 </a:t>
                </a:r>
                <a:r>
                  <a:rPr lang="en-US" altLang="ko-KR" sz="1100"/>
                  <a:t>‘///,///,///,///’</a:t>
                </a:r>
                <a:r>
                  <a:rPr lang="ko-KR" altLang="en-US" sz="1100"/>
                  <a:t>의</a:t>
                </a:r>
                <a:r>
                  <a:rPr lang="en-US" altLang="ko-KR" sz="1100"/>
                  <a:t> </a:t>
                </a:r>
                <a:r>
                  <a:rPr lang="ko-KR" altLang="en-US" sz="1100"/>
                  <a:t>길이이고 욕설일 때는 </a:t>
                </a:r>
                <a:r>
                  <a:rPr lang="en-US" altLang="ko-KR" sz="1100"/>
                  <a:t>‘o,o,o,o’</a:t>
                </a:r>
                <a:r>
                  <a:rPr lang="ko-KR" altLang="en-US" sz="1100"/>
                  <a:t>의 길이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비효율적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하트와 욕설의 형태를 바꾸면</a:t>
                </a:r>
                <a:r>
                  <a:rPr lang="en-US" altLang="ko-KR" sz="1100"/>
                  <a:t>? =&gt; </a:t>
                </a:r>
                <a:r>
                  <a:rPr lang="ko-KR" altLang="en-US" sz="1100"/>
                  <a:t>효율적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확률에 따라 확률이 낮은것을 길게 코딩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확률이 높으면 짧게 코딩 </a:t>
                </a:r>
                <a:r>
                  <a:rPr lang="en-US" altLang="ko-KR" sz="110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F3CF09-A8BD-4C2C-BE88-837787BEF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75" y="2895601"/>
                <a:ext cx="5554726" cy="1280479"/>
              </a:xfrm>
              <a:prstGeom prst="rect">
                <a:avLst/>
              </a:prstGeom>
              <a:blipFill>
                <a:blip r:embed="rId5"/>
                <a:stretch>
                  <a:fillRect t="-476" b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그룹 33">
            <a:extLst>
              <a:ext uri="{FF2B5EF4-FFF2-40B4-BE49-F238E27FC236}">
                <a16:creationId xmlns:a16="http://schemas.microsoft.com/office/drawing/2014/main" id="{B5BED6F5-D7C9-43C0-920C-528B06D51E37}"/>
              </a:ext>
            </a:extLst>
          </p:cNvPr>
          <p:cNvGrpSpPr/>
          <p:nvPr/>
        </p:nvGrpSpPr>
        <p:grpSpPr>
          <a:xfrm>
            <a:off x="1882375" y="4431325"/>
            <a:ext cx="2393659" cy="1788500"/>
            <a:chOff x="952500" y="4267200"/>
            <a:chExt cx="1847530" cy="1489378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3249E686-6A1F-4936-A055-665B9C0B70E7}"/>
                </a:ext>
              </a:extLst>
            </p:cNvPr>
            <p:cNvGrpSpPr/>
            <p:nvPr/>
          </p:nvGrpSpPr>
          <p:grpSpPr>
            <a:xfrm>
              <a:off x="952500" y="4325061"/>
              <a:ext cx="1847530" cy="1431517"/>
              <a:chOff x="952500" y="4325061"/>
              <a:chExt cx="1847530" cy="1431517"/>
            </a:xfrm>
          </p:grpSpPr>
          <p:cxnSp>
            <p:nvCxnSpPr>
              <p:cNvPr id="12" name="직선 화살표 연결선 11">
                <a:extLst>
                  <a:ext uri="{FF2B5EF4-FFF2-40B4-BE49-F238E27FC236}">
                    <a16:creationId xmlns:a16="http://schemas.microsoft.com/office/drawing/2014/main" id="{8D1851B1-FEF4-4DC9-8E4D-109B875B07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3025" y="5489575"/>
                <a:ext cx="138112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화살표 연결선 13">
                <a:extLst>
                  <a:ext uri="{FF2B5EF4-FFF2-40B4-BE49-F238E27FC236}">
                    <a16:creationId xmlns:a16="http://schemas.microsoft.com/office/drawing/2014/main" id="{E8EF66CA-2200-40AB-9011-E709C4365F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3025" y="4325061"/>
                <a:ext cx="0" cy="116451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63BBA901-2692-4BEE-A6D0-972012B4BF9C}"/>
                  </a:ext>
                </a:extLst>
              </p:cNvPr>
              <p:cNvCxnSpPr/>
              <p:nvPr/>
            </p:nvCxnSpPr>
            <p:spPr>
              <a:xfrm>
                <a:off x="2169160" y="5435600"/>
                <a:ext cx="0" cy="1079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ADB8F49-BEEB-4E76-BCFC-AA037E616674}"/>
                  </a:ext>
                </a:extLst>
              </p:cNvPr>
              <p:cNvSpPr txBox="1"/>
              <p:nvPr/>
            </p:nvSpPr>
            <p:spPr>
              <a:xfrm>
                <a:off x="2052639" y="5484183"/>
                <a:ext cx="1524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1</a:t>
                </a:r>
                <a:endParaRPr lang="ko-KR" altLang="en-US" sz="110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6099B78-C114-4174-AEC1-018CB18C8047}"/>
                  </a:ext>
                </a:extLst>
              </p:cNvPr>
              <p:cNvSpPr txBox="1"/>
              <p:nvPr/>
            </p:nvSpPr>
            <p:spPr>
              <a:xfrm>
                <a:off x="952500" y="4362450"/>
                <a:ext cx="52387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길이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07CB429-210B-4148-B517-5B0363FEBB99}"/>
                  </a:ext>
                </a:extLst>
              </p:cNvPr>
              <p:cNvSpPr txBox="1"/>
              <p:nvPr/>
            </p:nvSpPr>
            <p:spPr>
              <a:xfrm>
                <a:off x="2276157" y="5494968"/>
                <a:ext cx="52387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확률</a:t>
                </a:r>
              </a:p>
            </p:txBody>
          </p:sp>
        </p:grp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BCEF114A-01CD-4C22-B6DC-93A4B10FE209}"/>
                </a:ext>
              </a:extLst>
            </p:cNvPr>
            <p:cNvSpPr/>
            <p:nvPr/>
          </p:nvSpPr>
          <p:spPr>
            <a:xfrm>
              <a:off x="1437494" y="4267200"/>
              <a:ext cx="718966" cy="1219200"/>
            </a:xfrm>
            <a:custGeom>
              <a:avLst/>
              <a:gdLst>
                <a:gd name="connsiteX0" fmla="*/ 718966 w 718966"/>
                <a:gd name="connsiteY0" fmla="*/ 1219200 h 1219200"/>
                <a:gd name="connsiteX1" fmla="*/ 337966 w 718966"/>
                <a:gd name="connsiteY1" fmla="*/ 1059180 h 1219200"/>
                <a:gd name="connsiteX2" fmla="*/ 132226 w 718966"/>
                <a:gd name="connsiteY2" fmla="*/ 769620 h 1219200"/>
                <a:gd name="connsiteX3" fmla="*/ 25546 w 718966"/>
                <a:gd name="connsiteY3" fmla="*/ 190500 h 1219200"/>
                <a:gd name="connsiteX4" fmla="*/ 2686 w 718966"/>
                <a:gd name="connsiteY4" fmla="*/ 0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966" h="1219200">
                  <a:moveTo>
                    <a:pt x="718966" y="1219200"/>
                  </a:moveTo>
                  <a:cubicBezTo>
                    <a:pt x="577361" y="1176655"/>
                    <a:pt x="435756" y="1134110"/>
                    <a:pt x="337966" y="1059180"/>
                  </a:cubicBezTo>
                  <a:cubicBezTo>
                    <a:pt x="240176" y="984250"/>
                    <a:pt x="184296" y="914400"/>
                    <a:pt x="132226" y="769620"/>
                  </a:cubicBezTo>
                  <a:cubicBezTo>
                    <a:pt x="80156" y="624840"/>
                    <a:pt x="47136" y="318770"/>
                    <a:pt x="25546" y="190500"/>
                  </a:cubicBezTo>
                  <a:cubicBezTo>
                    <a:pt x="3956" y="62230"/>
                    <a:pt x="-4934" y="35560"/>
                    <a:pt x="2686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F845050-D605-4FCC-8DB8-E0960BFDE3ED}"/>
              </a:ext>
            </a:extLst>
          </p:cNvPr>
          <p:cNvSpPr txBox="1"/>
          <p:nvPr/>
        </p:nvSpPr>
        <p:spPr>
          <a:xfrm>
            <a:off x="4508500" y="1284635"/>
            <a:ext cx="4635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https://warm-uk.tistory.com/49</a:t>
            </a:r>
          </a:p>
        </p:txBody>
      </p:sp>
    </p:spTree>
    <p:extLst>
      <p:ext uri="{BB962C8B-B14F-4D97-AF65-F5344CB8AC3E}">
        <p14:creationId xmlns:p14="http://schemas.microsoft.com/office/powerpoint/2010/main" val="783812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F85CBCE-26DA-4B65-83BE-DA9FB14AAC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Entropy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F3CF09-A8BD-4C2C-BE88-837787BEF846}"/>
                  </a:ext>
                </a:extLst>
              </p:cNvPr>
              <p:cNvSpPr txBox="1"/>
              <p:nvPr/>
            </p:nvSpPr>
            <p:spPr>
              <a:xfrm>
                <a:off x="276225" y="1324226"/>
                <a:ext cx="4844596" cy="21237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100"/>
                  <a:t>&lt;Entropy </a:t>
                </a:r>
                <a:r>
                  <a:rPr lang="ko-KR" altLang="en-US" sz="1100"/>
                  <a:t>예시</a:t>
                </a:r>
                <a:r>
                  <a:rPr lang="en-US" altLang="ko-KR" sz="1100"/>
                  <a:t>&gt;</a:t>
                </a:r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노란선은 </a:t>
                </a:r>
                <a:r>
                  <a:rPr lang="en-US" altLang="ko-KR" sz="1100"/>
                  <a:t>log</a:t>
                </a:r>
                <a:r>
                  <a:rPr lang="ko-KR" altLang="en-US" sz="1100"/>
                  <a:t>함수 뒤집힌게 </a:t>
                </a:r>
                <a:r>
                  <a:rPr lang="en-US" altLang="ko-KR" sz="1100"/>
                  <a:t>–log</a:t>
                </a:r>
                <a:r>
                  <a:rPr lang="ko-KR" altLang="en-US" sz="1100"/>
                  <a:t>함수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즉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파란선은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대화의 하트와 욕설 뿐이 아닌 다른 대화도 오가는데 이러한 랜덤확률 대비</a:t>
                </a:r>
                <a:endParaRPr lang="en-US" altLang="ko-KR" sz="1100"/>
              </a:p>
              <a:p>
                <a:pPr algn="l"/>
                <a:r>
                  <a:rPr lang="en-US" altLang="ko-KR" sz="1100">
                    <a:solidFill>
                      <a:srgbClr val="FFC000"/>
                    </a:solidFill>
                  </a:rPr>
                  <a:t> - </a:t>
                </a:r>
                <a:r>
                  <a:rPr lang="ko-KR" altLang="en-US" sz="1100">
                    <a:solidFill>
                      <a:srgbClr val="FFC000"/>
                    </a:solidFill>
                  </a:rPr>
                  <a:t>최소 자원량을 랜덤한 입장에서 보면 기댓값으로 가야함</a:t>
                </a:r>
                <a:endParaRPr lang="en-US" altLang="ko-KR" sz="1100">
                  <a:solidFill>
                    <a:srgbClr val="FFC000"/>
                  </a:solidFill>
                </a:endParaRPr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 기댓값은 </a:t>
                </a:r>
                <a:r>
                  <a:rPr lang="en-US" altLang="ko-KR" sz="1100"/>
                  <a:t>mean</a:t>
                </a:r>
                <a:r>
                  <a:rPr lang="ko-KR" altLang="en-US" sz="1100"/>
                  <a:t>을 취해야 함으로 </a:t>
                </a:r>
                <a14:m>
                  <m:oMath xmlns:m="http://schemas.openxmlformats.org/officeDocument/2006/math">
                    <m:r>
                      <a:rPr lang="en-US" altLang="ko-KR" sz="1100" b="0" i="0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ko-KR" altLang="en-US" sz="11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func>
                      <m:func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func>
                  </m:oMath>
                </a14:m>
                <a:r>
                  <a:rPr lang="ko-KR" altLang="en-US" sz="1100"/>
                  <a:t>의 식이 됨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예를 들어 </a:t>
                </a:r>
                <a:r>
                  <a:rPr lang="en-US" altLang="ko-KR" sz="1100"/>
                  <a:t>3</a:t>
                </a:r>
                <a:r>
                  <a:rPr lang="ko-KR" altLang="en-US" sz="1100"/>
                  <a:t>개의 랜덤단어가 있다면 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	</a:t>
                </a:r>
                <a:r>
                  <a:rPr lang="ko-KR" altLang="en-US" sz="1100"/>
                  <a:t>길이 </a:t>
                </a:r>
                <a:r>
                  <a:rPr lang="en-US" altLang="ko-KR" sz="1100"/>
                  <a:t>:3, </a:t>
                </a:r>
                <a:r>
                  <a:rPr lang="ko-KR" altLang="en-US" sz="1100"/>
                  <a:t>확률</a:t>
                </a:r>
                <a:r>
                  <a:rPr lang="en-US" altLang="ko-KR" sz="1100"/>
                  <a:t>:</a:t>
                </a:r>
                <a:r>
                  <a:rPr lang="ko-KR" altLang="en-US" sz="1100"/>
                  <a:t> </a:t>
                </a:r>
                <a:r>
                  <a:rPr lang="en-US" altLang="ko-KR" sz="1100"/>
                  <a:t>1/3</a:t>
                </a:r>
              </a:p>
              <a:p>
                <a:pPr algn="l"/>
                <a:r>
                  <a:rPr lang="en-US" altLang="ko-KR" sz="1100"/>
                  <a:t>	</a:t>
                </a:r>
                <a:r>
                  <a:rPr lang="ko-KR" altLang="en-US" sz="1100"/>
                  <a:t>길이 </a:t>
                </a:r>
                <a:r>
                  <a:rPr lang="en-US" altLang="ko-KR" sz="1100"/>
                  <a:t>:4 ,</a:t>
                </a:r>
                <a:r>
                  <a:rPr lang="ko-KR" altLang="en-US" sz="1100"/>
                  <a:t>확률</a:t>
                </a:r>
                <a:r>
                  <a:rPr lang="en-US" altLang="ko-KR" sz="1100"/>
                  <a:t>: 1/4 </a:t>
                </a:r>
              </a:p>
              <a:p>
                <a:pPr algn="l"/>
                <a:r>
                  <a:rPr lang="en-US" altLang="ko-KR" sz="1100"/>
                  <a:t>	</a:t>
                </a:r>
                <a:r>
                  <a:rPr lang="ko-KR" altLang="en-US" sz="1100"/>
                  <a:t>길이</a:t>
                </a:r>
                <a:r>
                  <a:rPr lang="en-US" altLang="ko-KR" sz="1100"/>
                  <a:t>: 5, </a:t>
                </a:r>
                <a:r>
                  <a:rPr lang="ko-KR" altLang="en-US" sz="1100"/>
                  <a:t>확률</a:t>
                </a:r>
                <a:r>
                  <a:rPr lang="en-US" altLang="ko-KR" sz="1100"/>
                  <a:t>: 1/5</a:t>
                </a:r>
              </a:p>
              <a:p>
                <a:pPr marL="171450" indent="-171450" algn="l">
                  <a:buFontTx/>
                  <a:buChar char="-"/>
                </a:pPr>
                <a:r>
                  <a:rPr lang="ko-KR" altLang="en-US" sz="1100"/>
                  <a:t>위의 식처럼 되고 식은 자원량의 최소 기댓값이 된다</a:t>
                </a:r>
                <a:endParaRPr lang="en-US" altLang="ko-KR" sz="1100"/>
              </a:p>
              <a:p>
                <a:pPr algn="l"/>
                <a:endParaRPr lang="en-US" altLang="ko-KR" sz="110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F3CF09-A8BD-4C2C-BE88-837787BEF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5" y="1324226"/>
                <a:ext cx="4844596" cy="2123787"/>
              </a:xfrm>
              <a:prstGeom prst="rect">
                <a:avLst/>
              </a:prstGeom>
              <a:blipFill>
                <a:blip r:embed="rId3"/>
                <a:stretch>
                  <a:fillRect t="-2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그룹 33">
            <a:extLst>
              <a:ext uri="{FF2B5EF4-FFF2-40B4-BE49-F238E27FC236}">
                <a16:creationId xmlns:a16="http://schemas.microsoft.com/office/drawing/2014/main" id="{B5BED6F5-D7C9-43C0-920C-528B06D51E37}"/>
              </a:ext>
            </a:extLst>
          </p:cNvPr>
          <p:cNvGrpSpPr/>
          <p:nvPr/>
        </p:nvGrpSpPr>
        <p:grpSpPr>
          <a:xfrm>
            <a:off x="6201879" y="1469050"/>
            <a:ext cx="2393659" cy="1788500"/>
            <a:chOff x="952500" y="4267200"/>
            <a:chExt cx="1847530" cy="1489378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3249E686-6A1F-4936-A055-665B9C0B70E7}"/>
                </a:ext>
              </a:extLst>
            </p:cNvPr>
            <p:cNvGrpSpPr/>
            <p:nvPr/>
          </p:nvGrpSpPr>
          <p:grpSpPr>
            <a:xfrm>
              <a:off x="952500" y="4325061"/>
              <a:ext cx="1847530" cy="1431517"/>
              <a:chOff x="952500" y="4325061"/>
              <a:chExt cx="1847530" cy="1431517"/>
            </a:xfrm>
          </p:grpSpPr>
          <p:cxnSp>
            <p:nvCxnSpPr>
              <p:cNvPr id="12" name="직선 화살표 연결선 11">
                <a:extLst>
                  <a:ext uri="{FF2B5EF4-FFF2-40B4-BE49-F238E27FC236}">
                    <a16:creationId xmlns:a16="http://schemas.microsoft.com/office/drawing/2014/main" id="{8D1851B1-FEF4-4DC9-8E4D-109B875B07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3025" y="5489575"/>
                <a:ext cx="138112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화살표 연결선 13">
                <a:extLst>
                  <a:ext uri="{FF2B5EF4-FFF2-40B4-BE49-F238E27FC236}">
                    <a16:creationId xmlns:a16="http://schemas.microsoft.com/office/drawing/2014/main" id="{E8EF66CA-2200-40AB-9011-E709C4365F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3025" y="4325061"/>
                <a:ext cx="0" cy="116451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63BBA901-2692-4BEE-A6D0-972012B4BF9C}"/>
                  </a:ext>
                </a:extLst>
              </p:cNvPr>
              <p:cNvCxnSpPr/>
              <p:nvPr/>
            </p:nvCxnSpPr>
            <p:spPr>
              <a:xfrm>
                <a:off x="2169160" y="5435600"/>
                <a:ext cx="0" cy="1079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ADB8F49-BEEB-4E76-BCFC-AA037E616674}"/>
                  </a:ext>
                </a:extLst>
              </p:cNvPr>
              <p:cNvSpPr txBox="1"/>
              <p:nvPr/>
            </p:nvSpPr>
            <p:spPr>
              <a:xfrm>
                <a:off x="2052639" y="5484183"/>
                <a:ext cx="1524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1</a:t>
                </a:r>
                <a:endParaRPr lang="ko-KR" altLang="en-US" sz="110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6099B78-C114-4174-AEC1-018CB18C8047}"/>
                  </a:ext>
                </a:extLst>
              </p:cNvPr>
              <p:cNvSpPr txBox="1"/>
              <p:nvPr/>
            </p:nvSpPr>
            <p:spPr>
              <a:xfrm>
                <a:off x="952500" y="4362450"/>
                <a:ext cx="52387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길이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07CB429-210B-4148-B517-5B0363FEBB99}"/>
                  </a:ext>
                </a:extLst>
              </p:cNvPr>
              <p:cNvSpPr txBox="1"/>
              <p:nvPr/>
            </p:nvSpPr>
            <p:spPr>
              <a:xfrm>
                <a:off x="2276157" y="5494968"/>
                <a:ext cx="52387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확률</a:t>
                </a:r>
              </a:p>
            </p:txBody>
          </p:sp>
        </p:grp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BCEF114A-01CD-4C22-B6DC-93A4B10FE209}"/>
                </a:ext>
              </a:extLst>
            </p:cNvPr>
            <p:cNvSpPr/>
            <p:nvPr/>
          </p:nvSpPr>
          <p:spPr>
            <a:xfrm>
              <a:off x="1437494" y="4267200"/>
              <a:ext cx="718966" cy="1219200"/>
            </a:xfrm>
            <a:custGeom>
              <a:avLst/>
              <a:gdLst>
                <a:gd name="connsiteX0" fmla="*/ 718966 w 718966"/>
                <a:gd name="connsiteY0" fmla="*/ 1219200 h 1219200"/>
                <a:gd name="connsiteX1" fmla="*/ 337966 w 718966"/>
                <a:gd name="connsiteY1" fmla="*/ 1059180 h 1219200"/>
                <a:gd name="connsiteX2" fmla="*/ 132226 w 718966"/>
                <a:gd name="connsiteY2" fmla="*/ 769620 h 1219200"/>
                <a:gd name="connsiteX3" fmla="*/ 25546 w 718966"/>
                <a:gd name="connsiteY3" fmla="*/ 190500 h 1219200"/>
                <a:gd name="connsiteX4" fmla="*/ 2686 w 718966"/>
                <a:gd name="connsiteY4" fmla="*/ 0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966" h="1219200">
                  <a:moveTo>
                    <a:pt x="718966" y="1219200"/>
                  </a:moveTo>
                  <a:cubicBezTo>
                    <a:pt x="577361" y="1176655"/>
                    <a:pt x="435756" y="1134110"/>
                    <a:pt x="337966" y="1059180"/>
                  </a:cubicBezTo>
                  <a:cubicBezTo>
                    <a:pt x="240176" y="984250"/>
                    <a:pt x="184296" y="914400"/>
                    <a:pt x="132226" y="769620"/>
                  </a:cubicBezTo>
                  <a:cubicBezTo>
                    <a:pt x="80156" y="624840"/>
                    <a:pt x="47136" y="318770"/>
                    <a:pt x="25546" y="190500"/>
                  </a:cubicBezTo>
                  <a:cubicBezTo>
                    <a:pt x="3956" y="62230"/>
                    <a:pt x="-4934" y="35560"/>
                    <a:pt x="2686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086AC9E0-3C85-48CA-9525-9CE081A67F92}"/>
              </a:ext>
            </a:extLst>
          </p:cNvPr>
          <p:cNvSpPr/>
          <p:nvPr/>
        </p:nvSpPr>
        <p:spPr>
          <a:xfrm>
            <a:off x="7103891" y="2895600"/>
            <a:ext cx="738359" cy="1262534"/>
          </a:xfrm>
          <a:custGeom>
            <a:avLst/>
            <a:gdLst>
              <a:gd name="connsiteX0" fmla="*/ 39859 w 738359"/>
              <a:gd name="connsiteY0" fmla="*/ 1244600 h 1262534"/>
              <a:gd name="connsiteX1" fmla="*/ 52559 w 738359"/>
              <a:gd name="connsiteY1" fmla="*/ 1174750 h 1262534"/>
              <a:gd name="connsiteX2" fmla="*/ 14459 w 738359"/>
              <a:gd name="connsiteY2" fmla="*/ 558800 h 1262534"/>
              <a:gd name="connsiteX3" fmla="*/ 331959 w 738359"/>
              <a:gd name="connsiteY3" fmla="*/ 222250 h 1262534"/>
              <a:gd name="connsiteX4" fmla="*/ 738359 w 738359"/>
              <a:gd name="connsiteY4" fmla="*/ 0 h 1262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8359" h="1262534">
                <a:moveTo>
                  <a:pt x="39859" y="1244600"/>
                </a:moveTo>
                <a:cubicBezTo>
                  <a:pt x="48325" y="1266825"/>
                  <a:pt x="56792" y="1289050"/>
                  <a:pt x="52559" y="1174750"/>
                </a:cubicBezTo>
                <a:cubicBezTo>
                  <a:pt x="48326" y="1060450"/>
                  <a:pt x="-32108" y="717550"/>
                  <a:pt x="14459" y="558800"/>
                </a:cubicBezTo>
                <a:cubicBezTo>
                  <a:pt x="61026" y="400050"/>
                  <a:pt x="211309" y="315383"/>
                  <a:pt x="331959" y="222250"/>
                </a:cubicBezTo>
                <a:cubicBezTo>
                  <a:pt x="452609" y="129117"/>
                  <a:pt x="660042" y="43392"/>
                  <a:pt x="738359" y="0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7684D8-B27A-468F-8C89-26F326179413}"/>
              </a:ext>
            </a:extLst>
          </p:cNvPr>
          <p:cNvSpPr txBox="1"/>
          <p:nvPr/>
        </p:nvSpPr>
        <p:spPr>
          <a:xfrm>
            <a:off x="398033" y="3872753"/>
            <a:ext cx="449654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확률분포가 균일할 수록 엔트로피가 높고</a:t>
            </a:r>
            <a:r>
              <a:rPr lang="en-US" altLang="ko-KR" sz="1100"/>
              <a:t>(</a:t>
            </a:r>
            <a:r>
              <a:rPr lang="ko-KR" altLang="en-US" sz="1100"/>
              <a:t>어떤게 나올지 모르니깐</a:t>
            </a:r>
            <a:r>
              <a:rPr lang="en-US" altLang="ko-KR" sz="1100"/>
              <a:t>), </a:t>
            </a:r>
            <a:r>
              <a:rPr lang="ko-KR" altLang="en-US" sz="1100"/>
              <a:t>치우쳐 있을수록 엔트로피가 낮다</a:t>
            </a:r>
            <a:r>
              <a:rPr lang="en-US" altLang="ko-KR" sz="1100"/>
              <a:t>(</a:t>
            </a:r>
            <a:r>
              <a:rPr lang="ko-KR" altLang="en-US" sz="1100"/>
              <a:t>높은 확률로 그 값이 나오니깐</a:t>
            </a:r>
            <a:r>
              <a:rPr lang="en-US" altLang="ko-KR" sz="1100"/>
              <a:t>).</a:t>
            </a:r>
          </a:p>
          <a:p>
            <a:pPr algn="l"/>
            <a:endParaRPr lang="ko-KR" altLang="en-US" sz="110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CB668F3-8228-40F2-81CE-AC496E95B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5322" y="4303640"/>
            <a:ext cx="5604855" cy="233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995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A8329C7-0083-442C-A027-1349458927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Cross Entropy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DB9463-B24D-42C8-9552-87A715DFDE56}"/>
                  </a:ext>
                </a:extLst>
              </p:cNvPr>
              <p:cNvSpPr txBox="1"/>
              <p:nvPr/>
            </p:nvSpPr>
            <p:spPr>
              <a:xfrm>
                <a:off x="484094" y="1635162"/>
                <a:ext cx="623279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Cross Entropy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func>
                          <m:func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sSub>
                              <m:sSubPr>
                                <m:ctrlP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위의 식은 </a:t>
                </a:r>
                <a:r>
                  <a:rPr lang="en-US" altLang="ko-KR" sz="1200">
                    <a:latin typeface="+mn-ea"/>
                  </a:rPr>
                  <a:t>Cross Entropy</a:t>
                </a:r>
                <a:r>
                  <a:rPr lang="ko-KR" altLang="en-US" sz="1200">
                    <a:latin typeface="+mn-ea"/>
                  </a:rPr>
                  <a:t>이며 </a:t>
                </a:r>
                <a:r>
                  <a:rPr lang="en-US" altLang="ko-KR" sz="1200">
                    <a:latin typeface="+mn-ea"/>
                  </a:rPr>
                  <a:t>Q</a:t>
                </a:r>
                <a:r>
                  <a:rPr lang="ko-KR" altLang="en-US" sz="1200">
                    <a:latin typeface="+mn-ea"/>
                  </a:rPr>
                  <a:t>는 예측값</a:t>
                </a:r>
                <a:r>
                  <a:rPr lang="en-US" altLang="ko-KR" sz="1200">
                    <a:latin typeface="+mn-ea"/>
                  </a:rPr>
                  <a:t>, P</a:t>
                </a:r>
                <a:r>
                  <a:rPr lang="ko-KR" altLang="en-US" sz="1200">
                    <a:latin typeface="+mn-ea"/>
                  </a:rPr>
                  <a:t>는 실제값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모델링을 통하여 구한 분포값인 확률 분포 </a:t>
                </a:r>
                <a:r>
                  <a:rPr lang="en-US" altLang="ko-KR" sz="1200">
                    <a:latin typeface="+mn-ea"/>
                  </a:rPr>
                  <a:t>Q</a:t>
                </a:r>
                <a:r>
                  <a:rPr lang="ko-KR" altLang="en-US" sz="1200">
                    <a:latin typeface="+mn-ea"/>
                  </a:rPr>
                  <a:t>를 이용하여 실제 확률분포 </a:t>
                </a:r>
                <a:r>
                  <a:rPr lang="en-US" altLang="ko-KR" sz="1200">
                    <a:latin typeface="+mn-ea"/>
                  </a:rPr>
                  <a:t>P</a:t>
                </a:r>
                <a:r>
                  <a:rPr lang="ko-KR" altLang="en-US" sz="1200">
                    <a:latin typeface="+mn-ea"/>
                  </a:rPr>
                  <a:t>를 예측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크로스 엔트로피는 두 분포 사이에 존재하는 정보량을 구하는것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머신러닝을 통한 예측 모형에서 실제값과 예측값의 차이를 계산하는데 사용할수 있음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 </a:t>
                </a:r>
              </a:p>
              <a:p>
                <a:pPr algn="l"/>
                <a:endParaRPr lang="ko-KR" altLang="en-US" sz="1200">
                  <a:latin typeface="+mn-ea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DB9463-B24D-42C8-9552-87A715DFD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94" y="1635162"/>
                <a:ext cx="6232796" cy="1569660"/>
              </a:xfrm>
              <a:prstGeom prst="rect">
                <a:avLst/>
              </a:prstGeom>
              <a:blipFill>
                <a:blip r:embed="rId2"/>
                <a:stretch>
                  <a:fillRect l="-293" t="-54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76E64503-AF1F-43E2-83AD-00E06533C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2753083"/>
            <a:ext cx="7010400" cy="13518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53DB30F-F761-427B-A136-F9ED993A5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967" y="4646504"/>
            <a:ext cx="8526065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59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0223273-F182-4F5B-A062-19662B9040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MLE(Maximum likelihood estimation)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50A1AA-3554-4433-BCE4-A495BEA8C3A6}"/>
              </a:ext>
            </a:extLst>
          </p:cNvPr>
          <p:cNvSpPr txBox="1"/>
          <p:nvPr/>
        </p:nvSpPr>
        <p:spPr>
          <a:xfrm>
            <a:off x="150607" y="1441525"/>
            <a:ext cx="727216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 MLE</a:t>
            </a:r>
            <a:r>
              <a:rPr lang="ko-KR" altLang="en-US" sz="1200">
                <a:latin typeface="+mn-ea"/>
              </a:rPr>
              <a:t>란</a:t>
            </a:r>
            <a:r>
              <a:rPr lang="en-US" altLang="ko-KR" sz="1200">
                <a:latin typeface="+mn-ea"/>
              </a:rPr>
              <a:t>&gt;</a:t>
            </a:r>
          </a:p>
          <a:p>
            <a:pPr marL="171450" indent="-171450" algn="l">
              <a:buFontTx/>
              <a:buChar char="-"/>
            </a:pPr>
            <a:r>
              <a:rPr lang="ko-KR" altLang="en-US" sz="1200">
                <a:latin typeface="+mn-ea"/>
              </a:rPr>
              <a:t>원래의 모집단의 분포에 최대한 가깝게 파라미터를 추정하는 방법</a:t>
            </a:r>
            <a:endParaRPr lang="en-US" altLang="ko-KR" sz="1200">
              <a:latin typeface="+mn-ea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>
                <a:latin typeface="+mn-ea"/>
              </a:rPr>
              <a:t>머신러닝에서의 목표는 미지의 데이터에 대해 좋은 예측을 하는 것</a:t>
            </a:r>
            <a:endParaRPr lang="en-US" altLang="ko-KR" sz="1200">
              <a:latin typeface="+mn-ea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>
                <a:latin typeface="+mn-ea"/>
              </a:rPr>
              <a:t>주어진 데이터로부터 결과값을 잘 예측하는 것이 이에 속함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일반화</a:t>
            </a:r>
            <a:r>
              <a:rPr lang="en-US" altLang="ko-KR" sz="1200">
                <a:latin typeface="+mn-ea"/>
              </a:rPr>
              <a:t>)</a:t>
            </a:r>
          </a:p>
          <a:p>
            <a:pPr marL="171450" indent="-171450" algn="l">
              <a:buFontTx/>
              <a:buChar char="-"/>
            </a:pPr>
            <a:r>
              <a:rPr lang="ko-KR" altLang="en-US" sz="1200">
                <a:latin typeface="+mn-ea"/>
              </a:rPr>
              <a:t>좋은 일반화성능을 얻기 위해서는 우리가 알고자하는 실제 확률 분포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모집단의 분포</a:t>
            </a:r>
            <a:r>
              <a:rPr lang="en-US" altLang="ko-KR" sz="1200">
                <a:latin typeface="+mn-ea"/>
              </a:rPr>
              <a:t>)</a:t>
            </a:r>
            <a:r>
              <a:rPr lang="ko-KR" altLang="en-US" sz="1200">
                <a:latin typeface="+mn-ea"/>
              </a:rPr>
              <a:t>로부터 데이터 수집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샘플링</a:t>
            </a:r>
            <a:r>
              <a:rPr lang="en-US" altLang="ko-KR" sz="1200">
                <a:latin typeface="+mn-ea"/>
              </a:rPr>
              <a:t>)</a:t>
            </a:r>
            <a:r>
              <a:rPr lang="ko-KR" altLang="en-US" sz="1200">
                <a:latin typeface="+mn-ea"/>
              </a:rPr>
              <a:t>하고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수집된 데이터를 가장 잘 설명하는 확률 분포 모델을 추정함으로써 알고자하는 실제 확률 분포를 근사한다</a:t>
            </a:r>
            <a:r>
              <a:rPr lang="en-US" altLang="ko-KR" sz="1200">
                <a:latin typeface="+mn-ea"/>
              </a:rPr>
              <a:t>.</a:t>
            </a:r>
          </a:p>
          <a:p>
            <a:pPr marL="171450" indent="-171450" algn="l">
              <a:buFontTx/>
              <a:buChar char="-"/>
            </a:pP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&lt;MLE</a:t>
            </a:r>
            <a:r>
              <a:rPr lang="ko-KR" altLang="en-US" sz="1200">
                <a:latin typeface="+mn-ea"/>
              </a:rPr>
              <a:t>가 딥러닝에서의 역할</a:t>
            </a:r>
            <a:r>
              <a:rPr lang="en-US" altLang="ko-KR" sz="1200">
                <a:latin typeface="+mn-ea"/>
              </a:rPr>
              <a:t>&gt;</a:t>
            </a:r>
          </a:p>
          <a:p>
            <a:pPr marL="171450" indent="-171450" algn="l">
              <a:buFontTx/>
              <a:buChar char="-"/>
            </a:pPr>
            <a:r>
              <a:rPr lang="en-US" altLang="ko-KR" sz="1200">
                <a:latin typeface="+mn-ea"/>
              </a:rPr>
              <a:t>Likelihood</a:t>
            </a:r>
            <a:r>
              <a:rPr lang="ko-KR" altLang="en-US" sz="1200">
                <a:latin typeface="+mn-ea"/>
              </a:rPr>
              <a:t>는 신경망 또한 확률 분포 함수</a:t>
            </a:r>
            <a:endParaRPr lang="en-US" altLang="ko-KR" sz="1200">
              <a:latin typeface="+mn-ea"/>
            </a:endParaRPr>
          </a:p>
          <a:p>
            <a:pPr marL="171450" indent="-171450" algn="l">
              <a:buFontTx/>
              <a:buChar char="-"/>
            </a:pPr>
            <a:r>
              <a:rPr lang="en-US" altLang="ko-KR" sz="1200">
                <a:latin typeface="+mn-ea"/>
              </a:rPr>
              <a:t>Multi-classification</a:t>
            </a:r>
            <a:r>
              <a:rPr lang="ko-KR" altLang="en-US" sz="1200">
                <a:latin typeface="+mn-ea"/>
              </a:rPr>
              <a:t>문제를 풀고하는 경우 </a:t>
            </a:r>
            <a:r>
              <a:rPr lang="en-US" altLang="ko-KR" sz="1200">
                <a:latin typeface="+mn-ea"/>
              </a:rPr>
              <a:t>0~n</a:t>
            </a:r>
            <a:r>
              <a:rPr lang="ko-KR" altLang="en-US" sz="1200">
                <a:latin typeface="+mn-ea"/>
              </a:rPr>
              <a:t>까지의 클래스를 예측하므로 이산확률 변수를 다루는 </a:t>
            </a:r>
            <a:r>
              <a:rPr lang="en-US" altLang="ko-KR" sz="1200">
                <a:latin typeface="+mn-ea"/>
              </a:rPr>
              <a:t>multinomial </a:t>
            </a:r>
            <a:r>
              <a:rPr lang="ko-KR" altLang="en-US" sz="1200">
                <a:latin typeface="+mn-ea"/>
              </a:rPr>
              <a:t>분포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다항분포</a:t>
            </a:r>
            <a:r>
              <a:rPr lang="en-US" altLang="ko-KR" sz="1200">
                <a:latin typeface="+mn-ea"/>
              </a:rPr>
              <a:t>)</a:t>
            </a:r>
            <a:r>
              <a:rPr lang="ko-KR" altLang="en-US" sz="1200">
                <a:latin typeface="+mn-ea"/>
              </a:rPr>
              <a:t>가 된다</a:t>
            </a:r>
            <a:r>
              <a:rPr lang="en-US" altLang="ko-KR" sz="1200">
                <a:latin typeface="+mn-ea"/>
              </a:rPr>
              <a:t>.</a:t>
            </a:r>
          </a:p>
          <a:p>
            <a:pPr marL="171450" indent="-171450" algn="l">
              <a:buFontTx/>
              <a:buChar char="-"/>
            </a:pPr>
            <a:r>
              <a:rPr lang="ko-KR" altLang="en-US" sz="1200">
                <a:latin typeface="+mn-ea"/>
              </a:rPr>
              <a:t>문제를 해결할때 신경망의 마지막 </a:t>
            </a:r>
            <a:r>
              <a:rPr lang="en-US" altLang="ko-KR" sz="1200">
                <a:latin typeface="+mn-ea"/>
              </a:rPr>
              <a:t>layer</a:t>
            </a:r>
            <a:r>
              <a:rPr lang="ko-KR" altLang="en-US" sz="1200">
                <a:latin typeface="+mn-ea"/>
              </a:rPr>
              <a:t>에서 소프트맥스 연산 </a:t>
            </a:r>
            <a:r>
              <a:rPr lang="en-US" altLang="ko-KR" sz="1200">
                <a:latin typeface="+mn-ea"/>
              </a:rPr>
              <a:t>y</a:t>
            </a:r>
            <a:r>
              <a:rPr lang="ko-KR" altLang="en-US" sz="1200">
                <a:latin typeface="+mn-ea"/>
              </a:rPr>
              <a:t>의 결과값은 클래스별 확률값에 대한 분포 </a:t>
            </a:r>
            <a:r>
              <a:rPr lang="en-US" altLang="ko-KR" sz="1200">
                <a:latin typeface="+mn-ea"/>
              </a:rPr>
              <a:t>y^</a:t>
            </a:r>
            <a:r>
              <a:rPr lang="ko-KR" altLang="en-US" sz="1200">
                <a:latin typeface="+mn-ea"/>
              </a:rPr>
              <a:t>을 반환</a:t>
            </a:r>
            <a:endParaRPr lang="en-US" altLang="ko-KR" sz="120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4B82C16-4725-4037-88DB-357A74C40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85" y="4897592"/>
            <a:ext cx="3112250" cy="143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44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67F3700-2985-4927-A5AE-0FAE90AFAC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MLE(Maximum likelihood estimation)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7AB53D-9841-4FE4-BA6B-825927573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82" y="1494088"/>
            <a:ext cx="4075389" cy="180520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48277C-5D19-4F43-BF5E-80CF7B1C4ABB}"/>
                  </a:ext>
                </a:extLst>
              </p:cNvPr>
              <p:cNvSpPr txBox="1"/>
              <p:nvPr/>
            </p:nvSpPr>
            <p:spPr>
              <a:xfrm>
                <a:off x="-4403688" y="1257202"/>
                <a:ext cx="5559855" cy="48956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&lt;probability&gt;</a:t>
                </a:r>
              </a:p>
              <a:p>
                <a:pPr algn="l"/>
                <a:endParaRPr lang="en-US" altLang="ko-KR" sz="1200">
                  <a:latin typeface="+mn-ea"/>
                </a:endParaRPr>
              </a:p>
              <a:p>
                <a:pPr algn="l"/>
                <a:r>
                  <a:rPr lang="ko-KR" altLang="en-US" sz="1200">
                    <a:latin typeface="+mn-ea"/>
                  </a:rPr>
                  <a:t>여자친구가 좋아하는 음식에 대한 </a:t>
                </a:r>
                <a:r>
                  <a:rPr lang="en-US" altLang="ko-KR" sz="1200">
                    <a:latin typeface="+mn-ea"/>
                  </a:rPr>
                  <a:t>Prior Probability</a:t>
                </a:r>
              </a:p>
              <a:p>
                <a:pPr algn="l"/>
                <a:r>
                  <a:rPr lang="ko-KR" altLang="en-US" sz="1200">
                    <a:latin typeface="+mn-ea"/>
                  </a:rPr>
                  <a:t>음식 예측 </a:t>
                </a:r>
                <a:r>
                  <a:rPr lang="en-US" altLang="ko-KR" sz="1200">
                    <a:latin typeface="+mn-ea"/>
                  </a:rPr>
                  <a:t>-&gt; class</a:t>
                </a:r>
                <a:r>
                  <a:rPr lang="ko-KR" altLang="en-US" sz="1200">
                    <a:latin typeface="+mn-ea"/>
                  </a:rPr>
                  <a:t>라고 생각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ko-KR" altLang="en-US" sz="1200">
                    <a:latin typeface="+mn-ea"/>
                  </a:rPr>
                  <a:t>음식에 대한 분포를 </a:t>
                </a:r>
                <a:r>
                  <a:rPr lang="en-US" altLang="ko-KR" sz="1200">
                    <a:latin typeface="+mn-ea"/>
                  </a:rPr>
                  <a:t>prior probability</a:t>
                </a:r>
              </a:p>
              <a:p>
                <a:pPr algn="l"/>
                <a:endParaRPr lang="en-US" altLang="ko-KR" sz="1200">
                  <a:latin typeface="+mn-ea"/>
                </a:endParaRPr>
              </a:p>
              <a:p>
                <a:pPr algn="l"/>
                <a:r>
                  <a:rPr lang="ko-KR" altLang="en-US" sz="1200">
                    <a:latin typeface="+mn-ea"/>
                  </a:rPr>
                  <a:t>각음식에 대한 확률중 제일 높은 군만두를 선택 할 때 다음에도 군만두 선택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ko-KR" altLang="en-US" sz="1200">
                    <a:latin typeface="+mn-ea"/>
                  </a:rPr>
                  <a:t>계속 군만두만 선택하게 되는데 그렇게 되면 </a:t>
                </a:r>
                <a:r>
                  <a:rPr lang="en-US" altLang="ko-KR" sz="1200">
                    <a:latin typeface="+mn-ea"/>
                  </a:rPr>
                  <a:t>histograme</a:t>
                </a:r>
                <a:r>
                  <a:rPr lang="ko-KR" altLang="en-US" sz="1200">
                    <a:latin typeface="+mn-ea"/>
                  </a:rPr>
                  <a:t>이 군만두만 올라간다</a:t>
                </a:r>
                <a:endParaRPr lang="en-US" altLang="ko-KR" sz="1200">
                  <a:latin typeface="+mn-ea"/>
                </a:endParaRPr>
              </a:p>
              <a:p>
                <a:pPr algn="l"/>
                <a:endParaRPr lang="en-US" altLang="ko-KR" sz="1200">
                  <a:latin typeface="+mn-ea"/>
                </a:endParaRPr>
              </a:p>
              <a:p>
                <a:pPr algn="l"/>
                <a:r>
                  <a:rPr lang="ko-KR" altLang="en-US" sz="1200">
                    <a:latin typeface="+mn-ea"/>
                  </a:rPr>
                  <a:t>군만두만 먹게되는 여자친구는 질려서 헤어짐</a:t>
                </a:r>
                <a:endParaRPr lang="en-US" altLang="ko-KR" sz="1200">
                  <a:latin typeface="+mn-ea"/>
                </a:endParaRPr>
              </a:p>
              <a:p>
                <a:pPr algn="l"/>
                <a:endParaRPr lang="en-US" altLang="ko-KR" sz="1200">
                  <a:latin typeface="+mn-ea"/>
                </a:endParaRPr>
              </a:p>
              <a:p>
                <a:pPr algn="l"/>
                <a:r>
                  <a:rPr lang="ko-KR" altLang="en-US" sz="1200">
                    <a:latin typeface="+mn-ea"/>
                  </a:rPr>
                  <a:t>다른 방법으로 생각</a:t>
                </a:r>
                <a:r>
                  <a:rPr lang="en-US" altLang="ko-KR" sz="1200">
                    <a:latin typeface="+mn-ea"/>
                  </a:rPr>
                  <a:t>, </a:t>
                </a:r>
                <a:r>
                  <a:rPr lang="ko-KR" altLang="en-US" sz="1200">
                    <a:latin typeface="+mn-ea"/>
                  </a:rPr>
                  <a:t>음식을 먹을때 받는 영향요인 측정</a:t>
                </a:r>
                <a:endParaRPr lang="en-US" altLang="ko-KR" sz="1200">
                  <a:latin typeface="+mn-ea"/>
                </a:endParaRPr>
              </a:p>
              <a:p>
                <a:pPr algn="l"/>
                <a:endParaRPr lang="en-US" altLang="ko-KR" sz="1200">
                  <a:latin typeface="+mn-ea"/>
                </a:endParaRPr>
              </a:p>
              <a:p>
                <a:pPr algn="l"/>
                <a:r>
                  <a:rPr lang="ko-KR" altLang="en-US" sz="1200">
                    <a:latin typeface="+mn-ea"/>
                  </a:rPr>
                  <a:t>그럼 환경에 대한 음식의 확률을 구할 수 있음</a:t>
                </a:r>
                <a:r>
                  <a:rPr lang="en-US" altLang="ko-KR" sz="1200">
                    <a:latin typeface="+mn-ea"/>
                  </a:rPr>
                  <a:t>, </a:t>
                </a:r>
                <a:r>
                  <a:rPr lang="ko-KR" altLang="en-US" sz="1200">
                    <a:latin typeface="+mn-ea"/>
                  </a:rPr>
                  <a:t>저번에 파스타먹을때의 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ko-KR" altLang="en-US" sz="1200">
                    <a:latin typeface="+mn-ea"/>
                  </a:rPr>
                  <a:t>영향 요인과 지금의 영향요인이 가장 비슷한 확률임으로 파스타 선택</a:t>
                </a:r>
                <a:endParaRPr lang="en-US" altLang="ko-KR" sz="1200">
                  <a:latin typeface="+mn-ea"/>
                </a:endParaRPr>
              </a:p>
              <a:p>
                <a:pPr algn="l"/>
                <a:endParaRPr lang="en-US" altLang="ko-KR" sz="1200">
                  <a:latin typeface="+mn-ea"/>
                </a:endParaRPr>
              </a:p>
              <a:p>
                <a:pPr algn="l"/>
                <a:r>
                  <a:rPr lang="ko-KR" altLang="en-US" sz="1200">
                    <a:latin typeface="+mn-ea"/>
                  </a:rPr>
                  <a:t>하지만 여자친구는 오늘 같은 날일때의 음식 선택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+mn-ea"/>
                      </a:rPr>
                      <m:t>𝑃</m:t>
                    </m:r>
                    <m:r>
                      <a:rPr lang="en-US" altLang="ko-KR" sz="1200" b="0" i="1" smtClean="0">
                        <a:latin typeface="+mn-ea"/>
                      </a:rPr>
                      <m:t>(</m:t>
                    </m:r>
                    <m:r>
                      <a:rPr lang="en-US" altLang="ko-KR" sz="1200" b="0" i="1" smtClean="0">
                        <a:latin typeface="+mn-ea"/>
                      </a:rPr>
                      <m:t>𝑓𝑜𝑜𝑑</m:t>
                    </m:r>
                    <m:r>
                      <a:rPr lang="en-US" altLang="ko-KR" sz="1200" b="0" i="1" smtClean="0">
                        <a:latin typeface="+mn-ea"/>
                      </a:rPr>
                      <m:t>|</m:t>
                    </m:r>
                    <m:r>
                      <a:rPr lang="en-US" altLang="ko-KR" sz="1200" b="0" i="1" smtClean="0">
                        <a:latin typeface="+mn-ea"/>
                      </a:rPr>
                      <m:t>𝑑𝑎𝑡𝑎</m:t>
                    </m:r>
                    <m:r>
                      <a:rPr lang="en-US" altLang="ko-KR" sz="1200" b="0" i="1" smtClean="0">
                        <a:latin typeface="+mn-ea"/>
                      </a:rPr>
                      <m:t>)</m:t>
                    </m:r>
                    <m:r>
                      <a:rPr lang="ko-KR" altLang="en-US" sz="1200" i="1">
                        <a:latin typeface="+mn-ea"/>
                      </a:rPr>
                      <m:t>를</m:t>
                    </m:r>
                  </m:oMath>
                </a14:m>
                <a:r>
                  <a:rPr lang="en-US" altLang="ko-KR" sz="1200">
                    <a:latin typeface="+mn-ea"/>
                  </a:rPr>
                  <a:t> </a:t>
                </a:r>
                <a:r>
                  <a:rPr lang="ko-KR" altLang="en-US" sz="1200">
                    <a:latin typeface="+mn-ea"/>
                  </a:rPr>
                  <a:t>원하고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ko-KR" altLang="en-US" sz="1200">
                    <a:latin typeface="+mn-ea"/>
                  </a:rPr>
                  <a:t>남자친구는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+mn-ea"/>
                      </a:rPr>
                      <m:t>𝑃</m:t>
                    </m:r>
                    <m:r>
                      <a:rPr lang="en-US" altLang="ko-KR" sz="1200" b="0" i="1" smtClean="0">
                        <a:latin typeface="+mn-ea"/>
                      </a:rPr>
                      <m:t>(</m:t>
                    </m:r>
                    <m:r>
                      <a:rPr lang="en-US" altLang="ko-KR" sz="1200" b="0" i="1" smtClean="0">
                        <a:latin typeface="+mn-ea"/>
                      </a:rPr>
                      <m:t>𝑑𝑎𝑡𝑎</m:t>
                    </m:r>
                    <m:r>
                      <a:rPr lang="en-US" altLang="ko-KR" sz="1200" b="0" i="1" smtClean="0">
                        <a:latin typeface="+mn-ea"/>
                      </a:rPr>
                      <m:t>|</m:t>
                    </m:r>
                    <m:r>
                      <a:rPr lang="en-US" altLang="ko-KR" sz="1200" b="0" i="1" smtClean="0">
                        <a:latin typeface="+mn-ea"/>
                      </a:rPr>
                      <m:t>𝑓𝑜𝑜𝑑</m:t>
                    </m:r>
                    <m:r>
                      <a:rPr lang="en-US" altLang="ko-KR" sz="1200" b="0" i="1" smtClean="0">
                        <a:latin typeface="+mn-ea"/>
                      </a:rPr>
                      <m:t>)</m:t>
                    </m:r>
                    <m:r>
                      <a:rPr lang="ko-KR" altLang="en-US" sz="1200" i="1">
                        <a:latin typeface="+mn-ea"/>
                      </a:rPr>
                      <m:t>를</m:t>
                    </m:r>
                  </m:oMath>
                </a14:m>
                <a:r>
                  <a:rPr lang="en-US" altLang="ko-KR" sz="1200">
                    <a:latin typeface="+mn-ea"/>
                  </a:rPr>
                  <a:t> </a:t>
                </a:r>
                <a:r>
                  <a:rPr lang="ko-KR" altLang="en-US" sz="1200">
                    <a:latin typeface="+mn-ea"/>
                  </a:rPr>
                  <a:t>선택</a:t>
                </a:r>
                <a:r>
                  <a:rPr lang="en-US" altLang="ko-KR" sz="1200">
                    <a:latin typeface="+mn-ea"/>
                  </a:rPr>
                  <a:t> </a:t>
                </a:r>
                <a:r>
                  <a:rPr lang="ko-KR" altLang="en-US" sz="1200">
                    <a:latin typeface="+mn-ea"/>
                  </a:rPr>
                  <a:t>두개는 다름</a:t>
                </a:r>
                <a:endParaRPr lang="en-US" altLang="ko-KR" sz="1200">
                  <a:latin typeface="+mn-ea"/>
                </a:endParaRPr>
              </a:p>
              <a:p>
                <a:pPr algn="l"/>
                <a:endParaRPr lang="en-US" altLang="ko-KR" sz="1200">
                  <a:latin typeface="+mn-ea"/>
                </a:endParaRPr>
              </a:p>
              <a:p>
                <a:pPr algn="l"/>
                <a:r>
                  <a:rPr lang="ko-KR" altLang="en-US" sz="1200">
                    <a:latin typeface="+mn-ea"/>
                  </a:rPr>
                  <a:t>다시 헤어짐</a:t>
                </a:r>
                <a:endParaRPr lang="en-US" altLang="ko-KR" sz="1200">
                  <a:latin typeface="+mn-ea"/>
                </a:endParaRPr>
              </a:p>
              <a:p>
                <a:pPr algn="l"/>
                <a:endParaRPr lang="en-US" altLang="ko-KR" sz="1200">
                  <a:latin typeface="+mn-ea"/>
                </a:endParaRPr>
              </a:p>
              <a:p>
                <a:pPr algn="l"/>
                <a:endParaRPr lang="en-US" altLang="ko-KR" sz="1200">
                  <a:latin typeface="+mn-ea"/>
                </a:endParaRPr>
              </a:p>
              <a:p>
                <a:pPr algn="l"/>
                <a:endParaRPr lang="en-US" altLang="ko-KR" sz="1200">
                  <a:latin typeface="+mn-ea"/>
                </a:endParaRPr>
              </a:p>
              <a:p>
                <a:pPr algn="l"/>
                <a:endParaRPr lang="en-US" altLang="ko-KR" sz="1200">
                  <a:latin typeface="+mn-ea"/>
                </a:endParaRPr>
              </a:p>
              <a:p>
                <a:pPr algn="l"/>
                <a:endParaRPr lang="en-US" altLang="ko-KR" sz="1200">
                  <a:latin typeface="+mn-ea"/>
                </a:endParaRPr>
              </a:p>
              <a:p>
                <a:pPr algn="l"/>
                <a:endParaRPr lang="ko-KR" altLang="en-US" sz="1200">
                  <a:latin typeface="+mn-ea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48277C-5D19-4F43-BF5E-80CF7B1C4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403688" y="1257202"/>
                <a:ext cx="5559855" cy="4895699"/>
              </a:xfrm>
              <a:prstGeom prst="rect">
                <a:avLst/>
              </a:prstGeom>
              <a:blipFill>
                <a:blip r:embed="rId4"/>
                <a:stretch>
                  <a:fillRect l="-1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0CA1FD7E-94EF-4865-9AD3-D58EB52D4A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5380" y="1487570"/>
            <a:ext cx="4777638" cy="176046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F69897F-6550-4A27-BD44-EEED45A2D8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982" y="4413227"/>
            <a:ext cx="4130936" cy="137384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D8FCF1B-4B9E-4143-B464-875BD9E61C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6696" y="4465195"/>
            <a:ext cx="4526322" cy="7291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2AEDC6D-BDB6-40D2-949E-79C4AD57ADC1}"/>
              </a:ext>
            </a:extLst>
          </p:cNvPr>
          <p:cNvSpPr txBox="1"/>
          <p:nvPr/>
        </p:nvSpPr>
        <p:spPr>
          <a:xfrm>
            <a:off x="120982" y="1208866"/>
            <a:ext cx="8771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/>
              <a:t>&lt;Episode 1&gt;</a:t>
            </a:r>
            <a:endParaRPr lang="ko-KR" altLang="en-US" sz="11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4424DF-7D28-4519-AA10-466758979844}"/>
              </a:ext>
            </a:extLst>
          </p:cNvPr>
          <p:cNvSpPr txBox="1"/>
          <p:nvPr/>
        </p:nvSpPr>
        <p:spPr>
          <a:xfrm>
            <a:off x="120981" y="3762849"/>
            <a:ext cx="8771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/>
              <a:t>&lt;Episode 2&gt;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081257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67F3700-2985-4927-A5AE-0FAE90AFAC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MLE</a:t>
            </a:r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37589CD-92B1-43C7-A49B-E99AA0421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85" y="3388906"/>
            <a:ext cx="4175600" cy="215398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2F84CE3-993F-44F4-9EB4-80ACD25110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580" y="1163840"/>
            <a:ext cx="3689873" cy="13761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C830BA-C00B-4B7A-922D-B712CD7F77C8}"/>
                  </a:ext>
                </a:extLst>
              </p:cNvPr>
              <p:cNvSpPr txBox="1"/>
              <p:nvPr/>
            </p:nvSpPr>
            <p:spPr>
              <a:xfrm>
                <a:off x="84638" y="1315110"/>
                <a:ext cx="448736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남자 </a:t>
                </a:r>
                <a:r>
                  <a:rPr lang="en-US" altLang="ko-KR" sz="1100"/>
                  <a:t>: </a:t>
                </a:r>
                <a:r>
                  <a:rPr lang="ko-KR" altLang="en-US" sz="1100"/>
                  <a:t>저번에 파스타 먹었을 때 오늘 같은 날이였잖아 파스타 먹자 </a:t>
                </a:r>
                <a:r>
                  <a:rPr lang="en-US" altLang="ko-KR" sz="1100"/>
                  <a:t>-&gt;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𝑓𝑜𝑜𝑑</m:t>
                        </m:r>
                      </m:e>
                    </m:d>
                  </m:oMath>
                </a14:m>
                <a:endParaRPr lang="en-US" altLang="ko-KR" sz="1100" b="0"/>
              </a:p>
              <a:p>
                <a:pPr algn="l"/>
                <a:r>
                  <a:rPr lang="ko-KR" altLang="en-US" sz="1100"/>
                  <a:t>여자 </a:t>
                </a:r>
                <a:r>
                  <a:rPr lang="en-US" altLang="ko-KR" sz="1100"/>
                  <a:t>: </a:t>
                </a:r>
                <a:r>
                  <a:rPr lang="ko-KR" altLang="en-US" sz="1100"/>
                  <a:t>오늘같은날 뭐 먹고 싶은지 말해야지 무슨상관이냐 </a:t>
                </a:r>
                <a:r>
                  <a:rPr lang="en-US" altLang="ko-KR" sz="1100"/>
                  <a:t>-&gt;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𝑓𝑜𝑜𝑑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𝑑𝑎𝑡𝑎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10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C830BA-C00B-4B7A-922D-B712CD7F7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38" y="1315110"/>
                <a:ext cx="4487362" cy="769441"/>
              </a:xfrm>
              <a:prstGeom prst="rect">
                <a:avLst/>
              </a:prstGeom>
              <a:blipFill>
                <a:blip r:embed="rId5"/>
                <a:stretch>
                  <a:fillRect t="-794" b="-7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9953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005C6B3-ED94-4E8B-A2C0-7369153241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C88D28C-0099-4939-8EDD-9FD911E80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367" y="1234593"/>
            <a:ext cx="5920080" cy="201959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00510B4-786B-47D5-A0A9-D026B1CC18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5472" y="3433225"/>
            <a:ext cx="4840941" cy="25104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62343BC-6765-4FE3-A671-2E66AF11A1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7855" y="1434653"/>
            <a:ext cx="7449590" cy="161947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A75224A-ECED-45C5-83E5-FC0DFEEDB7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6413" y="4186343"/>
            <a:ext cx="7449590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277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9FDB098-30FB-42A3-A8D4-AD9D404153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44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2ACA143-8DF4-4C0D-80A1-7CE91686F9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MLE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9B467E-D919-4FAA-8B56-6FB1F3736D08}"/>
                  </a:ext>
                </a:extLst>
              </p:cNvPr>
              <p:cNvSpPr txBox="1"/>
              <p:nvPr/>
            </p:nvSpPr>
            <p:spPr>
              <a:xfrm>
                <a:off x="290283" y="1650317"/>
                <a:ext cx="7013458" cy="1961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1100"/>
                  <a:t>키에 대해서 몸무게를 예측</a:t>
                </a:r>
                <a:r>
                  <a:rPr lang="en-US" altLang="ko-KR" sz="1100"/>
                  <a:t>(regression </a:t>
                </a:r>
                <a:r>
                  <a:rPr lang="ko-KR" altLang="en-US" sz="1100"/>
                  <a:t>생각</a:t>
                </a:r>
                <a:r>
                  <a:rPr lang="en-US" altLang="ko-KR" sz="1100"/>
                  <a:t>)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ko-KR" altLang="en-US" sz="1100" i="1">
                        <a:latin typeface="Cambria Math" panose="02040503050406030204" pitchFamily="18" charset="0"/>
                      </a:rPr>
                      <m:t>일</m:t>
                    </m:r>
                  </m:oMath>
                </a14:m>
                <a:r>
                  <a:rPr lang="en-US" altLang="ko-KR" sz="1100"/>
                  <a:t> </a:t>
                </a:r>
                <a:r>
                  <a:rPr lang="ko-KR" altLang="en-US" sz="1100"/>
                  <a:t>때 실제 몸무게일 확률이 가장 높지만 아닐 수 도 있다 이유는 데이터 형태 때문에</a:t>
                </a:r>
                <a:endParaRPr lang="en-US" altLang="ko-KR" sz="1100"/>
              </a:p>
              <a:p>
                <a:pPr algn="l"/>
                <a:r>
                  <a:rPr lang="ko-KR" altLang="en-US" sz="1100"/>
                  <a:t>실제몸무게</a:t>
                </a:r>
                <a:r>
                  <a:rPr lang="en-US" altLang="ko-KR" sz="1100"/>
                  <a:t>(t)</a:t>
                </a:r>
                <a:r>
                  <a:rPr lang="ko-KR" altLang="en-US" sz="1100"/>
                  <a:t>는 우리가 모르기 떄문에 </a:t>
                </a:r>
                <a:r>
                  <a:rPr lang="en-US" altLang="ko-KR" sz="1100"/>
                  <a:t>random variabl</a:t>
                </a:r>
                <a:r>
                  <a:rPr lang="ko-KR" altLang="en-US" sz="1100"/>
                  <a:t>인데 그림</a:t>
                </a:r>
                <a:r>
                  <a:rPr lang="en-US" altLang="ko-KR" sz="1100"/>
                  <a:t>1</a:t>
                </a:r>
                <a:r>
                  <a:rPr lang="ko-KR" altLang="en-US" sz="1100"/>
                  <a:t>과 같이 내가 예측한 몸무게</a:t>
                </a:r>
                <a:r>
                  <a:rPr lang="en-US" altLang="ko-KR" sz="1100"/>
                  <a:t>(y)</a:t>
                </a:r>
                <a:r>
                  <a:rPr lang="ko-KR" altLang="en-US" sz="1100"/>
                  <a:t>를 평균으로 하는 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Gaussian </a:t>
                </a:r>
                <a:r>
                  <a:rPr lang="ko-KR" altLang="en-US" sz="1100"/>
                  <a:t>분포를 따른다고 본다</a:t>
                </a:r>
                <a:endParaRPr lang="en-US" altLang="ko-KR" sz="1100"/>
              </a:p>
              <a:p>
                <a:pPr algn="l"/>
                <a:r>
                  <a:rPr lang="ko-KR" altLang="en-US" sz="1100"/>
                  <a:t>수학적으로 표현하면 </a:t>
                </a:r>
                <a:r>
                  <a:rPr lang="en-US" altLang="ko-KR" sz="1100"/>
                  <a:t>‘</a:t>
                </a:r>
                <a:r>
                  <a:rPr lang="ko-KR" altLang="en-US" sz="1100"/>
                  <a:t>실제 몸무게</a:t>
                </a:r>
                <a:r>
                  <a:rPr lang="en-US" altLang="ko-KR" sz="1100"/>
                  <a:t>(t)</a:t>
                </a:r>
                <a:r>
                  <a:rPr lang="ko-KR" altLang="en-US" sz="1100"/>
                  <a:t>는 내가 예측한 몸무게 </a:t>
                </a:r>
                <a:r>
                  <a:rPr lang="en-US" altLang="ko-KR" sz="1100"/>
                  <a:t>(y)</a:t>
                </a:r>
                <a:r>
                  <a:rPr lang="ko-KR" altLang="en-US" sz="1100"/>
                  <a:t>를 평균으로 하고 특정값</a:t>
                </a:r>
                <a:endParaRPr lang="en-US" altLang="ko-KR" sz="1100"/>
              </a:p>
              <a:p>
                <a:pPr algn="l"/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 sz="1100"/>
                  <a:t> </a:t>
                </a:r>
                <a:r>
                  <a:rPr lang="ko-KR" altLang="en-US" sz="1100"/>
                  <a:t>표준편차로 하는 </a:t>
                </a:r>
                <a:r>
                  <a:rPr lang="en-US" altLang="ko-KR" sz="1100"/>
                  <a:t>gaussian distribution</a:t>
                </a:r>
                <a:r>
                  <a:rPr lang="ko-KR" altLang="en-US" sz="1100"/>
                  <a:t>을 따른다</a:t>
                </a:r>
                <a:r>
                  <a:rPr lang="en-US" altLang="ko-KR" sz="1100"/>
                  <a:t>.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en-US" altLang="ko-KR" sz="1100"/>
                  <a:t> </a:t>
                </a:r>
                <a:r>
                  <a:rPr lang="ko-KR" altLang="en-US" sz="1100"/>
                  <a:t>우리가 한 예측이 얼마나 불확실한지의 정도 </a:t>
                </a: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en-US" altLang="ko-KR" sz="1100"/>
                  <a:t> </a:t>
                </a:r>
                <a:r>
                  <a:rPr lang="ko-KR" altLang="en-US" sz="1100"/>
                  <a:t>크면 예측한값에 자신이 없다</a:t>
                </a:r>
                <a:endParaRPr lang="en-US" altLang="ko-KR" sz="1100"/>
              </a:p>
              <a:p>
                <a:pPr algn="l"/>
                <a:r>
                  <a:rPr lang="ko-KR" altLang="en-US" sz="1100"/>
                  <a:t>작으면 자신이 있다</a:t>
                </a:r>
                <a:r>
                  <a:rPr lang="en-US" altLang="ko-KR" sz="1100"/>
                  <a:t>. </a:t>
                </a:r>
                <a:r>
                  <a:rPr lang="ko-KR" altLang="en-US" sz="1100"/>
                  <a:t>하지만 </a:t>
                </a: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100"/>
                  <a:t> </a:t>
                </a:r>
                <a:r>
                  <a:rPr lang="ko-KR" altLang="en-US" sz="1100"/>
                  <a:t>예측능력에 따른 변수가 아니고 문제의 특성에 따라 </a:t>
                </a:r>
                <a:endParaRPr lang="en-US" altLang="ko-KR" sz="1100"/>
              </a:p>
              <a:p>
                <a:pPr algn="l"/>
                <a:r>
                  <a:rPr lang="ko-KR" altLang="en-US" sz="1100"/>
                  <a:t>설정되는 값이다</a:t>
                </a:r>
                <a:r>
                  <a:rPr lang="en-US" altLang="ko-KR" sz="1100"/>
                  <a:t>.</a:t>
                </a:r>
              </a:p>
              <a:p>
                <a:pPr algn="l"/>
                <a:endParaRPr lang="en-US" altLang="ko-KR" sz="1100"/>
              </a:p>
              <a:p>
                <a:pPr algn="l"/>
                <a:endParaRPr lang="ko-KR" altLang="en-US" sz="110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9B467E-D919-4FAA-8B56-6FB1F3736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83" y="1650317"/>
                <a:ext cx="7013458" cy="1961691"/>
              </a:xfrm>
              <a:prstGeom prst="rect">
                <a:avLst/>
              </a:prstGeom>
              <a:blipFill>
                <a:blip r:embed="rId2"/>
                <a:stretch>
                  <a:fillRect t="-3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DFC9366E-CE03-4135-9A2D-698031FFE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239" y="2121279"/>
            <a:ext cx="3530761" cy="269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11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A551B8-F8F5-44A7-B98C-39169BEA52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9EFB0F-2D50-4781-BABE-FB220DD63E89}"/>
              </a:ext>
            </a:extLst>
          </p:cNvPr>
          <p:cNvSpPr txBox="1"/>
          <p:nvPr/>
        </p:nvSpPr>
        <p:spPr>
          <a:xfrm>
            <a:off x="268605" y="1213574"/>
            <a:ext cx="46148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https://study2give.tistory.com/entry/%EB%A8%B8%EC%8B%A0%EB%9F%AC%EB%8B%9D-%EC%86%90%EC%8B%A4%ED%95%A8%EC%88%982-%EC%97%94%ED%8A%B8%EB%A1%9C%ED%94%BCEntropy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F2E2085-1943-4E64-BDF1-4D2040A0D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783" y="1671529"/>
            <a:ext cx="4239217" cy="15527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26C0BC-A13D-411A-BD07-3A1D58DF5BA9}"/>
              </a:ext>
            </a:extLst>
          </p:cNvPr>
          <p:cNvSpPr txBox="1"/>
          <p:nvPr/>
        </p:nvSpPr>
        <p:spPr>
          <a:xfrm>
            <a:off x="268605" y="3289936"/>
            <a:ext cx="46148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https://velog.io/@yuns_u/%EC%86%90%EC%8B%A4%ED%95%A8%EC%88%98-%EA%B0%84%EB%9E%B5-%EC%A0%95%EB%A6%AC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C1ECB6-9261-40B7-AA35-FB2480973EE6}"/>
              </a:ext>
            </a:extLst>
          </p:cNvPr>
          <p:cNvSpPr txBox="1"/>
          <p:nvPr/>
        </p:nvSpPr>
        <p:spPr>
          <a:xfrm>
            <a:off x="268605" y="5278905"/>
            <a:ext cx="4614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https://darkpgmr.tistory.com/186</a:t>
            </a:r>
          </a:p>
        </p:txBody>
      </p:sp>
    </p:spTree>
    <p:extLst>
      <p:ext uri="{BB962C8B-B14F-4D97-AF65-F5344CB8AC3E}">
        <p14:creationId xmlns:p14="http://schemas.microsoft.com/office/powerpoint/2010/main" val="4122315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45A56DB-AED4-41D0-8D84-B8EFCAA392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ko-KR" altLang="en-US"/>
              <a:t>참고문헌</a:t>
            </a:r>
            <a:endParaRPr lang="en-US" altLang="ko-KR"/>
          </a:p>
          <a:p>
            <a:pPr>
              <a:buNone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B7F54-F341-4D1B-9711-03ED3CE1AC20}"/>
              </a:ext>
            </a:extLst>
          </p:cNvPr>
          <p:cNvSpPr txBox="1"/>
          <p:nvPr/>
        </p:nvSpPr>
        <p:spPr>
          <a:xfrm>
            <a:off x="536895" y="1719743"/>
            <a:ext cx="817926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hlinkClick r:id="rId2"/>
              </a:rPr>
              <a:t>https://www.edwith.org/machinelearning1_17/lecture/10580?isDesc=false</a:t>
            </a:r>
            <a:endParaRPr lang="en-US" altLang="ko-KR" sz="1100"/>
          </a:p>
          <a:p>
            <a:pPr algn="l"/>
            <a:r>
              <a:rPr lang="en-US" altLang="ko-KR" sz="1100">
                <a:hlinkClick r:id="rId3"/>
              </a:rPr>
              <a:t>https://zzsza.github.io/data/2018/04/19/rule-based-machine-learning-overview/</a:t>
            </a:r>
            <a:endParaRPr lang="en-US" altLang="ko-KR" sz="1100"/>
          </a:p>
          <a:p>
            <a:pPr algn="l"/>
            <a:r>
              <a:rPr lang="en-US" altLang="ko-KR" sz="1100">
                <a:hlinkClick r:id="rId4"/>
              </a:rPr>
              <a:t>https://gaussian37.github.io/ml-concept-basic_information_theory/</a:t>
            </a:r>
            <a:endParaRPr lang="en-US" altLang="ko-KR" sz="1100"/>
          </a:p>
          <a:p>
            <a:r>
              <a:rPr lang="en-US" altLang="ko-KR" sz="900"/>
              <a:t>https://www.edwith.org/machinelearning1_17/lecture/10575?isDesc=false</a:t>
            </a:r>
          </a:p>
          <a:p>
            <a:r>
              <a:rPr lang="en-US" altLang="ko-KR" sz="900"/>
              <a:t>https://www.youtube.com/watch?v=mxCmB1WE3R8 -&gt;likehood	</a:t>
            </a:r>
          </a:p>
          <a:p>
            <a:r>
              <a:rPr lang="en-US" altLang="ko-KR" sz="900"/>
              <a:t>https://hyeongminlee.github.io/post/bnn002_mle_map/ -&gt; map</a:t>
            </a:r>
            <a:r>
              <a:rPr lang="ko-KR" altLang="en-US" sz="900"/>
              <a:t> </a:t>
            </a:r>
            <a:r>
              <a:rPr lang="en-US" altLang="ko-KR" sz="900"/>
              <a:t>mle</a:t>
            </a:r>
            <a:endParaRPr lang="ko-KR" altLang="en-US" sz="9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1098788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F6325A9-6976-4C92-BFF2-A352556814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4A68AC-CAA2-4574-96E5-D0293677E8E1}"/>
              </a:ext>
            </a:extLst>
          </p:cNvPr>
          <p:cNvSpPr txBox="1"/>
          <p:nvPr/>
        </p:nvSpPr>
        <p:spPr>
          <a:xfrm>
            <a:off x="415636" y="1270660"/>
            <a:ext cx="16594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100"/>
              <a:t>자료</a:t>
            </a:r>
            <a:r>
              <a:rPr lang="en-US" altLang="ko-KR" sz="1100"/>
              <a:t> </a:t>
            </a:r>
            <a:r>
              <a:rPr lang="ko-KR" altLang="en-US" sz="1100"/>
              <a:t>정리해야할 블로그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76DD15-9C83-49DC-AEC7-9A355BE01868}"/>
              </a:ext>
            </a:extLst>
          </p:cNvPr>
          <p:cNvSpPr txBox="1"/>
          <p:nvPr/>
        </p:nvSpPr>
        <p:spPr>
          <a:xfrm>
            <a:off x="415636" y="1644133"/>
            <a:ext cx="46313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hlinkClick r:id="rId2"/>
              </a:rPr>
              <a:t>https://warm-uk.tistory.com/49</a:t>
            </a:r>
            <a:endParaRPr lang="en-US" altLang="ko-KR"/>
          </a:p>
          <a:p>
            <a:r>
              <a:rPr lang="en-US" altLang="ko-KR">
                <a:hlinkClick r:id="rId3"/>
              </a:rPr>
              <a:t>https://hyeongminlee.github.io/post/bnn002_mle_map/</a:t>
            </a:r>
            <a:r>
              <a:rPr lang="en-US" altLang="ko-KR"/>
              <a:t> -&gt; </a:t>
            </a:r>
            <a:r>
              <a:rPr lang="ko-KR" altLang="en-US"/>
              <a:t>공식유도</a:t>
            </a:r>
          </a:p>
        </p:txBody>
      </p:sp>
    </p:spTree>
    <p:extLst>
      <p:ext uri="{BB962C8B-B14F-4D97-AF65-F5344CB8AC3E}">
        <p14:creationId xmlns:p14="http://schemas.microsoft.com/office/powerpoint/2010/main" val="2372463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948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1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11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13098</TotalTime>
  <Pages>4</Pages>
  <Words>1281</Words>
  <Characters>0</Characters>
  <Application>Microsoft Office PowerPoint</Application>
  <DocSecurity>0</DocSecurity>
  <PresentationFormat>화면 슬라이드 쇼(4:3)</PresentationFormat>
  <Lines>0</Lines>
  <Paragraphs>152</Paragraphs>
  <Slides>16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HY견고딕</vt:lpstr>
      <vt:lpstr>Jeju Gothic</vt:lpstr>
      <vt:lpstr>맑은 고딕</vt:lpstr>
      <vt:lpstr>Arial</vt:lpstr>
      <vt:lpstr>Arial Black</vt:lpstr>
      <vt:lpstr>Calibri</vt:lpstr>
      <vt:lpstr>Calibri Light</vt:lpstr>
      <vt:lpstr>Cambria Math</vt:lpstr>
      <vt:lpstr>Office 테마</vt:lpstr>
      <vt:lpstr>PowerPoint 프레젠테이션</vt:lpstr>
      <vt:lpstr>https://soundprovider.tistory.com/entry/3-Maximum-Likelihood-EstimationMLE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박진용</dc:creator>
  <cp:lastModifiedBy>지훈 김</cp:lastModifiedBy>
  <cp:revision>288</cp:revision>
  <dcterms:modified xsi:type="dcterms:W3CDTF">2023-08-02T10:28:46Z</dcterms:modified>
  <cp:version>9.104.131.47063</cp:version>
</cp:coreProperties>
</file>