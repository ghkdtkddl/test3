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9"/>
  </p:notesMasterIdLst>
  <p:handoutMasterIdLst>
    <p:handoutMasterId r:id="rId40"/>
  </p:handoutMasterIdLst>
  <p:sldIdLst>
    <p:sldId id="256" r:id="rId2"/>
    <p:sldId id="408" r:id="rId3"/>
    <p:sldId id="433" r:id="rId4"/>
    <p:sldId id="434" r:id="rId5"/>
    <p:sldId id="415" r:id="rId6"/>
    <p:sldId id="420" r:id="rId7"/>
    <p:sldId id="435" r:id="rId8"/>
    <p:sldId id="422" r:id="rId9"/>
    <p:sldId id="436" r:id="rId10"/>
    <p:sldId id="418" r:id="rId11"/>
    <p:sldId id="423" r:id="rId12"/>
    <p:sldId id="439" r:id="rId13"/>
    <p:sldId id="446" r:id="rId14"/>
    <p:sldId id="447" r:id="rId15"/>
    <p:sldId id="428" r:id="rId16"/>
    <p:sldId id="424" r:id="rId17"/>
    <p:sldId id="427" r:id="rId18"/>
    <p:sldId id="429" r:id="rId19"/>
    <p:sldId id="430" r:id="rId20"/>
    <p:sldId id="413" r:id="rId21"/>
    <p:sldId id="306" r:id="rId22"/>
    <p:sldId id="437" r:id="rId23"/>
    <p:sldId id="409" r:id="rId24"/>
    <p:sldId id="421" r:id="rId25"/>
    <p:sldId id="410" r:id="rId26"/>
    <p:sldId id="417" r:id="rId27"/>
    <p:sldId id="416" r:id="rId28"/>
    <p:sldId id="411" r:id="rId29"/>
    <p:sldId id="431" r:id="rId30"/>
    <p:sldId id="432" r:id="rId31"/>
    <p:sldId id="438" r:id="rId32"/>
    <p:sldId id="440" r:id="rId33"/>
    <p:sldId id="441" r:id="rId34"/>
    <p:sldId id="442" r:id="rId35"/>
    <p:sldId id="443" r:id="rId36"/>
    <p:sldId id="445" r:id="rId37"/>
    <p:sldId id="444" r:id="rId38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1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5ED"/>
    <a:srgbClr val="FFD03B"/>
    <a:srgbClr val="1F4E79"/>
    <a:srgbClr val="2C6FAD"/>
    <a:srgbClr val="FFABA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6" autoAdjust="0"/>
    <p:restoredTop sz="93857" autoAdjust="0"/>
  </p:normalViewPr>
  <p:slideViewPr>
    <p:cSldViewPr snapToGrid="0" snapToObjects="1">
      <p:cViewPr varScale="1">
        <p:scale>
          <a:sx n="114" d="100"/>
          <a:sy n="114" d="100"/>
        </p:scale>
        <p:origin x="1128" y="90"/>
      </p:cViewPr>
      <p:guideLst>
        <p:guide orient="horz" pos="2157"/>
        <p:guide pos="2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4:37:24.403" idx="8">
    <p:pos x="3989" y="2107"/>
    <p:text>벡터 w=(w1,w2) 벡터 u = (u1,u2)가 있을 때 두 벡터의 내적은 p가 된다</p:text>
    <p:extLst>
      <p:ext uri="{C676402C-5697-4E1C-873F-D02D1690AC5C}">
        <p15:threadingInfo xmlns:p15="http://schemas.microsoft.com/office/powerpoint/2012/main" timeZoneBias="-540"/>
      </p:ext>
    </p:extLst>
  </p:cm>
  <p:cm authorId="1" dt="2023-02-02T14:40:12.578" idx="9">
    <p:pos x="3989" y="2243"/>
    <p:text>값을 최대로 하는것은 0도이며 최소로 하는것은 90도이다</p:text>
    <p:extLst>
      <p:ext uri="{C676402C-5697-4E1C-873F-D02D1690AC5C}">
        <p15:threadingInfo xmlns:p15="http://schemas.microsoft.com/office/powerpoint/2012/main" timeZoneBias="-540">
          <p15:parentCm authorId="1" idx="8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6:39:43.511" idx="13">
    <p:pos x="2362" y="1949"/>
    <p:text>KKT는 local minimum이면 KKT가 만족된다. 반대로 KKT가 만족이 안된다라고 하면 local minimum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6:36.217" idx="7">
    <p:pos x="4858" y="1334"/>
    <p:text>x말고 다 상수여서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5:12.797" idx="4">
    <p:pos x="2602" y="960"/>
    <p:text>모든점들에 대한 w식</p:text>
    <p:extLst>
      <p:ext uri="{C676402C-5697-4E1C-873F-D02D1690AC5C}">
        <p15:threadingInfo xmlns:p15="http://schemas.microsoft.com/office/powerpoint/2012/main" timeZoneBias="-540"/>
      </p:ext>
    </p:extLst>
  </p:cm>
  <p:cm authorId="1" dt="2023-02-02T12:55:47.193" idx="6">
    <p:pos x="3067" y="960"/>
    <p:text>ai&gt;0 클때의 support vector들의 점에서의 w값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3:49:20.844" idx="10">
    <p:pos x="3859" y="1118"/>
    <p:text>더큰 이유는 위의식은 그냥 x를 미분한거지만 x*는 제약조건을 만족하는 식을 계산했기 때문에</p:text>
    <p:extLst>
      <p:ext uri="{C676402C-5697-4E1C-873F-D02D1690AC5C}">
        <p15:threadingInfo xmlns:p15="http://schemas.microsoft.com/office/powerpoint/2012/main" timeZoneBias="-540"/>
      </p:ext>
    </p:extLst>
  </p:cm>
  <p:cm authorId="1" dt="2023-02-03T13:50:11.603" idx="11">
    <p:pos x="2948" y="1185"/>
    <p:text>h(x)식은 0이고 mu는 양수이고 g(x*)는 음수이기 떄문에 f(x*)가 더 큼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6:39:43.511" idx="12">
    <p:pos x="2362" y="1949"/>
    <p:text>KKT는 local minimum이면 KKT가 만족된다. 반대로 KKT가 만족이 안된다라고 하면 local minimum</p:text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2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31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27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02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640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33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340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7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92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0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77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06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72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73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2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26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3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29" r:id="rId7"/>
    <p:sldLayoutId id="2147483735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omments" Target="../comments/comment1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comments" Target="../comments/commen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comments" Target="../comments/comment4.xml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620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12" Type="http://schemas.openxmlformats.org/officeDocument/2006/relationships/image" Target="../media/image6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0.png"/><Relationship Id="rId11" Type="http://schemas.openxmlformats.org/officeDocument/2006/relationships/image" Target="../media/image600.png"/><Relationship Id="rId5" Type="http://schemas.openxmlformats.org/officeDocument/2006/relationships/image" Target="../media/image540.png"/><Relationship Id="rId15" Type="http://schemas.openxmlformats.org/officeDocument/2006/relationships/image" Target="../media/image640.png"/><Relationship Id="rId10" Type="http://schemas.openxmlformats.org/officeDocument/2006/relationships/image" Target="../media/image59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Relationship Id="rId14" Type="http://schemas.openxmlformats.org/officeDocument/2006/relationships/image" Target="../media/image6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5.xml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6.xml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6000">
                <a:solidFill>
                  <a:schemeClr val="tx1"/>
                </a:solidFill>
              </a:rPr>
              <a:t>Linear </a:t>
            </a:r>
            <a:r>
              <a:rPr lang="en-US" altLang="ko-KR" sz="6000" b="0">
                <a:solidFill>
                  <a:schemeClr val="tx1"/>
                </a:solidFill>
              </a:rPr>
              <a:t>SVM</a:t>
            </a:r>
            <a:endParaRPr lang="ko-KR" altLang="en-US" sz="6000" b="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r>
              <a:rPr lang="en-US" altLang="ko-KR" sz="6000" b="0">
                <a:solidFill>
                  <a:schemeClr val="tx1"/>
                </a:solidFill>
              </a:rPr>
              <a:t>(Support Vector Machine)</a:t>
            </a: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 sz="2400"/>
              <a:t>SVM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5" y="299434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Hard Margin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Soft Margin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4DE98-FD2E-476C-A225-9B48EC87AD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 b="1"/>
              <a:t>알맞은 형태는 무엇일까</a:t>
            </a:r>
          </a:p>
          <a:p>
            <a:pPr>
              <a:buNone/>
            </a:pPr>
            <a:endParaRPr lang="ko-KR" altLang="en-US" sz="1600" b="0">
              <a:solidFill>
                <a:schemeClr val="tx1"/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A434A32-0FF1-4ECA-A89F-98C52F4C75B8}"/>
              </a:ext>
            </a:extLst>
          </p:cNvPr>
          <p:cNvGrpSpPr/>
          <p:nvPr/>
        </p:nvGrpSpPr>
        <p:grpSpPr>
          <a:xfrm>
            <a:off x="2782359" y="1768463"/>
            <a:ext cx="4387861" cy="3682223"/>
            <a:chOff x="2782359" y="1768463"/>
            <a:chExt cx="4387861" cy="3682223"/>
          </a:xfrm>
        </p:grpSpPr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87731B53-F884-4525-8073-747DA700CB58}"/>
                </a:ext>
              </a:extLst>
            </p:cNvPr>
            <p:cNvSpPr/>
            <p:nvPr/>
          </p:nvSpPr>
          <p:spPr>
            <a:xfrm>
              <a:off x="4811140" y="262113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BC06C463-AAED-4A57-9B81-51C3FCAD1539}"/>
                </a:ext>
              </a:extLst>
            </p:cNvPr>
            <p:cNvSpPr/>
            <p:nvPr/>
          </p:nvSpPr>
          <p:spPr>
            <a:xfrm>
              <a:off x="5068110" y="322439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34B7FF45-CD18-4D9F-851C-7C8C4C6706F3}"/>
                </a:ext>
              </a:extLst>
            </p:cNvPr>
            <p:cNvSpPr/>
            <p:nvPr/>
          </p:nvSpPr>
          <p:spPr>
            <a:xfrm>
              <a:off x="5593420" y="3429978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26ADA9B8-FE9E-4ABC-B84F-866C1948B1D5}"/>
                </a:ext>
              </a:extLst>
            </p:cNvPr>
            <p:cNvSpPr/>
            <p:nvPr/>
          </p:nvSpPr>
          <p:spPr>
            <a:xfrm>
              <a:off x="6131458" y="353504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99E81962-B8E9-4542-A57E-E73E95EB9AAA}"/>
                </a:ext>
              </a:extLst>
            </p:cNvPr>
            <p:cNvSpPr/>
            <p:nvPr/>
          </p:nvSpPr>
          <p:spPr>
            <a:xfrm>
              <a:off x="5571897" y="2826811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AA306E-7F04-4793-94F7-2ECDD9BB9E5F}"/>
                </a:ext>
              </a:extLst>
            </p:cNvPr>
            <p:cNvGrpSpPr/>
            <p:nvPr/>
          </p:nvGrpSpPr>
          <p:grpSpPr>
            <a:xfrm>
              <a:off x="2782359" y="1768463"/>
              <a:ext cx="4387861" cy="3682223"/>
              <a:chOff x="3431097" y="1987172"/>
              <a:chExt cx="3482605" cy="2744220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4177FD04-22DD-4377-AA15-F02601BD2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1A46220E-6F57-4E50-A227-F79FDFFA42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7F17DD7-8B13-4F6D-B175-F556EF887EFB}"/>
                </a:ext>
              </a:extLst>
            </p:cNvPr>
            <p:cNvCxnSpPr>
              <a:cxnSpLocks/>
            </p:cNvCxnSpPr>
            <p:nvPr/>
          </p:nvCxnSpPr>
          <p:spPr>
            <a:xfrm>
              <a:off x="3589915" y="2405822"/>
              <a:ext cx="2504899" cy="2757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4046A54-D1CF-47EA-9607-FDC44E84B152}"/>
                </a:ext>
              </a:extLst>
            </p:cNvPr>
            <p:cNvSpPr/>
            <p:nvPr/>
          </p:nvSpPr>
          <p:spPr>
            <a:xfrm>
              <a:off x="3510646" y="3677111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ED39B9-121C-49A8-93AB-712767B2EDD9}"/>
                </a:ext>
              </a:extLst>
            </p:cNvPr>
            <p:cNvSpPr/>
            <p:nvPr/>
          </p:nvSpPr>
          <p:spPr>
            <a:xfrm>
              <a:off x="3677988" y="4220667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E5257A1-C33B-4FA0-8A92-17CE7653F871}"/>
                </a:ext>
              </a:extLst>
            </p:cNvPr>
            <p:cNvSpPr/>
            <p:nvPr/>
          </p:nvSpPr>
          <p:spPr>
            <a:xfrm>
              <a:off x="3811142" y="478770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705084-25D6-4BDD-8CF4-E990B92D8129}"/>
                </a:ext>
              </a:extLst>
            </p:cNvPr>
            <p:cNvSpPr/>
            <p:nvPr/>
          </p:nvSpPr>
          <p:spPr>
            <a:xfrm>
              <a:off x="4448585" y="437254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A4C84DE-E1A0-4224-8687-68E9946CA69F}"/>
                </a:ext>
              </a:extLst>
            </p:cNvPr>
            <p:cNvSpPr/>
            <p:nvPr/>
          </p:nvSpPr>
          <p:spPr>
            <a:xfrm>
              <a:off x="3988871" y="3654515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313A19F-6A8B-40A6-A726-9C6C08EBD566}"/>
                </a:ext>
              </a:extLst>
            </p:cNvPr>
            <p:cNvCxnSpPr>
              <a:cxnSpLocks/>
            </p:cNvCxnSpPr>
            <p:nvPr/>
          </p:nvCxnSpPr>
          <p:spPr>
            <a:xfrm>
              <a:off x="4267312" y="2113337"/>
              <a:ext cx="880068" cy="3187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9C036D1-7006-4DCF-BE49-69BA818CCD0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61" y="3057019"/>
              <a:ext cx="3674177" cy="12762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8DE1EF-BA01-4C5A-A3D6-C0CF61FDC907}"/>
                </a:ext>
              </a:extLst>
            </p:cNvPr>
            <p:cNvSpPr txBox="1"/>
            <p:nvPr/>
          </p:nvSpPr>
          <p:spPr>
            <a:xfrm>
              <a:off x="2868930" y="2883938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53F3F-8EEE-4C7B-B1E2-2E1B8B7531F8}"/>
                </a:ext>
              </a:extLst>
            </p:cNvPr>
            <p:cNvSpPr txBox="1"/>
            <p:nvPr/>
          </p:nvSpPr>
          <p:spPr>
            <a:xfrm>
              <a:off x="3400056" y="2209501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E0EAB8-48CF-4BE4-A6EE-5EA0777BE309}"/>
                </a:ext>
              </a:extLst>
            </p:cNvPr>
            <p:cNvSpPr txBox="1"/>
            <p:nvPr/>
          </p:nvSpPr>
          <p:spPr>
            <a:xfrm>
              <a:off x="4112548" y="1827829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3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9883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D2724B42-A1F3-4C8E-BCE6-F09EFDEFB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알맞은 형태는 무엇일까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A8647E0-25B4-42A2-89C9-37BFA1EC8A2A}"/>
              </a:ext>
            </a:extLst>
          </p:cNvPr>
          <p:cNvCxnSpPr>
            <a:cxnSpLocks/>
          </p:cNvCxnSpPr>
          <p:nvPr/>
        </p:nvCxnSpPr>
        <p:spPr>
          <a:xfrm flipV="1">
            <a:off x="4151790" y="3356748"/>
            <a:ext cx="296795" cy="3109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5F70127-E4EE-4516-BF90-76D6A48948D4}"/>
              </a:ext>
            </a:extLst>
          </p:cNvPr>
          <p:cNvCxnSpPr>
            <a:cxnSpLocks/>
          </p:cNvCxnSpPr>
          <p:nvPr/>
        </p:nvCxnSpPr>
        <p:spPr>
          <a:xfrm flipV="1">
            <a:off x="4772545" y="3403023"/>
            <a:ext cx="292751" cy="28703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D2E010-F5E0-4D66-B76D-8DEBF5D273B8}"/>
              </a:ext>
            </a:extLst>
          </p:cNvPr>
          <p:cNvSpPr txBox="1"/>
          <p:nvPr/>
        </p:nvSpPr>
        <p:spPr>
          <a:xfrm>
            <a:off x="3782683" y="3314818"/>
            <a:ext cx="63472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E0FE65-E7D0-4C54-9571-5E9543618DCE}"/>
              </a:ext>
            </a:extLst>
          </p:cNvPr>
          <p:cNvSpPr txBox="1"/>
          <p:nvPr/>
        </p:nvSpPr>
        <p:spPr>
          <a:xfrm>
            <a:off x="4900554" y="3529891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10FB32-2146-4E40-A872-8175AE73E8B0}"/>
              </a:ext>
            </a:extLst>
          </p:cNvPr>
          <p:cNvSpPr txBox="1"/>
          <p:nvPr/>
        </p:nvSpPr>
        <p:spPr>
          <a:xfrm>
            <a:off x="6065182" y="4959357"/>
            <a:ext cx="2184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 Optimal Hyperplane</a:t>
            </a:r>
            <a:endParaRPr lang="ko-KR" altLang="en-US" sz="1100"/>
          </a:p>
          <a:p>
            <a:pPr algn="l"/>
            <a:r>
              <a:rPr lang="en-US" altLang="ko-KR" sz="1100"/>
              <a:t>/Decision Boundary</a:t>
            </a:r>
            <a:endParaRPr lang="ko-KR" altLang="en-US" sz="110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A96FAF3-DDED-48B3-AB22-CC137846C11E}"/>
              </a:ext>
            </a:extLst>
          </p:cNvPr>
          <p:cNvGrpSpPr/>
          <p:nvPr/>
        </p:nvGrpSpPr>
        <p:grpSpPr>
          <a:xfrm>
            <a:off x="2782359" y="1768463"/>
            <a:ext cx="4387861" cy="3682223"/>
            <a:chOff x="2782359" y="1768463"/>
            <a:chExt cx="4387861" cy="3682223"/>
          </a:xfrm>
        </p:grpSpPr>
        <p:sp>
          <p:nvSpPr>
            <p:cNvPr id="78" name="이등변 삼각형 77">
              <a:extLst>
                <a:ext uri="{FF2B5EF4-FFF2-40B4-BE49-F238E27FC236}">
                  <a16:creationId xmlns:a16="http://schemas.microsoft.com/office/drawing/2014/main" id="{C85816C9-A897-445B-92EB-02807C90260A}"/>
                </a:ext>
              </a:extLst>
            </p:cNvPr>
            <p:cNvSpPr/>
            <p:nvPr/>
          </p:nvSpPr>
          <p:spPr>
            <a:xfrm>
              <a:off x="4811140" y="262113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8F7AACFF-1D71-440A-A93D-9E28E6A69847}"/>
                </a:ext>
              </a:extLst>
            </p:cNvPr>
            <p:cNvSpPr/>
            <p:nvPr/>
          </p:nvSpPr>
          <p:spPr>
            <a:xfrm>
              <a:off x="5068110" y="322439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0C07A915-7C38-46CC-A2BE-09AC5C300488}"/>
                </a:ext>
              </a:extLst>
            </p:cNvPr>
            <p:cNvSpPr/>
            <p:nvPr/>
          </p:nvSpPr>
          <p:spPr>
            <a:xfrm>
              <a:off x="5593420" y="3429978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이등변 삼각형 80">
              <a:extLst>
                <a:ext uri="{FF2B5EF4-FFF2-40B4-BE49-F238E27FC236}">
                  <a16:creationId xmlns:a16="http://schemas.microsoft.com/office/drawing/2014/main" id="{29BA9577-8BA8-470B-8F98-4BA38EB542BB}"/>
                </a:ext>
              </a:extLst>
            </p:cNvPr>
            <p:cNvSpPr/>
            <p:nvPr/>
          </p:nvSpPr>
          <p:spPr>
            <a:xfrm>
              <a:off x="6131458" y="353504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71DA4510-C2AE-4288-9471-31C4F5F6F6F0}"/>
                </a:ext>
              </a:extLst>
            </p:cNvPr>
            <p:cNvSpPr/>
            <p:nvPr/>
          </p:nvSpPr>
          <p:spPr>
            <a:xfrm>
              <a:off x="5571897" y="2826811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8B930E4-F79F-4886-8052-0B16192A7A80}"/>
                </a:ext>
              </a:extLst>
            </p:cNvPr>
            <p:cNvGrpSpPr/>
            <p:nvPr/>
          </p:nvGrpSpPr>
          <p:grpSpPr>
            <a:xfrm>
              <a:off x="2782359" y="1768463"/>
              <a:ext cx="4387861" cy="3682223"/>
              <a:chOff x="3431097" y="1987172"/>
              <a:chExt cx="3482605" cy="2744220"/>
            </a:xfrm>
          </p:grpSpPr>
          <p:cxnSp>
            <p:nvCxnSpPr>
              <p:cNvPr id="95" name="직선 화살표 연결선 94">
                <a:extLst>
                  <a:ext uri="{FF2B5EF4-FFF2-40B4-BE49-F238E27FC236}">
                    <a16:creationId xmlns:a16="http://schemas.microsoft.com/office/drawing/2014/main" id="{620FF4E5-8C3E-4EC0-A2C4-BF8C8326D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화살표 연결선 95">
                <a:extLst>
                  <a:ext uri="{FF2B5EF4-FFF2-40B4-BE49-F238E27FC236}">
                    <a16:creationId xmlns:a16="http://schemas.microsoft.com/office/drawing/2014/main" id="{228BF0C2-871F-4F6B-A5A6-62264FDAEE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9F832DA1-9F31-4797-AEE1-194A6E196808}"/>
                </a:ext>
              </a:extLst>
            </p:cNvPr>
            <p:cNvCxnSpPr>
              <a:cxnSpLocks/>
            </p:cNvCxnSpPr>
            <p:nvPr/>
          </p:nvCxnSpPr>
          <p:spPr>
            <a:xfrm>
              <a:off x="3589915" y="2405822"/>
              <a:ext cx="2504899" cy="2757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973B8A5-AB53-493B-A706-8E4A2A807B38}"/>
                </a:ext>
              </a:extLst>
            </p:cNvPr>
            <p:cNvSpPr/>
            <p:nvPr/>
          </p:nvSpPr>
          <p:spPr>
            <a:xfrm>
              <a:off x="3510646" y="3677111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76EFB97-8BE8-480C-A2AE-C3E3E18BB315}"/>
                </a:ext>
              </a:extLst>
            </p:cNvPr>
            <p:cNvSpPr/>
            <p:nvPr/>
          </p:nvSpPr>
          <p:spPr>
            <a:xfrm>
              <a:off x="3677988" y="4220667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ADAECC9-8C0E-4AF2-9648-722BF24C129F}"/>
                </a:ext>
              </a:extLst>
            </p:cNvPr>
            <p:cNvSpPr/>
            <p:nvPr/>
          </p:nvSpPr>
          <p:spPr>
            <a:xfrm>
              <a:off x="3811142" y="478770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24D67F2-9780-447A-BB70-EC9EEC8C7FFD}"/>
                </a:ext>
              </a:extLst>
            </p:cNvPr>
            <p:cNvSpPr/>
            <p:nvPr/>
          </p:nvSpPr>
          <p:spPr>
            <a:xfrm>
              <a:off x="4448585" y="437254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CCB078B-8328-4ADA-B65A-E3AAE13900D2}"/>
                </a:ext>
              </a:extLst>
            </p:cNvPr>
            <p:cNvSpPr/>
            <p:nvPr/>
          </p:nvSpPr>
          <p:spPr>
            <a:xfrm>
              <a:off x="3988871" y="3654515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7573C32-7FF5-473E-B460-B949E9532305}"/>
                </a:ext>
              </a:extLst>
            </p:cNvPr>
            <p:cNvSpPr txBox="1"/>
            <p:nvPr/>
          </p:nvSpPr>
          <p:spPr>
            <a:xfrm>
              <a:off x="2868930" y="2883938"/>
              <a:ext cx="270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ko-KR" altLang="en-US" sz="110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2A28060-AEB0-4436-AC7B-3DC6BA0F0A91}"/>
                </a:ext>
              </a:extLst>
            </p:cNvPr>
            <p:cNvSpPr txBox="1"/>
            <p:nvPr/>
          </p:nvSpPr>
          <p:spPr>
            <a:xfrm>
              <a:off x="3400056" y="2209501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53091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r>
              <a:rPr lang="ko-KR" altLang="en-US" sz="1600" b="0">
                <a:solidFill>
                  <a:schemeClr val="tx1"/>
                </a:solidFill>
              </a:rPr>
              <a:t>이란</a:t>
            </a: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273380" y="3422970"/>
            <a:ext cx="8215770" cy="260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두 클래스로부터 최대한 멀리 떨어져 있는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찾는 분류기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특정 조건을 만족하는 동시에 클래스를 분류하는것을 목표</a:t>
            </a:r>
            <a:r>
              <a:rPr lang="en-US" altLang="ko-KR" sz="1100">
                <a:latin typeface="+mn-ea"/>
              </a:rPr>
              <a:t>(ex) </a:t>
            </a:r>
            <a:r>
              <a:rPr lang="ko-KR" altLang="en-US" sz="1100">
                <a:latin typeface="+mn-ea"/>
              </a:rPr>
              <a:t>짜장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짬뽕 </a:t>
            </a:r>
            <a:r>
              <a:rPr lang="en-US" altLang="ko-KR" sz="1100">
                <a:latin typeface="+mn-ea"/>
              </a:rPr>
              <a:t>- &gt; </a:t>
            </a:r>
            <a:r>
              <a:rPr lang="ko-KR" altLang="en-US" sz="1100">
                <a:latin typeface="+mn-ea"/>
              </a:rPr>
              <a:t>고춧가루양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국물의양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Hyperplane</a:t>
            </a:r>
            <a:r>
              <a:rPr lang="ko-KR" altLang="en-US" sz="1100">
                <a:latin typeface="+mn-ea"/>
              </a:rPr>
              <a:t>이란 어떤 </a:t>
            </a:r>
            <a:r>
              <a:rPr lang="en-US" altLang="ko-KR" sz="1100">
                <a:latin typeface="+mn-ea"/>
              </a:rPr>
              <a:t>N</a:t>
            </a:r>
            <a:r>
              <a:rPr lang="ko-KR" altLang="en-US" sz="1100">
                <a:latin typeface="+mn-ea"/>
              </a:rPr>
              <a:t>차원 공간에서 한 차원이 낮은 </a:t>
            </a:r>
            <a:r>
              <a:rPr lang="en-US" altLang="ko-KR" sz="1100">
                <a:latin typeface="+mn-ea"/>
              </a:rPr>
              <a:t>N-1</a:t>
            </a:r>
            <a:r>
              <a:rPr lang="ko-KR" altLang="en-US" sz="1100">
                <a:latin typeface="+mn-ea"/>
              </a:rPr>
              <a:t>차원의 </a:t>
            </a:r>
            <a:r>
              <a:rPr lang="en-US" altLang="ko-KR" sz="1100">
                <a:latin typeface="+mn-ea"/>
              </a:rPr>
              <a:t>subspace</a:t>
            </a:r>
            <a:r>
              <a:rPr lang="ko-KR" altLang="en-US" sz="1100">
                <a:latin typeface="+mn-ea"/>
              </a:rPr>
              <a:t>를 말함</a:t>
            </a:r>
            <a:r>
              <a:rPr lang="en-US" altLang="ko-KR" sz="1100">
                <a:latin typeface="+mn-ea"/>
              </a:rPr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  (ex. 2</a:t>
            </a:r>
            <a:r>
              <a:rPr lang="ko-KR" altLang="en-US" sz="1100">
                <a:latin typeface="+mn-ea"/>
              </a:rPr>
              <a:t>차원인 경우 선</a:t>
            </a:r>
            <a:r>
              <a:rPr lang="en-US" altLang="ko-KR" sz="1100">
                <a:latin typeface="+mn-ea"/>
              </a:rPr>
              <a:t>,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3</a:t>
            </a:r>
            <a:r>
              <a:rPr lang="ko-KR" altLang="en-US" sz="1100">
                <a:latin typeface="+mn-ea"/>
              </a:rPr>
              <a:t>차원의 경우 면을 뜻함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통해 어느 쪽에 속하는지 판단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선형이나비선형 분류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회귀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이상치 탐색에도 사용가능한 지도 학습 모델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와 가장 가까이 있는 데이터들의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을 결정하고 그 데이터를 </a:t>
            </a:r>
            <a:r>
              <a:rPr lang="en-US" altLang="ko-KR" sz="1100">
                <a:latin typeface="+mn-ea"/>
              </a:rPr>
              <a:t>Support Vector</a:t>
            </a:r>
            <a:r>
              <a:rPr lang="ko-KR" altLang="en-US" sz="1100">
                <a:latin typeface="+mn-ea"/>
              </a:rPr>
              <a:t>라고 함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Maximal margin</a:t>
            </a:r>
            <a:r>
              <a:rPr lang="ko-KR" altLang="en-US" sz="1100">
                <a:latin typeface="+mn-ea"/>
              </a:rPr>
              <a:t>밖에 데이터가 추가되면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에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en-US" sz="1100">
                <a:latin typeface="+mn-ea"/>
              </a:rPr>
              <a:t>영향을 미치지 않지만 데이터가 </a:t>
            </a:r>
            <a:r>
              <a:rPr lang="en-US" altLang="ko-KR" sz="1100">
                <a:latin typeface="+mn-ea"/>
              </a:rPr>
              <a:t>Maximal margin</a:t>
            </a:r>
            <a:r>
              <a:rPr lang="ko-KR" altLang="en-US" sz="1100">
                <a:latin typeface="+mn-ea"/>
              </a:rPr>
              <a:t>범위 안에 들어온다면 영향을 미치게 되어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이 달라질 수 있음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0E266D9-791D-41DA-8AE5-6CD9BBBF2D65}"/>
              </a:ext>
            </a:extLst>
          </p:cNvPr>
          <p:cNvGrpSpPr/>
          <p:nvPr/>
        </p:nvGrpSpPr>
        <p:grpSpPr>
          <a:xfrm>
            <a:off x="4783264" y="1609000"/>
            <a:ext cx="3828983" cy="1823050"/>
            <a:chOff x="4783264" y="1609000"/>
            <a:chExt cx="3828983" cy="1823050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4CAF8C00-DCC2-4F59-921A-F0F03069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3264" y="1609000"/>
              <a:ext cx="3828983" cy="144165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5F4690-2C95-4D62-8057-A982FE2EAA59}"/>
                </a:ext>
              </a:extLst>
            </p:cNvPr>
            <p:cNvSpPr txBox="1"/>
            <p:nvPr/>
          </p:nvSpPr>
          <p:spPr>
            <a:xfrm>
              <a:off x="5660005" y="3170440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Hyperplane </a:t>
              </a:r>
              <a:r>
                <a:rPr lang="ko-KR" altLang="en-US" sz="1100"/>
                <a:t>예시</a:t>
              </a:r>
              <a:r>
                <a:rPr lang="en-US" altLang="ko-KR" sz="1100" b="0">
                  <a:solidFill>
                    <a:schemeClr val="tx1"/>
                  </a:solidFill>
                </a:rPr>
                <a:t>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970DAA0-EF69-4C5A-92F1-9A02D81F1F94}"/>
              </a:ext>
            </a:extLst>
          </p:cNvPr>
          <p:cNvGrpSpPr/>
          <p:nvPr/>
        </p:nvGrpSpPr>
        <p:grpSpPr>
          <a:xfrm>
            <a:off x="916416" y="1247437"/>
            <a:ext cx="3016070" cy="2183580"/>
            <a:chOff x="916416" y="1247437"/>
            <a:chExt cx="3016070" cy="21835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9FEE90-43AD-4044-BB3C-2398977C4800}"/>
                </a:ext>
              </a:extLst>
            </p:cNvPr>
            <p:cNvSpPr txBox="1"/>
            <p:nvPr/>
          </p:nvSpPr>
          <p:spPr>
            <a:xfrm>
              <a:off x="1508245" y="3169407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SVM</a:t>
              </a:r>
              <a:r>
                <a:rPr lang="en-US" altLang="ko-KR" sz="1100" b="0">
                  <a:solidFill>
                    <a:schemeClr val="tx1"/>
                  </a:solidFill>
                </a:rPr>
                <a:t>(Support Vector Machine)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C5148B2-010A-4B81-A7F7-F0F5EC687FE8}"/>
                </a:ext>
              </a:extLst>
            </p:cNvPr>
            <p:cNvGrpSpPr/>
            <p:nvPr/>
          </p:nvGrpSpPr>
          <p:grpSpPr>
            <a:xfrm>
              <a:off x="916416" y="1247437"/>
              <a:ext cx="3016070" cy="1896341"/>
              <a:chOff x="4478164" y="1126960"/>
              <a:chExt cx="3564603" cy="2322438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03958524-AA06-4917-A650-2FCD297F4715}"/>
                  </a:ext>
                </a:extLst>
              </p:cNvPr>
              <p:cNvGrpSpPr/>
              <p:nvPr/>
            </p:nvGrpSpPr>
            <p:grpSpPr>
              <a:xfrm>
                <a:off x="6600696" y="1552199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66" name="이등변 삼각형 65">
                  <a:extLst>
                    <a:ext uri="{FF2B5EF4-FFF2-40B4-BE49-F238E27FC236}">
                      <a16:creationId xmlns:a16="http://schemas.microsoft.com/office/drawing/2014/main" id="{47583E2B-1031-49BB-9B53-48E3706871D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이등변 삼각형 66">
                  <a:extLst>
                    <a:ext uri="{FF2B5EF4-FFF2-40B4-BE49-F238E27FC236}">
                      <a16:creationId xmlns:a16="http://schemas.microsoft.com/office/drawing/2014/main" id="{741C89BA-3AEF-408F-8DA2-BB2713B418C7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이등변 삼각형 67">
                  <a:extLst>
                    <a:ext uri="{FF2B5EF4-FFF2-40B4-BE49-F238E27FC236}">
                      <a16:creationId xmlns:a16="http://schemas.microsoft.com/office/drawing/2014/main" id="{173719F8-3BF9-4C98-BBA0-2AE37B371BBA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이등변 삼각형 68">
                  <a:extLst>
                    <a:ext uri="{FF2B5EF4-FFF2-40B4-BE49-F238E27FC236}">
                      <a16:creationId xmlns:a16="http://schemas.microsoft.com/office/drawing/2014/main" id="{CF2F0991-BC7E-4837-9D82-86463D43FB01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이등변 삼각형 69">
                  <a:extLst>
                    <a:ext uri="{FF2B5EF4-FFF2-40B4-BE49-F238E27FC236}">
                      <a16:creationId xmlns:a16="http://schemas.microsoft.com/office/drawing/2014/main" id="{90411FB3-8684-4E1E-A15D-EF1138ECA1F2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2E1718-1DD8-4850-AF1B-1DF23A4CCAB0}"/>
                  </a:ext>
                </a:extLst>
              </p:cNvPr>
              <p:cNvGrpSpPr/>
              <p:nvPr/>
            </p:nvGrpSpPr>
            <p:grpSpPr>
              <a:xfrm>
                <a:off x="5248902" y="1126960"/>
                <a:ext cx="2660658" cy="2280033"/>
                <a:chOff x="3431097" y="1987172"/>
                <a:chExt cx="3482605" cy="2766868"/>
              </a:xfrm>
            </p:grpSpPr>
            <p:cxnSp>
              <p:nvCxnSpPr>
                <p:cNvPr id="64" name="직선 화살표 연결선 63">
                  <a:extLst>
                    <a:ext uri="{FF2B5EF4-FFF2-40B4-BE49-F238E27FC236}">
                      <a16:creationId xmlns:a16="http://schemas.microsoft.com/office/drawing/2014/main" id="{9C5014CB-D43E-4E49-9F53-2B73709BD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54040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화살표 연결선 64">
                  <a:extLst>
                    <a:ext uri="{FF2B5EF4-FFF2-40B4-BE49-F238E27FC236}">
                      <a16:creationId xmlns:a16="http://schemas.microsoft.com/office/drawing/2014/main" id="{4053977E-A5AE-4D7E-BF83-EC3AEAD8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6AA6252D-D78A-4012-B8D3-B41E9E9E9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435" y="1552199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D61243B-CEC7-4FB1-8650-6D7447D50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5208" y="1366856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1C0ED11-B5F5-4AA3-ABAA-45BCB5A7EA2B}"/>
                  </a:ext>
                </a:extLst>
              </p:cNvPr>
              <p:cNvGrpSpPr/>
              <p:nvPr/>
            </p:nvGrpSpPr>
            <p:grpSpPr>
              <a:xfrm>
                <a:off x="5416754" y="2400752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EA1A1119-7731-4365-AB7F-A8D369D220E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18799D7-0A3B-46C8-94F5-B74EAE1E426C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B5AC2BD-C538-43E1-A348-3031D498437C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4896A143-F225-49C8-8DC7-B90DE5115F5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4F8B009-6E0F-4601-9ACC-D55246101F2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11619681-E8A6-4CF9-85AF-57B170C0C0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4142" y="305577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B55FA048-9400-4690-B9D2-7AA49D726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98383" y="2076079"/>
                <a:ext cx="822041" cy="226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EE710E-2AE5-44B2-999B-A92913810DF8}"/>
                  </a:ext>
                </a:extLst>
              </p:cNvPr>
              <p:cNvSpPr txBox="1"/>
              <p:nvPr/>
            </p:nvSpPr>
            <p:spPr>
              <a:xfrm>
                <a:off x="4572468" y="1838763"/>
                <a:ext cx="923017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maximal</a:t>
                </a:r>
              </a:p>
              <a:p>
                <a:pPr algn="l"/>
                <a:r>
                  <a:rPr lang="en-US" altLang="ko-KR" sz="800"/>
                  <a:t>margin</a:t>
                </a:r>
                <a:endParaRPr lang="ko-KR" altLang="en-US" sz="8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ECACA61-5D47-45FE-B603-07C778484256}"/>
                      </a:ext>
                    </a:extLst>
                  </p:cNvPr>
                  <p:cNvSpPr txBox="1"/>
                  <p:nvPr/>
                </p:nvSpPr>
                <p:spPr>
                  <a:xfrm>
                    <a:off x="7232876" y="3201637"/>
                    <a:ext cx="209288" cy="24776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ko-KR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  <a:endParaRPr lang="ko-KR" altLang="en-US" sz="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ECACA61-5D47-45FE-B603-07C778484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2876" y="3201637"/>
                    <a:ext cx="209288" cy="2477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48" t="-6061" r="-3448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8ECF55F6-3064-4962-BB69-CE8BE110A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7911" y="1725463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81380374-697E-47F2-97CB-6F1EE89B2A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7154" y="183350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4C71CB3-0980-4EA9-9DCF-9CBB62093A8A}"/>
                  </a:ext>
                </a:extLst>
              </p:cNvPr>
              <p:cNvSpPr txBox="1"/>
              <p:nvPr/>
            </p:nvSpPr>
            <p:spPr>
              <a:xfrm>
                <a:off x="4478164" y="1285473"/>
                <a:ext cx="2128515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Optimal Hyperplane</a:t>
                </a:r>
              </a:p>
              <a:p>
                <a:pPr algn="l"/>
                <a:r>
                  <a:rPr lang="en-US" altLang="ko-KR" sz="800"/>
                  <a:t>/Decision Boundary</a:t>
                </a:r>
                <a:endParaRPr lang="ko-KR" altLang="en-US" sz="800"/>
              </a:p>
            </p:txBody>
          </p: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C8A81E8D-360F-459D-BB9A-49E766E3E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59538" y="2187352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>
                <a:extLst>
                  <a:ext uri="{FF2B5EF4-FFF2-40B4-BE49-F238E27FC236}">
                    <a16:creationId xmlns:a16="http://schemas.microsoft.com/office/drawing/2014/main" id="{C4689A4C-C87E-4FF3-961E-8FAC3783A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526" y="2452558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2F1E5E4-1243-4AC7-9E17-9E160BA72F1D}"/>
                  </a:ext>
                </a:extLst>
              </p:cNvPr>
              <p:cNvSpPr txBox="1"/>
              <p:nvPr/>
            </p:nvSpPr>
            <p:spPr>
              <a:xfrm>
                <a:off x="7171567" y="2256819"/>
                <a:ext cx="871200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320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SVM</a:t>
            </a:r>
            <a:r>
              <a:rPr lang="ko-KR" altLang="en-US"/>
              <a:t>의 수식화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50552" y="3300151"/>
                <a:ext cx="8224303" cy="3206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에 수직인 임의의 벡타 </a:t>
                </a:r>
                <a:r>
                  <a:rPr lang="en-US" altLang="ko-KR" sz="1100">
                    <a:latin typeface="+mn-ea"/>
                  </a:rPr>
                  <a:t>w </a:t>
                </a:r>
                <a:r>
                  <a:rPr lang="ko-KR" altLang="en-US" sz="1100">
                    <a:latin typeface="+mn-ea"/>
                  </a:rPr>
                  <a:t>와 임의의 점</a:t>
                </a:r>
                <a:r>
                  <a:rPr lang="en-US" altLang="ko-KR" sz="1100">
                    <a:latin typeface="+mn-ea"/>
                  </a:rPr>
                  <a:t>(</a:t>
                </a:r>
                <a:r>
                  <a:rPr lang="ko-KR" altLang="en-US" sz="1100">
                    <a:latin typeface="+mn-ea"/>
                  </a:rPr>
                  <a:t>데이터</a:t>
                </a:r>
                <a:r>
                  <a:rPr lang="en-US" altLang="ko-KR" sz="1100">
                    <a:latin typeface="+mn-ea"/>
                  </a:rPr>
                  <a:t>)</a:t>
                </a:r>
                <a:r>
                  <a:rPr lang="ko-KR" altLang="en-US" sz="1100">
                    <a:latin typeface="+mn-ea"/>
                  </a:rPr>
                  <a:t>을 향해가는 임의의 벡타 </a:t>
                </a:r>
                <a:r>
                  <a:rPr lang="en-US" altLang="ko-KR" sz="1100">
                    <a:latin typeface="+mn-ea"/>
                  </a:rPr>
                  <a:t>u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하여 일정한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contstant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값보다 크면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영역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설정 </a:t>
                </a:r>
                <a:r>
                  <a:rPr lang="en-US" altLang="ko-KR" sz="110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u</m:t>
                    </m:r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≥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𝑐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</m:oMath>
                </a14:m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작으면 </a:t>
                </a:r>
                <a:r>
                  <a:rPr lang="en-US" altLang="ko-KR" sz="1100">
                    <a:latin typeface="+mn-ea"/>
                  </a:rPr>
                  <a:t>–</a:t>
                </a:r>
                <a:r>
                  <a:rPr lang="ko-KR" altLang="en-US" sz="1100">
                    <a:latin typeface="+mn-ea"/>
                  </a:rPr>
                  <a:t>영역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latin typeface="+mn-ea"/>
                      </a:rPr>
                      <m:t> </m:t>
                    </m:r>
                  </m:oMath>
                </a14:m>
                <a:r>
                  <a:rPr lang="en-US" altLang="ko-KR" sz="1100">
                    <a:latin typeface="+mn-ea"/>
                  </a:rPr>
                  <a:t>)</a:t>
                </a:r>
                <a:r>
                  <a:rPr lang="ko-KR" altLang="en-US" sz="1100">
                    <a:latin typeface="+mn-ea"/>
                  </a:rPr>
                  <a:t>으로 설정 </a:t>
                </a:r>
                <a:r>
                  <a:rPr lang="en-US" altLang="ko-KR" sz="110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u</m:t>
                    </m:r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latin typeface="+mn-ea"/>
                      </a:rPr>
                      <m:t>≤</m:t>
                    </m:r>
                    <m:r>
                      <a:rPr lang="en-US" altLang="ko-KR" sz="1100" i="1">
                        <a:latin typeface="+mn-ea"/>
                      </a:rPr>
                      <m:t>𝑐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c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를 보통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b(bias)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로  표기하는데 계산하기 편하기 위해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c = -b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로 표시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,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일반화시켜서 표현하면</a:t>
                </a:r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T</m:t>
                          </m:r>
                        </m:sup>
                      </m:sSup>
                      <m:r>
                        <a:rPr lang="en-US" altLang="ko-KR" sz="1100">
                          <a:latin typeface="+mn-ea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+mn-ea"/>
                        </a:rPr>
                        <m:t>u</m:t>
                      </m:r>
                      <m:r>
                        <a:rPr lang="en-US" altLang="ko-KR" sz="1100">
                          <a:latin typeface="+mn-ea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+mn-ea"/>
                        </a:rPr>
                        <m:t>b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+mn-ea"/>
                        </a:rPr>
                        <m:t>≥0, 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+mn-ea"/>
                        </a:rPr>
                        <m:t>𝑡h𝑒𝑛</m:t>
                      </m:r>
                      <m:sSub>
                        <m:sSub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+mn-ea"/>
                            </a:rPr>
                            <m:t> </m:t>
                          </m:r>
                          <m:r>
                            <a:rPr lang="en-US" altLang="ko-KR" sz="1100" i="1">
                              <a:latin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latin typeface="+mn-ea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위의 식을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Rule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이며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u</m:t>
                    </m:r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b="0" i="1" smtClean="0">
                        <a:latin typeface="+mn-ea"/>
                      </a:rPr>
                      <m:t>=0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boundary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와 각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Support Vector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사이의 거리를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이라 가정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⇒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b="0" i="0" smtClean="0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≥1,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&gt;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+mn-ea"/>
                          </a:rPr>
                          <m:t>−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≤1</m:t>
                    </m:r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위의 두 식을 하나로 만들기 위해 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설정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,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+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</a:rPr>
                        <m:t> 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+mn-ea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100">
                                  <a:latin typeface="+mn-ea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altLang="ko-KR" sz="1100">
                              <a:latin typeface="+mn-ea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b</m:t>
                          </m:r>
                        </m:e>
                      </m:d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≥1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+mn-ea"/>
                        </a:rPr>
                        <m:t>,</m:t>
                      </m:r>
                    </m:oMath>
                  </m:oMathPara>
                </a14:m>
                <a:endParaRPr lang="en-US" altLang="ko-KR" sz="1100" b="0" i="1">
                  <a:solidFill>
                    <a:schemeClr val="tx1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−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(</m:t>
                      </m:r>
                      <m:sSup>
                        <m:sSup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T</m:t>
                          </m:r>
                        </m:sup>
                      </m:sSup>
                      <m:r>
                        <a:rPr lang="en-US" altLang="ko-KR" sz="1100">
                          <a:latin typeface="+mn-ea"/>
                        </a:rPr>
                        <m:t>⋅</m:t>
                      </m:r>
                      <m:sSub>
                        <m:sSub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x</m:t>
                          </m:r>
                        </m:e>
                        <m:sub>
                          <m:r>
                            <a:rPr lang="en-US" altLang="ko-KR" sz="1100" b="0" i="0" smtClean="0">
                              <a:latin typeface="+mn-ea"/>
                            </a:rPr>
                            <m:t>−</m:t>
                          </m:r>
                        </m:sub>
                      </m:sSub>
                      <m:r>
                        <a:rPr lang="en-US" altLang="ko-KR" sz="1100">
                          <a:latin typeface="+mn-ea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+mn-ea"/>
                        </a:rPr>
                        <m:t>b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) ≥1</m:t>
                      </m:r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즉</a:t>
                </a:r>
                <a:r>
                  <a:rPr lang="en-US" altLang="ko-KR" sz="11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>
                    <a:latin typeface="+mn-ea"/>
                  </a:rPr>
                  <a:t> </a:t>
                </a:r>
                <a:r>
                  <a:rPr lang="ko-KR" altLang="en-US" sz="1100">
                    <a:latin typeface="+mn-ea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+mn-ea"/>
                          </a:rPr>
                          <m:t>−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 식을 하나의 식인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+mn-ea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+mn-ea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latin typeface="+mn-ea"/>
                      </a:rPr>
                      <m:t>) ≥1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로 나타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또한 </a:t>
                </a:r>
                <a:r>
                  <a:rPr lang="en-US" altLang="ko-KR" sz="1100">
                    <a:latin typeface="+mn-ea"/>
                  </a:rPr>
                  <a:t>Support Vector</a:t>
                </a:r>
                <a:r>
                  <a:rPr lang="ko-KR" altLang="en-US" sz="1100">
                    <a:latin typeface="+mn-ea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+mn-ea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+mn-ea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100">
                            <a:latin typeface="+mn-ea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+mn-ea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+mn-ea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1100">
                            <a:latin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b</m:t>
                        </m:r>
                      </m:e>
                    </m:d>
                    <m:r>
                      <a:rPr lang="en-US" altLang="ko-KR" sz="1100" b="0" i="1" smtClean="0">
                        <a:latin typeface="+mn-ea"/>
                      </a:rPr>
                      <m:t>−1=0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52" y="3300151"/>
                <a:ext cx="8224303" cy="32062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6180669" y="3103707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52A7DF-85A2-4860-A6B9-D4AA55AB2B47}"/>
              </a:ext>
            </a:extLst>
          </p:cNvPr>
          <p:cNvGrpSpPr/>
          <p:nvPr/>
        </p:nvGrpSpPr>
        <p:grpSpPr>
          <a:xfrm>
            <a:off x="5267571" y="1195429"/>
            <a:ext cx="3159333" cy="1918393"/>
            <a:chOff x="5267571" y="1088749"/>
            <a:chExt cx="3159333" cy="1918393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5267571" y="1088749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AE73CED-B888-423F-8BC6-1B56686CE79D}"/>
                </a:ext>
              </a:extLst>
            </p:cNvPr>
            <p:cNvCxnSpPr>
              <a:cxnSpLocks/>
            </p:cNvCxnSpPr>
            <p:nvPr/>
          </p:nvCxnSpPr>
          <p:spPr>
            <a:xfrm>
              <a:off x="5569707" y="1444645"/>
              <a:ext cx="1331616" cy="14174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32F5AE5-AFBC-4F7C-80A9-55C3104D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99813" y="128952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8807ED95-5448-4D96-BCB6-BD1FEC533A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081" y="1376514"/>
              <a:ext cx="13067" cy="1859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83DFDB76-A7EC-4D3F-9577-C4F4B3718EC4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16" y="158965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0499E2-CAFC-4A24-8541-8C8CCD47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2074" y="1339050"/>
              <a:ext cx="423641" cy="32552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6FF6353-E0EC-4E38-8717-E99357F4034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32" y="2641491"/>
              <a:ext cx="841336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/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blipFill>
                  <a:blip r:embed="rId4"/>
                  <a:stretch>
                    <a:fillRect l="-2778" t="-5000" r="-3704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2548654-48C6-45C1-B874-45A50D567F58}"/>
                </a:ext>
              </a:extLst>
            </p:cNvPr>
            <p:cNvCxnSpPr/>
            <p:nvPr/>
          </p:nvCxnSpPr>
          <p:spPr>
            <a:xfrm>
              <a:off x="6913824" y="2402389"/>
              <a:ext cx="674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/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altLang="ko-KR" sz="800"/>
                    <a:t> 1</a:t>
                  </a:r>
                  <a:endParaRPr lang="ko-KR" altLang="en-US" sz="800"/>
                </a:p>
              </p:txBody>
            </p:sp>
          </mc:Choice>
          <mc:Fallback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blipFill>
                  <a:blip r:embed="rId5"/>
                  <a:stretch>
                    <a:fillRect l="-4902" t="-23810" r="-10784" b="-4761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19B95C55-8E7C-42BB-9E5F-B428A1191D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126" y="2875111"/>
              <a:ext cx="1014398" cy="1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/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800" i="1"/>
                    <a:t> 1</a:t>
                  </a:r>
                  <a:endParaRPr lang="ko-KR" altLang="en-US" sz="800" i="1"/>
                </a:p>
              </p:txBody>
            </p:sp>
          </mc:Choice>
          <mc:Fallback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blipFill>
                  <a:blip r:embed="rId6"/>
                  <a:stretch>
                    <a:fillRect l="-3876" t="-19048" b="-5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BB1330E-FF20-4383-840F-E8C9E94CED1B}"/>
                </a:ext>
              </a:extLst>
            </p:cNvPr>
            <p:cNvGrpSpPr/>
            <p:nvPr/>
          </p:nvGrpSpPr>
          <p:grpSpPr>
            <a:xfrm>
              <a:off x="5823674" y="1777141"/>
              <a:ext cx="502347" cy="457335"/>
              <a:chOff x="5459368" y="1475837"/>
              <a:chExt cx="502347" cy="457335"/>
            </a:xfrm>
          </p:grpSpPr>
          <p:cxnSp>
            <p:nvCxnSpPr>
              <p:cNvPr id="166" name="직선 화살표 연결선 165">
                <a:extLst>
                  <a:ext uri="{FF2B5EF4-FFF2-40B4-BE49-F238E27FC236}">
                    <a16:creationId xmlns:a16="http://schemas.microsoft.com/office/drawing/2014/main" id="{9047934B-103A-4080-B15C-218A3D1326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8163" y="147583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화살표 연결선 167">
                <a:extLst>
                  <a:ext uri="{FF2B5EF4-FFF2-40B4-BE49-F238E27FC236}">
                    <a16:creationId xmlns:a16="http://schemas.microsoft.com/office/drawing/2014/main" id="{106A6387-DA96-4E7B-BA30-CDAE1BDEA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9368" y="164027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96BAE14-0AAC-40B3-A2A2-F58E96B39A75}"/>
                  </a:ext>
                </a:extLst>
              </p:cNvPr>
              <p:cNvSpPr txBox="1"/>
              <p:nvPr/>
            </p:nvSpPr>
            <p:spPr>
              <a:xfrm>
                <a:off x="5718171" y="1498648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7FD18CC-7275-41D2-A463-CFD2725554BA}"/>
                  </a:ext>
                </a:extLst>
              </p:cNvPr>
              <p:cNvSpPr txBox="1"/>
              <p:nvPr/>
            </p:nvSpPr>
            <p:spPr>
              <a:xfrm>
                <a:off x="5495956" y="1671562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35086EEA-6AD4-4703-9E8D-C540C54EE7F9}"/>
                </a:ext>
              </a:extLst>
            </p:cNvPr>
            <p:cNvGrpSpPr/>
            <p:nvPr/>
          </p:nvGrpSpPr>
          <p:grpSpPr>
            <a:xfrm>
              <a:off x="5847499" y="1796814"/>
              <a:ext cx="1887917" cy="498946"/>
              <a:chOff x="5744275" y="1799882"/>
              <a:chExt cx="1887917" cy="498946"/>
            </a:xfrm>
          </p:grpSpPr>
          <p:sp>
            <p:nvSpPr>
              <p:cNvPr id="190" name="이등변 삼각형 189">
                <a:extLst>
                  <a:ext uri="{FF2B5EF4-FFF2-40B4-BE49-F238E27FC236}">
                    <a16:creationId xmlns:a16="http://schemas.microsoft.com/office/drawing/2014/main" id="{133F8B83-66E9-4816-998E-5D8113A2B85E}"/>
                  </a:ext>
                </a:extLst>
              </p:cNvPr>
              <p:cNvSpPr/>
              <p:nvPr/>
            </p:nvSpPr>
            <p:spPr>
              <a:xfrm>
                <a:off x="6336471" y="1942695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E8EEC359-C5B8-437D-975E-5F312D0A2F04}"/>
                  </a:ext>
                </a:extLst>
              </p:cNvPr>
              <p:cNvSpPr/>
              <p:nvPr/>
            </p:nvSpPr>
            <p:spPr>
              <a:xfrm>
                <a:off x="5744275" y="2210603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2" name="직선 화살표 연결선 191">
                <a:extLst>
                  <a:ext uri="{FF2B5EF4-FFF2-40B4-BE49-F238E27FC236}">
                    <a16:creationId xmlns:a16="http://schemas.microsoft.com/office/drawing/2014/main" id="{E25AB05A-CFF9-4146-9583-A56B284DDED3}"/>
                  </a:ext>
                </a:extLst>
              </p:cNvPr>
              <p:cNvCxnSpPr>
                <a:cxnSpLocks/>
                <a:stCxn id="190" idx="5"/>
                <a:endCxn id="194" idx="1"/>
              </p:cNvCxnSpPr>
              <p:nvPr/>
            </p:nvCxnSpPr>
            <p:spPr>
              <a:xfrm flipV="1">
                <a:off x="6408362" y="1969159"/>
                <a:ext cx="483475" cy="227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직선 화살표 연결선 192">
                <a:extLst>
                  <a:ext uri="{FF2B5EF4-FFF2-40B4-BE49-F238E27FC236}">
                    <a16:creationId xmlns:a16="http://schemas.microsoft.com/office/drawing/2014/main" id="{F9492A09-7CFA-49B9-9789-F41A530E9DAF}"/>
                  </a:ext>
                </a:extLst>
              </p:cNvPr>
              <p:cNvCxnSpPr>
                <a:cxnSpLocks/>
                <a:endCxn id="194" idx="1"/>
              </p:cNvCxnSpPr>
              <p:nvPr/>
            </p:nvCxnSpPr>
            <p:spPr>
              <a:xfrm flipV="1">
                <a:off x="5783950" y="1969159"/>
                <a:ext cx="1107887" cy="2848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97E33F3-3F49-46C0-964F-CD37BF90232C}"/>
                  </a:ext>
                </a:extLst>
              </p:cNvPr>
              <p:cNvSpPr txBox="1"/>
              <p:nvPr/>
            </p:nvSpPr>
            <p:spPr>
              <a:xfrm>
                <a:off x="6891837" y="1799882"/>
                <a:ext cx="740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547BDEE4-E66C-4DD2-8AA4-82682A12BACA}"/>
                </a:ext>
              </a:extLst>
            </p:cNvPr>
            <p:cNvGrpSpPr/>
            <p:nvPr/>
          </p:nvGrpSpPr>
          <p:grpSpPr>
            <a:xfrm>
              <a:off x="7397565" y="1259539"/>
              <a:ext cx="633878" cy="491364"/>
              <a:chOff x="5215256" y="1171736"/>
              <a:chExt cx="633878" cy="491364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5649961-A93C-4D5D-9D92-880344FD2529}"/>
                  </a:ext>
                </a:extLst>
              </p:cNvPr>
              <p:cNvSpPr/>
              <p:nvPr/>
            </p:nvSpPr>
            <p:spPr>
              <a:xfrm>
                <a:off x="5386273" y="1302680"/>
                <a:ext cx="67516" cy="72914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이등변 삼각형 208">
                <a:extLst>
                  <a:ext uri="{FF2B5EF4-FFF2-40B4-BE49-F238E27FC236}">
                    <a16:creationId xmlns:a16="http://schemas.microsoft.com/office/drawing/2014/main" id="{D1BFB65C-5693-45B3-81E0-49D0CA0A6403}"/>
                  </a:ext>
                </a:extLst>
              </p:cNvPr>
              <p:cNvSpPr/>
              <p:nvPr/>
            </p:nvSpPr>
            <p:spPr>
              <a:xfrm>
                <a:off x="5379758" y="1473476"/>
                <a:ext cx="79219" cy="8128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4288E6F-9FD5-4E7E-84DB-9951118F4259}"/>
                  </a:ext>
                </a:extLst>
              </p:cNvPr>
              <p:cNvSpPr txBox="1"/>
              <p:nvPr/>
            </p:nvSpPr>
            <p:spPr>
              <a:xfrm>
                <a:off x="5507551" y="117651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-</a:t>
                </a:r>
                <a:endParaRPr lang="ko-KR" altLang="en-US" sz="14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8F10EF-5E20-4148-BA3E-66A3E685EEAE}"/>
                  </a:ext>
                </a:extLst>
              </p:cNvPr>
              <p:cNvSpPr txBox="1"/>
              <p:nvPr/>
            </p:nvSpPr>
            <p:spPr>
              <a:xfrm>
                <a:off x="5496753" y="135532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+</a:t>
                </a:r>
                <a:endParaRPr lang="ko-KR" altLang="en-US" sz="1400"/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2AA854A-59F9-492B-B615-F61DE65C5E78}"/>
                  </a:ext>
                </a:extLst>
              </p:cNvPr>
              <p:cNvSpPr/>
              <p:nvPr/>
            </p:nvSpPr>
            <p:spPr>
              <a:xfrm>
                <a:off x="5215256" y="1171736"/>
                <a:ext cx="633878" cy="4913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4AFE48-FA93-4576-B839-68367371E450}"/>
              </a:ext>
            </a:extLst>
          </p:cNvPr>
          <p:cNvGrpSpPr/>
          <p:nvPr/>
        </p:nvGrpSpPr>
        <p:grpSpPr>
          <a:xfrm>
            <a:off x="898231" y="1212429"/>
            <a:ext cx="3424279" cy="2116650"/>
            <a:chOff x="505755" y="1061793"/>
            <a:chExt cx="3424279" cy="2116650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0F16966E-DBF8-4237-A50B-792DAE18D672}"/>
                </a:ext>
              </a:extLst>
            </p:cNvPr>
            <p:cNvGrpSpPr/>
            <p:nvPr/>
          </p:nvGrpSpPr>
          <p:grpSpPr>
            <a:xfrm>
              <a:off x="505755" y="1061793"/>
              <a:ext cx="3424279" cy="2116650"/>
              <a:chOff x="505755" y="1061793"/>
              <a:chExt cx="3424279" cy="211665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E0F467-4510-4764-BB0E-F49485A0969F}"/>
                  </a:ext>
                </a:extLst>
              </p:cNvPr>
              <p:cNvSpPr txBox="1"/>
              <p:nvPr/>
            </p:nvSpPr>
            <p:spPr>
              <a:xfrm>
                <a:off x="1769078" y="2959493"/>
                <a:ext cx="1468585" cy="21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&lt; SVM&gt;</a:t>
                </a:r>
                <a:endParaRPr lang="ko-KR" altLang="en-US" sz="1100"/>
              </a:p>
            </p:txBody>
          </p:sp>
          <p:grpSp>
            <p:nvGrpSpPr>
              <p:cNvPr id="213" name="그룹 212">
                <a:extLst>
                  <a:ext uri="{FF2B5EF4-FFF2-40B4-BE49-F238E27FC236}">
                    <a16:creationId xmlns:a16="http://schemas.microsoft.com/office/drawing/2014/main" id="{85772E36-85A5-468F-BBEA-9C74091A88E9}"/>
                  </a:ext>
                </a:extLst>
              </p:cNvPr>
              <p:cNvGrpSpPr/>
              <p:nvPr/>
            </p:nvGrpSpPr>
            <p:grpSpPr>
              <a:xfrm>
                <a:off x="505755" y="1061793"/>
                <a:ext cx="3424279" cy="1939810"/>
                <a:chOff x="505755" y="1061793"/>
                <a:chExt cx="3424279" cy="193981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DC491E-B2EB-4176-AF03-54DF6027DEC3}"/>
                    </a:ext>
                  </a:extLst>
                </p:cNvPr>
                <p:cNvSpPr txBox="1"/>
                <p:nvPr/>
              </p:nvSpPr>
              <p:spPr>
                <a:xfrm>
                  <a:off x="505755" y="1187993"/>
                  <a:ext cx="180883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Optimal Hyperplane</a:t>
                  </a:r>
                </a:p>
                <a:p>
                  <a:pPr algn="l"/>
                  <a:r>
                    <a:rPr lang="en-US" altLang="ko-KR" sz="800"/>
                    <a:t>/Decision Boundary</a:t>
                  </a:r>
                  <a:endParaRPr lang="ko-KR" altLang="en-US" sz="800"/>
                </a:p>
              </p:txBody>
            </p:sp>
            <p:sp>
              <p:nvSpPr>
                <p:cNvPr id="27" name="이등변 삼각형 26">
                  <a:extLst>
                    <a:ext uri="{FF2B5EF4-FFF2-40B4-BE49-F238E27FC236}">
                      <a16:creationId xmlns:a16="http://schemas.microsoft.com/office/drawing/2014/main" id="{0514C41C-99A5-4BF0-B7D0-8CF3FCAB6258}"/>
                    </a:ext>
                  </a:extLst>
                </p:cNvPr>
                <p:cNvSpPr/>
                <p:nvPr/>
              </p:nvSpPr>
              <p:spPr>
                <a:xfrm>
                  <a:off x="2320427" y="1859963"/>
                  <a:ext cx="95855" cy="98349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EB8814C6-2B40-40AF-9D2F-8E9A0661493C}"/>
                    </a:ext>
                  </a:extLst>
                </p:cNvPr>
                <p:cNvGrpSpPr/>
                <p:nvPr/>
              </p:nvGrpSpPr>
              <p:grpSpPr>
                <a:xfrm>
                  <a:off x="1171658" y="1061793"/>
                  <a:ext cx="2261055" cy="1892614"/>
                  <a:chOff x="3431097" y="1987172"/>
                  <a:chExt cx="3482605" cy="2744220"/>
                </a:xfrm>
              </p:grpSpPr>
              <p:cxnSp>
                <p:nvCxnSpPr>
                  <p:cNvPr id="24" name="직선 화살표 연결선 23">
                    <a:extLst>
                      <a:ext uri="{FF2B5EF4-FFF2-40B4-BE49-F238E27FC236}">
                        <a16:creationId xmlns:a16="http://schemas.microsoft.com/office/drawing/2014/main" id="{E19BA2E3-5493-4004-9929-BF8B8C81E1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31097" y="4731391"/>
                    <a:ext cx="348260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직선 화살표 연결선 24">
                    <a:extLst>
                      <a:ext uri="{FF2B5EF4-FFF2-40B4-BE49-F238E27FC236}">
                        <a16:creationId xmlns:a16="http://schemas.microsoft.com/office/drawing/2014/main" id="{250F95FF-3226-4337-B885-D1963A463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36689" y="1987172"/>
                    <a:ext cx="0" cy="274422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63C6221A-D106-4CB7-9179-AAC8E9AEBE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3794" y="1417689"/>
                  <a:ext cx="1331616" cy="141748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76FAB278-2C37-4AE0-97E9-A29286632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3900" y="126257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E8564090-029A-4FB6-84FD-6BEF5D1051A3}"/>
                    </a:ext>
                  </a:extLst>
                </p:cNvPr>
                <p:cNvSpPr/>
                <p:nvPr/>
              </p:nvSpPr>
              <p:spPr>
                <a:xfrm>
                  <a:off x="1728231" y="2127871"/>
                  <a:ext cx="81695" cy="88225"/>
                </a:xfrm>
                <a:prstGeom prst="rect">
                  <a:avLst/>
                </a:prstGeom>
                <a:solidFill>
                  <a:srgbClr val="2C6FA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6" name="직선 화살표 연결선 15">
                  <a:extLst>
                    <a:ext uri="{FF2B5EF4-FFF2-40B4-BE49-F238E27FC236}">
                      <a16:creationId xmlns:a16="http://schemas.microsoft.com/office/drawing/2014/main" id="{D8FC73B5-0772-475F-8DBA-9BB00EB508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5295" y="2676082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12229F0A-0D66-45E7-BE2E-3C73DBF21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3746" y="1856141"/>
                  <a:ext cx="698579" cy="189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CB5E73EF-48A9-4F43-95BC-476047419D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8445" y="2743383"/>
                      <a:ext cx="209288" cy="24776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altLang="ko-KR" sz="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ko-KR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den>
                            </m:f>
                          </m:oMath>
                        </m:oMathPara>
                      </a14:m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CB5E73EF-48A9-4F43-95BC-476047419D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08445" y="2743383"/>
                      <a:ext cx="209288" cy="24776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5000" b="-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C73A29AF-8985-4AC1-805D-79DD8F7F5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303" y="156270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화살표 연결선 115">
                  <a:extLst>
                    <a:ext uri="{FF2B5EF4-FFF2-40B4-BE49-F238E27FC236}">
                      <a16:creationId xmlns:a16="http://schemas.microsoft.com/office/drawing/2014/main" id="{1F9DDF25-86DD-43C0-8483-F52245EF6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46067" y="1653124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화살표 연결선 104">
                  <a:extLst>
                    <a:ext uri="{FF2B5EF4-FFF2-40B4-BE49-F238E27FC236}">
                      <a16:creationId xmlns:a16="http://schemas.microsoft.com/office/drawing/2014/main" id="{B9B6AF5A-E462-4C9B-A1F7-7A45368F0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0432" y="1949269"/>
                  <a:ext cx="489991" cy="16416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>
                  <a:extLst>
                    <a:ext uri="{FF2B5EF4-FFF2-40B4-BE49-F238E27FC236}">
                      <a16:creationId xmlns:a16="http://schemas.microsoft.com/office/drawing/2014/main" id="{7832C2E1-9D4C-4565-8E20-AFE1A72A9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7906" y="2171229"/>
                  <a:ext cx="1077179" cy="421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0676D4-FDB4-4CC0-BE5F-2180CB09D180}"/>
                    </a:ext>
                  </a:extLst>
                </p:cNvPr>
                <p:cNvSpPr txBox="1"/>
                <p:nvPr/>
              </p:nvSpPr>
              <p:spPr>
                <a:xfrm>
                  <a:off x="2877647" y="2022890"/>
                  <a:ext cx="7403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Support</a:t>
                  </a:r>
                </a:p>
                <a:p>
                  <a:pPr algn="l"/>
                  <a:r>
                    <a:rPr lang="en-US" altLang="ko-KR" sz="800"/>
                    <a:t>Vector</a:t>
                  </a:r>
                  <a:endParaRPr lang="ko-KR" altLang="en-US" sz="800"/>
                </a:p>
              </p:txBody>
            </p: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868C5CFB-6594-46A5-8F2A-B0450FFF4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3794" y="2632173"/>
                  <a:ext cx="273139" cy="2030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60F8564D-6287-4B4F-A43D-925A184C734D}"/>
                    </a:ext>
                  </a:extLst>
                </p:cNvPr>
                <p:cNvCxnSpPr>
                  <a:endCxn id="23" idx="2"/>
                </p:cNvCxnSpPr>
                <p:nvPr/>
              </p:nvCxnSpPr>
              <p:spPr>
                <a:xfrm flipV="1">
                  <a:off x="1473794" y="2216096"/>
                  <a:ext cx="295284" cy="6190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53E60B2F-F7F8-4ACE-BD3C-20B2D43C3555}"/>
                    </a:ext>
                  </a:extLst>
                </p:cNvPr>
                <p:cNvCxnSpPr/>
                <p:nvPr/>
              </p:nvCxnSpPr>
              <p:spPr>
                <a:xfrm>
                  <a:off x="2561919" y="2525635"/>
                  <a:ext cx="674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ko-KR" altLang="en-US" sz="800" i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835" r="-2752" b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CAAF969-50A4-482C-B302-E2D3C2BDE6F0}"/>
                    </a:ext>
                  </a:extLst>
                </p:cNvPr>
                <p:cNvGrpSpPr/>
                <p:nvPr/>
              </p:nvGrpSpPr>
              <p:grpSpPr>
                <a:xfrm>
                  <a:off x="3018936" y="1290969"/>
                  <a:ext cx="633878" cy="491364"/>
                  <a:chOff x="5215256" y="1171736"/>
                  <a:chExt cx="633878" cy="491364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EFFCF7D6-32AA-47B2-9386-D34DD1016067}"/>
                      </a:ext>
                    </a:extLst>
                  </p:cNvPr>
                  <p:cNvSpPr/>
                  <p:nvPr/>
                </p:nvSpPr>
                <p:spPr>
                  <a:xfrm>
                    <a:off x="5386273" y="1302680"/>
                    <a:ext cx="67516" cy="72914"/>
                  </a:xfrm>
                  <a:prstGeom prst="rect">
                    <a:avLst/>
                  </a:prstGeom>
                  <a:solidFill>
                    <a:srgbClr val="2C6FA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8" name="이등변 삼각형 107">
                    <a:extLst>
                      <a:ext uri="{FF2B5EF4-FFF2-40B4-BE49-F238E27FC236}">
                        <a16:creationId xmlns:a16="http://schemas.microsoft.com/office/drawing/2014/main" id="{8F5AB225-DABB-4EEE-8BB1-ABFA803285FB}"/>
                      </a:ext>
                    </a:extLst>
                  </p:cNvPr>
                  <p:cNvSpPr/>
                  <p:nvPr/>
                </p:nvSpPr>
                <p:spPr>
                  <a:xfrm>
                    <a:off x="5379758" y="1473476"/>
                    <a:ext cx="79219" cy="81280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0BEDB2C-BF15-4330-8B7B-0165AFEDA312}"/>
                      </a:ext>
                    </a:extLst>
                  </p:cNvPr>
                  <p:cNvSpPr txBox="1"/>
                  <p:nvPr/>
                </p:nvSpPr>
                <p:spPr>
                  <a:xfrm>
                    <a:off x="5507551" y="117651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-</a:t>
                    </a:r>
                    <a:endParaRPr lang="ko-KR" altLang="en-US" sz="140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B9B272F5-482A-4515-83F6-CFE7B6AAFC5F}"/>
                      </a:ext>
                    </a:extLst>
                  </p:cNvPr>
                  <p:cNvSpPr txBox="1"/>
                  <p:nvPr/>
                </p:nvSpPr>
                <p:spPr>
                  <a:xfrm>
                    <a:off x="5496753" y="135532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+</a:t>
                    </a:r>
                    <a:endParaRPr lang="ko-KR" altLang="en-US" sz="1400"/>
                  </a:p>
                </p:txBody>
              </p:sp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06541DED-702D-4B1F-BDED-57908D10D2E2}"/>
                      </a:ext>
                    </a:extLst>
                  </p:cNvPr>
                  <p:cNvSpPr/>
                  <p:nvPr/>
                </p:nvSpPr>
                <p:spPr>
                  <a:xfrm>
                    <a:off x="5215256" y="1171736"/>
                    <a:ext cx="633878" cy="49136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noFill/>
                    </a:endParaRPr>
                  </a:p>
                </p:txBody>
              </p:sp>
            </p:grpSp>
          </p:grpSp>
        </p:grp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15A8F63A-5E26-48F2-A12A-A6485603F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374" y="2413867"/>
              <a:ext cx="571768" cy="413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4A6B7FB0-AA87-444B-B6A7-D98072827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552" y="2094036"/>
              <a:ext cx="1012684" cy="742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/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blipFill>
                  <a:blip r:embed="rId11"/>
                  <a:stretch>
                    <a:fillRect l="-1363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/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blipFill>
                  <a:blip r:embed="rId12"/>
                  <a:stretch>
                    <a:fillRect l="-13636" r="-9091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AAB8671-2AC8-4639-9ABB-633CDC3FF2B2}"/>
              </a:ext>
            </a:extLst>
          </p:cNvPr>
          <p:cNvSpPr txBox="1"/>
          <p:nvPr/>
        </p:nvSpPr>
        <p:spPr>
          <a:xfrm>
            <a:off x="996208" y="1828646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maximal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36DF17-1797-4A9C-8114-0516F594C001}"/>
              </a:ext>
            </a:extLst>
          </p:cNvPr>
          <p:cNvSpPr txBox="1"/>
          <p:nvPr/>
        </p:nvSpPr>
        <p:spPr>
          <a:xfrm>
            <a:off x="5343174" y="1135212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maximal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119342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0622361-FBAE-4308-8329-6F9B923FD4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89B518-122D-4810-992B-330E45940C16}"/>
              </a:ext>
            </a:extLst>
          </p:cNvPr>
          <p:cNvSpPr/>
          <p:nvPr/>
        </p:nvSpPr>
        <p:spPr>
          <a:xfrm>
            <a:off x="5458455" y="2579476"/>
            <a:ext cx="2992125" cy="129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Decision Rule</a:t>
            </a:r>
            <a:r>
              <a:rPr lang="ko-KR" altLang="en-US" sz="1100"/>
              <a:t>이란 새로운 입력 벡터</a:t>
            </a:r>
            <a:r>
              <a:rPr lang="en-US" altLang="ko-KR" sz="1100"/>
              <a:t>u</a:t>
            </a:r>
            <a:r>
              <a:rPr lang="ko-KR" altLang="en-US" sz="1100"/>
              <a:t>에 대해서 이 입력의 </a:t>
            </a:r>
            <a:r>
              <a:rPr lang="en-US" altLang="ko-KR" sz="1100"/>
              <a:t>class</a:t>
            </a:r>
            <a:r>
              <a:rPr lang="ko-KR" altLang="en-US" sz="1100"/>
              <a:t>가 </a:t>
            </a:r>
            <a:r>
              <a:rPr lang="en-US" altLang="ko-KR" sz="1100"/>
              <a:t>+</a:t>
            </a:r>
            <a:r>
              <a:rPr lang="ko-KR" altLang="en-US" sz="1100"/>
              <a:t>인지 </a:t>
            </a:r>
            <a:r>
              <a:rPr lang="en-US" altLang="ko-KR" sz="1100"/>
              <a:t>–</a:t>
            </a:r>
            <a:r>
              <a:rPr lang="ko-KR" altLang="en-US" sz="1100"/>
              <a:t>인지 결정하는 방법에 대한것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Decision</a:t>
            </a:r>
            <a:r>
              <a:rPr lang="ko-KR" altLang="en-US" sz="1100"/>
              <a:t> </a:t>
            </a:r>
            <a:r>
              <a:rPr lang="en-US" altLang="ko-KR" sz="1100"/>
              <a:t>Rule</a:t>
            </a:r>
            <a:r>
              <a:rPr lang="ko-KR" altLang="en-US" sz="1100"/>
              <a:t>에 대한 내용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2B6632-B217-46B7-B4F3-D05B8011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806" y="1995626"/>
            <a:ext cx="9144000" cy="5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Maximal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91220" y="3438117"/>
                <a:ext cx="8191245" cy="3007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아래는 </a:t>
                </a:r>
                <a:r>
                  <a:rPr lang="en-US" altLang="ko-KR" sz="1100">
                    <a:latin typeface="+mn-ea"/>
                  </a:rPr>
                  <a:t>Support Vector</a:t>
                </a:r>
                <a:r>
                  <a:rPr lang="ko-KR" altLang="en-US" sz="1100">
                    <a:latin typeface="+mn-ea"/>
                  </a:rPr>
                  <a:t>의 수식</a:t>
                </a:r>
                <a:endParaRPr lang="en-US" altLang="ko-KR" sz="1100"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+mn-ea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latin typeface="+mn-ea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i="1" smtClean="0">
                              <a:latin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+mn-ea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ko-KR" sz="1100">
                              <a:latin typeface="+mn-ea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b</m:t>
                          </m:r>
                        </m:e>
                      </m:d>
                      <m:r>
                        <a:rPr lang="en-US" altLang="ko-KR" sz="1100" b="0" i="1" smtClean="0">
                          <a:latin typeface="+mn-ea"/>
                        </a:rPr>
                        <m:t>−1=0</m:t>
                      </m:r>
                    </m:oMath>
                  </m:oMathPara>
                </a14:m>
                <a:endParaRPr lang="en-US" altLang="ko-KR" sz="1100" b="0"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Max Margin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=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 −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가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일 경우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=1−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이고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일 경우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𝑤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−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1+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−(−1−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)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 Max Margrin =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이 넓으면 좋은이유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noise</a:t>
                </a:r>
                <a:r>
                  <a:rPr lang="ko-KR" altLang="en-US" sz="1100">
                    <a:latin typeface="+mn-ea"/>
                  </a:rPr>
                  <a:t>가 있는경우 </a:t>
                </a:r>
                <a:r>
                  <a:rPr lang="en-US" altLang="ko-KR" sz="1100">
                    <a:latin typeface="+mn-ea"/>
                  </a:rPr>
                  <a:t>error</a:t>
                </a:r>
                <a:r>
                  <a:rPr lang="ko-KR" altLang="en-US" sz="1100">
                    <a:latin typeface="+mn-ea"/>
                  </a:rPr>
                  <a:t>를 일으킬 확률이 줄어듬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</a:t>
                </a:r>
                <a:r>
                  <a:rPr lang="ko-KR" altLang="en-US" sz="1100">
                    <a:latin typeface="+mn-ea"/>
                  </a:rPr>
                  <a:t>새로운 데이터에 대해 예측 성능이 좋음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</a:t>
                </a:r>
                <a:r>
                  <a:rPr lang="ko-KR" altLang="en-US" sz="1100">
                    <a:latin typeface="+mn-ea"/>
                  </a:rPr>
                  <a:t>영역군이 확실함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20" y="3438117"/>
                <a:ext cx="8191245" cy="3007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4545227" y="2999415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BAA890C-6149-40F6-8755-E123B5618E75}"/>
              </a:ext>
            </a:extLst>
          </p:cNvPr>
          <p:cNvGrpSpPr/>
          <p:nvPr/>
        </p:nvGrpSpPr>
        <p:grpSpPr>
          <a:xfrm>
            <a:off x="3790923" y="1117588"/>
            <a:ext cx="2261055" cy="1892614"/>
            <a:chOff x="3431097" y="1987172"/>
            <a:chExt cx="3482605" cy="2744220"/>
          </a:xfrm>
        </p:grpSpPr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F4E1DFC1-B255-4A82-80BE-6CCE32E138A3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97" y="4731391"/>
              <a:ext cx="3482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ECB06377-2D81-49F4-A156-E1B48FB58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9" y="1987172"/>
              <a:ext cx="0" cy="2744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AE73CED-B888-423F-8BC6-1B56686CE79D}"/>
              </a:ext>
            </a:extLst>
          </p:cNvPr>
          <p:cNvCxnSpPr>
            <a:cxnSpLocks/>
          </p:cNvCxnSpPr>
          <p:nvPr/>
        </p:nvCxnSpPr>
        <p:spPr>
          <a:xfrm>
            <a:off x="4093059" y="1473484"/>
            <a:ext cx="1331616" cy="14174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2F5AE5-AFBC-4F7C-80A9-55C3104D1FEE}"/>
              </a:ext>
            </a:extLst>
          </p:cNvPr>
          <p:cNvCxnSpPr>
            <a:cxnSpLocks/>
          </p:cNvCxnSpPr>
          <p:nvPr/>
        </p:nvCxnSpPr>
        <p:spPr>
          <a:xfrm>
            <a:off x="4323165" y="131836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807ED95-5448-4D96-BCB6-BD1FEC533A7F}"/>
              </a:ext>
            </a:extLst>
          </p:cNvPr>
          <p:cNvCxnSpPr>
            <a:cxnSpLocks/>
          </p:cNvCxnSpPr>
          <p:nvPr/>
        </p:nvCxnSpPr>
        <p:spPr>
          <a:xfrm flipH="1" flipV="1">
            <a:off x="3317450" y="1582121"/>
            <a:ext cx="716049" cy="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3DFDB76-A7EC-4D3F-9577-C4F4B3718EC4}"/>
              </a:ext>
            </a:extLst>
          </p:cNvPr>
          <p:cNvCxnSpPr>
            <a:cxnSpLocks/>
          </p:cNvCxnSpPr>
          <p:nvPr/>
        </p:nvCxnSpPr>
        <p:spPr>
          <a:xfrm>
            <a:off x="3849568" y="161849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E0499E2-CAFC-4A24-8541-8C8CCD47B5E5}"/>
              </a:ext>
            </a:extLst>
          </p:cNvPr>
          <p:cNvCxnSpPr>
            <a:cxnSpLocks/>
          </p:cNvCxnSpPr>
          <p:nvPr/>
        </p:nvCxnSpPr>
        <p:spPr>
          <a:xfrm flipV="1">
            <a:off x="3955426" y="1367889"/>
            <a:ext cx="423641" cy="32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5758BFBF-5ECF-4FE1-9AD0-30FCB94408A9}"/>
              </a:ext>
            </a:extLst>
          </p:cNvPr>
          <p:cNvCxnSpPr>
            <a:cxnSpLocks/>
          </p:cNvCxnSpPr>
          <p:nvPr/>
        </p:nvCxnSpPr>
        <p:spPr>
          <a:xfrm flipV="1">
            <a:off x="4028382" y="2065203"/>
            <a:ext cx="1004256" cy="74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E838B0E8-CE9D-4D90-924D-530408F90245}"/>
              </a:ext>
            </a:extLst>
          </p:cNvPr>
          <p:cNvCxnSpPr>
            <a:cxnSpLocks/>
          </p:cNvCxnSpPr>
          <p:nvPr/>
        </p:nvCxnSpPr>
        <p:spPr>
          <a:xfrm flipV="1">
            <a:off x="4028382" y="2085536"/>
            <a:ext cx="249942" cy="72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B58CD8A-4432-4CB0-8C94-3CC7443A52A8}"/>
              </a:ext>
            </a:extLst>
          </p:cNvPr>
          <p:cNvCxnSpPr>
            <a:cxnSpLocks/>
          </p:cNvCxnSpPr>
          <p:nvPr/>
        </p:nvCxnSpPr>
        <p:spPr>
          <a:xfrm flipV="1">
            <a:off x="4278715" y="2065203"/>
            <a:ext cx="726562" cy="1571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/>
              <p:nvPr/>
            </p:nvSpPr>
            <p:spPr>
              <a:xfrm>
                <a:off x="3847719" y="2195104"/>
                <a:ext cx="4661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719" y="2195104"/>
                <a:ext cx="466164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/>
              <p:nvPr/>
            </p:nvSpPr>
            <p:spPr>
              <a:xfrm>
                <a:off x="4292703" y="2474822"/>
                <a:ext cx="4661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703" y="2474822"/>
                <a:ext cx="46616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/>
              <p:nvPr/>
            </p:nvSpPr>
            <p:spPr>
              <a:xfrm>
                <a:off x="4191395" y="2010110"/>
                <a:ext cx="87955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395" y="2010110"/>
                <a:ext cx="879559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6EB6E71C-5D17-4EAA-920E-C25A4F1F91F8}"/>
              </a:ext>
            </a:extLst>
          </p:cNvPr>
          <p:cNvCxnSpPr>
            <a:cxnSpLocks/>
          </p:cNvCxnSpPr>
          <p:nvPr/>
        </p:nvCxnSpPr>
        <p:spPr>
          <a:xfrm flipV="1">
            <a:off x="4292703" y="1966404"/>
            <a:ext cx="152659" cy="119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F2F9A-F2AA-46B0-80D0-3480A4F3BB8D}"/>
              </a:ext>
            </a:extLst>
          </p:cNvPr>
          <p:cNvCxnSpPr>
            <a:cxnSpLocks/>
          </p:cNvCxnSpPr>
          <p:nvPr/>
        </p:nvCxnSpPr>
        <p:spPr>
          <a:xfrm flipV="1">
            <a:off x="4279355" y="1744928"/>
            <a:ext cx="442664" cy="34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/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blipFill>
                <a:blip r:embed="rId9"/>
                <a:stretch>
                  <a:fillRect l="-4762" r="-42857" b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F36941-4AB8-45E2-AF85-821DC17F111B}"/>
              </a:ext>
            </a:extLst>
          </p:cNvPr>
          <p:cNvSpPr/>
          <p:nvPr/>
        </p:nvSpPr>
        <p:spPr>
          <a:xfrm>
            <a:off x="449580" y="1572579"/>
            <a:ext cx="2310269" cy="1238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Minimize </a:t>
            </a:r>
            <a:r>
              <a:rPr lang="ko-KR" altLang="en-US" sz="900"/>
              <a:t>하는 이유</a:t>
            </a:r>
            <a:endParaRPr lang="en-US" altLang="ko-KR" sz="900"/>
          </a:p>
          <a:p>
            <a:pPr algn="ctr"/>
            <a:r>
              <a:rPr lang="ko-KR" altLang="en-US" sz="900"/>
              <a:t>계산상 편의를 위해</a:t>
            </a:r>
            <a:endParaRPr lang="en-US" altLang="ko-KR" sz="900"/>
          </a:p>
          <a:p>
            <a:pPr algn="ctr"/>
            <a:r>
              <a:rPr lang="ko-KR" altLang="en-US" sz="900"/>
              <a:t>문제의 본질은 변하지않음</a:t>
            </a:r>
            <a:endParaRPr lang="en-US" altLang="ko-KR" sz="900"/>
          </a:p>
          <a:p>
            <a:pPr algn="ctr"/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 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MJXc-TeX-main-R"/>
              </a:rPr>
              <a:t>12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12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같은 경우는 미분해서 해를 찾다보니까 미분했을 때 앞에 숫자가 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이 되기 위해 관습적으로 쓰는 것이다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.</a:t>
            </a:r>
            <a:endParaRPr lang="ko-KR" altLang="en-US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DAEC2EE-4665-4870-B1B6-C2DFE0FCEC1B}"/>
                  </a:ext>
                </a:extLst>
              </p:cNvPr>
              <p:cNvSpPr/>
              <p:nvPr/>
            </p:nvSpPr>
            <p:spPr>
              <a:xfrm>
                <a:off x="6221410" y="1183330"/>
                <a:ext cx="2261055" cy="10201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/>
                  <a:t>임의의 벡터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에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대해서 단위벡터는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/>
                  <a:t>으로 표기</a:t>
                </a:r>
              </a:p>
            </p:txBody>
          </p:sp>
        </mc:Choice>
        <mc:Fallback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DAEC2EE-4665-4870-B1B6-C2DFE0FCE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410" y="1183330"/>
                <a:ext cx="2261055" cy="1020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05863971-6D58-44A3-A559-08605145CDA3}"/>
              </a:ext>
            </a:extLst>
          </p:cNvPr>
          <p:cNvSpPr/>
          <p:nvPr/>
        </p:nvSpPr>
        <p:spPr>
          <a:xfrm>
            <a:off x="6150314" y="2248860"/>
            <a:ext cx="4370664" cy="1020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단위 벡터 사용하는 이유는 곱셈이 단순해짐</a:t>
            </a:r>
            <a:endParaRPr lang="en-US" altLang="ko-KR" sz="1100"/>
          </a:p>
          <a:p>
            <a:pPr algn="ctr"/>
            <a:r>
              <a:rPr lang="ko-KR" altLang="en-US" sz="1100"/>
              <a:t>벡터를 단위형태로 변환하는 것을 정규화</a:t>
            </a:r>
            <a:r>
              <a:rPr lang="en-US" altLang="ko-KR" sz="1100"/>
              <a:t>(norm)</a:t>
            </a:r>
            <a:r>
              <a:rPr lang="ko-KR" altLang="en-US" sz="1100"/>
              <a:t>이라한다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ko-KR" altLang="en-US" sz="1100"/>
              <a:t>단위벡터는 길이가 </a:t>
            </a:r>
            <a:r>
              <a:rPr lang="en-US" altLang="ko-KR" sz="1100"/>
              <a:t>1</a:t>
            </a:r>
            <a:r>
              <a:rPr lang="ko-KR" altLang="en-US" sz="1100"/>
              <a:t>인 벡터를 의미하며 길이가 </a:t>
            </a:r>
            <a:r>
              <a:rPr lang="en-US" altLang="ko-KR" sz="1100"/>
              <a:t>1</a:t>
            </a:r>
            <a:r>
              <a:rPr lang="ko-KR" altLang="en-US" sz="1100"/>
              <a:t>이기떄문에 방향성분만 나타낸다</a:t>
            </a:r>
            <a:endParaRPr lang="en-US" altLang="ko-KR" sz="1100"/>
          </a:p>
          <a:p>
            <a:pPr algn="ctr"/>
            <a:endParaRPr lang="en-US" altLang="ko-KR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641AD9-3FE7-4C61-9643-8585292C8F10}"/>
                  </a:ext>
                </a:extLst>
              </p:cNvPr>
              <p:cNvSpPr txBox="1"/>
              <p:nvPr/>
            </p:nvSpPr>
            <p:spPr>
              <a:xfrm>
                <a:off x="2662211" y="1216077"/>
                <a:ext cx="780980" cy="40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maximal</a:t>
                </a:r>
              </a:p>
              <a:p>
                <a:pPr algn="l"/>
                <a:r>
                  <a:rPr lang="en-US" altLang="ko-KR" sz="800"/>
                  <a:t>Margin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80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641AD9-3FE7-4C61-9643-8585292C8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211" y="1216077"/>
                <a:ext cx="780980" cy="4024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10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552249" y="3759596"/>
            <a:ext cx="7887076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Margin </a:t>
            </a:r>
            <a:r>
              <a:rPr lang="ko-KR" altLang="en-US" sz="1200"/>
              <a:t>분류에는 </a:t>
            </a:r>
            <a:r>
              <a:rPr lang="en-US" altLang="ko-KR" sz="1200"/>
              <a:t>Hard Margin</a:t>
            </a:r>
            <a:r>
              <a:rPr lang="ko-KR" altLang="en-US" sz="1200"/>
              <a:t>과 </a:t>
            </a:r>
            <a:r>
              <a:rPr lang="en-US" altLang="ko-KR" sz="1200"/>
              <a:t>Soft Margin</a:t>
            </a:r>
            <a:r>
              <a:rPr lang="ko-KR" altLang="en-US" sz="1200"/>
              <a:t>으로 나뉨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Hard Margin </a:t>
            </a:r>
            <a:r>
              <a:rPr lang="ko-KR" altLang="en-US" sz="1200"/>
              <a:t>분류는 </a:t>
            </a:r>
            <a:r>
              <a:rPr lang="en-US" altLang="ko-KR" sz="1200"/>
              <a:t>Hyperplane</a:t>
            </a:r>
            <a:r>
              <a:rPr lang="ko-KR" altLang="en-US" sz="1200"/>
              <a:t>범위 안에 데이터들이 존재하지않도록 두개의 클래스를 분리하는 방법으로 모든 입력값은 한 클래스에만 속해야한다는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몇 개의 노이즈로 인해 </a:t>
            </a:r>
            <a:r>
              <a:rPr lang="en-US" altLang="ko-KR" sz="1200"/>
              <a:t>Decision Boundary</a:t>
            </a:r>
            <a:r>
              <a:rPr lang="ko-KR" altLang="en-US" sz="1200"/>
              <a:t>를 잘 못 구할 수도 있으며 찾지 못하는 문제 발생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Soft Margin </a:t>
            </a:r>
            <a:r>
              <a:rPr lang="ko-KR" altLang="en-US" sz="1200"/>
              <a:t>분류는  </a:t>
            </a:r>
            <a:r>
              <a:rPr lang="en-US" altLang="ko-KR" sz="1200"/>
              <a:t>Hyperplane</a:t>
            </a:r>
            <a:r>
              <a:rPr lang="ko-KR" altLang="en-US" sz="1200"/>
              <a:t>범위 안에 어느정도 오류를 허용한다는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새로운 데이터가 들어왔을 때 오류를 발생시키지 않도록 </a:t>
            </a:r>
            <a:r>
              <a:rPr lang="en-US" altLang="ko-KR" sz="1200"/>
              <a:t>Margin</a:t>
            </a:r>
            <a:r>
              <a:rPr lang="ko-KR" altLang="en-US" sz="1200"/>
              <a:t>을 크게 함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F249DD-BD0E-4616-AAAA-E2DC303D684D}"/>
              </a:ext>
            </a:extLst>
          </p:cNvPr>
          <p:cNvSpPr/>
          <p:nvPr/>
        </p:nvSpPr>
        <p:spPr>
          <a:xfrm>
            <a:off x="6797390" y="24616"/>
            <a:ext cx="4152550" cy="2055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파라미터 </a:t>
            </a:r>
            <a:r>
              <a:rPr lang="en-US" altLang="ko-KR"/>
              <a:t>c</a:t>
            </a:r>
            <a:r>
              <a:rPr lang="ko-KR" altLang="en-US"/>
              <a:t>에 대한 </a:t>
            </a:r>
            <a:r>
              <a:rPr lang="en-US" altLang="ko-KR"/>
              <a:t>margin </a:t>
            </a:r>
            <a:r>
              <a:rPr lang="ko-KR" altLang="en-US"/>
              <a:t>사진</a:t>
            </a:r>
            <a:endParaRPr lang="en-US" altLang="ko-KR"/>
          </a:p>
          <a:p>
            <a:pPr algn="ctr"/>
            <a:r>
              <a:rPr lang="en-US" altLang="ko-KR"/>
              <a:t>Margin</a:t>
            </a:r>
            <a:r>
              <a:rPr lang="ko-KR" altLang="en-US"/>
              <a:t>최대화 하는 정확한 이유</a:t>
            </a:r>
          </a:p>
        </p:txBody>
      </p:sp>
    </p:spTree>
    <p:extLst>
      <p:ext uri="{BB962C8B-B14F-4D97-AF65-F5344CB8AC3E}">
        <p14:creationId xmlns:p14="http://schemas.microsoft.com/office/powerpoint/2010/main" val="471224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Lagrangian Multiplier Method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/>
              <p:nvPr/>
            </p:nvSpPr>
            <p:spPr>
              <a:xfrm>
                <a:off x="259080" y="1291678"/>
                <a:ext cx="8884920" cy="1742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목적은 </a:t>
                </a: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을 최대화 하는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를 찾는 것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Max Margin</a:t>
                </a:r>
                <a:r>
                  <a:rPr lang="ko-KR" altLang="en-US" sz="1100">
                    <a:latin typeface="+mn-ea"/>
                  </a:rPr>
                  <a:t>을 계산상의 편의를 위해 역수를 취하면 </a:t>
                </a:r>
                <a:r>
                  <a:rPr lang="en-US" altLang="ko-KR" sz="1100">
                    <a:latin typeface="+mn-ea"/>
                  </a:rPr>
                  <a:t>Min Margin</a:t>
                </a:r>
                <a:r>
                  <a:rPr lang="ko-KR" altLang="en-US" sz="1100">
                    <a:latin typeface="+mn-ea"/>
                  </a:rPr>
                  <a:t>이 되며  </a:t>
                </a:r>
                <a:r>
                  <a:rPr lang="en-US" altLang="ko-KR" sz="1100">
                    <a:latin typeface="+mn-ea"/>
                  </a:rPr>
                  <a:t>Min Margin = </a:t>
                </a:r>
                <a:r>
                  <a:rPr lang="ko-KR" altLang="en-US" sz="110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+mn-ea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latin typeface="+mn-ea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100" i="1" smtClean="0">
                            <a:solidFill>
                              <a:srgbClr val="836967"/>
                            </a:solidFill>
                            <a:latin typeface="+mn-ea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>
                                <a:solidFill>
                                  <a:srgbClr val="836967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100" i="0">
                            <a:latin typeface="+mn-ea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제약조건은 </a:t>
                </a:r>
                <a:r>
                  <a:rPr lang="en-US" altLang="ko-KR" sz="1100">
                    <a:latin typeface="+mn-ea"/>
                  </a:rPr>
                  <a:t>+</a:t>
                </a:r>
                <a:r>
                  <a:rPr lang="ko-KR" altLang="en-US" sz="1100">
                    <a:latin typeface="+mn-ea"/>
                  </a:rPr>
                  <a:t>영역과 </a:t>
                </a:r>
                <a:r>
                  <a:rPr lang="en-US" altLang="ko-KR" sz="1100">
                    <a:latin typeface="+mn-ea"/>
                  </a:rPr>
                  <a:t>–</a:t>
                </a:r>
                <a:r>
                  <a:rPr lang="ko-KR" altLang="en-US" sz="1100">
                    <a:latin typeface="+mn-ea"/>
                  </a:rPr>
                  <a:t>영역의 위에 있는 관측치 </a:t>
                </a:r>
                <a:r>
                  <a:rPr lang="en-US" altLang="ko-KR" sz="1100">
                    <a:latin typeface="+mn-ea"/>
                  </a:rPr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+mn-ea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latin typeface="+mn-ea"/>
                      </a:rPr>
                      <m:t>) ≥1</m:t>
                    </m:r>
                  </m:oMath>
                </a14:m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승수법이란 제약이 있는 최적화 문제를 푸는 방법 중 하나로</a:t>
                </a:r>
                <a:r>
                  <a:rPr lang="en-US" altLang="ko-KR" sz="1100">
                    <a:latin typeface="+mn-ea"/>
                  </a:rPr>
                  <a:t>, </a:t>
                </a:r>
                <a:r>
                  <a:rPr lang="ko-KR" altLang="en-US" sz="1100">
                    <a:latin typeface="+mn-ea"/>
                  </a:rPr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+mn-ea"/>
                      </a:rPr>
                      <m:t>𝜆</m:t>
                    </m:r>
                  </m:oMath>
                </a14:m>
                <a:r>
                  <a:rPr lang="ko-KR" altLang="en-US" sz="1100">
                    <a:latin typeface="+mn-ea"/>
                  </a:rPr>
                  <a:t>를 곱하고 등식 제약이 있는 문제를 제약 없는 문제로 바꾸어 해결하는 방법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만약 부등식의 제약이 있는 문제면 </a:t>
                </a:r>
                <a:r>
                  <a:rPr lang="en-US" altLang="ko-KR" sz="1100">
                    <a:latin typeface="+mn-ea"/>
                  </a:rPr>
                  <a:t>KKT(Karush-Kuhn-Tucker)</a:t>
                </a:r>
                <a:r>
                  <a:rPr lang="ko-KR" altLang="en-US" sz="1100">
                    <a:latin typeface="+mn-ea"/>
                  </a:rPr>
                  <a:t>조건을 만족하는 문제일 때 라그랑주 승수법으로 문제를 해결 할 수 있음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함수 식은 다음과 같음</a:t>
                </a:r>
                <a:endParaRPr lang="en-US" altLang="ko-KR" sz="1100" i="1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1291678"/>
                <a:ext cx="8884920" cy="1742144"/>
              </a:xfrm>
              <a:prstGeom prst="rect">
                <a:avLst/>
              </a:prstGeom>
              <a:blipFill>
                <a:blip r:embed="rId3"/>
                <a:stretch>
                  <a:fillRect b="-17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54186"/>
                  </p:ext>
                </p:extLst>
              </p:nvPr>
            </p:nvGraphicFramePr>
            <p:xfrm>
              <a:off x="3131820" y="3068472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4130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54186"/>
                  </p:ext>
                </p:extLst>
              </p:nvPr>
            </p:nvGraphicFramePr>
            <p:xfrm>
              <a:off x="3131820" y="3068472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8067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862649"/>
                  </p:ext>
                </p:extLst>
              </p:nvPr>
            </p:nvGraphicFramePr>
            <p:xfrm>
              <a:off x="3123431" y="4483720"/>
              <a:ext cx="4549140" cy="12593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573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798567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2−2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𝜕𝛼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−1=0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862649"/>
                  </p:ext>
                </p:extLst>
              </p:nvPr>
            </p:nvGraphicFramePr>
            <p:xfrm>
              <a:off x="3123431" y="4483720"/>
              <a:ext cx="4549140" cy="12593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573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798567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r="-160279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4444" r="-160279" b="-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205882" r="-160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864326"/>
                  </p:ext>
                </p:extLst>
              </p:nvPr>
            </p:nvGraphicFramePr>
            <p:xfrm>
              <a:off x="3131820" y="4145528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78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ko-KR" altLang="en-US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864326"/>
                  </p:ext>
                </p:extLst>
              </p:nvPr>
            </p:nvGraphicFramePr>
            <p:xfrm>
              <a:off x="3131820" y="4145528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53674-110E-41CC-830F-F13C1C55EA26}"/>
                  </a:ext>
                </a:extLst>
              </p:cNvPr>
              <p:cNvSpPr txBox="1"/>
              <p:nvPr/>
            </p:nvSpPr>
            <p:spPr>
              <a:xfrm>
                <a:off x="259080" y="3429000"/>
                <a:ext cx="790340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+mn-ea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+mn-ea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+mn-ea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+mn-ea"/>
                          </a:rPr>
                          <m:t>,</m:t>
                        </m:r>
                        <m:r>
                          <a:rPr lang="ko-KR" altLang="en-US" sz="1100" i="1" smtClean="0">
                            <a:latin typeface="+mn-ea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+mn-ea"/>
                  </a:rPr>
                  <a:t>은 목적함수 이며</a:t>
                </a:r>
                <a:r>
                  <a:rPr lang="en-US" altLang="ko-KR" sz="1100" b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latin typeface="+mn-ea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+mn-ea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+mn-ea"/>
                  </a:rPr>
                  <a:t>은 제약조건임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예를 들어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  <m:r>
                          <a:rPr lang="en-US" altLang="ko-KR" sz="1100" i="1">
                            <a:latin typeface="+mn-ea"/>
                          </a:rPr>
                          <m:t>,</m:t>
                        </m:r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</m:d>
                    <m:r>
                      <a:rPr lang="en-US" altLang="ko-KR" sz="1100" i="1">
                        <a:latin typeface="+mn-ea"/>
                      </a:rPr>
                      <m:t>= </m:t>
                    </m:r>
                    <m:sSup>
                      <m:sSupPr>
                        <m:ctrlPr>
                          <a:rPr lang="en-US" altLang="ko-KR" sz="1100" i="1">
                            <a:solidFill>
                              <a:srgbClr val="836967"/>
                            </a:solidFill>
                            <a:latin typeface="+mn-ea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</m:e>
                      <m:sup>
                        <m:r>
                          <a:rPr lang="en-US" altLang="ko-KR" sz="1100" i="1">
                            <a:latin typeface="+mn-ea"/>
                          </a:rPr>
                          <m:t>2</m:t>
                        </m:r>
                      </m:sup>
                    </m:sSup>
                    <m:r>
                      <a:rPr lang="en-US" altLang="ko-KR" sz="1100" i="1">
                        <a:latin typeface="+mn-ea"/>
                      </a:rPr>
                      <m:t>+2</m:t>
                    </m:r>
                    <m:r>
                      <a:rPr lang="en-US" altLang="ko-KR" sz="1100" i="1">
                        <a:latin typeface="+mn-ea"/>
                      </a:rPr>
                      <m:t>𝑦</m:t>
                    </m:r>
                  </m:oMath>
                </a14:m>
                <a:r>
                  <a:rPr lang="ko-KR" altLang="en-US" sz="1100">
                    <a:latin typeface="+mn-ea"/>
                  </a:rPr>
                  <a:t>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+mn-ea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𝑦</m:t>
                        </m:r>
                      </m:e>
                    </m:d>
                    <m:r>
                      <a:rPr lang="en-US" altLang="ko-KR" sz="1100" b="0" i="1" smtClean="0">
                        <a:latin typeface="+mn-ea"/>
                      </a:rPr>
                      <m:t>=3</m:t>
                    </m:r>
                    <m:r>
                      <a:rPr lang="en-US" altLang="ko-KR" sz="1100" b="0" i="1" smtClean="0">
                        <a:latin typeface="+mn-ea"/>
                      </a:rPr>
                      <m:t>𝑥</m:t>
                    </m:r>
                    <m:r>
                      <a:rPr lang="en-US" altLang="ko-KR" sz="1100" b="0" i="1" smtClean="0">
                        <a:latin typeface="+mn-ea"/>
                      </a:rPr>
                      <m:t>+2</m:t>
                    </m:r>
                    <m:r>
                      <a:rPr lang="en-US" altLang="ko-KR" sz="1100" b="0" i="1" smtClean="0">
                        <a:latin typeface="+mn-ea"/>
                      </a:rPr>
                      <m:t>𝑦</m:t>
                    </m:r>
                    <m:r>
                      <a:rPr lang="en-US" altLang="ko-KR" sz="1100" b="0" i="1" smtClean="0">
                        <a:latin typeface="+mn-ea"/>
                      </a:rPr>
                      <m:t>+1=0</m:t>
                    </m:r>
                  </m:oMath>
                </a14:m>
                <a:r>
                  <a:rPr lang="ko-KR" altLang="en-US" sz="1100" b="0">
                    <a:latin typeface="+mn-ea"/>
                  </a:rPr>
                  <a:t>을 계산할 때 수식은 다음과 같음</a:t>
                </a:r>
                <a:endParaRPr lang="en-US" altLang="ko-KR" sz="1100" b="0">
                  <a:latin typeface="+mn-ea"/>
                </a:endParaRPr>
              </a:p>
              <a:p>
                <a:pPr algn="l"/>
                <a:endParaRPr lang="ko-KR" altLang="en-US" sz="1100">
                  <a:latin typeface="+mn-ea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53674-110E-41CC-830F-F13C1C55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3429000"/>
                <a:ext cx="7903408" cy="769441"/>
              </a:xfrm>
              <a:prstGeom prst="rect">
                <a:avLst/>
              </a:prstGeom>
              <a:blipFill>
                <a:blip r:embed="rId7"/>
                <a:stretch>
                  <a:fillRect t="-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A8E21-6D93-4449-983D-2E446E6FE94B}"/>
                  </a:ext>
                </a:extLst>
              </p:cNvPr>
              <p:cNvSpPr txBox="1"/>
              <p:nvPr/>
            </p:nvSpPr>
            <p:spPr>
              <a:xfrm>
                <a:off x="259080" y="5972961"/>
                <a:ext cx="4312920" cy="335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위의 </a:t>
                </a:r>
                <a:r>
                  <a:rPr lang="en-US" altLang="ko-KR" sz="1100">
                    <a:latin typeface="+mn-ea"/>
                  </a:rPr>
                  <a:t>3</a:t>
                </a:r>
                <a:r>
                  <a:rPr lang="ko-KR" altLang="en-US" sz="1100">
                    <a:latin typeface="+mn-ea"/>
                  </a:rPr>
                  <a:t>가지 식을 연립하면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+mn-ea"/>
                      </a:rPr>
                      <m:t>𝛼</m:t>
                    </m:r>
                    <m:r>
                      <a:rPr lang="en-US" altLang="ko-KR" sz="1100" b="0" i="1" smtClean="0">
                        <a:latin typeface="+mn-ea"/>
                      </a:rPr>
                      <m:t>=1, </m:t>
                    </m:r>
                    <m:r>
                      <a:rPr lang="en-US" altLang="ko-KR" sz="1100" b="0" i="1" smtClean="0">
                        <a:latin typeface="+mn-ea"/>
                      </a:rPr>
                      <m:t>𝑥</m:t>
                    </m:r>
                    <m:r>
                      <a:rPr lang="en-US" altLang="ko-KR" sz="1100" b="0" i="1" smtClean="0">
                        <a:latin typeface="+mn-ea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+mn-ea"/>
                          </a:rPr>
                          <m:t>3</m:t>
                        </m:r>
                      </m:num>
                      <m:den>
                        <m:r>
                          <a:rPr lang="en-US" altLang="ko-KR" sz="1100" b="0" i="1" smtClean="0">
                            <a:latin typeface="+mn-ea"/>
                          </a:rPr>
                          <m:t>2</m:t>
                        </m:r>
                      </m:den>
                    </m:f>
                    <m:r>
                      <a:rPr lang="en-US" altLang="ko-KR" sz="1100" b="0" i="1" smtClean="0">
                        <a:latin typeface="+mn-ea"/>
                      </a:rPr>
                      <m:t> , </m:t>
                    </m:r>
                    <m:r>
                      <a:rPr lang="en-US" altLang="ko-KR" sz="1100" b="0" i="1" smtClean="0">
                        <a:latin typeface="+mn-ea"/>
                      </a:rPr>
                      <m:t>𝑦</m:t>
                    </m:r>
                    <m:r>
                      <a:rPr lang="en-US" altLang="ko-KR" sz="1100" b="0" i="1" smtClean="0">
                        <a:latin typeface="+mn-ea"/>
                      </a:rPr>
                      <m:t>=−</m:t>
                    </m:r>
                    <m:f>
                      <m:f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+mn-ea"/>
                          </a:rPr>
                          <m:t>4</m:t>
                        </m:r>
                      </m:num>
                      <m:den>
                        <m:r>
                          <a:rPr lang="en-US" altLang="ko-KR" sz="1100" b="0" i="1" smtClean="0">
                            <a:latin typeface="+mn-ea"/>
                          </a:rPr>
                          <m:t>11</m:t>
                        </m:r>
                      </m:den>
                    </m:f>
                  </m:oMath>
                </a14:m>
                <a:endParaRPr lang="en-US" altLang="ko-KR" sz="1100" b="0">
                  <a:latin typeface="+mn-ea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A8E21-6D93-4449-983D-2E446E6FE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5972961"/>
                <a:ext cx="4312920" cy="3359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077E25FE-B6DD-4120-A032-CE7D7DF1E705}"/>
              </a:ext>
            </a:extLst>
          </p:cNvPr>
          <p:cNvSpPr/>
          <p:nvPr/>
        </p:nvSpPr>
        <p:spPr>
          <a:xfrm>
            <a:off x="6115574" y="4798503"/>
            <a:ext cx="3674378" cy="352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𝑤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 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최소 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-&gt; ‖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𝑤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</a:t>
            </a:r>
            <a:r>
              <a:rPr lang="en-US" altLang="ko-KR" sz="1100" b="0" i="0" baseline="30000">
                <a:solidFill>
                  <a:schemeClr val="tx1"/>
                </a:solidFill>
                <a:effectLst/>
                <a:latin typeface="Nanum Gothic"/>
              </a:rPr>
              <a:t>2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 최소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-&gt; quadratic optimization(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최적화 방법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)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731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 sz="1600">
                <a:latin typeface="+mn-ea"/>
              </a:rPr>
              <a:t>KKT(Karush-Kuhn-Tucker)</a:t>
            </a:r>
            <a:r>
              <a:rPr lang="ko-KR" altLang="en-US" sz="1600">
                <a:latin typeface="+mn-ea"/>
              </a:rPr>
              <a:t>조건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/>
              <p:nvPr/>
            </p:nvSpPr>
            <p:spPr>
              <a:xfrm>
                <a:off x="268605" y="1280160"/>
                <a:ext cx="88753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라그랑주 승수법의 식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b="0" i="1" smtClean="0"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Primal variable 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Lagrangian variable)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280160"/>
                <a:ext cx="8875395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582647"/>
                  </p:ext>
                </p:extLst>
              </p:nvPr>
            </p:nvGraphicFramePr>
            <p:xfrm>
              <a:off x="3139440" y="1492257"/>
              <a:ext cx="36499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582647"/>
                  </p:ext>
                </p:extLst>
              </p:nvPr>
            </p:nvGraphicFramePr>
            <p:xfrm>
              <a:off x="3139440" y="1492257"/>
              <a:ext cx="36499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324543"/>
                  </p:ext>
                </p:extLst>
              </p:nvPr>
            </p:nvGraphicFramePr>
            <p:xfrm>
              <a:off x="3122662" y="2631805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324543"/>
                  </p:ext>
                </p:extLst>
              </p:nvPr>
            </p:nvGraphicFramePr>
            <p:xfrm>
              <a:off x="3122662" y="2631805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0840213"/>
                  </p:ext>
                </p:extLst>
              </p:nvPr>
            </p:nvGraphicFramePr>
            <p:xfrm>
              <a:off x="3122662" y="3359188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≥1  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0840213"/>
                  </p:ext>
                </p:extLst>
              </p:nvPr>
            </p:nvGraphicFramePr>
            <p:xfrm>
              <a:off x="3122662" y="3359188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0885053"/>
                  </p:ext>
                </p:extLst>
              </p:nvPr>
            </p:nvGraphicFramePr>
            <p:xfrm>
              <a:off x="3122662" y="3851542"/>
              <a:ext cx="146304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2140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0885053"/>
                  </p:ext>
                </p:extLst>
              </p:nvPr>
            </p:nvGraphicFramePr>
            <p:xfrm>
              <a:off x="3122662" y="3851542"/>
              <a:ext cx="146304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7288189"/>
                  </p:ext>
                </p:extLst>
              </p:nvPr>
            </p:nvGraphicFramePr>
            <p:xfrm>
              <a:off x="3122660" y="4377535"/>
              <a:ext cx="1732597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2537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7288189"/>
                  </p:ext>
                </p:extLst>
              </p:nvPr>
            </p:nvGraphicFramePr>
            <p:xfrm>
              <a:off x="3122660" y="4377535"/>
              <a:ext cx="1732597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ABCC84-ECC4-45E7-B0E2-514C637E16FB}"/>
                  </a:ext>
                </a:extLst>
              </p:cNvPr>
              <p:cNvSpPr txBox="1"/>
              <p:nvPr/>
            </p:nvSpPr>
            <p:spPr>
              <a:xfrm>
                <a:off x="268605" y="1990478"/>
                <a:ext cx="860679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</a:t>
                </a:r>
                <a:r>
                  <a:rPr lang="ko-KR" altLang="en-US" sz="1100">
                    <a:latin typeface="+mn-ea"/>
                  </a:rPr>
                  <a:t>조건 </a:t>
                </a:r>
                <a:r>
                  <a:rPr lang="en-US" altLang="ko-KR" sz="1100">
                    <a:latin typeface="+mn-ea"/>
                  </a:rPr>
                  <a:t>4</a:t>
                </a:r>
                <a:r>
                  <a:rPr lang="ko-KR" altLang="en-US" sz="1100">
                    <a:latin typeface="+mn-ea"/>
                  </a:rPr>
                  <a:t>가지</a:t>
                </a:r>
                <a:endParaRPr lang="en-US" altLang="ko-KR" sz="1100">
                  <a:latin typeface="+mn-ea"/>
                </a:endParaRPr>
              </a:p>
              <a:p>
                <a:endParaRPr lang="en-US" altLang="ko-KR" sz="1100">
                  <a:latin typeface="+mn-ea"/>
                </a:endParaRPr>
              </a:p>
              <a:p>
                <a:r>
                  <a:rPr lang="en-US" altLang="ko-KR" sz="1100">
                    <a:latin typeface="+mn-ea"/>
                  </a:rPr>
                  <a:t>	1. </a:t>
                </a:r>
                <a:r>
                  <a:rPr lang="ko-KR" altLang="en-US" sz="1100">
                    <a:latin typeface="+mn-ea"/>
                  </a:rPr>
                  <a:t>라그랑제 함수 </a:t>
                </a:r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+mn-ea"/>
                      </a:rPr>
                      <m:t>𝐿</m:t>
                    </m:r>
                    <m:r>
                      <a:rPr lang="en-US" altLang="ko-KR" sz="1100" b="0" i="1" smtClean="0">
                        <a:latin typeface="+mn-ea"/>
                      </a:rPr>
                      <m:t>(</m:t>
                    </m:r>
                    <m:r>
                      <a:rPr lang="en-US" altLang="ko-KR" sz="1100" b="0" i="1" smtClean="0"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b="0" i="1" smtClean="0">
                        <a:latin typeface="+mn-ea"/>
                      </a:rPr>
                      <m:t>𝑏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i="1" smtClean="0">
                        <a:latin typeface="+mn-ea"/>
                      </a:rPr>
                      <m:t>𝛼</m:t>
                    </m:r>
                    <m:r>
                      <a:rPr lang="en-US" altLang="ko-KR" sz="1100" b="0" i="1" smtClean="0">
                        <a:latin typeface="+mn-ea"/>
                      </a:rPr>
                      <m:t>)</m:t>
                    </m:r>
                  </m:oMath>
                </a14:m>
                <a:r>
                  <a:rPr lang="ko-KR" altLang="en-US" sz="1100">
                    <a:latin typeface="+mn-ea"/>
                  </a:rPr>
                  <a:t>에서 라그랑제 승수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를 제외한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𝑤</m:t>
                    </m:r>
                    <m:r>
                      <a:rPr lang="en-US" altLang="ko-KR" sz="1100" i="1">
                        <a:latin typeface="+mn-ea"/>
                      </a:rPr>
                      <m:t>,</m:t>
                    </m:r>
                    <m:r>
                      <a:rPr lang="en-US" altLang="ko-KR" sz="1100" i="1"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로 편미분한 식이 </a:t>
                </a:r>
                <a:r>
                  <a:rPr lang="en-US" altLang="ko-KR" sz="1100">
                    <a:latin typeface="+mn-ea"/>
                  </a:rPr>
                  <a:t>0</a:t>
                </a:r>
                <a:r>
                  <a:rPr lang="ko-KR" altLang="en-US" sz="1100">
                    <a:latin typeface="+mn-ea"/>
                  </a:rPr>
                  <a:t>이 되어야한다</a:t>
                </a:r>
                <a:r>
                  <a:rPr lang="en-US" altLang="ko-KR" sz="1100">
                    <a:latin typeface="+mn-ea"/>
                  </a:rPr>
                  <a:t>.(stationarity)</a:t>
                </a:r>
              </a:p>
              <a:p>
                <a:endParaRPr lang="en-US" altLang="ko-KR" sz="1100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ABCC84-ECC4-45E7-B0E2-514C637E1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990478"/>
                <a:ext cx="8606790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4A4E6E-C309-41B5-A190-6F40ED48E79B}"/>
              </a:ext>
            </a:extLst>
          </p:cNvPr>
          <p:cNvSpPr txBox="1"/>
          <p:nvPr/>
        </p:nvSpPr>
        <p:spPr>
          <a:xfrm>
            <a:off x="268605" y="3048316"/>
            <a:ext cx="8606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2.  </a:t>
            </a:r>
            <a:r>
              <a:rPr lang="ko-KR" altLang="en-US" sz="1100">
                <a:latin typeface="+mn-ea"/>
              </a:rPr>
              <a:t>제약조건을 만족해야 한다</a:t>
            </a:r>
            <a:r>
              <a:rPr lang="en-US" altLang="ko-KR" sz="1100">
                <a:latin typeface="+mn-ea"/>
              </a:rPr>
              <a:t>.(Primal feasibility)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54F9EA-D1D5-4CAE-84A6-7DCBB22A68F0}"/>
                  </a:ext>
                </a:extLst>
              </p:cNvPr>
              <p:cNvSpPr txBox="1"/>
              <p:nvPr/>
            </p:nvSpPr>
            <p:spPr>
              <a:xfrm>
                <a:off x="268605" y="3582099"/>
                <a:ext cx="8606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>
                    <a:latin typeface="+mn-ea"/>
                  </a:rPr>
                  <a:t>	3. </a:t>
                </a:r>
                <a:r>
                  <a:rPr lang="ko-KR" altLang="en-US" sz="1100">
                    <a:latin typeface="+mn-ea"/>
                  </a:rPr>
                  <a:t>모든 라그랑제 승수</a:t>
                </a:r>
                <a:r>
                  <a:rPr lang="en-US" altLang="ko-KR" sz="110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𝛼</m:t>
                    </m:r>
                    <m:r>
                      <a:rPr lang="en-US" altLang="ko-KR" sz="1100" b="0" i="0" smtClean="0">
                        <a:latin typeface="+mn-ea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+mn-ea"/>
                          </a:rPr>
                          <m:t>,…,…,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100">
                    <a:latin typeface="+mn-ea"/>
                  </a:rPr>
                  <a:t>은 </a:t>
                </a:r>
                <a:r>
                  <a:rPr lang="en-US" altLang="ko-KR" sz="1100">
                    <a:latin typeface="+mn-ea"/>
                  </a:rPr>
                  <a:t>0</a:t>
                </a:r>
                <a:r>
                  <a:rPr lang="ko-KR" altLang="en-US" sz="1100">
                    <a:latin typeface="+mn-ea"/>
                  </a:rPr>
                  <a:t>보다 크거나 같아야 한다</a:t>
                </a:r>
                <a:r>
                  <a:rPr lang="en-US" altLang="ko-KR" sz="1100">
                    <a:latin typeface="+mn-ea"/>
                  </a:rPr>
                  <a:t>.(dual feasibility)</a:t>
                </a:r>
                <a:endParaRPr lang="ko-KR" altLang="en-US" sz="1100">
                  <a:latin typeface="+mn-ea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54F9EA-D1D5-4CAE-84A6-7DCBB22A6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3582099"/>
                <a:ext cx="8606790" cy="261610"/>
              </a:xfrm>
              <a:prstGeom prst="rect">
                <a:avLst/>
              </a:prstGeom>
              <a:blipFill>
                <a:blip r:embed="rId10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BA47BFA-6914-4132-9655-5D602ECE8213}"/>
              </a:ext>
            </a:extLst>
          </p:cNvPr>
          <p:cNvSpPr txBox="1"/>
          <p:nvPr/>
        </p:nvSpPr>
        <p:spPr>
          <a:xfrm>
            <a:off x="268605" y="4110622"/>
            <a:ext cx="870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4. Primal feasibility</a:t>
            </a:r>
            <a:r>
              <a:rPr lang="ko-KR" altLang="en-US" sz="1100">
                <a:latin typeface="+mn-ea"/>
              </a:rPr>
              <a:t>와 </a:t>
            </a:r>
            <a:r>
              <a:rPr lang="en-US" altLang="ko-KR" sz="1100">
                <a:latin typeface="+mn-ea"/>
              </a:rPr>
              <a:t>dual feasibility</a:t>
            </a:r>
            <a:r>
              <a:rPr lang="ko-KR" altLang="en-US" sz="1100">
                <a:latin typeface="+mn-ea"/>
              </a:rPr>
              <a:t>의 곱을 만족 시켜야 한다</a:t>
            </a:r>
            <a:r>
              <a:rPr lang="en-US" altLang="ko-KR" sz="1100">
                <a:latin typeface="+mn-ea"/>
              </a:rPr>
              <a:t>.	(complementary slackness)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409C5-B2B2-4FDD-B56A-CD138A8D7EDE}"/>
              </a:ext>
            </a:extLst>
          </p:cNvPr>
          <p:cNvSpPr txBox="1"/>
          <p:nvPr/>
        </p:nvSpPr>
        <p:spPr>
          <a:xfrm>
            <a:off x="260216" y="4714613"/>
            <a:ext cx="870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</a:t>
            </a:r>
            <a:r>
              <a:rPr lang="en-US" altLang="ko-KR" sz="1100">
                <a:latin typeface="+mn-ea"/>
              </a:rPr>
              <a:t>4</a:t>
            </a:r>
            <a:r>
              <a:rPr lang="ko-KR" altLang="en-US" sz="1100">
                <a:latin typeface="+mn-ea"/>
              </a:rPr>
              <a:t>가지 조건을 모두 만족해야 </a:t>
            </a: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의 최적화 문제를 해결</a:t>
            </a:r>
            <a:endParaRPr lang="en-US" altLang="ko-KR" sz="1100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9FF1A7-8F4D-42C7-A056-A8B65125CC26}"/>
              </a:ext>
            </a:extLst>
          </p:cNvPr>
          <p:cNvSpPr/>
          <p:nvPr/>
        </p:nvSpPr>
        <p:spPr>
          <a:xfrm>
            <a:off x="4781726" y="2602648"/>
            <a:ext cx="4286774" cy="274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+mn-ea"/>
              </a:rPr>
              <a:t>0</a:t>
            </a:r>
            <a:r>
              <a:rPr lang="ko-KR" altLang="en-US" sz="1100">
                <a:latin typeface="+mn-ea"/>
              </a:rPr>
              <a:t>으로 미분하는 이유는 </a:t>
            </a:r>
            <a:r>
              <a:rPr lang="en-US" altLang="ko-KR" sz="1100">
                <a:latin typeface="+mn-ea"/>
              </a:rPr>
              <a:t>minimize</a:t>
            </a:r>
            <a:r>
              <a:rPr lang="ko-KR" altLang="en-US" sz="1100">
                <a:latin typeface="+mn-ea"/>
              </a:rPr>
              <a:t>한 값을 찾을 수 있기 떄문이다</a:t>
            </a:r>
          </a:p>
        </p:txBody>
      </p:sp>
    </p:spTree>
    <p:extLst>
      <p:ext uri="{BB962C8B-B14F-4D97-AF65-F5344CB8AC3E}">
        <p14:creationId xmlns:p14="http://schemas.microsoft.com/office/powerpoint/2010/main" val="3586806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389821B-9042-43BE-972F-A87381B1AD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CCBE4-8993-4701-800F-C3948790ABDE}"/>
              </a:ext>
            </a:extLst>
          </p:cNvPr>
          <p:cNvSpPr txBox="1"/>
          <p:nvPr/>
        </p:nvSpPr>
        <p:spPr>
          <a:xfrm>
            <a:off x="228600" y="1257300"/>
            <a:ext cx="84429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최적화 이론에서 쌍대성</a:t>
            </a:r>
            <a:r>
              <a:rPr lang="en-US" altLang="ko-KR" sz="1100"/>
              <a:t>(duality)</a:t>
            </a:r>
            <a:r>
              <a:rPr lang="ko-KR" altLang="en-US" sz="1100"/>
              <a:t>이란 최적화 문제가 원초문제</a:t>
            </a:r>
            <a:r>
              <a:rPr lang="en-US" altLang="ko-KR" sz="1100"/>
              <a:t>(primal problem)</a:t>
            </a:r>
            <a:r>
              <a:rPr lang="ko-KR" altLang="en-US" sz="1100"/>
              <a:t>와 쌍대문제</a:t>
            </a:r>
            <a:r>
              <a:rPr lang="en-US" altLang="ko-KR" sz="1100"/>
              <a:t>(dual problem)</a:t>
            </a:r>
            <a:r>
              <a:rPr lang="ko-KR" altLang="en-US" sz="1100"/>
              <a:t>의 두가지 관점에서 볼 수 있다는게 원칙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6216C9-45D6-43E4-86DF-F3B72E947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1857464"/>
            <a:ext cx="3901950" cy="21643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FC53C2-40B4-4C4E-8D27-518421E74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85" y="1857464"/>
            <a:ext cx="3296110" cy="266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15C145-C9DF-430C-913D-F3676BA98CC0}"/>
              </a:ext>
            </a:extLst>
          </p:cNvPr>
          <p:cNvSpPr txBox="1"/>
          <p:nvPr/>
        </p:nvSpPr>
        <p:spPr>
          <a:xfrm>
            <a:off x="228600" y="4099560"/>
            <a:ext cx="8442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H</a:t>
            </a:r>
            <a:r>
              <a:rPr lang="ko-KR" altLang="en-US" sz="1100"/>
              <a:t>는 등식제약조건 </a:t>
            </a:r>
            <a:r>
              <a:rPr lang="en-US" altLang="ko-KR" sz="1100"/>
              <a:t>, g</a:t>
            </a:r>
            <a:r>
              <a:rPr lang="ko-KR" altLang="en-US" sz="1100"/>
              <a:t>는 부등식 제약조건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C4F47D5-0BE2-48AA-A519-61B12992B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" y="4621991"/>
            <a:ext cx="1929039" cy="8768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6A9AAC6-5E40-4001-964F-47405CB76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985" y="2233015"/>
            <a:ext cx="4134427" cy="7335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153730-9584-41C9-B746-DA806BC59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511" y="2987895"/>
            <a:ext cx="3391373" cy="88118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CBA80A3-C4FC-4695-96F4-82EA6DF376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972" y="4021827"/>
            <a:ext cx="3901951" cy="136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61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94F5BA-2F01-4E47-B5C2-44EA45313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F2BF-A2AD-439A-8835-73858AD4459B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AD6608-0747-43B6-8396-A681BAB91A2F}"/>
                  </a:ext>
                </a:extLst>
              </p:cNvPr>
              <p:cNvSpPr txBox="1"/>
              <p:nvPr/>
            </p:nvSpPr>
            <p:spPr>
              <a:xfrm>
                <a:off x="5381554" y="3581129"/>
                <a:ext cx="3813246" cy="793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sz="1100"/>
                  <a:t>방향으로 기울기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빨간색 영역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 b="0"/>
                  <a:t>를 줄이는 영역</a:t>
                </a:r>
                <a:endParaRPr lang="en-US" altLang="ko-KR" sz="1100" b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파란색 영역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 b="0"/>
                  <a:t>를 줄이는 영역</a:t>
                </a: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노란색 영역 </a:t>
                </a:r>
                <a:r>
                  <a:rPr lang="en-US" altLang="ko-KR" sz="1100"/>
                  <a:t>=&gt;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와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/>
                  <a:t>영역이 겹치는 영역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AD6608-0747-43B6-8396-A681BAB91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54" y="3581129"/>
                <a:ext cx="3813246" cy="793294"/>
              </a:xfrm>
              <a:prstGeom prst="rect">
                <a:avLst/>
              </a:prstGeom>
              <a:blipFill>
                <a:blip r:embed="rId3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그룹 95">
            <a:extLst>
              <a:ext uri="{FF2B5EF4-FFF2-40B4-BE49-F238E27FC236}">
                <a16:creationId xmlns:a16="http://schemas.microsoft.com/office/drawing/2014/main" id="{20BEF07F-EE8E-4F0F-BDA5-FF3EB9659946}"/>
              </a:ext>
            </a:extLst>
          </p:cNvPr>
          <p:cNvGrpSpPr/>
          <p:nvPr/>
        </p:nvGrpSpPr>
        <p:grpSpPr>
          <a:xfrm>
            <a:off x="3057048" y="3434675"/>
            <a:ext cx="1935480" cy="1066929"/>
            <a:chOff x="7005954" y="4075082"/>
            <a:chExt cx="1935480" cy="1066929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DF9FA2D-6FCF-42C7-9D8E-24C836A82A7C}"/>
                </a:ext>
              </a:extLst>
            </p:cNvPr>
            <p:cNvSpPr/>
            <p:nvPr/>
          </p:nvSpPr>
          <p:spPr>
            <a:xfrm>
              <a:off x="7005954" y="4627585"/>
              <a:ext cx="1855471" cy="48082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94335FC-E6CA-45F2-960E-68CCD0182739}"/>
                </a:ext>
              </a:extLst>
            </p:cNvPr>
            <p:cNvCxnSpPr/>
            <p:nvPr/>
          </p:nvCxnSpPr>
          <p:spPr>
            <a:xfrm>
              <a:off x="7005954" y="4627585"/>
              <a:ext cx="193548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40CC1DC-251E-4016-826B-020972375779}"/>
                </a:ext>
              </a:extLst>
            </p:cNvPr>
            <p:cNvCxnSpPr>
              <a:cxnSpLocks/>
            </p:cNvCxnSpPr>
            <p:nvPr/>
          </p:nvCxnSpPr>
          <p:spPr>
            <a:xfrm>
              <a:off x="7961312" y="4627585"/>
              <a:ext cx="3334" cy="5144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43E4083-76F4-4904-99DA-CBD24C719A41}"/>
                    </a:ext>
                  </a:extLst>
                </p:cNvPr>
                <p:cNvSpPr txBox="1"/>
                <p:nvPr/>
              </p:nvSpPr>
              <p:spPr>
                <a:xfrm>
                  <a:off x="7654606" y="4766926"/>
                  <a:ext cx="3190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43E4083-76F4-4904-99DA-CBD24C719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606" y="4766926"/>
                  <a:ext cx="319088" cy="261610"/>
                </a:xfrm>
                <a:prstGeom prst="rect">
                  <a:avLst/>
                </a:prstGeom>
                <a:blipFill>
                  <a:blip r:embed="rId4"/>
                  <a:stretch>
                    <a:fillRect r="-67308"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733945B-429C-441B-BFE2-93CA59D878E1}"/>
                </a:ext>
              </a:extLst>
            </p:cNvPr>
            <p:cNvSpPr/>
            <p:nvPr/>
          </p:nvSpPr>
          <p:spPr>
            <a:xfrm>
              <a:off x="7005954" y="4137356"/>
              <a:ext cx="1855471" cy="480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D4807F56-2D50-4E5F-A26A-7AF52B8E9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801" y="4075082"/>
              <a:ext cx="6686" cy="554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F43E17-7F35-4360-8AE5-7A13CC660F0F}"/>
                    </a:ext>
                  </a:extLst>
                </p:cNvPr>
                <p:cNvSpPr txBox="1"/>
                <p:nvPr/>
              </p:nvSpPr>
              <p:spPr>
                <a:xfrm>
                  <a:off x="7886064" y="4280609"/>
                  <a:ext cx="3190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F43E17-7F35-4360-8AE5-7A13CC660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6064" y="4280609"/>
                  <a:ext cx="319088" cy="261610"/>
                </a:xfrm>
                <a:prstGeom prst="rect">
                  <a:avLst/>
                </a:prstGeom>
                <a:blipFill>
                  <a:blip r:embed="rId5"/>
                  <a:stretch>
                    <a:fillRect r="-63462"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BF52F89-F2C1-4CC4-AA2C-503D40DF1EE2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1458913" y="4018093"/>
            <a:ext cx="251061" cy="22629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6487378-913B-4B94-AC7B-3E743BF4631F}"/>
              </a:ext>
            </a:extLst>
          </p:cNvPr>
          <p:cNvGrpSpPr/>
          <p:nvPr/>
        </p:nvGrpSpPr>
        <p:grpSpPr>
          <a:xfrm>
            <a:off x="259080" y="2849880"/>
            <a:ext cx="4653439" cy="1651724"/>
            <a:chOff x="259080" y="2849880"/>
            <a:chExt cx="4653439" cy="165172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599F2F-04BD-4DEE-ABA0-36C2F50B1705}"/>
                </a:ext>
              </a:extLst>
            </p:cNvPr>
            <p:cNvSpPr txBox="1"/>
            <p:nvPr/>
          </p:nvSpPr>
          <p:spPr>
            <a:xfrm>
              <a:off x="259080" y="2849880"/>
              <a:ext cx="465343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100"/>
                <a:t>KKT</a:t>
              </a:r>
              <a:r>
                <a:rPr lang="ko-KR" altLang="en-US" sz="1100"/>
                <a:t>조건 </a:t>
              </a:r>
              <a:r>
                <a:rPr lang="en-US" altLang="ko-KR" sz="1100"/>
                <a:t>3~5</a:t>
              </a:r>
              <a:r>
                <a:rPr lang="ko-KR" altLang="en-US" sz="1100"/>
                <a:t>번식은 제약조건임으로 </a:t>
              </a:r>
              <a:r>
                <a:rPr lang="en-US" altLang="ko-KR" sz="1100"/>
                <a:t>1</a:t>
              </a:r>
              <a:r>
                <a:rPr lang="ko-KR" altLang="en-US" sz="1100"/>
                <a:t>번</a:t>
              </a:r>
              <a:r>
                <a:rPr lang="en-US" altLang="ko-KR" sz="1100"/>
                <a:t>2</a:t>
              </a:r>
              <a:r>
                <a:rPr lang="ko-KR" altLang="en-US" sz="1100"/>
                <a:t>번식을 증명</a:t>
              </a:r>
              <a:endParaRPr lang="en-US" altLang="ko-KR" sz="1100"/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100"/>
                <a:t>1</a:t>
              </a:r>
              <a:r>
                <a:rPr lang="ko-KR" altLang="en-US" sz="1100"/>
                <a:t>번식 증명</a:t>
              </a:r>
              <a:endParaRPr lang="en-US" altLang="ko-KR" sz="11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100"/>
                <a:t>local minimum=&gt;</a:t>
              </a:r>
              <a:r>
                <a:rPr lang="ko-KR" altLang="en-US" sz="1100"/>
                <a:t> </a:t>
              </a:r>
              <a:r>
                <a:rPr lang="en-US" altLang="ko-KR" sz="1100"/>
                <a:t>KKT,</a:t>
              </a:r>
              <a:r>
                <a:rPr lang="ko-KR" altLang="en-US" sz="1100"/>
                <a:t> </a:t>
              </a:r>
              <a:r>
                <a:rPr lang="en-US" altLang="ko-KR" sz="1100"/>
                <a:t>~KKT=&gt;~</a:t>
              </a:r>
              <a:r>
                <a:rPr lang="ko-KR" altLang="en-US" sz="1100"/>
                <a:t> </a:t>
              </a:r>
              <a:r>
                <a:rPr lang="en-US" altLang="ko-KR" sz="1100"/>
                <a:t>local minimum(</a:t>
              </a:r>
              <a:r>
                <a:rPr lang="ko-KR" altLang="en-US" sz="1100"/>
                <a:t>대우명제</a:t>
              </a:r>
              <a:r>
                <a:rPr lang="en-US" altLang="ko-KR" sz="1100"/>
                <a:t>)</a:t>
              </a:r>
              <a:endParaRPr lang="ko-KR" altLang="en-US" sz="110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B0377534-615D-42A9-8A2F-0D839B5D612D}"/>
                </a:ext>
              </a:extLst>
            </p:cNvPr>
            <p:cNvGrpSpPr/>
            <p:nvPr/>
          </p:nvGrpSpPr>
          <p:grpSpPr>
            <a:xfrm>
              <a:off x="509905" y="3480521"/>
              <a:ext cx="1935480" cy="1021083"/>
              <a:chOff x="7090250" y="2294974"/>
              <a:chExt cx="1935480" cy="1021083"/>
            </a:xfrm>
          </p:grpSpPr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A270DC94-03F5-4929-A0F0-C0866DBD3059}"/>
                  </a:ext>
                </a:extLst>
              </p:cNvPr>
              <p:cNvGrpSpPr/>
              <p:nvPr/>
            </p:nvGrpSpPr>
            <p:grpSpPr>
              <a:xfrm>
                <a:off x="7090250" y="2294974"/>
                <a:ext cx="1935480" cy="1021083"/>
                <a:chOff x="7090250" y="2294974"/>
                <a:chExt cx="1935480" cy="1021083"/>
              </a:xfrm>
            </p:grpSpPr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992C18D2-BC79-4B55-956C-CC7CA6276DD7}"/>
                    </a:ext>
                  </a:extLst>
                </p:cNvPr>
                <p:cNvSpPr/>
                <p:nvPr/>
              </p:nvSpPr>
              <p:spPr>
                <a:xfrm>
                  <a:off x="7090250" y="2835230"/>
                  <a:ext cx="1855471" cy="4808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76" name="자유형: 도형 75">
                  <a:extLst>
                    <a:ext uri="{FF2B5EF4-FFF2-40B4-BE49-F238E27FC236}">
                      <a16:creationId xmlns:a16="http://schemas.microsoft.com/office/drawing/2014/main" id="{1C96F4D6-398E-4750-B377-FC595628D722}"/>
                    </a:ext>
                  </a:extLst>
                </p:cNvPr>
                <p:cNvSpPr/>
                <p:nvPr/>
              </p:nvSpPr>
              <p:spPr>
                <a:xfrm>
                  <a:off x="8039258" y="2835052"/>
                  <a:ext cx="901700" cy="479425"/>
                </a:xfrm>
                <a:custGeom>
                  <a:avLst/>
                  <a:gdLst>
                    <a:gd name="connsiteX0" fmla="*/ 0 w 901700"/>
                    <a:gd name="connsiteY0" fmla="*/ 0 h 479425"/>
                    <a:gd name="connsiteX1" fmla="*/ 898525 w 901700"/>
                    <a:gd name="connsiteY1" fmla="*/ 479425 h 479425"/>
                    <a:gd name="connsiteX2" fmla="*/ 901700 w 901700"/>
                    <a:gd name="connsiteY2" fmla="*/ 0 h 479425"/>
                    <a:gd name="connsiteX3" fmla="*/ 0 w 901700"/>
                    <a:gd name="connsiteY3" fmla="*/ 0 h 479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1700" h="479425">
                      <a:moveTo>
                        <a:pt x="0" y="0"/>
                      </a:moveTo>
                      <a:lnTo>
                        <a:pt x="898525" y="479425"/>
                      </a:lnTo>
                      <a:cubicBezTo>
                        <a:pt x="899583" y="319617"/>
                        <a:pt x="900642" y="159808"/>
                        <a:pt x="9017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71" name="자유형: 도형 70">
                  <a:extLst>
                    <a:ext uri="{FF2B5EF4-FFF2-40B4-BE49-F238E27FC236}">
                      <a16:creationId xmlns:a16="http://schemas.microsoft.com/office/drawing/2014/main" id="{555AD9AF-DF9A-4183-84C7-54A2AC813E1B}"/>
                    </a:ext>
                  </a:extLst>
                </p:cNvPr>
                <p:cNvSpPr/>
                <p:nvPr/>
              </p:nvSpPr>
              <p:spPr>
                <a:xfrm>
                  <a:off x="7115333" y="2337279"/>
                  <a:ext cx="1838325" cy="507298"/>
                </a:xfrm>
                <a:custGeom>
                  <a:avLst/>
                  <a:gdLst>
                    <a:gd name="connsiteX0" fmla="*/ 923925 w 1838325"/>
                    <a:gd name="connsiteY0" fmla="*/ 784225 h 803275"/>
                    <a:gd name="connsiteX1" fmla="*/ 0 w 1838325"/>
                    <a:gd name="connsiteY1" fmla="*/ 0 h 803275"/>
                    <a:gd name="connsiteX2" fmla="*/ 1838325 w 1838325"/>
                    <a:gd name="connsiteY2" fmla="*/ 0 h 803275"/>
                    <a:gd name="connsiteX3" fmla="*/ 1825625 w 1838325"/>
                    <a:gd name="connsiteY3" fmla="*/ 803275 h 803275"/>
                    <a:gd name="connsiteX4" fmla="*/ 923925 w 1838325"/>
                    <a:gd name="connsiteY4" fmla="*/ 784225 h 803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38325" h="803275">
                      <a:moveTo>
                        <a:pt x="923925" y="784225"/>
                      </a:moveTo>
                      <a:lnTo>
                        <a:pt x="0" y="0"/>
                      </a:lnTo>
                      <a:lnTo>
                        <a:pt x="1838325" y="0"/>
                      </a:lnTo>
                      <a:lnTo>
                        <a:pt x="1825625" y="803275"/>
                      </a:lnTo>
                      <a:lnTo>
                        <a:pt x="923925" y="784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73" name="직선 화살표 연결선 72">
                  <a:extLst>
                    <a:ext uri="{FF2B5EF4-FFF2-40B4-BE49-F238E27FC236}">
                      <a16:creationId xmlns:a16="http://schemas.microsoft.com/office/drawing/2014/main" id="{5322046E-12BC-4CEB-B270-62900DD391AC}"/>
                    </a:ext>
                  </a:extLst>
                </p:cNvPr>
                <p:cNvCxnSpPr/>
                <p:nvPr/>
              </p:nvCxnSpPr>
              <p:spPr>
                <a:xfrm>
                  <a:off x="7090250" y="2835230"/>
                  <a:ext cx="1935480" cy="0"/>
                </a:xfrm>
                <a:prstGeom prst="straightConnector1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화살표 연결선 73">
                  <a:extLst>
                    <a:ext uri="{FF2B5EF4-FFF2-40B4-BE49-F238E27FC236}">
                      <a16:creationId xmlns:a16="http://schemas.microsoft.com/office/drawing/2014/main" id="{5B8A707D-AB76-44CD-B2A8-43FBF4DC3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19344" y="2294974"/>
                  <a:ext cx="16017" cy="54025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화살표 연결선 74">
                  <a:extLst>
                    <a:ext uri="{FF2B5EF4-FFF2-40B4-BE49-F238E27FC236}">
                      <a16:creationId xmlns:a16="http://schemas.microsoft.com/office/drawing/2014/main" id="{A80DDCE9-FAE5-4F2B-8050-A976894EE817}"/>
                    </a:ext>
                  </a:extLst>
                </p:cNvPr>
                <p:cNvCxnSpPr/>
                <p:nvPr/>
              </p:nvCxnSpPr>
              <p:spPr>
                <a:xfrm flipH="1">
                  <a:off x="7550308" y="2835230"/>
                  <a:ext cx="495300" cy="48082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2355C526-AB17-4167-9533-F8FCB9371D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8902" y="2974571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2355C526-AB17-4167-9533-F8FCB9371D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38902" y="2974571"/>
                      <a:ext cx="319088" cy="2616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308"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4" name="직선 화살표 연결선 93">
                  <a:extLst>
                    <a:ext uri="{FF2B5EF4-FFF2-40B4-BE49-F238E27FC236}">
                      <a16:creationId xmlns:a16="http://schemas.microsoft.com/office/drawing/2014/main" id="{5E799D91-7BFC-471D-8B83-BCABC0655697}"/>
                    </a:ext>
                  </a:extLst>
                </p:cNvPr>
                <p:cNvCxnSpPr/>
                <p:nvPr/>
              </p:nvCxnSpPr>
              <p:spPr>
                <a:xfrm>
                  <a:off x="7090250" y="2841402"/>
                  <a:ext cx="1935480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39246" y="2456401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9246" y="2456401"/>
                    <a:ext cx="319088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63462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0BBCD0-0D9A-4936-944E-DB3AE5FFE5AD}"/>
                    </a:ext>
                  </a:extLst>
                </p:cNvPr>
                <p:cNvSpPr txBox="1"/>
                <p:nvPr/>
              </p:nvSpPr>
              <p:spPr>
                <a:xfrm>
                  <a:off x="1547340" y="3937195"/>
                  <a:ext cx="25717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0BBCD0-0D9A-4936-944E-DB3AE5FFE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7340" y="3937195"/>
                  <a:ext cx="257175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BE9B655-2C23-41F2-8D67-61DA490F938B}"/>
              </a:ext>
            </a:extLst>
          </p:cNvPr>
          <p:cNvSpPr txBox="1"/>
          <p:nvPr/>
        </p:nvSpPr>
        <p:spPr>
          <a:xfrm>
            <a:off x="259080" y="4661459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노란색 영역은 서로의 줄이는 영역이 겹침으로 더 나은 솔루션 존재하는 영역임 </a:t>
            </a:r>
            <a:r>
              <a:rPr lang="en-US" altLang="ko-KR" sz="1100"/>
              <a:t>=&gt; local</a:t>
            </a:r>
            <a:r>
              <a:rPr lang="ko-KR" altLang="en-US" sz="1100"/>
              <a:t> </a:t>
            </a:r>
            <a:r>
              <a:rPr lang="en-US" altLang="ko-KR" sz="1100"/>
              <a:t>minimum</a:t>
            </a:r>
            <a:r>
              <a:rPr lang="ko-KR" altLang="en-US" sz="1100"/>
              <a:t>의 위배</a:t>
            </a:r>
            <a:endParaRPr lang="en-US" altLang="ko-KR" sz="1100"/>
          </a:p>
          <a:p>
            <a:pPr algn="l"/>
            <a:r>
              <a:rPr lang="en-US" altLang="ko-KR" sz="1100"/>
              <a:t>Local minimum</a:t>
            </a:r>
            <a:r>
              <a:rPr lang="ko-KR" altLang="en-US" sz="1100"/>
              <a:t>은 해당 원점에서의 제일 적절한 </a:t>
            </a:r>
            <a:r>
              <a:rPr lang="en-US" altLang="ko-KR" sz="1100"/>
              <a:t>minimum</a:t>
            </a:r>
            <a:r>
              <a:rPr lang="ko-KR" altLang="en-US" sz="1100"/>
              <a:t>이기 때문 </a:t>
            </a:r>
            <a:r>
              <a:rPr lang="en-US" altLang="ko-KR" sz="1100"/>
              <a:t>=&gt; </a:t>
            </a:r>
            <a:r>
              <a:rPr lang="ko-KR" altLang="en-US" sz="1100"/>
              <a:t>노란색 영역 없애야함</a:t>
            </a:r>
          </a:p>
        </p:txBody>
      </p:sp>
    </p:spTree>
    <p:extLst>
      <p:ext uri="{BB962C8B-B14F-4D97-AF65-F5344CB8AC3E}">
        <p14:creationId xmlns:p14="http://schemas.microsoft.com/office/powerpoint/2010/main" val="399200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80DFC6-8019-4CC9-9ED6-DFDCC39B8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165BF-A9D2-4C8A-BB50-6CEF7A9E5A24}"/>
              </a:ext>
            </a:extLst>
          </p:cNvPr>
          <p:cNvSpPr txBox="1"/>
          <p:nvPr/>
        </p:nvSpPr>
        <p:spPr>
          <a:xfrm>
            <a:off x="262925" y="2816985"/>
            <a:ext cx="798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ㆍ</a:t>
            </a:r>
            <a:r>
              <a:rPr lang="en-US" altLang="ko-KR" sz="1100"/>
              <a:t>KKT 2</a:t>
            </a:r>
            <a:r>
              <a:rPr lang="ko-KR" altLang="en-US" sz="1100"/>
              <a:t>번째조건 만족</a:t>
            </a:r>
            <a:endParaRPr lang="en-US" altLang="ko-KR" sz="110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2D7A3E2-75CB-4432-A980-CE6A9BD53079}"/>
              </a:ext>
            </a:extLst>
          </p:cNvPr>
          <p:cNvGrpSpPr/>
          <p:nvPr/>
        </p:nvGrpSpPr>
        <p:grpSpPr>
          <a:xfrm>
            <a:off x="419554" y="3305803"/>
            <a:ext cx="2169882" cy="1183314"/>
            <a:chOff x="1504495" y="3755705"/>
            <a:chExt cx="2169882" cy="1183314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B308EAC-73B6-4470-AB98-534A2E647FBE}"/>
                </a:ext>
              </a:extLst>
            </p:cNvPr>
            <p:cNvGrpSpPr/>
            <p:nvPr/>
          </p:nvGrpSpPr>
          <p:grpSpPr>
            <a:xfrm>
              <a:off x="1504495" y="3755705"/>
              <a:ext cx="2169882" cy="1183314"/>
              <a:chOff x="220980" y="2245686"/>
              <a:chExt cx="2169882" cy="1183314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B3F06D4A-6532-4352-993C-3C33D9BE33EB}"/>
                  </a:ext>
                </a:extLst>
              </p:cNvPr>
              <p:cNvCxnSpPr/>
              <p:nvPr/>
            </p:nvCxnSpPr>
            <p:spPr>
              <a:xfrm>
                <a:off x="220980" y="3429000"/>
                <a:ext cx="216988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124FAB57-E726-4A4C-AD88-337FA8AF66C0}"/>
                  </a:ext>
                </a:extLst>
              </p:cNvPr>
              <p:cNvSpPr/>
              <p:nvPr/>
            </p:nvSpPr>
            <p:spPr>
              <a:xfrm>
                <a:off x="453005" y="2245686"/>
                <a:ext cx="1525372" cy="1183314"/>
              </a:xfrm>
              <a:custGeom>
                <a:avLst/>
                <a:gdLst>
                  <a:gd name="connsiteX0" fmla="*/ 0 w 1525372"/>
                  <a:gd name="connsiteY0" fmla="*/ 25167 h 1183314"/>
                  <a:gd name="connsiteX1" fmla="*/ 125835 w 1525372"/>
                  <a:gd name="connsiteY1" fmla="*/ 830510 h 1183314"/>
                  <a:gd name="connsiteX2" fmla="*/ 444616 w 1525372"/>
                  <a:gd name="connsiteY2" fmla="*/ 1107347 h 1183314"/>
                  <a:gd name="connsiteX3" fmla="*/ 998290 w 1525372"/>
                  <a:gd name="connsiteY3" fmla="*/ 1174459 h 1183314"/>
                  <a:gd name="connsiteX4" fmla="*/ 1325460 w 1525372"/>
                  <a:gd name="connsiteY4" fmla="*/ 947956 h 1183314"/>
                  <a:gd name="connsiteX5" fmla="*/ 1484851 w 1525372"/>
                  <a:gd name="connsiteY5" fmla="*/ 436227 h 1183314"/>
                  <a:gd name="connsiteX6" fmla="*/ 1518407 w 1525372"/>
                  <a:gd name="connsiteY6" fmla="*/ 0 h 118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372" h="1183314">
                    <a:moveTo>
                      <a:pt x="0" y="25167"/>
                    </a:moveTo>
                    <a:cubicBezTo>
                      <a:pt x="25866" y="337657"/>
                      <a:pt x="51732" y="650147"/>
                      <a:pt x="125835" y="830510"/>
                    </a:cubicBezTo>
                    <a:cubicBezTo>
                      <a:pt x="199938" y="1010873"/>
                      <a:pt x="299207" y="1050022"/>
                      <a:pt x="444616" y="1107347"/>
                    </a:cubicBezTo>
                    <a:cubicBezTo>
                      <a:pt x="590025" y="1164672"/>
                      <a:pt x="851483" y="1201024"/>
                      <a:pt x="998290" y="1174459"/>
                    </a:cubicBezTo>
                    <a:cubicBezTo>
                      <a:pt x="1145097" y="1147894"/>
                      <a:pt x="1244367" y="1070995"/>
                      <a:pt x="1325460" y="947956"/>
                    </a:cubicBezTo>
                    <a:cubicBezTo>
                      <a:pt x="1406553" y="824917"/>
                      <a:pt x="1452693" y="594220"/>
                      <a:pt x="1484851" y="436227"/>
                    </a:cubicBezTo>
                    <a:cubicBezTo>
                      <a:pt x="1517009" y="278234"/>
                      <a:pt x="1536583" y="55927"/>
                      <a:pt x="1518407" y="0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177FEE-52A3-432A-A501-6309D280BE8A}"/>
                </a:ext>
              </a:extLst>
            </p:cNvPr>
            <p:cNvSpPr/>
            <p:nvPr/>
          </p:nvSpPr>
          <p:spPr>
            <a:xfrm>
              <a:off x="3132259" y="4405227"/>
              <a:ext cx="87688" cy="8389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6784F19-4315-4439-8570-90D1A981A02A}"/>
                </a:ext>
              </a:extLst>
            </p:cNvPr>
            <p:cNvSpPr/>
            <p:nvPr/>
          </p:nvSpPr>
          <p:spPr>
            <a:xfrm>
              <a:off x="2754754" y="4271603"/>
              <a:ext cx="87688" cy="8389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84799CA-8F10-4E70-A5F6-E70F0F505DF4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09470C-9F52-49DE-85E4-F2291B80832A}"/>
                  </a:ext>
                </a:extLst>
              </p:cNvPr>
              <p:cNvSpPr txBox="1"/>
              <p:nvPr/>
            </p:nvSpPr>
            <p:spPr>
              <a:xfrm>
                <a:off x="262925" y="4648452"/>
                <a:ext cx="61920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l">
                  <a:buAutoNum type="arabicPeriod"/>
                </a:pPr>
                <a:r>
                  <a:rPr lang="ko-KR" altLang="en-US" sz="1100"/>
                  <a:t>경계선에 있으면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에 영향을 안줌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1100"/>
                  <a:t>0 </a:t>
                </a:r>
                <a:r>
                  <a:rPr lang="ko-KR" altLang="en-US" sz="1100"/>
                  <a:t>이여야하는데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될수 도있어서 만족못함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:r>
                  <a:rPr lang="ko-KR" altLang="en-US" sz="1100"/>
                  <a:t>안쪽의 값이 있으면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/>
                  <a:t>은 만족이고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를 만족시키려면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는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이 됨으로 만족</a:t>
                </a:r>
                <a:endParaRPr lang="en-US" altLang="ko-KR" sz="1100"/>
              </a:p>
              <a:p>
                <a:r>
                  <a:rPr lang="ko-KR" altLang="en-US" sz="1100"/>
                  <a:t>즉</a:t>
                </a:r>
                <a:r>
                  <a:rPr lang="en-US" altLang="ko-KR" sz="1100"/>
                  <a:t>, kkt 2</a:t>
                </a:r>
                <a:r>
                  <a:rPr lang="ko-KR" altLang="en-US" sz="1100"/>
                  <a:t>번조건을 만족하면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번조건을 만족하여 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 </a:t>
                </a:r>
                <a:endParaRPr lang="en-US" altLang="ko-KR" sz="110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09470C-9F52-49DE-85E4-F2291B808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25" y="4648452"/>
                <a:ext cx="6192054" cy="769441"/>
              </a:xfrm>
              <a:prstGeom prst="rect">
                <a:avLst/>
              </a:prstGeom>
              <a:blipFill>
                <a:blip r:embed="rId3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871A1-5130-4AC6-A0C7-DC0AB026F849}"/>
                  </a:ext>
                </a:extLst>
              </p:cNvPr>
              <p:cNvSpPr txBox="1"/>
              <p:nvPr/>
            </p:nvSpPr>
            <p:spPr>
              <a:xfrm>
                <a:off x="2054449" y="3491673"/>
                <a:ext cx="5987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871A1-5130-4AC6-A0C7-DC0AB026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449" y="3491673"/>
                <a:ext cx="598784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54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B62F8-22C7-4A84-A4F6-0F9069ACE90E}"/>
              </a:ext>
            </a:extLst>
          </p:cNvPr>
          <p:cNvSpPr txBox="1"/>
          <p:nvPr/>
        </p:nvSpPr>
        <p:spPr>
          <a:xfrm>
            <a:off x="251460" y="1295400"/>
            <a:ext cx="8823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>
                <a:latin typeface="+mn-ea"/>
              </a:rPr>
              <a:t>SVM</a:t>
            </a:r>
            <a:r>
              <a:rPr lang="ko-KR" altLang="en-US" sz="1100" b="0">
                <a:latin typeface="+mn-ea"/>
              </a:rPr>
              <a:t>에서의 목적함수와</a:t>
            </a:r>
            <a:r>
              <a:rPr lang="en-US" altLang="ko-KR" sz="1100" b="0">
                <a:latin typeface="+mn-ea"/>
              </a:rPr>
              <a:t>  </a:t>
            </a:r>
            <a:r>
              <a:rPr lang="ko-KR" altLang="en-US" sz="1100" b="0">
                <a:latin typeface="+mn-ea"/>
              </a:rPr>
              <a:t>제약조건은 다음과 같음</a:t>
            </a:r>
            <a:endParaRPr lang="en-US" altLang="ko-KR" sz="1100" b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027307"/>
                  </p:ext>
                </p:extLst>
              </p:nvPr>
            </p:nvGraphicFramePr>
            <p:xfrm>
              <a:off x="3131820" y="15155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w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=1,2, ……,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027307"/>
                  </p:ext>
                </p:extLst>
              </p:nvPr>
            </p:nvGraphicFramePr>
            <p:xfrm>
              <a:off x="3131820" y="15155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2887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61499" b="-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16393" r="-61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356577"/>
                  </p:ext>
                </p:extLst>
              </p:nvPr>
            </p:nvGraphicFramePr>
            <p:xfrm>
              <a:off x="3124200" y="24517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356577"/>
                  </p:ext>
                </p:extLst>
              </p:nvPr>
            </p:nvGraphicFramePr>
            <p:xfrm>
              <a:off x="3124200" y="24517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3546928"/>
                  </p:ext>
                </p:extLst>
              </p:nvPr>
            </p:nvGraphicFramePr>
            <p:xfrm>
              <a:off x="3124200" y="314585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func>
                                  <m:func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3546928"/>
                  </p:ext>
                </p:extLst>
              </p:nvPr>
            </p:nvGraphicFramePr>
            <p:xfrm>
              <a:off x="3124200" y="314585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398077"/>
                  </p:ext>
                </p:extLst>
              </p:nvPr>
            </p:nvGraphicFramePr>
            <p:xfrm>
              <a:off x="3131820" y="369284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398077"/>
                  </p:ext>
                </p:extLst>
              </p:nvPr>
            </p:nvGraphicFramePr>
            <p:xfrm>
              <a:off x="3131820" y="369284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3407" r="-99740" b="-2450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260" t="-93407" b="-2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49153" r="-99740" b="-8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260" t="-149153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0017397"/>
                  </p:ext>
                </p:extLst>
              </p:nvPr>
            </p:nvGraphicFramePr>
            <p:xfrm>
              <a:off x="3124200" y="509901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0017397"/>
                  </p:ext>
                </p:extLst>
              </p:nvPr>
            </p:nvGraphicFramePr>
            <p:xfrm>
              <a:off x="3124200" y="509901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t="-114458" b="-1578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2C96451-D0B7-45C3-BAB0-DB08AD618155}"/>
              </a:ext>
            </a:extLst>
          </p:cNvPr>
          <p:cNvSpPr txBox="1"/>
          <p:nvPr/>
        </p:nvSpPr>
        <p:spPr>
          <a:xfrm>
            <a:off x="251460" y="2231472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을 라그랑주 승수법의 식에 대입을 하면 다음과 같음</a:t>
            </a:r>
            <a:endParaRPr lang="en-US" altLang="ko-KR" sz="11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/>
              <p:nvPr/>
            </p:nvSpPr>
            <p:spPr>
              <a:xfrm>
                <a:off x="259849" y="2894201"/>
                <a:ext cx="79171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latin typeface="+mn-ea"/>
                  </a:rPr>
                  <a:t>위의 식을 바탕으로 </a:t>
                </a:r>
                <a:r>
                  <a:rPr lang="en-US" altLang="ko-KR" sz="1100" b="0">
                    <a:latin typeface="+mn-ea"/>
                  </a:rPr>
                  <a:t>Lagrangian Primal</a:t>
                </a:r>
                <a:r>
                  <a:rPr lang="ko-KR" altLang="en-US" sz="1100" b="0">
                    <a:latin typeface="+mn-ea"/>
                  </a:rPr>
                  <a:t>을 구할 수 있으며 </a:t>
                </a:r>
                <a:r>
                  <a:rPr lang="en-US" altLang="ko-KR" sz="1100">
                    <a:latin typeface="+mn-ea"/>
                  </a:rPr>
                  <a:t>KKT</a:t>
                </a:r>
                <a:r>
                  <a:rPr lang="ko-KR" altLang="en-US" sz="1100">
                    <a:latin typeface="+mn-ea"/>
                  </a:rPr>
                  <a:t>조건 </a:t>
                </a:r>
                <a:r>
                  <a:rPr lang="en-US" altLang="ko-KR" sz="1100">
                    <a:latin typeface="+mn-ea"/>
                  </a:rPr>
                  <a:t>1</a:t>
                </a:r>
                <a:r>
                  <a:rPr lang="ko-KR" altLang="en-US" sz="1100">
                    <a:latin typeface="+mn-ea"/>
                  </a:rPr>
                  <a:t>번조건을 적용하여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b="0" i="1" smtClean="0"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 b="0">
                    <a:latin typeface="+mn-ea"/>
                  </a:rPr>
                  <a:t>를 구함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latin typeface="+mn-ea"/>
                  </a:rPr>
                  <a:t>Lagrangian Primal</a:t>
                </a:r>
                <a:r>
                  <a:rPr lang="ko-KR" altLang="en-US" sz="1100" b="0">
                    <a:latin typeface="+mn-ea"/>
                  </a:rPr>
                  <a:t>의 식은 다음과 같음</a:t>
                </a:r>
                <a:endParaRPr lang="en-US" altLang="ko-KR" sz="1100" b="0">
                  <a:latin typeface="+mn-ea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49" y="2894201"/>
                <a:ext cx="7917180" cy="430887"/>
              </a:xfrm>
              <a:prstGeom prst="rect">
                <a:avLst/>
              </a:prstGeom>
              <a:blipFill>
                <a:blip r:embed="rId8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/>
              <p:nvPr/>
            </p:nvSpPr>
            <p:spPr>
              <a:xfrm>
                <a:off x="251460" y="3531764"/>
                <a:ext cx="8649259" cy="26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 </a:t>
                </a:r>
                <a:r>
                  <a:rPr lang="ko-KR" altLang="en-US" sz="1100">
                    <a:latin typeface="+mn-ea"/>
                  </a:rPr>
                  <a:t>첫번째 조건인 </a:t>
                </a:r>
                <a:r>
                  <a:rPr lang="en-US" altLang="ko-KR" sz="1100">
                    <a:latin typeface="+mn-ea"/>
                  </a:rPr>
                  <a:t>stationarity</a:t>
                </a:r>
                <a:r>
                  <a:rPr lang="ko-KR" altLang="en-US" sz="1100">
                    <a:latin typeface="+mn-ea"/>
                  </a:rPr>
                  <a:t>을 적용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편미분</a:t>
                </a:r>
                <a:r>
                  <a:rPr lang="en-US" altLang="ko-KR" sz="1100">
                    <a:latin typeface="+mn-ea"/>
                  </a:rPr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531764"/>
                <a:ext cx="8649259" cy="264816"/>
              </a:xfrm>
              <a:prstGeom prst="rect">
                <a:avLst/>
              </a:prstGeom>
              <a:blipFill>
                <a:blip r:embed="rId9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9904C4E-B1B5-411E-8119-4717E1D4B6E7}"/>
              </a:ext>
            </a:extLst>
          </p:cNvPr>
          <p:cNvSpPr txBox="1"/>
          <p:nvPr/>
        </p:nvSpPr>
        <p:spPr>
          <a:xfrm>
            <a:off x="251460" y="4874003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식을 아래 식에 대입을 하여 정리</a:t>
            </a:r>
            <a:endParaRPr lang="en-US" altLang="ko-KR" sz="1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031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09F87-FBC7-49B7-A838-9D6CE7CA1958}"/>
              </a:ext>
            </a:extLst>
          </p:cNvPr>
          <p:cNvSpPr txBox="1"/>
          <p:nvPr/>
        </p:nvSpPr>
        <p:spPr>
          <a:xfrm>
            <a:off x="260216" y="1276574"/>
            <a:ext cx="8502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승수법을 나눠서 계산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FA9305E-28C7-4C65-A641-C4F5D18A2C61}"/>
              </a:ext>
            </a:extLst>
          </p:cNvPr>
          <p:cNvGrpSpPr/>
          <p:nvPr/>
        </p:nvGrpSpPr>
        <p:grpSpPr>
          <a:xfrm>
            <a:off x="3944678" y="2111066"/>
            <a:ext cx="2031912" cy="315417"/>
            <a:chOff x="4147850" y="4011859"/>
            <a:chExt cx="2039560" cy="315417"/>
          </a:xfrm>
        </p:grpSpPr>
        <p:sp>
          <p:nvSpPr>
            <p:cNvPr id="10" name="왼쪽 중괄호 9">
              <a:extLst>
                <a:ext uri="{FF2B5EF4-FFF2-40B4-BE49-F238E27FC236}">
                  <a16:creationId xmlns:a16="http://schemas.microsoft.com/office/drawing/2014/main" id="{BF9DDCCE-2687-4634-B7E6-EE91EA7E93B3}"/>
                </a:ext>
              </a:extLst>
            </p:cNvPr>
            <p:cNvSpPr/>
            <p:nvPr/>
          </p:nvSpPr>
          <p:spPr>
            <a:xfrm rot="16200000">
              <a:off x="4290261" y="3869449"/>
              <a:ext cx="131675" cy="41649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304654CD-3C4B-471D-B0B0-9BAB3708DE08}"/>
                </a:ext>
              </a:extLst>
            </p:cNvPr>
            <p:cNvSpPr/>
            <p:nvPr/>
          </p:nvSpPr>
          <p:spPr>
            <a:xfrm rot="16200000">
              <a:off x="5427487" y="3383611"/>
              <a:ext cx="131675" cy="138817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A279145-7375-4489-B290-B6FDE774C608}"/>
                </a:ext>
              </a:extLst>
            </p:cNvPr>
            <p:cNvSpPr/>
            <p:nvPr/>
          </p:nvSpPr>
          <p:spPr>
            <a:xfrm>
              <a:off x="4277356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1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CFF6A5E-624F-4051-BF8A-74AB8FDB0F86}"/>
                </a:ext>
              </a:extLst>
            </p:cNvPr>
            <p:cNvSpPr/>
            <p:nvPr/>
          </p:nvSpPr>
          <p:spPr>
            <a:xfrm>
              <a:off x="5433640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2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462394"/>
                  </p:ext>
                </p:extLst>
              </p:nvPr>
            </p:nvGraphicFramePr>
            <p:xfrm>
              <a:off x="1308538" y="3243879"/>
              <a:ext cx="2110496" cy="22610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462394"/>
                  </p:ext>
                </p:extLst>
              </p:nvPr>
            </p:nvGraphicFramePr>
            <p:xfrm>
              <a:off x="1308538" y="3243879"/>
              <a:ext cx="2110496" cy="22610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473" b="-440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90426" b="-336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93548" b="-2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397826" b="-142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id="{6EC2A079-BB2D-4FEE-912F-17817D047FC1}"/>
              </a:ext>
            </a:extLst>
          </p:cNvPr>
          <p:cNvSpPr/>
          <p:nvPr/>
        </p:nvSpPr>
        <p:spPr>
          <a:xfrm>
            <a:off x="354992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09CD308-B65E-4E24-AEB0-7FDDF98DE83F}"/>
              </a:ext>
            </a:extLst>
          </p:cNvPr>
          <p:cNvSpPr/>
          <p:nvPr/>
        </p:nvSpPr>
        <p:spPr>
          <a:xfrm>
            <a:off x="3241959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2</a:t>
            </a:r>
            <a:endParaRPr lang="ko-KR" altLang="en-US" sz="11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5556" r="-123099" b="-37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95556" b="-37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149153" b="-1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312766" b="-137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190040"/>
                  </p:ext>
                </p:extLst>
              </p:nvPr>
            </p:nvGraphicFramePr>
            <p:xfrm>
              <a:off x="3154680" y="5811802"/>
              <a:ext cx="233172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190040"/>
                  </p:ext>
                </p:extLst>
              </p:nvPr>
            </p:nvGraphicFramePr>
            <p:xfrm>
              <a:off x="3154680" y="5811802"/>
              <a:ext cx="233172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A2C525-A7ED-42D5-AA01-258D6FDFF1E9}"/>
              </a:ext>
            </a:extLst>
          </p:cNvPr>
          <p:cNvSpPr/>
          <p:nvPr/>
        </p:nvSpPr>
        <p:spPr>
          <a:xfrm>
            <a:off x="4862514" y="127532"/>
            <a:ext cx="418591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최고차항의 계수가 음수가 됨으로서 최소값 찾는 문제가 최대값 찾는 문제로 바뀌었다 </a:t>
            </a:r>
            <a:r>
              <a:rPr lang="en-US" altLang="ko-KR" sz="1100"/>
              <a:t>=&gt; dual</a:t>
            </a:r>
            <a:r>
              <a:rPr lang="ko-KR" altLang="en-US" sz="1100"/>
              <a:t>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81BE-8C24-4BB9-9439-69B3EAEC2EFD}"/>
              </a:ext>
            </a:extLst>
          </p:cNvPr>
          <p:cNvSpPr txBox="1"/>
          <p:nvPr/>
        </p:nvSpPr>
        <p:spPr>
          <a:xfrm>
            <a:off x="260216" y="2469314"/>
            <a:ext cx="6937538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번식과 </a:t>
            </a:r>
            <a:r>
              <a:rPr lang="en-US" altLang="ko-KR" sz="1100"/>
              <a:t>2</a:t>
            </a:r>
            <a:r>
              <a:rPr lang="ko-KR" altLang="en-US" sz="1100"/>
              <a:t>번식을 정리하면 다음과 같음</a:t>
            </a:r>
            <a:endParaRPr lang="en-US" altLang="ko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F39EB-47D5-445D-ABAA-0DC19A8D88A9}"/>
              </a:ext>
            </a:extLst>
          </p:cNvPr>
          <p:cNvSpPr txBox="1"/>
          <p:nvPr/>
        </p:nvSpPr>
        <p:spPr>
          <a:xfrm>
            <a:off x="260216" y="5554026"/>
            <a:ext cx="8502015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승수법에 </a:t>
            </a:r>
            <a:r>
              <a:rPr lang="en-US" altLang="ko-KR" sz="1100"/>
              <a:t>KKT </a:t>
            </a:r>
            <a:r>
              <a:rPr lang="ko-KR" altLang="en-US" sz="1100"/>
              <a:t>첫번째 조건을 적용한 식은 다음과 같음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3677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b="0" smtClean="0"/>
                                    </m:ctrlPr>
                                  </m:fPr>
                                  <m:num>
                                    <m:r>
                                      <a:rPr lang="en-US" altLang="ko-KR" sz="1100" b="0" smtClean="0"/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smtClean="0"/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/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/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/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40525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1736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2507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algn="ctr"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94505" r="-976" b="-3439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196667" r="-976" b="-24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226271" r="-976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582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Dual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/>
              <p:nvPr/>
            </p:nvSpPr>
            <p:spPr>
              <a:xfrm>
                <a:off x="251460" y="1250807"/>
                <a:ext cx="88925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문제를 풀 수 있는 </a:t>
                </a:r>
                <a:r>
                  <a:rPr lang="en-US" altLang="ko-KR" sz="1100"/>
                  <a:t>Lagrangian Dual</a:t>
                </a:r>
                <a:r>
                  <a:rPr lang="ko-KR" altLang="en-US" sz="1100"/>
                  <a:t>문제로 변경</a:t>
                </a:r>
                <a:endParaRPr lang="en-US" altLang="ko-KR" sz="11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250807"/>
                <a:ext cx="8892540" cy="261610"/>
              </a:xfrm>
              <a:prstGeom prst="rect">
                <a:avLst/>
              </a:prstGeom>
              <a:blipFill>
                <a:blip r:embed="rId3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777547"/>
                  </p:ext>
                </p:extLst>
              </p:nvPr>
            </p:nvGraphicFramePr>
            <p:xfrm>
              <a:off x="3116580" y="1451539"/>
              <a:ext cx="6096000" cy="10963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3611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  <m:brk m:alnAt="23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α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     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altLang="ko-KR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777547"/>
                  </p:ext>
                </p:extLst>
              </p:nvPr>
            </p:nvGraphicFramePr>
            <p:xfrm>
              <a:off x="3116580" y="1451539"/>
              <a:ext cx="6096000" cy="10963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5481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5556" r="-99800" b="-24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5481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95556" r="-99800" b="-14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464073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 b="0" i="1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464073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3407" b="-14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1906053"/>
                  </p:ext>
                </p:extLst>
              </p:nvPr>
            </p:nvGraphicFramePr>
            <p:xfrm>
              <a:off x="3116580" y="3834698"/>
              <a:ext cx="190500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25167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1906053"/>
                  </p:ext>
                </p:extLst>
              </p:nvPr>
            </p:nvGraphicFramePr>
            <p:xfrm>
              <a:off x="3116580" y="3834698"/>
              <a:ext cx="190500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A0569-1DFD-42DF-B519-C810DC5DDF01}"/>
                  </a:ext>
                </a:extLst>
              </p:cNvPr>
              <p:cNvSpPr txBox="1"/>
              <p:nvPr/>
            </p:nvSpPr>
            <p:spPr>
              <a:xfrm>
                <a:off x="251460" y="2547931"/>
                <a:ext cx="8641983" cy="318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목적은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찾는것이며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의 식은 아래와 같다</a:t>
                </a:r>
                <a:endParaRPr lang="en-US" altLang="ko-KR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A0569-1DFD-42DF-B519-C810DC5DD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2547931"/>
                <a:ext cx="8641983" cy="318677"/>
              </a:xfrm>
              <a:prstGeom prst="rect">
                <a:avLst/>
              </a:prstGeom>
              <a:blipFill>
                <a:blip r:embed="rId7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F4357-BDBB-4455-A11F-E8A9E196CF9C}"/>
                  </a:ext>
                </a:extLst>
              </p:cNvPr>
              <p:cNvSpPr txBox="1"/>
              <p:nvPr/>
            </p:nvSpPr>
            <p:spPr>
              <a:xfrm>
                <a:off x="251460" y="3350653"/>
                <a:ext cx="8641982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x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,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y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는 학습데이터임으로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값만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100" b="0">
                    <a:latin typeface="Cambria Math" panose="02040503050406030204" pitchFamily="18" charset="0"/>
                  </a:rPr>
                  <a:t>알면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값을 알 수 있음</a:t>
                </a:r>
                <a:endParaRPr lang="en-US" altLang="ko-KR" sz="1100" b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Dual 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문제를 최적화 하기위해서는 다시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KKT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조건을 확인 한 후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4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가지 조건을 연산하여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Cambria Math" panose="02040503050406030204" pitchFamily="18" charset="0"/>
                  </a:rPr>
                  <a:t>를 구함</a:t>
                </a:r>
                <a:endParaRPr lang="en-US" altLang="ko-KR" sz="1100">
                  <a:latin typeface="Cambria Math" panose="02040503050406030204" pitchFamily="18" charset="0"/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F4357-BDBB-4455-A11F-E8A9E196C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350653"/>
                <a:ext cx="8641982" cy="684803"/>
              </a:xfrm>
              <a:prstGeom prst="rect">
                <a:avLst/>
              </a:prstGeom>
              <a:blipFill>
                <a:blip r:embed="rId8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4A09FF-D182-41F4-BAC2-452E824BA7C5}"/>
                  </a:ext>
                </a:extLst>
              </p:cNvPr>
              <p:cNvSpPr txBox="1"/>
              <p:nvPr/>
            </p:nvSpPr>
            <p:spPr>
              <a:xfrm>
                <a:off x="259040" y="4137195"/>
                <a:ext cx="5760799" cy="2039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식을 두가지 경우로 나눠서 생각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 1.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&gt;0 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100"/>
                  <a:t>임으로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임</a:t>
                </a:r>
                <a:endParaRPr lang="en-US" altLang="ko-KR" sz="110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10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=0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100"/>
                  <a:t>임으로 데이터가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와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평면위에 없음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Decision Boundary</a:t>
                </a:r>
                <a:r>
                  <a:rPr lang="ko-KR" altLang="en-US" sz="1100"/>
                  <a:t>에 영향을 주지 않음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 값은 위에서 구한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식을 활용하여 구함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데이터가 들어오면 위 식에 대입하여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보다 크면 </a:t>
                </a:r>
                <a:r>
                  <a:rPr lang="en-US" altLang="ko-KR" sz="1100"/>
                  <a:t>+, 0</a:t>
                </a:r>
                <a:r>
                  <a:rPr lang="ko-KR" altLang="en-US" sz="1100"/>
                  <a:t>보다 작으면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값으로 분류</a:t>
                </a:r>
                <a:endParaRPr lang="en-US" altLang="ko-KR" sz="1100"/>
              </a:p>
              <a:p>
                <a:pPr lvl="1"/>
                <a:endParaRPr lang="en-US" altLang="ko-KR" sz="11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4A09FF-D182-41F4-BAC2-452E824BA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40" y="4137195"/>
                <a:ext cx="5760799" cy="2039020"/>
              </a:xfrm>
              <a:prstGeom prst="rect">
                <a:avLst/>
              </a:prstGeom>
              <a:blipFill>
                <a:blip r:embed="rId9"/>
                <a:stretch>
                  <a:fillRect t="-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78CCC76F-F7A3-4373-866C-03AFD2A0F77A}"/>
              </a:ext>
            </a:extLst>
          </p:cNvPr>
          <p:cNvGrpSpPr/>
          <p:nvPr/>
        </p:nvGrpSpPr>
        <p:grpSpPr>
          <a:xfrm>
            <a:off x="6076766" y="4305326"/>
            <a:ext cx="2127623" cy="1926202"/>
            <a:chOff x="6076766" y="4305326"/>
            <a:chExt cx="2127623" cy="192620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38C4730-507C-4FCC-8F3D-F232A9960A5B}"/>
                </a:ext>
              </a:extLst>
            </p:cNvPr>
            <p:cNvGrpSpPr/>
            <p:nvPr/>
          </p:nvGrpSpPr>
          <p:grpSpPr>
            <a:xfrm>
              <a:off x="6076766" y="4305326"/>
              <a:ext cx="2127623" cy="1696427"/>
              <a:chOff x="3518675" y="2776495"/>
              <a:chExt cx="2878693" cy="2292172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5CBD0ED4-F698-4290-B19E-3559CE62E393}"/>
                  </a:ext>
                </a:extLst>
              </p:cNvPr>
              <p:cNvGrpSpPr/>
              <p:nvPr/>
            </p:nvGrpSpPr>
            <p:grpSpPr>
              <a:xfrm>
                <a:off x="4870469" y="3201734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ECDA0253-9902-4289-BF8B-E79403EE3A9D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532B4ED2-1EC9-4D6A-8977-79893315FE2B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30D6D877-E425-455B-A51D-6F165EE092DB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8A8705D1-2C00-46FF-A4FE-03106C31798F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이등변 삼각형 60">
                  <a:extLst>
                    <a:ext uri="{FF2B5EF4-FFF2-40B4-BE49-F238E27FC236}">
                      <a16:creationId xmlns:a16="http://schemas.microsoft.com/office/drawing/2014/main" id="{3C285D94-816B-497E-9963-68E45462C8F4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E56C1048-2848-46C6-9C98-E05F279E688A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0E65A28-58EB-47D7-B7A4-E17F25929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6776A11E-6C03-4CD6-87D9-21E83AADD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136855FB-94B1-45FF-84BE-1B07AC7AF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96E7CAB8-3EA3-43B8-BE2D-F860CA4F2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998F3FD-1F64-4C9D-97FE-D5D5CA73E99E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D4E7DA7-F2A6-45FF-A63F-55F33AA3B0C9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DEE9617D-ABC2-41A3-8400-73FD7FFF43CD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CE485C1D-9419-4CB3-A671-0ADD3B36F80F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B84B2880-D6CB-4AE1-83EB-2B21362BFD2F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5575EDA8-BD1D-4D48-9B2F-92C3FF22CD93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6F263DC9-40D0-457E-A47E-132397C40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50976CC9-89DE-44C7-8386-4FB177469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6096F062-9FCF-4811-9915-17C688AEDB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31DB8C0-48C6-4D41-8F28-5DF2F31F4122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9847551-1CFE-468F-B194-6200B46B3301}"/>
                </a:ext>
              </a:extLst>
            </p:cNvPr>
            <p:cNvSpPr txBox="1"/>
            <p:nvPr/>
          </p:nvSpPr>
          <p:spPr>
            <a:xfrm>
              <a:off x="6404404" y="5985307"/>
              <a:ext cx="15661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/>
                <a:t>&lt; Support Vector </a:t>
              </a:r>
              <a:r>
                <a:rPr lang="ko-KR" altLang="en-US" sz="1000"/>
                <a:t>예시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0192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새로운 데이터</a:t>
            </a:r>
            <a:r>
              <a:rPr lang="en-US" altLang="ko-KR"/>
              <a:t> </a:t>
            </a:r>
            <a:r>
              <a:rPr lang="ko-KR" altLang="en-US"/>
              <a:t>분류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/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sz="1100" b="0"/>
                  <a:t>일경우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/>
                  <a:t>의 값 표현한 식은 다음과 같음</a:t>
                </a:r>
                <a:r>
                  <a:rPr lang="en-US" altLang="ko-KR" sz="1100" b="0"/>
                  <a:t> </a:t>
                </a:r>
                <a:endParaRPr lang="ko-KR" altLang="en-US" sz="110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/>
                                  <m:t>𝑤</m:t>
                                </m:r>
                                <m:r>
                                  <a:rPr lang="en-US" altLang="ko-KR" sz="1100" b="0" smtClean="0"/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/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∈</m:t>
                                    </m:r>
                                    <m:r>
                                      <a:rPr lang="en-US" altLang="ko-KR" sz="1100" b="0" smtClean="0"/>
                                      <m:t>𝑠𝑣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5466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/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값을 구할 때 모든 데이터들의 값을 영향받지 않고 </a:t>
                </a:r>
                <a:r>
                  <a:rPr lang="en-US" altLang="ko-KR" sz="1100"/>
                  <a:t>SV(Support Vector)</a:t>
                </a:r>
                <a:r>
                  <a:rPr lang="ko-KR" altLang="en-US" sz="1100"/>
                  <a:t>값들로만 영향을 받음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또한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임의의 </a:t>
                </a:r>
                <a:r>
                  <a:rPr lang="en-US" altLang="ko-KR" sz="1100"/>
                  <a:t>SV</a:t>
                </a:r>
                <a:r>
                  <a:rPr lang="ko-KR" altLang="en-US" sz="1100"/>
                  <a:t>를 이용하여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</a:t>
                </a:r>
                <a:r>
                  <a:rPr lang="ko-KR" altLang="en-US" sz="1100"/>
                  <a:t>에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넣으면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의값</a:t>
                </a:r>
                <a:r>
                  <a:rPr lang="en-US" altLang="ko-KR" sz="1100"/>
                  <a:t>(-1 OR 1)</a:t>
                </a:r>
                <a:r>
                  <a:rPr lang="ko-KR" altLang="en-US" sz="1100"/>
                  <a:t>을 알기때문에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알 수 있음</a:t>
                </a:r>
                <a:endParaRPr lang="en-US" altLang="ko-KR" sz="110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/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/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sv</m:t>
                                    </m:r>
                                  </m:sub>
                                </m:sSub>
                                <m:r>
                                  <a:rPr lang="en-US" altLang="ko-KR" sz="1100" b="0" smtClean="0"/>
                                  <m:t>+</m:t>
                                </m:r>
                                <m:r>
                                  <a:rPr lang="en-US" altLang="ko-KR" sz="1100" b="0" smtClean="0"/>
                                  <m:t>𝑏</m:t>
                                </m:r>
                                <m:r>
                                  <a:rPr lang="en-US" altLang="ko-KR" sz="1100" b="0" smtClean="0"/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smtClean="0"/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/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/>
                                      <m:t>+</m:t>
                                    </m:r>
                                    <m:r>
                                      <a:rPr lang="en-US" altLang="ko-KR" sz="1100" b="0" smtClean="0"/>
                                      <m:t>𝑏</m:t>
                                    </m:r>
                                    <m:r>
                                      <a:rPr lang="en-US" altLang="ko-KR" sz="1100" b="0" smtClean="0"/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/>
                                  <m:t>𝑏</m:t>
                                </m:r>
                                <m:r>
                                  <a:rPr lang="en-US" altLang="ko-KR" sz="1100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/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 b="0" smtClean="0"/>
                                      <m:t>𝑠𝑣</m:t>
                                    </m:r>
                                  </m:sub>
                                </m:sSub>
                                <m:r>
                                  <a:rPr lang="en-US" altLang="ko-KR" sz="1100" b="0" smtClean="0"/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smtClean="0"/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/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5556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95556" b="-1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/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데이터로 부터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계산 했다면 새로운 데이터에 대한 분류를 시행 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오른쪽 그림과 같이 </a:t>
                </a:r>
                <a:r>
                  <a:rPr lang="en-US" altLang="ko-KR" sz="1100"/>
                  <a:t>hyper plane</a:t>
                </a:r>
                <a:r>
                  <a:rPr lang="ko-KR" altLang="en-US" sz="1100"/>
                  <a:t>보다 아래있는 경우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영역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위에 있는경우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영역인걸 알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blipFill>
                <a:blip r:embed="rId7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0561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056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r="-181132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00000" r="-181132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6916F488-01FF-47A3-85DB-3E762ECA0872}"/>
              </a:ext>
            </a:extLst>
          </p:cNvPr>
          <p:cNvSpPr txBox="1"/>
          <p:nvPr/>
        </p:nvSpPr>
        <p:spPr>
          <a:xfrm>
            <a:off x="255521" y="5229651"/>
            <a:ext cx="5935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오른쪽 그림처럼 </a:t>
            </a:r>
            <a:r>
              <a:rPr lang="en-US" altLang="ko-KR" sz="1100"/>
              <a:t>Hard Margin</a:t>
            </a:r>
            <a:r>
              <a:rPr lang="ko-KR" altLang="en-US" sz="1100"/>
              <a:t>이기 때문에 </a:t>
            </a:r>
            <a:r>
              <a:rPr lang="en-US" altLang="ko-KR" sz="1100"/>
              <a:t>hyperplane</a:t>
            </a:r>
            <a:r>
              <a:rPr lang="ko-KR" altLang="en-US" sz="1100"/>
              <a:t>안에 있는 점들은 분류할 수 없게 됨 </a:t>
            </a:r>
            <a:r>
              <a:rPr lang="en-US" altLang="ko-KR" sz="1100"/>
              <a:t>-&gt; soft margin </a:t>
            </a:r>
            <a:r>
              <a:rPr lang="ko-KR" altLang="en-US" sz="1100"/>
              <a:t>사용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35EA978-DCCD-42B9-9AFA-F3AC508984F9}"/>
              </a:ext>
            </a:extLst>
          </p:cNvPr>
          <p:cNvGrpSpPr/>
          <p:nvPr/>
        </p:nvGrpSpPr>
        <p:grpSpPr>
          <a:xfrm>
            <a:off x="6547727" y="2621142"/>
            <a:ext cx="2537965" cy="1763574"/>
            <a:chOff x="6332985" y="2631849"/>
            <a:chExt cx="2537965" cy="1763574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C4E5833-FA5F-4022-9894-B3C7021E851D}"/>
                </a:ext>
              </a:extLst>
            </p:cNvPr>
            <p:cNvGrpSpPr/>
            <p:nvPr/>
          </p:nvGrpSpPr>
          <p:grpSpPr>
            <a:xfrm>
              <a:off x="6332985" y="2698996"/>
              <a:ext cx="2127623" cy="1696427"/>
              <a:chOff x="3518675" y="2776495"/>
              <a:chExt cx="2878693" cy="2292172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618B61D8-D03D-442E-8826-6F1BF404BA4D}"/>
                  </a:ext>
                </a:extLst>
              </p:cNvPr>
              <p:cNvGrpSpPr/>
              <p:nvPr/>
            </p:nvGrpSpPr>
            <p:grpSpPr>
              <a:xfrm>
                <a:off x="4870469" y="3201734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EE9071D0-2682-4B5A-B61F-96BD3E7EBBC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2F580893-97AF-4942-A9B4-18426B76AD1F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1B8AD66B-39D5-4199-ADFC-BD6F1C3AD3EF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B5BBA928-0D93-4BDB-A311-1CEA490373D9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211B9CE2-A660-4556-8B30-C5D33496027C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039D0E6-D2B4-4E1B-8986-FF148F8291B4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E5F0D79E-D4F3-4816-85D5-89682D47A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7E91C96-AE0B-4362-9ECA-7C1889722F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511428B-2303-4F05-8E28-65BDB8FE2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76B24611-D7E4-47CA-85A5-C2B996DD2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4AB96D8A-0E23-4ABB-82A5-D734A79D3D7B}"/>
                  </a:ext>
                </a:extLst>
              </p:cNvPr>
              <p:cNvGrpSpPr/>
              <p:nvPr/>
            </p:nvGrpSpPr>
            <p:grpSpPr>
              <a:xfrm>
                <a:off x="3686528" y="4050287"/>
                <a:ext cx="1162476" cy="881414"/>
                <a:chOff x="3665996" y="2686332"/>
                <a:chExt cx="1521594" cy="1069614"/>
              </a:xfrm>
              <a:solidFill>
                <a:srgbClr val="2C6FAD"/>
              </a:solidFill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A9DF78E2-3CC4-4501-A92A-4A86B0F4A285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C92F556-72B9-4DCB-AA68-60D250EA7A62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19A0B821-42AE-430B-BA4F-0331F3C0532A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2DFB0050-D84A-4EAA-A1B8-3E4E41100B0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1BF62920-C09D-4DCC-973A-605D82524DF8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DDD2EA72-2974-4C7F-8B5D-6EA57142ECE0}"/>
                    </a:ext>
                  </a:extLst>
                </p:cNvPr>
                <p:cNvSpPr/>
                <p:nvPr/>
              </p:nvSpPr>
              <p:spPr>
                <a:xfrm>
                  <a:off x="5061760" y="3112808"/>
                  <a:ext cx="125830" cy="12792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9F4E664-CF00-4438-816F-5E8B6B4FA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FC060D83-0A00-4573-9B1F-1C27A8BA1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2606E741-E7A7-4AAA-B839-346848FAF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B53528-7D8D-461E-9E3C-6E6BCEA2F9B9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05FDB980-E97F-4608-8494-8C62AAFA421D}"/>
                </a:ext>
              </a:extLst>
            </p:cNvPr>
            <p:cNvSpPr/>
            <p:nvPr/>
          </p:nvSpPr>
          <p:spPr>
            <a:xfrm>
              <a:off x="7004360" y="3222222"/>
              <a:ext cx="83367" cy="86969"/>
            </a:xfrm>
            <a:prstGeom prst="triangl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C520A8-BD17-45D1-99F8-7125663B717E}"/>
                </a:ext>
              </a:extLst>
            </p:cNvPr>
            <p:cNvSpPr txBox="1"/>
            <p:nvPr/>
          </p:nvSpPr>
          <p:spPr>
            <a:xfrm>
              <a:off x="7324467" y="2631849"/>
              <a:ext cx="562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Class 2</a:t>
              </a:r>
              <a:endParaRPr lang="ko-KR" altLang="en-US" sz="8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55E9559-93C3-43D5-A4AB-0647A2A40182}"/>
                </a:ext>
              </a:extLst>
            </p:cNvPr>
            <p:cNvSpPr txBox="1"/>
            <p:nvPr/>
          </p:nvSpPr>
          <p:spPr>
            <a:xfrm>
              <a:off x="6787902" y="4177444"/>
              <a:ext cx="562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Class 1</a:t>
              </a:r>
              <a:endParaRPr lang="ko-KR" altLang="en-US" sz="8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55C05DC-0047-4BC6-A1C0-963E79BA38FF}"/>
                    </a:ext>
                  </a:extLst>
                </p:cNvPr>
                <p:cNvSpPr txBox="1"/>
                <p:nvPr/>
              </p:nvSpPr>
              <p:spPr>
                <a:xfrm>
                  <a:off x="8026218" y="4168828"/>
                  <a:ext cx="84473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55C05DC-0047-4BC6-A1C0-963E79BA3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218" y="4168828"/>
                  <a:ext cx="844732" cy="123111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256CA0A-5CEC-4856-B51B-5DB0C27F1966}"/>
                    </a:ext>
                  </a:extLst>
                </p:cNvPr>
                <p:cNvSpPr txBox="1"/>
                <p:nvPr/>
              </p:nvSpPr>
              <p:spPr>
                <a:xfrm>
                  <a:off x="8026218" y="3871003"/>
                  <a:ext cx="84473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256CA0A-5CEC-4856-B51B-5DB0C27F1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218" y="3871003"/>
                  <a:ext cx="844732" cy="123111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28B3AD32-EFB7-455E-BC37-C6693DB2FD8C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flipV="1">
              <a:off x="7407834" y="4230384"/>
              <a:ext cx="618384" cy="76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AA72EE78-56F3-4556-979B-233AFA381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9055" y="3943372"/>
              <a:ext cx="231874" cy="6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BAF915AD-B1C6-4FFA-BB6D-8C9C7BD88B48}"/>
                </a:ext>
              </a:extLst>
            </p:cNvPr>
            <p:cNvGrpSpPr/>
            <p:nvPr/>
          </p:nvGrpSpPr>
          <p:grpSpPr>
            <a:xfrm>
              <a:off x="7187506" y="3867855"/>
              <a:ext cx="171140" cy="157385"/>
              <a:chOff x="7081630" y="2105959"/>
              <a:chExt cx="171140" cy="157385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46EB32B4-0256-4AFA-8662-EB04EF710DE9}"/>
                  </a:ext>
                </a:extLst>
              </p:cNvPr>
              <p:cNvSpPr/>
              <p:nvPr/>
            </p:nvSpPr>
            <p:spPr>
              <a:xfrm>
                <a:off x="7081630" y="2105959"/>
                <a:ext cx="171140" cy="1573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noFill/>
                </a:endParaRPr>
              </a:p>
            </p:txBody>
          </p: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E17F20D0-F47B-417E-9D4F-D9E8F4FC13B7}"/>
                  </a:ext>
                </a:extLst>
              </p:cNvPr>
              <p:cNvGrpSpPr/>
              <p:nvPr/>
            </p:nvGrpSpPr>
            <p:grpSpPr>
              <a:xfrm>
                <a:off x="7125240" y="2141159"/>
                <a:ext cx="83919" cy="80384"/>
                <a:chOff x="6809425" y="1604664"/>
                <a:chExt cx="118425" cy="123585"/>
              </a:xfrm>
            </p:grpSpPr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94CA2873-939C-4C8A-AAB5-9C69BF205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9426" y="1604664"/>
                  <a:ext cx="118424" cy="12358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5F163A1E-CA62-487C-BF14-BACB2FC1C6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9425" y="1614238"/>
                  <a:ext cx="118424" cy="1090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A8339193-CBBF-44FC-9A89-1504D71C6FDC}"/>
                </a:ext>
              </a:extLst>
            </p:cNvPr>
            <p:cNvGrpSpPr/>
            <p:nvPr/>
          </p:nvGrpSpPr>
          <p:grpSpPr>
            <a:xfrm>
              <a:off x="6960473" y="3194446"/>
              <a:ext cx="171140" cy="157385"/>
              <a:chOff x="7081630" y="2105959"/>
              <a:chExt cx="171140" cy="157385"/>
            </a:xfrm>
          </p:grpSpPr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D8A3F407-47C5-44D4-BA7A-88A3AC01205D}"/>
                  </a:ext>
                </a:extLst>
              </p:cNvPr>
              <p:cNvSpPr/>
              <p:nvPr/>
            </p:nvSpPr>
            <p:spPr>
              <a:xfrm>
                <a:off x="7081630" y="2105959"/>
                <a:ext cx="171140" cy="1573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noFill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5BBB0868-D2C8-40AF-92EC-973EE24D5C6E}"/>
                  </a:ext>
                </a:extLst>
              </p:cNvPr>
              <p:cNvGrpSpPr/>
              <p:nvPr/>
            </p:nvGrpSpPr>
            <p:grpSpPr>
              <a:xfrm>
                <a:off x="7125240" y="2141159"/>
                <a:ext cx="83919" cy="80384"/>
                <a:chOff x="6809425" y="1604664"/>
                <a:chExt cx="118425" cy="123585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1C6AE002-49E2-4C22-B8C7-3985AC7E9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9426" y="1604664"/>
                  <a:ext cx="118424" cy="12358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8C0908D7-6ADC-4DA2-BA25-5189A0CA93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9425" y="1614238"/>
                  <a:ext cx="118424" cy="1090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5E373521-0891-43E5-88E7-0959E002E4A4}"/>
              </a:ext>
            </a:extLst>
          </p:cNvPr>
          <p:cNvSpPr txBox="1"/>
          <p:nvPr/>
        </p:nvSpPr>
        <p:spPr>
          <a:xfrm>
            <a:off x="6671786" y="4361919"/>
            <a:ext cx="20779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새로운 데이터 오분류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570134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텍스트 개체 틀 66">
            <a:extLst>
              <a:ext uri="{FF2B5EF4-FFF2-40B4-BE49-F238E27FC236}">
                <a16:creationId xmlns:a16="http://schemas.microsoft.com/office/drawing/2014/main" id="{175B5880-CE09-4886-A8AF-60476EF867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Soft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/>
              <p:nvPr/>
            </p:nvSpPr>
            <p:spPr>
              <a:xfrm>
                <a:off x="240131" y="3436553"/>
                <a:ext cx="6618906" cy="102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Soft 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Hard Margin</a:t>
                </a:r>
                <a:r>
                  <a:rPr lang="ko-KR" altLang="en-US" sz="1100"/>
                  <a:t>의 차이점은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를 어느정도 허용하는 것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error</a:t>
                </a:r>
                <a:r>
                  <a:rPr lang="ko-KR" altLang="en-US" sz="1100"/>
                  <a:t>는</a:t>
                </a:r>
                <a:r>
                  <a:rPr lang="en-US" altLang="ko-KR" sz="1100"/>
                  <a:t>slack variable</a:t>
                </a:r>
                <a:r>
                  <a:rPr lang="ko-KR" altLang="en-US" sz="11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sz="1100"/>
                  <a:t>로 나타냄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 variable</a:t>
                </a:r>
                <a:r>
                  <a:rPr lang="ko-KR" altLang="en-US" sz="1100"/>
                  <a:t>은 선형적으로 분류할 수 없는 경우 어느정도 오차를 허용하여 분류하며 반대방향에 잘못 존재하는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를 다루기 위해 존재함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</a:t>
                </a:r>
                <a:r>
                  <a:rPr lang="ko-KR" altLang="en-US" sz="1100"/>
                  <a:t>변수를 추가하게 되면 목적함수의 식은 다음과 같음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31" y="3436553"/>
                <a:ext cx="6618906" cy="1023357"/>
              </a:xfrm>
              <a:prstGeom prst="rect">
                <a:avLst/>
              </a:prstGeom>
              <a:blipFill>
                <a:blip r:embed="rId3"/>
                <a:stretch>
                  <a:fillRect t="-595" b="-2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678083"/>
                  </p:ext>
                </p:extLst>
              </p:nvPr>
            </p:nvGraphicFramePr>
            <p:xfrm>
              <a:off x="3132867" y="4362898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678083"/>
                  </p:ext>
                </p:extLst>
              </p:nvPr>
            </p:nvGraphicFramePr>
            <p:xfrm>
              <a:off x="3132867" y="4362898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973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3253" r="-159336" b="-1590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E7A1334-F26C-4CD0-B2A2-01AA6BC33DE5}"/>
              </a:ext>
            </a:extLst>
          </p:cNvPr>
          <p:cNvSpPr txBox="1"/>
          <p:nvPr/>
        </p:nvSpPr>
        <p:spPr>
          <a:xfrm>
            <a:off x="260793" y="4697225"/>
            <a:ext cx="6828631" cy="1842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/>
              <a:t>대부분의 </a:t>
            </a:r>
            <a:r>
              <a:rPr lang="en-US" altLang="ko-KR" sz="1100"/>
              <a:t>SVM</a:t>
            </a:r>
            <a:r>
              <a:rPr lang="ko-KR" altLang="en-US" sz="1100"/>
              <a:t>은 분류할때 일반적으로 </a:t>
            </a:r>
            <a:r>
              <a:rPr lang="en-US" altLang="ko-KR" sz="1100"/>
              <a:t>Margin</a:t>
            </a:r>
            <a:r>
              <a:rPr lang="ko-KR" altLang="en-US" sz="1100"/>
              <a:t>을 크게 가져가는 방향을 선호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이 작은 분류기보다 </a:t>
            </a:r>
            <a:r>
              <a:rPr lang="en-US" altLang="ko-KR" sz="1100"/>
              <a:t>error</a:t>
            </a:r>
            <a:r>
              <a:rPr lang="ko-KR" altLang="en-US" sz="1100"/>
              <a:t>가 있어도 </a:t>
            </a:r>
            <a:r>
              <a:rPr lang="en-US" altLang="ko-KR" sz="1100"/>
              <a:t>Margin</a:t>
            </a:r>
            <a:r>
              <a:rPr lang="ko-KR" altLang="en-US" sz="1100"/>
              <a:t>이 큰 분류기를 선호함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=&gt;</a:t>
            </a:r>
            <a:r>
              <a:rPr lang="ko-KR" altLang="en-US" sz="1100"/>
              <a:t> </a:t>
            </a:r>
            <a:r>
              <a:rPr lang="en-US" altLang="ko-KR" sz="1100"/>
              <a:t>Margin</a:t>
            </a:r>
            <a:r>
              <a:rPr lang="ko-KR" altLang="en-US" sz="1100"/>
              <a:t>이 큰 분류기가 새로운 </a:t>
            </a:r>
            <a:r>
              <a:rPr lang="en-US" altLang="ko-KR" sz="1100"/>
              <a:t>data</a:t>
            </a:r>
            <a:r>
              <a:rPr lang="ko-KR" altLang="en-US" sz="1100"/>
              <a:t>에 대한 예측의 정확도가 높기 때문이다</a:t>
            </a:r>
            <a:r>
              <a:rPr lang="en-US" altLang="ko-KR" sz="1100"/>
              <a:t>.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error</a:t>
            </a:r>
            <a:r>
              <a:rPr lang="ko-KR" altLang="en-US" sz="1100"/>
              <a:t>에 대한 판단은 위의 식에 </a:t>
            </a:r>
            <a:r>
              <a:rPr lang="en-US" altLang="ko-KR" sz="1100"/>
              <a:t>parameter c</a:t>
            </a:r>
            <a:r>
              <a:rPr lang="ko-KR" altLang="en-US" sz="1100"/>
              <a:t> 조절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는 </a:t>
            </a: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slackness </a:t>
            </a:r>
            <a:r>
              <a:rPr lang="ko-KR" altLang="en-US" sz="1100"/>
              <a:t>사이의 반비례</a:t>
            </a:r>
            <a:r>
              <a:rPr lang="en-US" altLang="ko-KR" sz="1100"/>
              <a:t>(trade-off)</a:t>
            </a:r>
            <a:r>
              <a:rPr lang="ko-KR" altLang="en-US" sz="1100"/>
              <a:t>를 나타내는 </a:t>
            </a:r>
            <a:r>
              <a:rPr lang="en-US" altLang="ko-KR" sz="1100"/>
              <a:t>parameter</a:t>
            </a:r>
            <a:r>
              <a:rPr lang="ko-KR" altLang="en-US" sz="1100"/>
              <a:t>이다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크다는 것은 잘못된 </a:t>
            </a:r>
            <a:r>
              <a:rPr lang="en-US" altLang="ko-KR" sz="1100"/>
              <a:t>data</a:t>
            </a:r>
            <a:r>
              <a:rPr lang="ko-KR" altLang="en-US" sz="1100"/>
              <a:t>에 대해 민감하다는 이야기로</a:t>
            </a:r>
            <a:r>
              <a:rPr lang="en-US" altLang="ko-KR" sz="1100"/>
              <a:t> margin&lt;slackness </a:t>
            </a:r>
            <a:r>
              <a:rPr lang="ko-KR" altLang="en-US" sz="1100"/>
              <a:t> </a:t>
            </a:r>
            <a:r>
              <a:rPr lang="en-US" altLang="ko-KR" sz="1100"/>
              <a:t>=&gt; margin</a:t>
            </a:r>
            <a:r>
              <a:rPr lang="ko-KR" altLang="en-US" sz="1100"/>
              <a:t>좁아짐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작다는 것은  </a:t>
            </a:r>
            <a:r>
              <a:rPr lang="en-US" altLang="ko-KR" sz="1100"/>
              <a:t>margin</a:t>
            </a:r>
            <a:r>
              <a:rPr lang="ko-KR" altLang="en-US" sz="1100"/>
              <a:t>을 최대로 하여 </a:t>
            </a:r>
            <a:r>
              <a:rPr lang="en-US" altLang="ko-KR" sz="1100"/>
              <a:t>error</a:t>
            </a:r>
            <a:r>
              <a:rPr lang="ko-KR" altLang="en-US" sz="1100"/>
              <a:t>의 허용이 많아짐 </a:t>
            </a:r>
            <a:r>
              <a:rPr lang="en-US" altLang="ko-KR" sz="1100"/>
              <a:t>margin&gt;slackness  =&gt; margin</a:t>
            </a:r>
            <a:r>
              <a:rPr lang="ko-KR" altLang="en-US" sz="1100"/>
              <a:t> 넓어짐</a:t>
            </a:r>
            <a:endParaRPr lang="en-US" altLang="ko-KR" sz="11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24AD0BE-5D58-4A02-94A3-CCB6CE8D9588}"/>
              </a:ext>
            </a:extLst>
          </p:cNvPr>
          <p:cNvGrpSpPr/>
          <p:nvPr/>
        </p:nvGrpSpPr>
        <p:grpSpPr>
          <a:xfrm>
            <a:off x="6177902" y="1355918"/>
            <a:ext cx="2226382" cy="1696427"/>
            <a:chOff x="5471410" y="2962838"/>
            <a:chExt cx="2226382" cy="169642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DB186F4-A281-47D6-8471-92905D5F17E3}"/>
                </a:ext>
              </a:extLst>
            </p:cNvPr>
            <p:cNvGrpSpPr/>
            <p:nvPr/>
          </p:nvGrpSpPr>
          <p:grpSpPr>
            <a:xfrm>
              <a:off x="5570169" y="2962838"/>
              <a:ext cx="2127623" cy="1696427"/>
              <a:chOff x="3518675" y="2776495"/>
              <a:chExt cx="2878693" cy="2292172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83E843FC-94CB-4E35-AD96-88D2F6561CF8}"/>
                  </a:ext>
                </a:extLst>
              </p:cNvPr>
              <p:cNvGrpSpPr/>
              <p:nvPr/>
            </p:nvGrpSpPr>
            <p:grpSpPr>
              <a:xfrm>
                <a:off x="3646435" y="3201737"/>
                <a:ext cx="2097588" cy="1451343"/>
                <a:chOff x="3235480" y="3782504"/>
                <a:chExt cx="2745586" cy="1761233"/>
              </a:xfrm>
              <a:solidFill>
                <a:srgbClr val="FF0000"/>
              </a:solidFill>
            </p:grpSpPr>
            <p:sp>
              <p:nvSpPr>
                <p:cNvPr id="51" name="이등변 삼각형 50">
                  <a:extLst>
                    <a:ext uri="{FF2B5EF4-FFF2-40B4-BE49-F238E27FC236}">
                      <a16:creationId xmlns:a16="http://schemas.microsoft.com/office/drawing/2014/main" id="{9599034E-86FC-438F-8BC7-71F442A3E8F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이등변 삼각형 51">
                  <a:extLst>
                    <a:ext uri="{FF2B5EF4-FFF2-40B4-BE49-F238E27FC236}">
                      <a16:creationId xmlns:a16="http://schemas.microsoft.com/office/drawing/2014/main" id="{647B5C1A-A342-4E35-A621-6243EF35CA01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이등변 삼각형 52">
                  <a:extLst>
                    <a:ext uri="{FF2B5EF4-FFF2-40B4-BE49-F238E27FC236}">
                      <a16:creationId xmlns:a16="http://schemas.microsoft.com/office/drawing/2014/main" id="{9E7BE831-51CC-44A4-B0EC-93091030CE3C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이등변 삼각형 53">
                  <a:extLst>
                    <a:ext uri="{FF2B5EF4-FFF2-40B4-BE49-F238E27FC236}">
                      <a16:creationId xmlns:a16="http://schemas.microsoft.com/office/drawing/2014/main" id="{CDA5CC46-ADEC-4675-A476-D9C54972D7D2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" name="이등변 삼각형 54">
                  <a:extLst>
                    <a:ext uri="{FF2B5EF4-FFF2-40B4-BE49-F238E27FC236}">
                      <a16:creationId xmlns:a16="http://schemas.microsoft.com/office/drawing/2014/main" id="{F3346C35-AD7F-482A-87A7-731FD36E8760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425B087F-D90A-4E3F-858C-0601149DC6FB}"/>
                    </a:ext>
                  </a:extLst>
                </p:cNvPr>
                <p:cNvSpPr/>
                <p:nvPr/>
              </p:nvSpPr>
              <p:spPr>
                <a:xfrm>
                  <a:off x="5367087" y="540113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F3CD821D-EA91-4658-930B-82795A805E20}"/>
                    </a:ext>
                  </a:extLst>
                </p:cNvPr>
                <p:cNvSpPr/>
                <p:nvPr/>
              </p:nvSpPr>
              <p:spPr>
                <a:xfrm>
                  <a:off x="3235480" y="453020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DA0B47-BBF1-4B5A-91B5-F47EAF617E2F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A31125AE-287D-4700-B50C-E2C930930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12884BA7-3110-4356-956A-8165B5E1B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7F4B110B-D018-4DC6-BFB4-1BF095D15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A110CC92-D1DA-4ABF-AA14-4C75ADD93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E5724E1-B61F-4905-B239-C3013AC99479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3D38AA23-E3BE-4268-919E-D04705AA5CC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7205A64-3C16-41C6-8096-78C9455EDA74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3BF4BDAA-AB67-420F-9223-14AEF277C3F0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2C1541C4-00D1-43FE-AC15-0CB384B1353D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042AE58A-5782-4701-8A08-858900BE0CA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2B8380D1-B7D4-41ED-8934-F86D8E2EE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accent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E36A208E-3668-4FF2-8079-7ECE5B200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D4D3D1CE-773F-4519-8850-B19C69AB1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9BB2564-32F6-4EB4-9195-9228A327B84F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A00AF66-24CF-40B0-972F-833B6CC98D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9347" y="3403746"/>
              <a:ext cx="505114" cy="351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94E47A55-AE33-488E-B1B7-9F33DB8CF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936" y="4230310"/>
              <a:ext cx="91076" cy="67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/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/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/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6D648A6E-29FE-4629-9B2E-FD2D16F348A8}"/>
              </a:ext>
            </a:extLst>
          </p:cNvPr>
          <p:cNvGrpSpPr/>
          <p:nvPr/>
        </p:nvGrpSpPr>
        <p:grpSpPr>
          <a:xfrm>
            <a:off x="323004" y="1335710"/>
            <a:ext cx="2307122" cy="1687126"/>
            <a:chOff x="420838" y="1320434"/>
            <a:chExt cx="2307122" cy="1687126"/>
          </a:xfrm>
        </p:grpSpPr>
        <p:sp>
          <p:nvSpPr>
            <p:cNvPr id="91" name="이등변 삼각형 90">
              <a:extLst>
                <a:ext uri="{FF2B5EF4-FFF2-40B4-BE49-F238E27FC236}">
                  <a16:creationId xmlns:a16="http://schemas.microsoft.com/office/drawing/2014/main" id="{183D18EE-F0FD-45E7-B987-6F31F6340594}"/>
                </a:ext>
              </a:extLst>
            </p:cNvPr>
            <p:cNvSpPr/>
            <p:nvPr/>
          </p:nvSpPr>
          <p:spPr>
            <a:xfrm>
              <a:off x="1910823" y="20104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이등변 삼각형 91">
              <a:extLst>
                <a:ext uri="{FF2B5EF4-FFF2-40B4-BE49-F238E27FC236}">
                  <a16:creationId xmlns:a16="http://schemas.microsoft.com/office/drawing/2014/main" id="{AB125AE9-FF0C-4BD5-8E8E-13A3886556A1}"/>
                </a:ext>
              </a:extLst>
            </p:cNvPr>
            <p:cNvSpPr/>
            <p:nvPr/>
          </p:nvSpPr>
          <p:spPr>
            <a:xfrm>
              <a:off x="1807864" y="236236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이등변 삼각형 92">
              <a:extLst>
                <a:ext uri="{FF2B5EF4-FFF2-40B4-BE49-F238E27FC236}">
                  <a16:creationId xmlns:a16="http://schemas.microsoft.com/office/drawing/2014/main" id="{24201EC4-451E-4A15-845F-08A230EFE4A2}"/>
                </a:ext>
              </a:extLst>
            </p:cNvPr>
            <p:cNvSpPr/>
            <p:nvPr/>
          </p:nvSpPr>
          <p:spPr>
            <a:xfrm>
              <a:off x="2124606" y="216470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EB463CE7-2201-42AC-B7B5-1FDACE4C38C2}"/>
                </a:ext>
              </a:extLst>
            </p:cNvPr>
            <p:cNvSpPr/>
            <p:nvPr/>
          </p:nvSpPr>
          <p:spPr>
            <a:xfrm>
              <a:off x="2334677" y="24045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이등변 삼각형 94">
              <a:extLst>
                <a:ext uri="{FF2B5EF4-FFF2-40B4-BE49-F238E27FC236}">
                  <a16:creationId xmlns:a16="http://schemas.microsoft.com/office/drawing/2014/main" id="{BF64B684-504D-4F6C-82EE-A738A6C09879}"/>
                </a:ext>
              </a:extLst>
            </p:cNvPr>
            <p:cNvSpPr/>
            <p:nvPr/>
          </p:nvSpPr>
          <p:spPr>
            <a:xfrm>
              <a:off x="2334677" y="20627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:a16="http://schemas.microsoft.com/office/drawing/2014/main" id="{8BC97142-8B22-4EB2-A7A8-2C8A4B14614F}"/>
                </a:ext>
              </a:extLst>
            </p:cNvPr>
            <p:cNvSpPr/>
            <p:nvPr/>
          </p:nvSpPr>
          <p:spPr>
            <a:xfrm>
              <a:off x="2063578" y="257781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B43BC68D-A5FC-441A-960D-C28A12D12742}"/>
                </a:ext>
              </a:extLst>
            </p:cNvPr>
            <p:cNvSpPr/>
            <p:nvPr/>
          </p:nvSpPr>
          <p:spPr>
            <a:xfrm>
              <a:off x="1773929" y="20798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AB64F5AA-8736-48D2-9559-D4ADFF8E56BB}"/>
                </a:ext>
              </a:extLst>
            </p:cNvPr>
            <p:cNvCxnSpPr>
              <a:cxnSpLocks/>
            </p:cNvCxnSpPr>
            <p:nvPr/>
          </p:nvCxnSpPr>
          <p:spPr>
            <a:xfrm>
              <a:off x="420838" y="2994064"/>
              <a:ext cx="2307122" cy="13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30BC4D5C-E276-42BB-8522-0DA31988A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96" y="1320434"/>
              <a:ext cx="0" cy="16736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E02F5A1-926B-4590-821E-3548FDA083A0}"/>
                </a:ext>
              </a:extLst>
            </p:cNvPr>
            <p:cNvCxnSpPr>
              <a:cxnSpLocks/>
            </p:cNvCxnSpPr>
            <p:nvPr/>
          </p:nvCxnSpPr>
          <p:spPr>
            <a:xfrm>
              <a:off x="654451" y="1567657"/>
              <a:ext cx="1650155" cy="13724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2E77355-0A73-4528-BEDE-4DCF7D4FCD65}"/>
                </a:ext>
              </a:extLst>
            </p:cNvPr>
            <p:cNvSpPr/>
            <p:nvPr/>
          </p:nvSpPr>
          <p:spPr>
            <a:xfrm>
              <a:off x="558291" y="21857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CB95C81-6CDF-4CC3-B783-D44AEA4F9E62}"/>
                </a:ext>
              </a:extLst>
            </p:cNvPr>
            <p:cNvSpPr/>
            <p:nvPr/>
          </p:nvSpPr>
          <p:spPr>
            <a:xfrm>
              <a:off x="506187" y="2541158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367140B-011A-4000-A1E8-2EEB92097143}"/>
                </a:ext>
              </a:extLst>
            </p:cNvPr>
            <p:cNvSpPr/>
            <p:nvPr/>
          </p:nvSpPr>
          <p:spPr>
            <a:xfrm>
              <a:off x="795137" y="24524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D1C58F5-7DA5-4D4D-86A3-8AE39DD6060B}"/>
                </a:ext>
              </a:extLst>
            </p:cNvPr>
            <p:cNvSpPr/>
            <p:nvPr/>
          </p:nvSpPr>
          <p:spPr>
            <a:xfrm>
              <a:off x="814084" y="22310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DFD9CB9-162F-4200-9906-D24C51B134C9}"/>
                </a:ext>
              </a:extLst>
            </p:cNvPr>
            <p:cNvSpPr/>
            <p:nvPr/>
          </p:nvSpPr>
          <p:spPr>
            <a:xfrm>
              <a:off x="866189" y="19668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E37C835C-C6C8-4B0B-9638-7677DC418B97}"/>
                </a:ext>
              </a:extLst>
            </p:cNvPr>
            <p:cNvSpPr/>
            <p:nvPr/>
          </p:nvSpPr>
          <p:spPr>
            <a:xfrm>
              <a:off x="2063223" y="21628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2AF21AF3-4DB2-4A8F-95AB-65B8C814D215}"/>
                </a:ext>
              </a:extLst>
            </p:cNvPr>
            <p:cNvSpPr/>
            <p:nvPr/>
          </p:nvSpPr>
          <p:spPr>
            <a:xfrm>
              <a:off x="2030167" y="2406237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이등변 삼각형 99">
              <a:extLst>
                <a:ext uri="{FF2B5EF4-FFF2-40B4-BE49-F238E27FC236}">
                  <a16:creationId xmlns:a16="http://schemas.microsoft.com/office/drawing/2014/main" id="{75A394FE-9941-4BAE-ADF4-D820010EC9DB}"/>
                </a:ext>
              </a:extLst>
            </p:cNvPr>
            <p:cNvSpPr/>
            <p:nvPr/>
          </p:nvSpPr>
          <p:spPr>
            <a:xfrm>
              <a:off x="2241548" y="24085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C60937A2-E4F8-4AC5-B1AA-4663BDA197A2}"/>
                </a:ext>
              </a:extLst>
            </p:cNvPr>
            <p:cNvSpPr/>
            <p:nvPr/>
          </p:nvSpPr>
          <p:spPr>
            <a:xfrm>
              <a:off x="2487077" y="25569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이등변 삼각형 101">
              <a:extLst>
                <a:ext uri="{FF2B5EF4-FFF2-40B4-BE49-F238E27FC236}">
                  <a16:creationId xmlns:a16="http://schemas.microsoft.com/office/drawing/2014/main" id="{BDE3923F-005B-4B23-9D2C-64A35693D227}"/>
                </a:ext>
              </a:extLst>
            </p:cNvPr>
            <p:cNvSpPr/>
            <p:nvPr/>
          </p:nvSpPr>
          <p:spPr>
            <a:xfrm>
              <a:off x="2487077" y="22151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이등변 삼각형 102">
              <a:extLst>
                <a:ext uri="{FF2B5EF4-FFF2-40B4-BE49-F238E27FC236}">
                  <a16:creationId xmlns:a16="http://schemas.microsoft.com/office/drawing/2014/main" id="{1D3B22D0-AC98-4451-AC0D-AE727CC18797}"/>
                </a:ext>
              </a:extLst>
            </p:cNvPr>
            <p:cNvSpPr/>
            <p:nvPr/>
          </p:nvSpPr>
          <p:spPr>
            <a:xfrm>
              <a:off x="2215623" y="23152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1722B9E9-6C97-435B-94E3-57B821E954DF}"/>
                </a:ext>
              </a:extLst>
            </p:cNvPr>
            <p:cNvSpPr/>
            <p:nvPr/>
          </p:nvSpPr>
          <p:spPr>
            <a:xfrm>
              <a:off x="2322450" y="26972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이등변 삼각형 104">
              <a:extLst>
                <a:ext uri="{FF2B5EF4-FFF2-40B4-BE49-F238E27FC236}">
                  <a16:creationId xmlns:a16="http://schemas.microsoft.com/office/drawing/2014/main" id="{C59C59B7-8139-47CC-87E9-73388596A260}"/>
                </a:ext>
              </a:extLst>
            </p:cNvPr>
            <p:cNvSpPr/>
            <p:nvPr/>
          </p:nvSpPr>
          <p:spPr>
            <a:xfrm>
              <a:off x="2393948" y="25609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이등변 삼각형 105">
              <a:extLst>
                <a:ext uri="{FF2B5EF4-FFF2-40B4-BE49-F238E27FC236}">
                  <a16:creationId xmlns:a16="http://schemas.microsoft.com/office/drawing/2014/main" id="{558B3027-1591-4B0E-8D99-5BFAEE01C985}"/>
                </a:ext>
              </a:extLst>
            </p:cNvPr>
            <p:cNvSpPr/>
            <p:nvPr/>
          </p:nvSpPr>
          <p:spPr>
            <a:xfrm>
              <a:off x="2639477" y="27093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이등변 삼각형 106">
              <a:extLst>
                <a:ext uri="{FF2B5EF4-FFF2-40B4-BE49-F238E27FC236}">
                  <a16:creationId xmlns:a16="http://schemas.microsoft.com/office/drawing/2014/main" id="{D46847DC-373D-4577-BEA5-A58C0F19FD02}"/>
                </a:ext>
              </a:extLst>
            </p:cNvPr>
            <p:cNvSpPr/>
            <p:nvPr/>
          </p:nvSpPr>
          <p:spPr>
            <a:xfrm>
              <a:off x="2639477" y="23675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D5FFD0AD-878B-400F-9F17-29D91D8545C2}"/>
                </a:ext>
              </a:extLst>
            </p:cNvPr>
            <p:cNvSpPr/>
            <p:nvPr/>
          </p:nvSpPr>
          <p:spPr>
            <a:xfrm>
              <a:off x="480755" y="195807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67B2094-88CF-4B5D-B9AF-97CFEE72A8F1}"/>
                </a:ext>
              </a:extLst>
            </p:cNvPr>
            <p:cNvSpPr/>
            <p:nvPr/>
          </p:nvSpPr>
          <p:spPr>
            <a:xfrm>
              <a:off x="689643" y="258676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7E197BCF-B56F-4F17-84C7-5B0684CD951A}"/>
                </a:ext>
              </a:extLst>
            </p:cNvPr>
            <p:cNvSpPr/>
            <p:nvPr/>
          </p:nvSpPr>
          <p:spPr>
            <a:xfrm>
              <a:off x="717601" y="222478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8FF4CAE6-B646-4876-957B-F4C6DB30C8D7}"/>
                </a:ext>
              </a:extLst>
            </p:cNvPr>
            <p:cNvSpPr/>
            <p:nvPr/>
          </p:nvSpPr>
          <p:spPr>
            <a:xfrm>
              <a:off x="736548" y="200332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597E56B3-B1C9-4653-B1E5-66319685401C}"/>
                </a:ext>
              </a:extLst>
            </p:cNvPr>
            <p:cNvSpPr/>
            <p:nvPr/>
          </p:nvSpPr>
          <p:spPr>
            <a:xfrm>
              <a:off x="1809369" y="272795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4DA8C520-227E-4CEF-95FC-CCA81B25D058}"/>
                </a:ext>
              </a:extLst>
            </p:cNvPr>
            <p:cNvSpPr/>
            <p:nvPr/>
          </p:nvSpPr>
          <p:spPr>
            <a:xfrm>
              <a:off x="710691" y="23381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09F17207-F223-4B2C-9CED-F30F5E42D87E}"/>
                </a:ext>
              </a:extLst>
            </p:cNvPr>
            <p:cNvSpPr/>
            <p:nvPr/>
          </p:nvSpPr>
          <p:spPr>
            <a:xfrm>
              <a:off x="1162574" y="226016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904E0B0-20E9-4009-AA80-98B0B50CA47D}"/>
                </a:ext>
              </a:extLst>
            </p:cNvPr>
            <p:cNvSpPr/>
            <p:nvPr/>
          </p:nvSpPr>
          <p:spPr>
            <a:xfrm>
              <a:off x="947537" y="26048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F3834DC4-446E-495A-B7CC-6AEF54B107B4}"/>
                </a:ext>
              </a:extLst>
            </p:cNvPr>
            <p:cNvSpPr/>
            <p:nvPr/>
          </p:nvSpPr>
          <p:spPr>
            <a:xfrm>
              <a:off x="966484" y="23834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9B352169-5607-4491-850D-651712771078}"/>
                </a:ext>
              </a:extLst>
            </p:cNvPr>
            <p:cNvSpPr/>
            <p:nvPr/>
          </p:nvSpPr>
          <p:spPr>
            <a:xfrm>
              <a:off x="1018589" y="21192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이등변 삼각형 119">
              <a:extLst>
                <a:ext uri="{FF2B5EF4-FFF2-40B4-BE49-F238E27FC236}">
                  <a16:creationId xmlns:a16="http://schemas.microsoft.com/office/drawing/2014/main" id="{3CBE16BD-42DC-49D5-88FD-2A84E6AEA474}"/>
                </a:ext>
              </a:extLst>
            </p:cNvPr>
            <p:cNvSpPr/>
            <p:nvPr/>
          </p:nvSpPr>
          <p:spPr>
            <a:xfrm>
              <a:off x="2117439" y="192892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이등변 삼각형 120">
              <a:extLst>
                <a:ext uri="{FF2B5EF4-FFF2-40B4-BE49-F238E27FC236}">
                  <a16:creationId xmlns:a16="http://schemas.microsoft.com/office/drawing/2014/main" id="{FCB89DE4-0FF3-41F7-9F5A-3183D16D6FE5}"/>
                </a:ext>
              </a:extLst>
            </p:cNvPr>
            <p:cNvSpPr/>
            <p:nvPr/>
          </p:nvSpPr>
          <p:spPr>
            <a:xfrm>
              <a:off x="2327510" y="2168756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이등변 삼각형 121">
              <a:extLst>
                <a:ext uri="{FF2B5EF4-FFF2-40B4-BE49-F238E27FC236}">
                  <a16:creationId xmlns:a16="http://schemas.microsoft.com/office/drawing/2014/main" id="{A6830640-2175-470B-89C1-5A8A07F77C8C}"/>
                </a:ext>
              </a:extLst>
            </p:cNvPr>
            <p:cNvSpPr/>
            <p:nvPr/>
          </p:nvSpPr>
          <p:spPr>
            <a:xfrm>
              <a:off x="2327510" y="18269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이등변 삼각형 122">
              <a:extLst>
                <a:ext uri="{FF2B5EF4-FFF2-40B4-BE49-F238E27FC236}">
                  <a16:creationId xmlns:a16="http://schemas.microsoft.com/office/drawing/2014/main" id="{2AB33293-9459-4BAD-9B92-019F83232593}"/>
                </a:ext>
              </a:extLst>
            </p:cNvPr>
            <p:cNvSpPr/>
            <p:nvPr/>
          </p:nvSpPr>
          <p:spPr>
            <a:xfrm>
              <a:off x="2056056" y="19271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D36AF3F2-CEA7-4AB5-A193-7CDE5A8C994F}"/>
                </a:ext>
              </a:extLst>
            </p:cNvPr>
            <p:cNvSpPr/>
            <p:nvPr/>
          </p:nvSpPr>
          <p:spPr>
            <a:xfrm>
              <a:off x="2023000" y="21704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이등변 삼각형 124">
              <a:extLst>
                <a:ext uri="{FF2B5EF4-FFF2-40B4-BE49-F238E27FC236}">
                  <a16:creationId xmlns:a16="http://schemas.microsoft.com/office/drawing/2014/main" id="{4DAC3648-E136-4272-8F52-19CB300AFE76}"/>
                </a:ext>
              </a:extLst>
            </p:cNvPr>
            <p:cNvSpPr/>
            <p:nvPr/>
          </p:nvSpPr>
          <p:spPr>
            <a:xfrm>
              <a:off x="2234381" y="217280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이등변 삼각형 125">
              <a:extLst>
                <a:ext uri="{FF2B5EF4-FFF2-40B4-BE49-F238E27FC236}">
                  <a16:creationId xmlns:a16="http://schemas.microsoft.com/office/drawing/2014/main" id="{E1A12595-8991-4BFE-B5F3-BD931B073F4D}"/>
                </a:ext>
              </a:extLst>
            </p:cNvPr>
            <p:cNvSpPr/>
            <p:nvPr/>
          </p:nvSpPr>
          <p:spPr>
            <a:xfrm>
              <a:off x="2479910" y="19793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이등변 삼각형 126">
              <a:extLst>
                <a:ext uri="{FF2B5EF4-FFF2-40B4-BE49-F238E27FC236}">
                  <a16:creationId xmlns:a16="http://schemas.microsoft.com/office/drawing/2014/main" id="{4AF4CE10-F93E-4A65-941A-EE7BCC6E4E66}"/>
                </a:ext>
              </a:extLst>
            </p:cNvPr>
            <p:cNvSpPr/>
            <p:nvPr/>
          </p:nvSpPr>
          <p:spPr>
            <a:xfrm>
              <a:off x="2208456" y="20795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이등변 삼각형 127">
              <a:extLst>
                <a:ext uri="{FF2B5EF4-FFF2-40B4-BE49-F238E27FC236}">
                  <a16:creationId xmlns:a16="http://schemas.microsoft.com/office/drawing/2014/main" id="{D49F0206-F58C-407C-AB88-EE1C0567BE26}"/>
                </a:ext>
              </a:extLst>
            </p:cNvPr>
            <p:cNvSpPr/>
            <p:nvPr/>
          </p:nvSpPr>
          <p:spPr>
            <a:xfrm>
              <a:off x="2632310" y="21317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605B3005-8381-453B-9B44-E4BFF8E22F9D}"/>
                </a:ext>
              </a:extLst>
            </p:cNvPr>
            <p:cNvSpPr/>
            <p:nvPr/>
          </p:nvSpPr>
          <p:spPr>
            <a:xfrm>
              <a:off x="717076" y="24437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C77A6E3-D5FB-4FE0-91CA-57137A6782E6}"/>
                </a:ext>
              </a:extLst>
            </p:cNvPr>
            <p:cNvSpPr/>
            <p:nvPr/>
          </p:nvSpPr>
          <p:spPr>
            <a:xfrm>
              <a:off x="664972" y="279914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3F26B928-AB8B-447F-BF76-759F2868C5A3}"/>
                </a:ext>
              </a:extLst>
            </p:cNvPr>
            <p:cNvSpPr/>
            <p:nvPr/>
          </p:nvSpPr>
          <p:spPr>
            <a:xfrm>
              <a:off x="953922" y="27104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34124F2-3D81-4746-9120-8C5CA7AF4355}"/>
                </a:ext>
              </a:extLst>
            </p:cNvPr>
            <p:cNvSpPr/>
            <p:nvPr/>
          </p:nvSpPr>
          <p:spPr>
            <a:xfrm>
              <a:off x="972869" y="24890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D49BDB0E-D0BA-4ED0-B5A7-C0ED7E32B866}"/>
                </a:ext>
              </a:extLst>
            </p:cNvPr>
            <p:cNvSpPr/>
            <p:nvPr/>
          </p:nvSpPr>
          <p:spPr>
            <a:xfrm>
              <a:off x="848428" y="284475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6D9BF3B-CF74-43B5-961B-3FBB48412FD0}"/>
                </a:ext>
              </a:extLst>
            </p:cNvPr>
            <p:cNvSpPr/>
            <p:nvPr/>
          </p:nvSpPr>
          <p:spPr>
            <a:xfrm>
              <a:off x="876386" y="248277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0D3AE54-04CF-4B74-98F6-1B1F3C6EE9AF}"/>
                </a:ext>
              </a:extLst>
            </p:cNvPr>
            <p:cNvSpPr/>
            <p:nvPr/>
          </p:nvSpPr>
          <p:spPr>
            <a:xfrm>
              <a:off x="869476" y="25961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94D32E-72C7-4AEC-9813-59E85391C6BB}"/>
                </a:ext>
              </a:extLst>
            </p:cNvPr>
            <p:cNvSpPr/>
            <p:nvPr/>
          </p:nvSpPr>
          <p:spPr>
            <a:xfrm>
              <a:off x="1321359" y="2518149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AC6DDDF5-5C1B-4913-AF21-BAB9F7917A42}"/>
                </a:ext>
              </a:extLst>
            </p:cNvPr>
            <p:cNvSpPr/>
            <p:nvPr/>
          </p:nvSpPr>
          <p:spPr>
            <a:xfrm>
              <a:off x="1106322" y="28628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89E3362-4D8C-420B-9524-8AA9747D9DE9}"/>
                </a:ext>
              </a:extLst>
            </p:cNvPr>
            <p:cNvSpPr/>
            <p:nvPr/>
          </p:nvSpPr>
          <p:spPr>
            <a:xfrm>
              <a:off x="1125269" y="26414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EE7D02E-5E6B-4495-AF77-DF652F96980B}"/>
                </a:ext>
              </a:extLst>
            </p:cNvPr>
            <p:cNvSpPr/>
            <p:nvPr/>
          </p:nvSpPr>
          <p:spPr>
            <a:xfrm>
              <a:off x="1177374" y="23772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6B336EA2-9FEE-4BCA-B727-A6894B6B8A7F}"/>
              </a:ext>
            </a:extLst>
          </p:cNvPr>
          <p:cNvGrpSpPr/>
          <p:nvPr/>
        </p:nvGrpSpPr>
        <p:grpSpPr>
          <a:xfrm>
            <a:off x="3058511" y="1300195"/>
            <a:ext cx="2307122" cy="1744645"/>
            <a:chOff x="420838" y="1262915"/>
            <a:chExt cx="2307122" cy="1744645"/>
          </a:xfrm>
        </p:grpSpPr>
        <p:sp>
          <p:nvSpPr>
            <p:cNvPr id="143" name="이등변 삼각형 142">
              <a:extLst>
                <a:ext uri="{FF2B5EF4-FFF2-40B4-BE49-F238E27FC236}">
                  <a16:creationId xmlns:a16="http://schemas.microsoft.com/office/drawing/2014/main" id="{DDA48DC9-92CD-4079-984D-2CE0CAA6C5F2}"/>
                </a:ext>
              </a:extLst>
            </p:cNvPr>
            <p:cNvSpPr/>
            <p:nvPr/>
          </p:nvSpPr>
          <p:spPr>
            <a:xfrm>
              <a:off x="1910823" y="20104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이등변 삼각형 143">
              <a:extLst>
                <a:ext uri="{FF2B5EF4-FFF2-40B4-BE49-F238E27FC236}">
                  <a16:creationId xmlns:a16="http://schemas.microsoft.com/office/drawing/2014/main" id="{4D4AF1BF-96BB-4BFC-A817-4A3F472BC7A8}"/>
                </a:ext>
              </a:extLst>
            </p:cNvPr>
            <p:cNvSpPr/>
            <p:nvPr/>
          </p:nvSpPr>
          <p:spPr>
            <a:xfrm>
              <a:off x="1807864" y="236236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이등변 삼각형 144">
              <a:extLst>
                <a:ext uri="{FF2B5EF4-FFF2-40B4-BE49-F238E27FC236}">
                  <a16:creationId xmlns:a16="http://schemas.microsoft.com/office/drawing/2014/main" id="{C0F20214-E1FE-4959-9F2F-B5AE23BA00DC}"/>
                </a:ext>
              </a:extLst>
            </p:cNvPr>
            <p:cNvSpPr/>
            <p:nvPr/>
          </p:nvSpPr>
          <p:spPr>
            <a:xfrm>
              <a:off x="2124606" y="216470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이등변 삼각형 145">
              <a:extLst>
                <a:ext uri="{FF2B5EF4-FFF2-40B4-BE49-F238E27FC236}">
                  <a16:creationId xmlns:a16="http://schemas.microsoft.com/office/drawing/2014/main" id="{F4C833E7-4B3A-4BF4-96B5-7E582F8C986F}"/>
                </a:ext>
              </a:extLst>
            </p:cNvPr>
            <p:cNvSpPr/>
            <p:nvPr/>
          </p:nvSpPr>
          <p:spPr>
            <a:xfrm>
              <a:off x="2334677" y="24045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1E7A04EC-2180-477D-A435-5EACBB167EB5}"/>
                </a:ext>
              </a:extLst>
            </p:cNvPr>
            <p:cNvSpPr/>
            <p:nvPr/>
          </p:nvSpPr>
          <p:spPr>
            <a:xfrm>
              <a:off x="2334677" y="20627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이등변 삼각형 147">
              <a:extLst>
                <a:ext uri="{FF2B5EF4-FFF2-40B4-BE49-F238E27FC236}">
                  <a16:creationId xmlns:a16="http://schemas.microsoft.com/office/drawing/2014/main" id="{5965CAFE-FED1-49CE-8D2D-8B0190AF5E4C}"/>
                </a:ext>
              </a:extLst>
            </p:cNvPr>
            <p:cNvSpPr/>
            <p:nvPr/>
          </p:nvSpPr>
          <p:spPr>
            <a:xfrm>
              <a:off x="2063578" y="257781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이등변 삼각형 148">
              <a:extLst>
                <a:ext uri="{FF2B5EF4-FFF2-40B4-BE49-F238E27FC236}">
                  <a16:creationId xmlns:a16="http://schemas.microsoft.com/office/drawing/2014/main" id="{FAF5B4F3-D457-459C-9C0B-445A118A722E}"/>
                </a:ext>
              </a:extLst>
            </p:cNvPr>
            <p:cNvSpPr/>
            <p:nvPr/>
          </p:nvSpPr>
          <p:spPr>
            <a:xfrm>
              <a:off x="1773929" y="20798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EB4178EC-818A-42A4-BE37-2B74A1842AB5}"/>
                </a:ext>
              </a:extLst>
            </p:cNvPr>
            <p:cNvCxnSpPr>
              <a:cxnSpLocks/>
            </p:cNvCxnSpPr>
            <p:nvPr/>
          </p:nvCxnSpPr>
          <p:spPr>
            <a:xfrm>
              <a:off x="420838" y="2994064"/>
              <a:ext cx="2307122" cy="13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9CDC0C3C-E6B2-40C0-8B7F-3792078DA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96" y="1320434"/>
              <a:ext cx="0" cy="16736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1B1BAFF-1E98-4BCE-869A-C1B4FA781C80}"/>
                </a:ext>
              </a:extLst>
            </p:cNvPr>
            <p:cNvCxnSpPr>
              <a:cxnSpLocks/>
            </p:cNvCxnSpPr>
            <p:nvPr/>
          </p:nvCxnSpPr>
          <p:spPr>
            <a:xfrm>
              <a:off x="1441540" y="1262915"/>
              <a:ext cx="208765" cy="173115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BFFF78F7-780E-450A-9457-43D82EC0151D}"/>
                </a:ext>
              </a:extLst>
            </p:cNvPr>
            <p:cNvSpPr/>
            <p:nvPr/>
          </p:nvSpPr>
          <p:spPr>
            <a:xfrm>
              <a:off x="558291" y="21857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EEDF1774-C44A-4C11-B1DB-0B65EE1F2F4E}"/>
                </a:ext>
              </a:extLst>
            </p:cNvPr>
            <p:cNvSpPr/>
            <p:nvPr/>
          </p:nvSpPr>
          <p:spPr>
            <a:xfrm>
              <a:off x="506187" y="2541158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0065481-0A47-4DCA-8ABB-F00C331695E8}"/>
                </a:ext>
              </a:extLst>
            </p:cNvPr>
            <p:cNvSpPr/>
            <p:nvPr/>
          </p:nvSpPr>
          <p:spPr>
            <a:xfrm>
              <a:off x="795137" y="24524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2D3DA8FA-EFC5-4B2B-AF2F-AADF94B92A94}"/>
                </a:ext>
              </a:extLst>
            </p:cNvPr>
            <p:cNvSpPr/>
            <p:nvPr/>
          </p:nvSpPr>
          <p:spPr>
            <a:xfrm>
              <a:off x="814084" y="22310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9AE4989D-9F9C-400E-9DFD-72F5586EE1F3}"/>
                </a:ext>
              </a:extLst>
            </p:cNvPr>
            <p:cNvSpPr/>
            <p:nvPr/>
          </p:nvSpPr>
          <p:spPr>
            <a:xfrm>
              <a:off x="866189" y="19668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이등변 삼각형 157">
              <a:extLst>
                <a:ext uri="{FF2B5EF4-FFF2-40B4-BE49-F238E27FC236}">
                  <a16:creationId xmlns:a16="http://schemas.microsoft.com/office/drawing/2014/main" id="{FFDF855F-55E5-4557-91E0-5E5831B1DED2}"/>
                </a:ext>
              </a:extLst>
            </p:cNvPr>
            <p:cNvSpPr/>
            <p:nvPr/>
          </p:nvSpPr>
          <p:spPr>
            <a:xfrm>
              <a:off x="2063223" y="21628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이등변 삼각형 158">
              <a:extLst>
                <a:ext uri="{FF2B5EF4-FFF2-40B4-BE49-F238E27FC236}">
                  <a16:creationId xmlns:a16="http://schemas.microsoft.com/office/drawing/2014/main" id="{1352867E-05E2-4FD6-B815-3250F81E12ED}"/>
                </a:ext>
              </a:extLst>
            </p:cNvPr>
            <p:cNvSpPr/>
            <p:nvPr/>
          </p:nvSpPr>
          <p:spPr>
            <a:xfrm>
              <a:off x="2030167" y="2406237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이등변 삼각형 159">
              <a:extLst>
                <a:ext uri="{FF2B5EF4-FFF2-40B4-BE49-F238E27FC236}">
                  <a16:creationId xmlns:a16="http://schemas.microsoft.com/office/drawing/2014/main" id="{058C28DA-706C-4221-BE62-152E29D9F363}"/>
                </a:ext>
              </a:extLst>
            </p:cNvPr>
            <p:cNvSpPr/>
            <p:nvPr/>
          </p:nvSpPr>
          <p:spPr>
            <a:xfrm>
              <a:off x="2241548" y="24085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이등변 삼각형 160">
              <a:extLst>
                <a:ext uri="{FF2B5EF4-FFF2-40B4-BE49-F238E27FC236}">
                  <a16:creationId xmlns:a16="http://schemas.microsoft.com/office/drawing/2014/main" id="{145227E0-3529-4761-8E7B-2EA5AFDC8BFA}"/>
                </a:ext>
              </a:extLst>
            </p:cNvPr>
            <p:cNvSpPr/>
            <p:nvPr/>
          </p:nvSpPr>
          <p:spPr>
            <a:xfrm>
              <a:off x="2487077" y="25569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이등변 삼각형 161">
              <a:extLst>
                <a:ext uri="{FF2B5EF4-FFF2-40B4-BE49-F238E27FC236}">
                  <a16:creationId xmlns:a16="http://schemas.microsoft.com/office/drawing/2014/main" id="{3A7F64D1-57C7-40D0-A0D2-19CA913D7D27}"/>
                </a:ext>
              </a:extLst>
            </p:cNvPr>
            <p:cNvSpPr/>
            <p:nvPr/>
          </p:nvSpPr>
          <p:spPr>
            <a:xfrm>
              <a:off x="2487077" y="22151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이등변 삼각형 162">
              <a:extLst>
                <a:ext uri="{FF2B5EF4-FFF2-40B4-BE49-F238E27FC236}">
                  <a16:creationId xmlns:a16="http://schemas.microsoft.com/office/drawing/2014/main" id="{D2A24A0B-1C98-4721-943D-09B8D9182CC4}"/>
                </a:ext>
              </a:extLst>
            </p:cNvPr>
            <p:cNvSpPr/>
            <p:nvPr/>
          </p:nvSpPr>
          <p:spPr>
            <a:xfrm>
              <a:off x="2215623" y="23152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이등변 삼각형 163">
              <a:extLst>
                <a:ext uri="{FF2B5EF4-FFF2-40B4-BE49-F238E27FC236}">
                  <a16:creationId xmlns:a16="http://schemas.microsoft.com/office/drawing/2014/main" id="{A4D97B5C-4E27-4272-8871-6C5989580DE1}"/>
                </a:ext>
              </a:extLst>
            </p:cNvPr>
            <p:cNvSpPr/>
            <p:nvPr/>
          </p:nvSpPr>
          <p:spPr>
            <a:xfrm>
              <a:off x="2322450" y="26972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이등변 삼각형 164">
              <a:extLst>
                <a:ext uri="{FF2B5EF4-FFF2-40B4-BE49-F238E27FC236}">
                  <a16:creationId xmlns:a16="http://schemas.microsoft.com/office/drawing/2014/main" id="{C9F841CA-9FC9-45E3-8CE1-836F7B2CEDEB}"/>
                </a:ext>
              </a:extLst>
            </p:cNvPr>
            <p:cNvSpPr/>
            <p:nvPr/>
          </p:nvSpPr>
          <p:spPr>
            <a:xfrm>
              <a:off x="2393948" y="25609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이등변 삼각형 165">
              <a:extLst>
                <a:ext uri="{FF2B5EF4-FFF2-40B4-BE49-F238E27FC236}">
                  <a16:creationId xmlns:a16="http://schemas.microsoft.com/office/drawing/2014/main" id="{9F8E56EC-50C8-41D1-9E74-389AFC684438}"/>
                </a:ext>
              </a:extLst>
            </p:cNvPr>
            <p:cNvSpPr/>
            <p:nvPr/>
          </p:nvSpPr>
          <p:spPr>
            <a:xfrm>
              <a:off x="2639477" y="27093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이등변 삼각형 166">
              <a:extLst>
                <a:ext uri="{FF2B5EF4-FFF2-40B4-BE49-F238E27FC236}">
                  <a16:creationId xmlns:a16="http://schemas.microsoft.com/office/drawing/2014/main" id="{2784E7B5-2447-4E5E-BC9C-EDCEFC7F26B0}"/>
                </a:ext>
              </a:extLst>
            </p:cNvPr>
            <p:cNvSpPr/>
            <p:nvPr/>
          </p:nvSpPr>
          <p:spPr>
            <a:xfrm>
              <a:off x="2639477" y="23675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7409135D-E258-43AA-AD97-0856FFF8A2E6}"/>
                </a:ext>
              </a:extLst>
            </p:cNvPr>
            <p:cNvSpPr/>
            <p:nvPr/>
          </p:nvSpPr>
          <p:spPr>
            <a:xfrm>
              <a:off x="480755" y="195807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2A53405D-075A-4E79-B4BD-E9B6445AAAA0}"/>
                </a:ext>
              </a:extLst>
            </p:cNvPr>
            <p:cNvSpPr/>
            <p:nvPr/>
          </p:nvSpPr>
          <p:spPr>
            <a:xfrm>
              <a:off x="689643" y="258676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35B1B4CB-230D-4245-B7D3-F13AA19EA2D7}"/>
                </a:ext>
              </a:extLst>
            </p:cNvPr>
            <p:cNvSpPr/>
            <p:nvPr/>
          </p:nvSpPr>
          <p:spPr>
            <a:xfrm>
              <a:off x="717601" y="222478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87B903E3-8965-4938-9D44-1BDE164389A7}"/>
                </a:ext>
              </a:extLst>
            </p:cNvPr>
            <p:cNvSpPr/>
            <p:nvPr/>
          </p:nvSpPr>
          <p:spPr>
            <a:xfrm>
              <a:off x="736548" y="200332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3EB4190C-AE00-492C-B3F8-A2454C2ADFAE}"/>
                </a:ext>
              </a:extLst>
            </p:cNvPr>
            <p:cNvSpPr/>
            <p:nvPr/>
          </p:nvSpPr>
          <p:spPr>
            <a:xfrm>
              <a:off x="1809369" y="272795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1565F4E-F2E3-4C47-BDE3-ADE2DC6094CB}"/>
                </a:ext>
              </a:extLst>
            </p:cNvPr>
            <p:cNvSpPr/>
            <p:nvPr/>
          </p:nvSpPr>
          <p:spPr>
            <a:xfrm>
              <a:off x="710691" y="23381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0931CFC2-E5A8-4BB8-BD30-BBFB53085873}"/>
                </a:ext>
              </a:extLst>
            </p:cNvPr>
            <p:cNvSpPr/>
            <p:nvPr/>
          </p:nvSpPr>
          <p:spPr>
            <a:xfrm>
              <a:off x="1162574" y="226016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22F90D7-0767-4F2B-B658-A4FCB80C1516}"/>
                </a:ext>
              </a:extLst>
            </p:cNvPr>
            <p:cNvSpPr/>
            <p:nvPr/>
          </p:nvSpPr>
          <p:spPr>
            <a:xfrm>
              <a:off x="947537" y="26048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FCA20A77-86E5-4EBC-822F-5D1830729A38}"/>
                </a:ext>
              </a:extLst>
            </p:cNvPr>
            <p:cNvSpPr/>
            <p:nvPr/>
          </p:nvSpPr>
          <p:spPr>
            <a:xfrm>
              <a:off x="966484" y="23834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69B84CBD-BB01-420E-985E-BA12501C1E03}"/>
                </a:ext>
              </a:extLst>
            </p:cNvPr>
            <p:cNvSpPr/>
            <p:nvPr/>
          </p:nvSpPr>
          <p:spPr>
            <a:xfrm>
              <a:off x="1018589" y="21192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이등변 삼각형 177">
              <a:extLst>
                <a:ext uri="{FF2B5EF4-FFF2-40B4-BE49-F238E27FC236}">
                  <a16:creationId xmlns:a16="http://schemas.microsoft.com/office/drawing/2014/main" id="{D0F83827-9211-46CB-B71C-B033FCFA625F}"/>
                </a:ext>
              </a:extLst>
            </p:cNvPr>
            <p:cNvSpPr/>
            <p:nvPr/>
          </p:nvSpPr>
          <p:spPr>
            <a:xfrm>
              <a:off x="2117439" y="192892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이등변 삼각형 178">
              <a:extLst>
                <a:ext uri="{FF2B5EF4-FFF2-40B4-BE49-F238E27FC236}">
                  <a16:creationId xmlns:a16="http://schemas.microsoft.com/office/drawing/2014/main" id="{1F55432A-B61D-4771-84EE-3D8516C69040}"/>
                </a:ext>
              </a:extLst>
            </p:cNvPr>
            <p:cNvSpPr/>
            <p:nvPr/>
          </p:nvSpPr>
          <p:spPr>
            <a:xfrm>
              <a:off x="2327510" y="2168756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이등변 삼각형 179">
              <a:extLst>
                <a:ext uri="{FF2B5EF4-FFF2-40B4-BE49-F238E27FC236}">
                  <a16:creationId xmlns:a16="http://schemas.microsoft.com/office/drawing/2014/main" id="{D4E95E3E-0BC0-4698-A668-BD165C139A59}"/>
                </a:ext>
              </a:extLst>
            </p:cNvPr>
            <p:cNvSpPr/>
            <p:nvPr/>
          </p:nvSpPr>
          <p:spPr>
            <a:xfrm>
              <a:off x="2327510" y="18269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이등변 삼각형 180">
              <a:extLst>
                <a:ext uri="{FF2B5EF4-FFF2-40B4-BE49-F238E27FC236}">
                  <a16:creationId xmlns:a16="http://schemas.microsoft.com/office/drawing/2014/main" id="{6AAD24F3-BE4D-48CC-A209-563FC5A9899F}"/>
                </a:ext>
              </a:extLst>
            </p:cNvPr>
            <p:cNvSpPr/>
            <p:nvPr/>
          </p:nvSpPr>
          <p:spPr>
            <a:xfrm>
              <a:off x="2056056" y="19271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이등변 삼각형 181">
              <a:extLst>
                <a:ext uri="{FF2B5EF4-FFF2-40B4-BE49-F238E27FC236}">
                  <a16:creationId xmlns:a16="http://schemas.microsoft.com/office/drawing/2014/main" id="{3BA96BFB-1250-41DC-9706-9A89A0ED7F56}"/>
                </a:ext>
              </a:extLst>
            </p:cNvPr>
            <p:cNvSpPr/>
            <p:nvPr/>
          </p:nvSpPr>
          <p:spPr>
            <a:xfrm>
              <a:off x="2023000" y="21704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0294EA6-2063-4AB8-B9AE-4E92F8E8E372}"/>
                </a:ext>
              </a:extLst>
            </p:cNvPr>
            <p:cNvSpPr/>
            <p:nvPr/>
          </p:nvSpPr>
          <p:spPr>
            <a:xfrm>
              <a:off x="2234381" y="217280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이등변 삼각형 183">
              <a:extLst>
                <a:ext uri="{FF2B5EF4-FFF2-40B4-BE49-F238E27FC236}">
                  <a16:creationId xmlns:a16="http://schemas.microsoft.com/office/drawing/2014/main" id="{EF460349-F000-4E6B-A521-CA180A0097E2}"/>
                </a:ext>
              </a:extLst>
            </p:cNvPr>
            <p:cNvSpPr/>
            <p:nvPr/>
          </p:nvSpPr>
          <p:spPr>
            <a:xfrm>
              <a:off x="2479910" y="19793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이등변 삼각형 184">
              <a:extLst>
                <a:ext uri="{FF2B5EF4-FFF2-40B4-BE49-F238E27FC236}">
                  <a16:creationId xmlns:a16="http://schemas.microsoft.com/office/drawing/2014/main" id="{2B690D1F-F8A7-4F62-8094-A28EA1BD146B}"/>
                </a:ext>
              </a:extLst>
            </p:cNvPr>
            <p:cNvSpPr/>
            <p:nvPr/>
          </p:nvSpPr>
          <p:spPr>
            <a:xfrm>
              <a:off x="2208456" y="20795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이등변 삼각형 185">
              <a:extLst>
                <a:ext uri="{FF2B5EF4-FFF2-40B4-BE49-F238E27FC236}">
                  <a16:creationId xmlns:a16="http://schemas.microsoft.com/office/drawing/2014/main" id="{BC1ACEC3-BE34-45BD-B0C9-28AA5E43F460}"/>
                </a:ext>
              </a:extLst>
            </p:cNvPr>
            <p:cNvSpPr/>
            <p:nvPr/>
          </p:nvSpPr>
          <p:spPr>
            <a:xfrm>
              <a:off x="2632310" y="21317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3C5F381B-805E-4150-99AC-B67F903C36FE}"/>
                </a:ext>
              </a:extLst>
            </p:cNvPr>
            <p:cNvSpPr/>
            <p:nvPr/>
          </p:nvSpPr>
          <p:spPr>
            <a:xfrm>
              <a:off x="717076" y="24437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CCC50ED4-2FEE-45F8-A88F-9AA549283FB0}"/>
                </a:ext>
              </a:extLst>
            </p:cNvPr>
            <p:cNvSpPr/>
            <p:nvPr/>
          </p:nvSpPr>
          <p:spPr>
            <a:xfrm>
              <a:off x="664972" y="279914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A08DDCBC-0AB0-4E3F-9D00-7422E79B4EF3}"/>
                </a:ext>
              </a:extLst>
            </p:cNvPr>
            <p:cNvSpPr/>
            <p:nvPr/>
          </p:nvSpPr>
          <p:spPr>
            <a:xfrm>
              <a:off x="953922" y="27104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764EE02A-22F8-4405-83A4-CCD219EC0A76}"/>
                </a:ext>
              </a:extLst>
            </p:cNvPr>
            <p:cNvSpPr/>
            <p:nvPr/>
          </p:nvSpPr>
          <p:spPr>
            <a:xfrm>
              <a:off x="972869" y="24890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935E0941-33EC-4D2D-80E2-D77EF540CCE1}"/>
                </a:ext>
              </a:extLst>
            </p:cNvPr>
            <p:cNvSpPr/>
            <p:nvPr/>
          </p:nvSpPr>
          <p:spPr>
            <a:xfrm>
              <a:off x="848428" y="284475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61A16862-B296-445B-8E65-E3AC71223533}"/>
                </a:ext>
              </a:extLst>
            </p:cNvPr>
            <p:cNvSpPr/>
            <p:nvPr/>
          </p:nvSpPr>
          <p:spPr>
            <a:xfrm>
              <a:off x="876386" y="248277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2EED28F8-F593-402D-96F4-206AAEAB1CE6}"/>
                </a:ext>
              </a:extLst>
            </p:cNvPr>
            <p:cNvSpPr/>
            <p:nvPr/>
          </p:nvSpPr>
          <p:spPr>
            <a:xfrm>
              <a:off x="869476" y="25961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8FD18BD2-F09E-419F-83AF-2B88A0CEDA45}"/>
                </a:ext>
              </a:extLst>
            </p:cNvPr>
            <p:cNvSpPr/>
            <p:nvPr/>
          </p:nvSpPr>
          <p:spPr>
            <a:xfrm>
              <a:off x="1321359" y="2518149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68C57555-F5E4-4D5F-9894-07E895EAD1EC}"/>
                </a:ext>
              </a:extLst>
            </p:cNvPr>
            <p:cNvSpPr/>
            <p:nvPr/>
          </p:nvSpPr>
          <p:spPr>
            <a:xfrm>
              <a:off x="1106322" y="28628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77EFCDED-96BB-445D-BEAF-DF7CD4873DED}"/>
                </a:ext>
              </a:extLst>
            </p:cNvPr>
            <p:cNvSpPr/>
            <p:nvPr/>
          </p:nvSpPr>
          <p:spPr>
            <a:xfrm>
              <a:off x="1125269" y="26414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FDCE4B55-5AEF-4225-93BE-008472D254E0}"/>
                </a:ext>
              </a:extLst>
            </p:cNvPr>
            <p:cNvSpPr/>
            <p:nvPr/>
          </p:nvSpPr>
          <p:spPr>
            <a:xfrm>
              <a:off x="1177374" y="23772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DE0EF028-7461-404F-8D85-F784162DA8C7}"/>
              </a:ext>
            </a:extLst>
          </p:cNvPr>
          <p:cNvSpPr txBox="1"/>
          <p:nvPr/>
        </p:nvSpPr>
        <p:spPr>
          <a:xfrm>
            <a:off x="839406" y="3029485"/>
            <a:ext cx="1542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Margin </a:t>
            </a:r>
            <a:r>
              <a:rPr lang="ko-KR" altLang="en-US" sz="1000"/>
              <a:t>좁은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8DE7E67-907B-45F9-BF1F-8B94DCC35579}"/>
              </a:ext>
            </a:extLst>
          </p:cNvPr>
          <p:cNvSpPr txBox="1"/>
          <p:nvPr/>
        </p:nvSpPr>
        <p:spPr>
          <a:xfrm>
            <a:off x="3542326" y="3052165"/>
            <a:ext cx="1542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Margin </a:t>
            </a:r>
            <a:r>
              <a:rPr lang="ko-KR" altLang="en-US" sz="1000"/>
              <a:t>좁은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623BF4E-A9D6-4D2E-9022-2BA71E3C057E}"/>
              </a:ext>
            </a:extLst>
          </p:cNvPr>
          <p:cNvSpPr txBox="1"/>
          <p:nvPr/>
        </p:nvSpPr>
        <p:spPr>
          <a:xfrm>
            <a:off x="6601319" y="3038836"/>
            <a:ext cx="1542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slack variable </a:t>
            </a:r>
            <a:r>
              <a:rPr lang="ko-KR" altLang="en-US" sz="1000"/>
              <a:t>예시</a:t>
            </a:r>
            <a:r>
              <a:rPr lang="en-US" altLang="ko-KR" sz="1000"/>
              <a:t>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212677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E330-2653-4CB8-A580-CEB3FA9A347C}"/>
              </a:ext>
            </a:extLst>
          </p:cNvPr>
          <p:cNvSpPr txBox="1"/>
          <p:nvPr/>
        </p:nvSpPr>
        <p:spPr>
          <a:xfrm>
            <a:off x="201493" y="1177421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https://sanghyu.tistory.com/7</a:t>
            </a:r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1FCB-FE60-4A68-ADD5-B801124B5D3A}"/>
              </a:ext>
            </a:extLst>
          </p:cNvPr>
          <p:cNvSpPr txBox="1"/>
          <p:nvPr/>
        </p:nvSpPr>
        <p:spPr>
          <a:xfrm>
            <a:off x="201493" y="1553538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https://ittrue.tistory.com/44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DB084-69BE-4611-ABE1-F98668C1D81F}"/>
              </a:ext>
            </a:extLst>
          </p:cNvPr>
          <p:cNvSpPr txBox="1"/>
          <p:nvPr/>
        </p:nvSpPr>
        <p:spPr>
          <a:xfrm>
            <a:off x="201493" y="1951026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https://excelsior-cjh.tistory.com/66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8685-FDA8-4007-A69F-C9EFA8A52B3F}"/>
              </a:ext>
            </a:extLst>
          </p:cNvPr>
          <p:cNvSpPr txBox="1"/>
          <p:nvPr/>
        </p:nvSpPr>
        <p:spPr>
          <a:xfrm>
            <a:off x="201493" y="2314092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https://angeloyeo.github.io/2020/09/30/SVM.html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0F826-7100-4C5E-B75B-EA7D6CA047F7}"/>
              </a:ext>
            </a:extLst>
          </p:cNvPr>
          <p:cNvSpPr txBox="1"/>
          <p:nvPr/>
        </p:nvSpPr>
        <p:spPr>
          <a:xfrm>
            <a:off x="201911" y="2880913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https://ratsgo.github.io/machine%20learning/2017/05/23/SVM/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38E6B-3E59-43F9-B333-8BD672F19FA6}"/>
              </a:ext>
            </a:extLst>
          </p:cNvPr>
          <p:cNvSpPr txBox="1"/>
          <p:nvPr/>
        </p:nvSpPr>
        <p:spPr>
          <a:xfrm>
            <a:off x="201493" y="3406659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https://dsbook.tistory.com/335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59BC2-B68A-45FC-9133-B14545B21245}"/>
              </a:ext>
            </a:extLst>
          </p:cNvPr>
          <p:cNvSpPr txBox="1"/>
          <p:nvPr/>
        </p:nvSpPr>
        <p:spPr>
          <a:xfrm>
            <a:off x="201911" y="3727348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https://www.youtube.com/watch?v=qFg8cDnqYCI&amp;t=721s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A71E3-9B1D-4EA8-8204-D4F829B6DC31}"/>
              </a:ext>
            </a:extLst>
          </p:cNvPr>
          <p:cNvSpPr txBox="1"/>
          <p:nvPr/>
        </p:nvSpPr>
        <p:spPr>
          <a:xfrm>
            <a:off x="201911" y="4373679"/>
            <a:ext cx="4617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https://velog.io/@claude_ssim/%EA%B8%B0%EA%B3%84%ED%95%99%EC%8A%B5-Support-Vector-Machine-1-h6u783zd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C2231-3390-4B9B-877B-25AA74ED648A}"/>
              </a:ext>
            </a:extLst>
          </p:cNvPr>
          <p:cNvSpPr txBox="1"/>
          <p:nvPr/>
        </p:nvSpPr>
        <p:spPr>
          <a:xfrm>
            <a:off x="201911" y="5321655"/>
            <a:ext cx="4629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https://slidesplayer.org/slide/16739823/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E4B36-EAD7-4C89-84E2-CE6DB63253B1}"/>
              </a:ext>
            </a:extLst>
          </p:cNvPr>
          <p:cNvSpPr txBox="1"/>
          <p:nvPr/>
        </p:nvSpPr>
        <p:spPr>
          <a:xfrm>
            <a:off x="268605" y="5795178"/>
            <a:ext cx="46181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https://velog.io/@shlee0125/%EB%A8%B8%EC%8B%A0%EB%9F%AC%EB%8B%9D-%EC%A0%95%EB%A6%AC-Support-Vector-Machine-05.-Why-does-SVM-maximize-margin</a:t>
            </a:r>
          </a:p>
        </p:txBody>
      </p:sp>
    </p:spTree>
    <p:extLst>
      <p:ext uri="{BB962C8B-B14F-4D97-AF65-F5344CB8AC3E}">
        <p14:creationId xmlns:p14="http://schemas.microsoft.com/office/powerpoint/2010/main" val="49662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552249" y="3759596"/>
            <a:ext cx="7887076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Margin </a:t>
            </a:r>
            <a:r>
              <a:rPr lang="ko-KR" altLang="en-US" sz="1200"/>
              <a:t>분류에는 </a:t>
            </a:r>
            <a:r>
              <a:rPr lang="en-US" altLang="ko-KR" sz="1200"/>
              <a:t>Hard Margin</a:t>
            </a:r>
            <a:r>
              <a:rPr lang="ko-KR" altLang="en-US" sz="1200"/>
              <a:t>과 </a:t>
            </a:r>
            <a:r>
              <a:rPr lang="en-US" altLang="ko-KR" sz="1200"/>
              <a:t>Soft Margin</a:t>
            </a:r>
            <a:r>
              <a:rPr lang="ko-KR" altLang="en-US" sz="1200"/>
              <a:t>으로 나뉨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Hard Margin </a:t>
            </a:r>
            <a:r>
              <a:rPr lang="ko-KR" altLang="en-US" sz="1200"/>
              <a:t>분류는 </a:t>
            </a:r>
            <a:r>
              <a:rPr lang="en-US" altLang="ko-KR" sz="1200"/>
              <a:t>Hyperplane</a:t>
            </a:r>
            <a:r>
              <a:rPr lang="ko-KR" altLang="en-US" sz="1200"/>
              <a:t>범위 안에 데이터들이 존재하지않도록 두개의 클래스를 분리하는 방법으로 모든 입력값은 한 클래스에만 속해야한다는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몇 개의 노이즈로 인해 </a:t>
            </a:r>
            <a:r>
              <a:rPr lang="en-US" altLang="ko-KR" sz="1200"/>
              <a:t>Decision Boundary</a:t>
            </a:r>
            <a:r>
              <a:rPr lang="ko-KR" altLang="en-US" sz="1200"/>
              <a:t>를 잘 못 구할 수도 있으며 찾지 못하는 문제 발생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Soft Margin </a:t>
            </a:r>
            <a:r>
              <a:rPr lang="ko-KR" altLang="en-US" sz="1200"/>
              <a:t>분류는  </a:t>
            </a:r>
            <a:r>
              <a:rPr lang="en-US" altLang="ko-KR" sz="1200"/>
              <a:t>Hyperplane</a:t>
            </a:r>
            <a:r>
              <a:rPr lang="ko-KR" altLang="en-US" sz="1200"/>
              <a:t>범위 안에 어느정도 오류를 허용한다는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새로운 데이터가 들어왔을 때 오류를 발생시키지 않도록 </a:t>
            </a:r>
            <a:r>
              <a:rPr lang="en-US" altLang="ko-KR" sz="1200"/>
              <a:t>Margin</a:t>
            </a:r>
            <a:r>
              <a:rPr lang="ko-KR" altLang="en-US" sz="1200"/>
              <a:t>을 크게 함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F249DD-BD0E-4616-AAAA-E2DC303D684D}"/>
              </a:ext>
            </a:extLst>
          </p:cNvPr>
          <p:cNvSpPr/>
          <p:nvPr/>
        </p:nvSpPr>
        <p:spPr>
          <a:xfrm>
            <a:off x="6797390" y="24616"/>
            <a:ext cx="4152550" cy="2055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파라미터 </a:t>
            </a:r>
            <a:r>
              <a:rPr lang="en-US" altLang="ko-KR"/>
              <a:t>c</a:t>
            </a:r>
            <a:r>
              <a:rPr lang="ko-KR" altLang="en-US"/>
              <a:t>에 대한 </a:t>
            </a:r>
            <a:r>
              <a:rPr lang="en-US" altLang="ko-KR"/>
              <a:t>margin </a:t>
            </a:r>
            <a:r>
              <a:rPr lang="ko-KR" altLang="en-US"/>
              <a:t>사진</a:t>
            </a:r>
            <a:endParaRPr lang="en-US" altLang="ko-KR"/>
          </a:p>
          <a:p>
            <a:pPr algn="ctr"/>
            <a:r>
              <a:rPr lang="en-US" altLang="ko-KR"/>
              <a:t>Margin</a:t>
            </a:r>
            <a:r>
              <a:rPr lang="ko-KR" altLang="en-US"/>
              <a:t>최대화 하는 정확한 이유</a:t>
            </a:r>
          </a:p>
        </p:txBody>
      </p:sp>
    </p:spTree>
    <p:extLst>
      <p:ext uri="{BB962C8B-B14F-4D97-AF65-F5344CB8AC3E}">
        <p14:creationId xmlns:p14="http://schemas.microsoft.com/office/powerpoint/2010/main" val="224893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A45BE5-4969-4476-870C-89F65C4BE935}"/>
              </a:ext>
            </a:extLst>
          </p:cNvPr>
          <p:cNvSpPr/>
          <p:nvPr/>
        </p:nvSpPr>
        <p:spPr>
          <a:xfrm>
            <a:off x="855677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1	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5F8327-4858-4F39-8993-ADEA4F4FAA20}"/>
              </a:ext>
            </a:extLst>
          </p:cNvPr>
          <p:cNvSpPr/>
          <p:nvPr/>
        </p:nvSpPr>
        <p:spPr>
          <a:xfrm>
            <a:off x="3541553" y="1719742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DBA53A-2A67-4B2B-BC8D-A3229F6A69CA}"/>
              </a:ext>
            </a:extLst>
          </p:cNvPr>
          <p:cNvSpPr/>
          <p:nvPr/>
        </p:nvSpPr>
        <p:spPr>
          <a:xfrm>
            <a:off x="6528033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6890F-3E28-4134-B68F-FB1F07BA1525}"/>
              </a:ext>
            </a:extLst>
          </p:cNvPr>
          <p:cNvSpPr txBox="1"/>
          <p:nvPr/>
        </p:nvSpPr>
        <p:spPr>
          <a:xfrm>
            <a:off x="511728" y="3733101"/>
            <a:ext cx="6191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어떤게 최적의 </a:t>
            </a:r>
            <a:r>
              <a:rPr lang="en-US" altLang="ko-KR" sz="1100"/>
              <a:t>svm</a:t>
            </a:r>
            <a:r>
              <a:rPr lang="ko-KR" altLang="en-US" sz="1100"/>
              <a:t>일지</a:t>
            </a:r>
            <a:endParaRPr lang="en-US" altLang="ko-KR" sz="1100"/>
          </a:p>
          <a:p>
            <a:r>
              <a:rPr lang="ko-KR" altLang="en-US" sz="1100"/>
              <a:t>이유</a:t>
            </a:r>
            <a:endParaRPr lang="en-US" altLang="ko-KR" sz="1100"/>
          </a:p>
          <a:p>
            <a:r>
              <a:rPr lang="ko-KR" altLang="en-US" sz="1100"/>
              <a:t>마진이 넓으면 좋은이유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FA2E60-30D9-4508-8D21-6566E1A7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1" y="2470556"/>
            <a:ext cx="4184693" cy="29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59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4CAF8C00-DCC2-4F59-921A-F0F03069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14" y="1731778"/>
            <a:ext cx="3828983" cy="1441655"/>
          </a:xfrm>
          <a:prstGeom prst="rect">
            <a:avLst/>
          </a:prstGeom>
        </p:spPr>
      </p:pic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endParaRPr lang="ko-KR" altLang="en-US" sz="1600" b="0">
              <a:solidFill>
                <a:schemeClr val="tx1"/>
              </a:solidFill>
            </a:endParaRP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9DD744-0C53-4873-B28E-C3D10F225BDF}"/>
              </a:ext>
            </a:extLst>
          </p:cNvPr>
          <p:cNvGrpSpPr/>
          <p:nvPr/>
        </p:nvGrpSpPr>
        <p:grpSpPr>
          <a:xfrm>
            <a:off x="113335" y="1176349"/>
            <a:ext cx="5188112" cy="2256154"/>
            <a:chOff x="1775305" y="2224059"/>
            <a:chExt cx="6051768" cy="272653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9701B55-73EC-4B03-A1FE-14334F2BEEC6}"/>
                </a:ext>
              </a:extLst>
            </p:cNvPr>
            <p:cNvGrpSpPr/>
            <p:nvPr/>
          </p:nvGrpSpPr>
          <p:grpSpPr>
            <a:xfrm>
              <a:off x="4615637" y="3632479"/>
              <a:ext cx="1143417" cy="783882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F00AA1D5-8E6F-4212-8CB5-6F8729AE320B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이등변 삼각형 13">
                <a:extLst>
                  <a:ext uri="{FF2B5EF4-FFF2-40B4-BE49-F238E27FC236}">
                    <a16:creationId xmlns:a16="http://schemas.microsoft.com/office/drawing/2014/main" id="{EF2A36EC-4429-48AA-BF09-EF8868A53C97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CAE5440F-B878-49D5-AC01-48A82A0C3C53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F52C3D77-2F96-4344-9EFD-4415EEE333B9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이등변 삼각형 16">
                <a:extLst>
                  <a:ext uri="{FF2B5EF4-FFF2-40B4-BE49-F238E27FC236}">
                    <a16:creationId xmlns:a16="http://schemas.microsoft.com/office/drawing/2014/main" id="{BE83F5FD-588F-4EBF-915B-3B370FE522E8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02901B4-E573-414D-B9A7-D3F967B9BDF2}"/>
                </a:ext>
              </a:extLst>
            </p:cNvPr>
            <p:cNvGrpSpPr/>
            <p:nvPr/>
          </p:nvGrpSpPr>
          <p:grpSpPr>
            <a:xfrm>
              <a:off x="3209085" y="2224059"/>
              <a:ext cx="2877424" cy="2357307"/>
              <a:chOff x="3431097" y="2374084"/>
              <a:chExt cx="2877424" cy="2357307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59E197D0-6E26-419F-A695-6428C7520A5B}"/>
                  </a:ext>
                </a:extLst>
              </p:cNvPr>
              <p:cNvCxnSpPr/>
              <p:nvPr/>
            </p:nvCxnSpPr>
            <p:spPr>
              <a:xfrm>
                <a:off x="3431097" y="4731391"/>
                <a:ext cx="287742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FCFE1E44-19ED-42EB-9F51-B1F602575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2374084"/>
                <a:ext cx="0" cy="23573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36A95A4-99BF-4CE8-8F02-635C1F572431}"/>
                </a:ext>
              </a:extLst>
            </p:cNvPr>
            <p:cNvCxnSpPr/>
            <p:nvPr/>
          </p:nvCxnSpPr>
          <p:spPr>
            <a:xfrm flipV="1">
              <a:off x="3355971" y="2643509"/>
              <a:ext cx="2051030" cy="205530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3EB16B1-7807-44E4-8228-9B52D2D308BE}"/>
                </a:ext>
              </a:extLst>
            </p:cNvPr>
            <p:cNvCxnSpPr/>
            <p:nvPr/>
          </p:nvCxnSpPr>
          <p:spPr>
            <a:xfrm flipV="1">
              <a:off x="3657828" y="2895287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FE55241-4711-4885-8033-76FA99A6AEED}"/>
                </a:ext>
              </a:extLst>
            </p:cNvPr>
            <p:cNvCxnSpPr/>
            <p:nvPr/>
          </p:nvCxnSpPr>
          <p:spPr>
            <a:xfrm flipV="1">
              <a:off x="3088784" y="2398132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9A2E858-637C-4D93-B10B-072B1ACAD345}"/>
                </a:ext>
              </a:extLst>
            </p:cNvPr>
            <p:cNvGrpSpPr/>
            <p:nvPr/>
          </p:nvGrpSpPr>
          <p:grpSpPr>
            <a:xfrm>
              <a:off x="3462157" y="2558670"/>
              <a:ext cx="763389" cy="10696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289E2C4-0CDA-4F6D-87AD-65E2A0D45F66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C45F4A94-ED95-43F8-8B38-A784572EDF2A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FF412EC-7D81-4172-9F17-326638A3FA17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F2763E6-C906-4980-AB0B-F4265EA55ED6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90C834F-1ADB-4352-981D-BA64E0EE3293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3AEC60-E074-4D4D-B4DF-60C5DE8823A8}"/>
                </a:ext>
              </a:extLst>
            </p:cNvPr>
            <p:cNvSpPr txBox="1"/>
            <p:nvPr/>
          </p:nvSpPr>
          <p:spPr>
            <a:xfrm>
              <a:off x="5344227" y="2225480"/>
              <a:ext cx="2482846" cy="520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Optimal Hyperplane</a:t>
              </a:r>
            </a:p>
            <a:p>
              <a:pPr algn="l"/>
              <a:r>
                <a:rPr lang="en-US" altLang="ko-KR" sz="1100"/>
                <a:t>/Decision Boundary</a:t>
              </a:r>
              <a:endParaRPr lang="ko-KR" altLang="en-US" sz="1100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3A44A2F7-A029-4FB1-972D-013B3A136C18}"/>
                </a:ext>
              </a:extLst>
            </p:cNvPr>
            <p:cNvCxnSpPr/>
            <p:nvPr/>
          </p:nvCxnSpPr>
          <p:spPr>
            <a:xfrm flipH="1">
              <a:off x="2796949" y="3484508"/>
              <a:ext cx="1182848" cy="770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5CF7977-2A17-47DF-862D-0B4F2D093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4373" y="3821084"/>
              <a:ext cx="1948067" cy="610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55F549-E25A-4916-BB7C-E99173F26B62}"/>
                </a:ext>
              </a:extLst>
            </p:cNvPr>
            <p:cNvSpPr txBox="1"/>
            <p:nvPr/>
          </p:nvSpPr>
          <p:spPr>
            <a:xfrm>
              <a:off x="1775305" y="4212190"/>
              <a:ext cx="11061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Support Vectors</a:t>
              </a:r>
              <a:endParaRPr lang="ko-KR" altLang="en-US" sz="110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552B0FE-F178-44BD-9475-21E9CD1ECF30}"/>
                </a:ext>
              </a:extLst>
            </p:cNvPr>
            <p:cNvCxnSpPr>
              <a:cxnSpLocks/>
            </p:cNvCxnSpPr>
            <p:nvPr/>
          </p:nvCxnSpPr>
          <p:spPr>
            <a:xfrm>
              <a:off x="4481600" y="2999654"/>
              <a:ext cx="618881" cy="5291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0D8440C-A84E-4EF3-A145-4A17B4DB7058}"/>
                </a:ext>
              </a:extLst>
            </p:cNvPr>
            <p:cNvCxnSpPr>
              <a:cxnSpLocks/>
            </p:cNvCxnSpPr>
            <p:nvPr/>
          </p:nvCxnSpPr>
          <p:spPr>
            <a:xfrm>
              <a:off x="4912062" y="3363365"/>
              <a:ext cx="763240" cy="687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70D0847-218B-4C45-8AFF-8DDDA622B1F9}"/>
                </a:ext>
              </a:extLst>
            </p:cNvPr>
            <p:cNvSpPr txBox="1"/>
            <p:nvPr/>
          </p:nvSpPr>
          <p:spPr>
            <a:xfrm>
              <a:off x="5708858" y="3278975"/>
              <a:ext cx="12081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margin</a:t>
              </a:r>
              <a:endParaRPr lang="ko-KR" altLang="en-US" sz="110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552249" y="3759596"/>
            <a:ext cx="7887076" cy="283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두 클래스로부터 최대한 멀리 떨어져 있는 </a:t>
            </a:r>
            <a:r>
              <a:rPr lang="en-US" altLang="ko-KR" sz="1200"/>
              <a:t>Decision Boundary</a:t>
            </a:r>
            <a:r>
              <a:rPr lang="ko-KR" altLang="en-US" sz="1200"/>
              <a:t>를 찾는 분류기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특정 조건을 만족하는 동시에 클래스를 분류하는것을 목표</a:t>
            </a:r>
            <a:r>
              <a:rPr lang="en-US" altLang="ko-KR" sz="1200"/>
              <a:t>(ex) </a:t>
            </a:r>
            <a:r>
              <a:rPr lang="ko-KR" altLang="en-US" sz="1200"/>
              <a:t>짜장</a:t>
            </a:r>
            <a:r>
              <a:rPr lang="en-US" altLang="ko-KR" sz="1200"/>
              <a:t>, </a:t>
            </a:r>
            <a:r>
              <a:rPr lang="ko-KR" altLang="en-US" sz="1200"/>
              <a:t>짬뽕 </a:t>
            </a:r>
            <a:r>
              <a:rPr lang="en-US" altLang="ko-KR" sz="1200"/>
              <a:t>- &gt; </a:t>
            </a:r>
            <a:r>
              <a:rPr lang="ko-KR" altLang="en-US" sz="1200"/>
              <a:t>고춧가루양</a:t>
            </a:r>
            <a:r>
              <a:rPr lang="en-US" altLang="ko-KR" sz="1200"/>
              <a:t>, </a:t>
            </a:r>
            <a:r>
              <a:rPr lang="ko-KR" altLang="en-US" sz="1200"/>
              <a:t>국물의양</a:t>
            </a:r>
            <a:r>
              <a:rPr lang="en-US" altLang="ko-KR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Hyper plane</a:t>
            </a:r>
            <a:r>
              <a:rPr lang="ko-KR" altLang="en-US" sz="1200"/>
              <a:t>이란 어떤 </a:t>
            </a:r>
            <a:r>
              <a:rPr lang="en-US" altLang="ko-KR" sz="1200"/>
              <a:t>N</a:t>
            </a:r>
            <a:r>
              <a:rPr lang="ko-KR" altLang="en-US" sz="1200"/>
              <a:t>차원 공간에서 한 차원이 낮은 </a:t>
            </a:r>
            <a:r>
              <a:rPr lang="en-US" altLang="ko-KR" sz="1200"/>
              <a:t>N-1</a:t>
            </a:r>
            <a:r>
              <a:rPr lang="ko-KR" altLang="en-US" sz="1200"/>
              <a:t>차원의 </a:t>
            </a:r>
            <a:r>
              <a:rPr lang="en-US" altLang="ko-KR" sz="1200"/>
              <a:t>subspace</a:t>
            </a:r>
            <a:r>
              <a:rPr lang="ko-KR" altLang="en-US" sz="1200"/>
              <a:t>를 말함</a:t>
            </a:r>
            <a:r>
              <a:rPr lang="en-US" altLang="ko-KR" sz="1200"/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(ex. 2</a:t>
            </a:r>
            <a:r>
              <a:rPr lang="ko-KR" altLang="en-US" sz="1200"/>
              <a:t>차원인 경우 선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r>
              <a:rPr lang="en-US" altLang="ko-KR" sz="1200"/>
              <a:t>3</a:t>
            </a:r>
            <a:r>
              <a:rPr lang="ko-KR" altLang="en-US" sz="1200"/>
              <a:t>차원의 경우 면을 뜻함</a:t>
            </a:r>
            <a:r>
              <a:rPr lang="en-US" altLang="ko-KR" sz="1200"/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를 통해 어느 쪽에 속하는지 판단</a:t>
            </a:r>
            <a:r>
              <a:rPr lang="en-US" altLang="ko-KR" sz="1200"/>
              <a:t>, </a:t>
            </a:r>
            <a:r>
              <a:rPr lang="ko-KR" altLang="en-US" sz="1200"/>
              <a:t>선형이나비선형 분류</a:t>
            </a:r>
            <a:r>
              <a:rPr lang="en-US" altLang="ko-KR" sz="1200"/>
              <a:t>, </a:t>
            </a:r>
            <a:r>
              <a:rPr lang="ko-KR" altLang="en-US" sz="1200"/>
              <a:t>회귀</a:t>
            </a:r>
            <a:r>
              <a:rPr lang="en-US" altLang="ko-KR" sz="1200"/>
              <a:t>, </a:t>
            </a:r>
            <a:r>
              <a:rPr lang="ko-KR" altLang="en-US" sz="1200"/>
              <a:t>이상치 탐색에도 사용가능한 지도 학습 모델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와 가장 가까이 있는 데이터들이 </a:t>
            </a:r>
            <a:r>
              <a:rPr lang="en-US" altLang="ko-KR" sz="1200"/>
              <a:t>margin</a:t>
            </a:r>
            <a:r>
              <a:rPr lang="ko-KR" altLang="en-US" sz="1200"/>
              <a:t>을 결정하고 이를 </a:t>
            </a:r>
            <a:r>
              <a:rPr lang="en-US" altLang="ko-KR" sz="1200"/>
              <a:t>Support Vector</a:t>
            </a:r>
            <a:r>
              <a:rPr lang="ko-KR" altLang="en-US" sz="1200"/>
              <a:t>라고 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범위밖에 추가 데이터가 들어온다면 </a:t>
            </a:r>
            <a:r>
              <a:rPr lang="en-US" altLang="ko-KR" sz="1200"/>
              <a:t>Decision Boundary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영향을 미치지 않지만 범위 안에 추가 데이터가 들어온다면 영향을 미치게 되어 </a:t>
            </a:r>
            <a:r>
              <a:rPr lang="en-US" altLang="ko-KR" sz="1200"/>
              <a:t>margin</a:t>
            </a:r>
            <a:r>
              <a:rPr lang="ko-KR" altLang="en-US" sz="1200"/>
              <a:t>이 달라질 수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FEE90-43AD-4044-BB3C-2398977C4800}"/>
              </a:ext>
            </a:extLst>
          </p:cNvPr>
          <p:cNvSpPr txBox="1"/>
          <p:nvPr/>
        </p:nvSpPr>
        <p:spPr>
          <a:xfrm>
            <a:off x="1468422" y="3415979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SVM</a:t>
            </a:r>
            <a:r>
              <a:rPr lang="en-US" altLang="ko-KR" sz="1100" b="0">
                <a:solidFill>
                  <a:schemeClr val="tx1"/>
                </a:solidFill>
              </a:rPr>
              <a:t>(Support Vector Machine)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5F4690-2C95-4D62-8057-A982FE2EAA59}"/>
              </a:ext>
            </a:extLst>
          </p:cNvPr>
          <p:cNvSpPr txBox="1"/>
          <p:nvPr/>
        </p:nvSpPr>
        <p:spPr>
          <a:xfrm>
            <a:off x="6294253" y="3417032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HyperPlane</a:t>
            </a:r>
            <a:r>
              <a:rPr lang="en-US" altLang="ko-KR" sz="1100" b="0">
                <a:solidFill>
                  <a:schemeClr val="tx1"/>
                </a:solidFill>
              </a:rPr>
              <a:t>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DCBCCF9-1177-4081-ACF4-1F1847E9FC1C}"/>
              </a:ext>
            </a:extLst>
          </p:cNvPr>
          <p:cNvSpPr/>
          <p:nvPr/>
        </p:nvSpPr>
        <p:spPr>
          <a:xfrm>
            <a:off x="3899619" y="1380857"/>
            <a:ext cx="2568987" cy="1503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초기 </a:t>
            </a:r>
            <a:r>
              <a:rPr lang="en-US" altLang="ko-KR"/>
              <a:t>Svm</a:t>
            </a:r>
            <a:r>
              <a:rPr lang="ko-KR" altLang="en-US"/>
              <a:t>설명 그림</a:t>
            </a:r>
          </a:p>
        </p:txBody>
      </p:sp>
    </p:spTree>
    <p:extLst>
      <p:ext uri="{BB962C8B-B14F-4D97-AF65-F5344CB8AC3E}">
        <p14:creationId xmlns:p14="http://schemas.microsoft.com/office/powerpoint/2010/main" val="43657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,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1200"/>
                  <a:t>  </a:t>
                </a:r>
                <a:r>
                  <a:rPr lang="ko-KR" altLang="en-US" sz="1200"/>
                  <a:t>라고 할 때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200"/>
                  <a:t> </a:t>
                </a:r>
                <a:r>
                  <a:rPr lang="ko-KR" altLang="en-US" sz="1200"/>
                  <a:t>가정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최대  </a:t>
                </a:r>
                <a:r>
                  <a:rPr lang="en-US" altLang="ko-KR" sz="1200"/>
                  <a:t>Margin</a:t>
                </a:r>
                <a:r>
                  <a:rPr lang="ko-KR" altLang="en-US" sz="1200"/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200"/>
                  <a:t>장 바깥에서의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에서 가장 안쪽의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 를 뺀 값이다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+1 −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1200"/>
              </a:p>
              <a:p>
                <a:pPr algn="l">
                  <a:lnSpc>
                    <a:spcPct val="150000"/>
                  </a:lnSpc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그룹 69">
            <a:extLst>
              <a:ext uri="{FF2B5EF4-FFF2-40B4-BE49-F238E27FC236}">
                <a16:creationId xmlns:a16="http://schemas.microsoft.com/office/drawing/2014/main" id="{43906C5A-20AE-4965-A3E2-1B0BB2291F02}"/>
              </a:ext>
            </a:extLst>
          </p:cNvPr>
          <p:cNvGrpSpPr/>
          <p:nvPr/>
        </p:nvGrpSpPr>
        <p:grpSpPr>
          <a:xfrm rot="460961">
            <a:off x="5030677" y="1606923"/>
            <a:ext cx="1270931" cy="1525374"/>
            <a:chOff x="5224839" y="1172964"/>
            <a:chExt cx="1270931" cy="1525374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2A037DBD-8CB3-42E1-AF07-5896413E362B}"/>
                </a:ext>
              </a:extLst>
            </p:cNvPr>
            <p:cNvCxnSpPr/>
            <p:nvPr/>
          </p:nvCxnSpPr>
          <p:spPr>
            <a:xfrm flipH="1" flipV="1">
              <a:off x="5715595" y="1994002"/>
              <a:ext cx="713064" cy="37555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E131E08-A072-4C05-A832-82FBE0F92DFF}"/>
                </a:ext>
              </a:extLst>
            </p:cNvPr>
            <p:cNvCxnSpPr/>
            <p:nvPr/>
          </p:nvCxnSpPr>
          <p:spPr>
            <a:xfrm flipH="1">
              <a:off x="5224839" y="1366853"/>
              <a:ext cx="939567" cy="12885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C075A26-5335-46A7-9DE1-9BEDD3163E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3629" y="1554102"/>
              <a:ext cx="355030" cy="799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id="{20F5592F-AA6D-4B91-95EB-12A8396EBD14}"/>
                </a:ext>
              </a:extLst>
            </p:cNvPr>
            <p:cNvSpPr/>
            <p:nvPr/>
          </p:nvSpPr>
          <p:spPr>
            <a:xfrm flipH="1">
              <a:off x="6231517" y="2224067"/>
              <a:ext cx="264253" cy="985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/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6BA2C83-CBFC-45BC-8393-B8871AD48850}"/>
                </a:ext>
              </a:extLst>
            </p:cNvPr>
            <p:cNvCxnSpPr/>
            <p:nvPr/>
          </p:nvCxnSpPr>
          <p:spPr>
            <a:xfrm flipH="1" flipV="1">
              <a:off x="5561901" y="2245520"/>
              <a:ext cx="866758" cy="132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원호 54">
              <a:extLst>
                <a:ext uri="{FF2B5EF4-FFF2-40B4-BE49-F238E27FC236}">
                  <a16:creationId xmlns:a16="http://schemas.microsoft.com/office/drawing/2014/main" id="{7819A810-6A40-4A24-B5D4-ED4C9D0F7D23}"/>
                </a:ext>
              </a:extLst>
            </p:cNvPr>
            <p:cNvSpPr/>
            <p:nvPr/>
          </p:nvSpPr>
          <p:spPr>
            <a:xfrm rot="20839963" flipH="1">
              <a:off x="6115121" y="2245520"/>
              <a:ext cx="203238" cy="1346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/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284233FB-B6A8-480E-83A0-52D8ABFB6708}"/>
                </a:ext>
              </a:extLst>
            </p:cNvPr>
            <p:cNvCxnSpPr/>
            <p:nvPr/>
          </p:nvCxnSpPr>
          <p:spPr>
            <a:xfrm flipH="1">
              <a:off x="5393282" y="2375005"/>
              <a:ext cx="1035377" cy="101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원호 58">
              <a:extLst>
                <a:ext uri="{FF2B5EF4-FFF2-40B4-BE49-F238E27FC236}">
                  <a16:creationId xmlns:a16="http://schemas.microsoft.com/office/drawing/2014/main" id="{C8136EA3-13F7-4A7F-98E2-998ABAED4F00}"/>
                </a:ext>
              </a:extLst>
            </p:cNvPr>
            <p:cNvSpPr/>
            <p:nvPr/>
          </p:nvSpPr>
          <p:spPr>
            <a:xfrm rot="20448229" flipH="1">
              <a:off x="6058473" y="2328618"/>
              <a:ext cx="172265" cy="1233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/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/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/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/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/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/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1E0F467-4510-4764-BB0E-F49485A0969F}"/>
              </a:ext>
            </a:extLst>
          </p:cNvPr>
          <p:cNvSpPr txBox="1"/>
          <p:nvPr/>
        </p:nvSpPr>
        <p:spPr>
          <a:xfrm>
            <a:off x="1656562" y="356632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5B9CEED-31C0-462A-A188-27208DEA21FB}"/>
              </a:ext>
            </a:extLst>
          </p:cNvPr>
          <p:cNvGrpSpPr/>
          <p:nvPr/>
        </p:nvGrpSpPr>
        <p:grpSpPr>
          <a:xfrm>
            <a:off x="176554" y="1349306"/>
            <a:ext cx="3688653" cy="2360683"/>
            <a:chOff x="1875792" y="1365267"/>
            <a:chExt cx="4454966" cy="2799520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E9F6DD4-FC13-4DDD-BB8B-FC7F76B3CB05}"/>
                </a:ext>
              </a:extLst>
            </p:cNvPr>
            <p:cNvGrpSpPr/>
            <p:nvPr/>
          </p:nvGrpSpPr>
          <p:grpSpPr>
            <a:xfrm>
              <a:off x="1875792" y="1365267"/>
              <a:ext cx="4454966" cy="2761063"/>
              <a:chOff x="2088845" y="2125205"/>
              <a:chExt cx="4828174" cy="2825385"/>
            </a:xfrm>
          </p:grpSpPr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EDE5942E-CF0D-44F6-BA03-31DEA7C08E26}"/>
                  </a:ext>
                </a:extLst>
              </p:cNvPr>
              <p:cNvGrpSpPr/>
              <p:nvPr/>
            </p:nvGrpSpPr>
            <p:grpSpPr>
              <a:xfrm>
                <a:off x="4615637" y="3632479"/>
                <a:ext cx="1143417" cy="783882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99" name="이등변 삼각형 98">
                  <a:extLst>
                    <a:ext uri="{FF2B5EF4-FFF2-40B4-BE49-F238E27FC236}">
                      <a16:creationId xmlns:a16="http://schemas.microsoft.com/office/drawing/2014/main" id="{E63F0B33-6607-4FB7-A239-4CCC2503EAD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이등변 삼각형 99">
                  <a:extLst>
                    <a:ext uri="{FF2B5EF4-FFF2-40B4-BE49-F238E27FC236}">
                      <a16:creationId xmlns:a16="http://schemas.microsoft.com/office/drawing/2014/main" id="{46A75CCD-65E6-4C0C-9B34-B8C01215330D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이등변 삼각형 100">
                  <a:extLst>
                    <a:ext uri="{FF2B5EF4-FFF2-40B4-BE49-F238E27FC236}">
                      <a16:creationId xmlns:a16="http://schemas.microsoft.com/office/drawing/2014/main" id="{22E108C9-3E80-4DB7-B58F-985E44FDF6A2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이등변 삼각형 101">
                  <a:extLst>
                    <a:ext uri="{FF2B5EF4-FFF2-40B4-BE49-F238E27FC236}">
                      <a16:creationId xmlns:a16="http://schemas.microsoft.com/office/drawing/2014/main" id="{E15F165F-8198-4CBD-B17E-340D07B8EEDE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이등변 삼각형 102">
                  <a:extLst>
                    <a:ext uri="{FF2B5EF4-FFF2-40B4-BE49-F238E27FC236}">
                      <a16:creationId xmlns:a16="http://schemas.microsoft.com/office/drawing/2014/main" id="{A3BC2089-BB9D-4945-90A9-D25327F18AF7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95C9A009-B480-4CC0-9856-2630D6FB3F67}"/>
                  </a:ext>
                </a:extLst>
              </p:cNvPr>
              <p:cNvGrpSpPr/>
              <p:nvPr/>
            </p:nvGrpSpPr>
            <p:grpSpPr>
              <a:xfrm>
                <a:off x="3209085" y="2224059"/>
                <a:ext cx="2877424" cy="2357307"/>
                <a:chOff x="3431097" y="2374084"/>
                <a:chExt cx="2877424" cy="2357307"/>
              </a:xfrm>
            </p:grpSpPr>
            <p:cxnSp>
              <p:nvCxnSpPr>
                <p:cNvPr id="97" name="직선 화살표 연결선 96">
                  <a:extLst>
                    <a:ext uri="{FF2B5EF4-FFF2-40B4-BE49-F238E27FC236}">
                      <a16:creationId xmlns:a16="http://schemas.microsoft.com/office/drawing/2014/main" id="{1ACCE954-33C0-4B0F-8D0B-3D40A1905EA1}"/>
                    </a:ext>
                  </a:extLst>
                </p:cNvPr>
                <p:cNvCxnSpPr/>
                <p:nvPr/>
              </p:nvCxnSpPr>
              <p:spPr>
                <a:xfrm>
                  <a:off x="3431097" y="4731391"/>
                  <a:ext cx="28774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화살표 연결선 97">
                  <a:extLst>
                    <a:ext uri="{FF2B5EF4-FFF2-40B4-BE49-F238E27FC236}">
                      <a16:creationId xmlns:a16="http://schemas.microsoft.com/office/drawing/2014/main" id="{14F22AD3-88DE-4A53-ACF0-342D5A730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2374084"/>
                  <a:ext cx="0" cy="23573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2C3C44D3-ADC3-494C-A642-DA3F06102DA8}"/>
                  </a:ext>
                </a:extLst>
              </p:cNvPr>
              <p:cNvCxnSpPr/>
              <p:nvPr/>
            </p:nvCxnSpPr>
            <p:spPr>
              <a:xfrm flipV="1">
                <a:off x="3355971" y="2643509"/>
                <a:ext cx="2051030" cy="205530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5EAF650B-BF5B-4977-B056-B0DFDBF33747}"/>
                  </a:ext>
                </a:extLst>
              </p:cNvPr>
              <p:cNvCxnSpPr/>
              <p:nvPr/>
            </p:nvCxnSpPr>
            <p:spPr>
              <a:xfrm flipV="1">
                <a:off x="3657828" y="2895287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75B2E4B-1183-4A16-8D49-6C6F169ACB04}"/>
                  </a:ext>
                </a:extLst>
              </p:cNvPr>
              <p:cNvCxnSpPr/>
              <p:nvPr/>
            </p:nvCxnSpPr>
            <p:spPr>
              <a:xfrm flipV="1">
                <a:off x="3088784" y="2398132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404502C5-095D-47D5-B26F-AE4734EFD367}"/>
                  </a:ext>
                </a:extLst>
              </p:cNvPr>
              <p:cNvGrpSpPr/>
              <p:nvPr/>
            </p:nvGrpSpPr>
            <p:grpSpPr>
              <a:xfrm>
                <a:off x="3462157" y="2558670"/>
                <a:ext cx="763389" cy="10696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96836F1-FC93-478D-A002-F3518361D264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D2780ABD-907B-4899-8C62-DE1618789D83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99BEDC35-B941-4649-9C82-798F05B4732E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6192413-7FF2-464C-8C56-B8240C5D5964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94BF4BC3-BA00-4CFA-AFC5-C4A295BA474B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altLang="ko-KR" sz="800" b="0" i="1">
                      <a:latin typeface="Cambria Math" panose="02040503050406030204" pitchFamily="18" charset="0"/>
                    </a:endParaRP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/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/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4005BECB-1D04-4D59-8A6E-6B6BC98C8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6949" y="3484508"/>
                <a:ext cx="1182848" cy="1479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A8264B1E-383C-49BF-8BE7-5E0EEEBD01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96949" y="3775081"/>
                <a:ext cx="2035491" cy="460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EEFCE5-F9CE-4A06-B65D-F69CA11BFFEB}"/>
                  </a:ext>
                </a:extLst>
              </p:cNvPr>
              <p:cNvSpPr txBox="1"/>
              <p:nvPr/>
            </p:nvSpPr>
            <p:spPr>
              <a:xfrm>
                <a:off x="2088845" y="3499143"/>
                <a:ext cx="11061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 Vectors</a:t>
                </a:r>
                <a:endParaRPr lang="ko-KR" altLang="en-US" sz="1100"/>
              </a:p>
            </p:txBody>
          </p: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499B3EC8-3DD9-4EE9-90D8-5CC7A3768A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1600" y="2999654"/>
                <a:ext cx="618881" cy="52916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E101CF94-B8B5-492D-9A5F-D88336404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2062" y="3363365"/>
                <a:ext cx="763240" cy="687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64872F2-4508-4184-B065-8AD2709B0786}"/>
                  </a:ext>
                </a:extLst>
              </p:cNvPr>
              <p:cNvSpPr txBox="1"/>
              <p:nvPr/>
            </p:nvSpPr>
            <p:spPr>
              <a:xfrm>
                <a:off x="5708858" y="3278975"/>
                <a:ext cx="12081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margin</a:t>
                </a:r>
                <a:endParaRPr lang="ko-KR" altLang="en-US" sz="1100"/>
              </a:p>
            </p:txBody>
          </p:sp>
          <p:cxnSp>
            <p:nvCxnSpPr>
              <p:cNvPr id="91" name="직선 화살표 연결선 90">
                <a:extLst>
                  <a:ext uri="{FF2B5EF4-FFF2-40B4-BE49-F238E27FC236}">
                    <a16:creationId xmlns:a16="http://schemas.microsoft.com/office/drawing/2014/main" id="{AD73F0B1-CF15-41C0-8499-0151BB82F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4657" y="4463925"/>
                <a:ext cx="562619" cy="481059"/>
              </a:xfrm>
              <a:prstGeom prst="straightConnector1">
                <a:avLst/>
              </a:prstGeom>
              <a:ln>
                <a:prstDash val="lgDash"/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/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ko-KR" altLang="en-US" sz="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blipFill>
                  <a:blip r:embed="rId15"/>
                  <a:stretch>
                    <a:fillRect t="-24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66CF24F-9349-4FCD-9179-FC2CD19C37B6}"/>
              </a:ext>
            </a:extLst>
          </p:cNvPr>
          <p:cNvSpPr/>
          <p:nvPr/>
        </p:nvSpPr>
        <p:spPr>
          <a:xfrm>
            <a:off x="3423098" y="1963856"/>
            <a:ext cx="2747562" cy="1733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벡터로 구하는 </a:t>
            </a:r>
            <a:r>
              <a:rPr lang="en-US" altLang="ko-KR"/>
              <a:t>maximize margin</a:t>
            </a:r>
          </a:p>
          <a:p>
            <a:pPr algn="ctr"/>
            <a:r>
              <a:rPr lang="ko-KR" altLang="en-US"/>
              <a:t>뒤에 라그랑지안이랑 안이어져서 뺴놓음</a:t>
            </a:r>
          </a:p>
        </p:txBody>
      </p:sp>
    </p:spTree>
    <p:extLst>
      <p:ext uri="{BB962C8B-B14F-4D97-AF65-F5344CB8AC3E}">
        <p14:creationId xmlns:p14="http://schemas.microsoft.com/office/powerpoint/2010/main" val="339313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라그랑주 승수법</a:t>
            </a:r>
            <a:r>
              <a:rPr lang="en-US" altLang="ko-KR"/>
              <a:t>(Lagrangian Multiplier Method)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/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승수법이란 제약이 있는 최적화 문제를 푸는 방법 중 하나로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200"/>
                  <a:t>를 곱하고 등식 제약이 있는 문제를 제약 없는 문제로 바꾸어 해결하는 방법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만약 부등식의 제약이 있는 문제면 </a:t>
                </a:r>
                <a:r>
                  <a:rPr lang="en-US" altLang="ko-KR" sz="1200"/>
                  <a:t>KKT(Karush-Kuhn-Tucker)</a:t>
                </a:r>
                <a:r>
                  <a:rPr lang="ko-KR" altLang="en-US" sz="1200"/>
                  <a:t>조건을 만족하는 문제일 때 라그랑주 승수법으로 문제를 해결 할 수 있다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i="1">
                    <a:latin typeface="Cambria Math" panose="02040503050406030204" pitchFamily="18" charset="0"/>
                  </a:rPr>
                  <a:t>계산상의 편의를 위해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max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을 역수를 취하여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min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으로 바꿔 목적함수를 변경</a:t>
                </a:r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algn="ctr"/>
                <a:r>
                  <a:rPr lang="en-US" altLang="ko-KR" sz="1200"/>
                  <a:t>Max Margin = maxx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200">
                    <a:sym typeface="Wingdings" panose="05000000000000000000" pitchFamily="2" charset="2"/>
                  </a:rPr>
                  <a:t>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min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i="1">
                    <a:latin typeface="Cambria Math" panose="02040503050406030204" pitchFamily="18" charset="0"/>
                  </a:rPr>
                  <a:t>	(1)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 ……,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/>
                  <a:t>		(2)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은 목적함수</a:t>
                </a:r>
                <a:r>
                  <a:rPr lang="en-US" altLang="ko-KR" sz="1200"/>
                  <a:t>, (2) </a:t>
                </a:r>
                <a:r>
                  <a:rPr lang="ko-KR" altLang="en-US" sz="1200"/>
                  <a:t>제약조건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의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는 </a:t>
                </a:r>
                <a:r>
                  <a:rPr lang="en-US" altLang="ko-KR" sz="1200"/>
                  <a:t>unknown </a:t>
                </a:r>
                <a:r>
                  <a:rPr lang="ko-KR" altLang="en-US" sz="1200"/>
                  <a:t>데이터 임으로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를 계산할 수 있도록 제약조건을 </a:t>
                </a:r>
                <a:r>
                  <a:rPr lang="en-US" altLang="ko-KR" sz="1200"/>
                  <a:t>1</a:t>
                </a:r>
                <a:r>
                  <a:rPr lang="ko-KR" altLang="en-US" sz="1200"/>
                  <a:t>번에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목적함수는 </a:t>
                </a:r>
                <a:r>
                  <a:rPr lang="en-US" altLang="ko-KR" sz="1200"/>
                  <a:t>2</a:t>
                </a:r>
                <a:r>
                  <a:rPr lang="ko-KR" altLang="en-US" sz="1200"/>
                  <a:t>차식으로 되어있고 제약식은 </a:t>
                </a:r>
                <a:r>
                  <a:rPr lang="en-US" altLang="ko-KR" sz="1200"/>
                  <a:t>linear</a:t>
                </a:r>
                <a:r>
                  <a:rPr lang="ko-KR" altLang="en-US" sz="1200"/>
                  <a:t>로 되어있음 </a:t>
                </a:r>
                <a:r>
                  <a:rPr lang="en-US" altLang="ko-KR" sz="1200"/>
                  <a:t>=&gt; quadratic programming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=&gt; </a:t>
                </a:r>
                <a:r>
                  <a:rPr lang="ko-KR" altLang="en-US" sz="1200"/>
                  <a:t>최대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최소 하나만 존재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Train data</a:t>
                </a:r>
                <a:r>
                  <a:rPr lang="ko-KR" altLang="en-US" sz="1200"/>
                  <a:t>가 </a:t>
                </a:r>
                <a:r>
                  <a:rPr lang="en-US" altLang="ko-KR" sz="1200"/>
                  <a:t>linearly separable</a:t>
                </a:r>
                <a:r>
                  <a:rPr lang="ko-KR" altLang="en-US" sz="1200"/>
                  <a:t>한 경우에만 해가 존재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 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blipFill>
                <a:blip r:embed="rId3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210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/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벡터 </a:t>
                </a:r>
                <a:r>
                  <a:rPr lang="en-US" altLang="ko-KR" sz="1200"/>
                  <a:t>w</a:t>
                </a:r>
                <a:r>
                  <a:rPr lang="ko-KR" altLang="en-US" sz="1200"/>
                  <a:t>와 </a:t>
                </a:r>
                <a:r>
                  <a:rPr lang="en-US" altLang="ko-KR" sz="1200"/>
                  <a:t>b</a:t>
                </a:r>
                <a:r>
                  <a:rPr lang="ko-KR" altLang="en-US" sz="1200"/>
                  <a:t>를 계산 할 수 있도록 </a:t>
                </a:r>
                <a:r>
                  <a:rPr lang="en-US" altLang="ko-KR" sz="1200"/>
                  <a:t>decision rule</a:t>
                </a:r>
                <a:r>
                  <a:rPr lang="ko-KR" altLang="en-US" sz="1200"/>
                  <a:t>에 여러 제약 조건을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blipFill>
                <a:blip r:embed="rId3"/>
                <a:stretch>
                  <a:fillRect t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32A194B-BA4D-4540-BCAF-25947FCDEBAA}"/>
              </a:ext>
            </a:extLst>
          </p:cNvPr>
          <p:cNvSpPr txBox="1"/>
          <p:nvPr/>
        </p:nvSpPr>
        <p:spPr>
          <a:xfrm>
            <a:off x="832607" y="5721184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https://junstar92.tistory.com/48</a:t>
            </a:r>
          </a:p>
        </p:txBody>
      </p:sp>
    </p:spTree>
    <p:extLst>
      <p:ext uri="{BB962C8B-B14F-4D97-AF65-F5344CB8AC3E}">
        <p14:creationId xmlns:p14="http://schemas.microsoft.com/office/powerpoint/2010/main" val="2545909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Margin</a:t>
            </a:r>
            <a:r>
              <a:rPr lang="ko-KR" altLang="en-US"/>
              <a:t>의 </a:t>
            </a:r>
            <a:r>
              <a:rPr lang="en-US" altLang="ko-KR"/>
              <a:t>Optimization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A5FC7-F095-49B5-B57C-0D1BC9428A39}"/>
              </a:ext>
            </a:extLst>
          </p:cNvPr>
          <p:cNvSpPr txBox="1"/>
          <p:nvPr/>
        </p:nvSpPr>
        <p:spPr>
          <a:xfrm>
            <a:off x="111154" y="1493240"/>
            <a:ext cx="3934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라그랑주 승수법</a:t>
            </a:r>
            <a:endParaRPr lang="en-US" altLang="ko-KR" sz="1100"/>
          </a:p>
          <a:p>
            <a:pPr algn="l"/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r>
              <a:rPr lang="en-US" altLang="ko-KR" sz="1100"/>
              <a:t>Quadratic</a:t>
            </a:r>
            <a:r>
              <a:rPr lang="ko-KR" altLang="en-US" sz="1100"/>
              <a:t> </a:t>
            </a:r>
            <a:r>
              <a:rPr lang="en-US" altLang="ko-KR" sz="1100"/>
              <a:t>programming</a:t>
            </a:r>
            <a:endParaRPr lang="ko-KR" alt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A3834-68CE-4FDA-BC76-E817470D9889}"/>
              </a:ext>
            </a:extLst>
          </p:cNvPr>
          <p:cNvSpPr txBox="1"/>
          <p:nvPr/>
        </p:nvSpPr>
        <p:spPr>
          <a:xfrm>
            <a:off x="111154" y="964626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https://greedywyatt.tistory.com/121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/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정리 해보면 조건</a:t>
                </a:r>
                <a:r>
                  <a:rPr lang="en-US" altLang="ko-KR" sz="1100"/>
                  <a:t>(constraints)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US" altLang="ko-KR" sz="1100"/>
                  <a:t>, </a:t>
                </a:r>
                <a:r>
                  <a:rPr lang="ko-KR" altLang="en-US" sz="1100"/>
                  <a:t>목적함수</a:t>
                </a:r>
                <a:r>
                  <a:rPr lang="en-US" altLang="ko-KR" sz="1100"/>
                  <a:t>: minimize ½ |w|^2</a:t>
                </a:r>
              </a:p>
              <a:p>
                <a:pPr algn="l"/>
                <a:r>
                  <a:rPr lang="ko-KR" altLang="en-US" sz="11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100" b="0"/>
                  <a:t>에 따라 보조방정식을 세우면 아래와 같다</a:t>
                </a:r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1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1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ko-KR" sz="1100"/>
              </a:p>
              <a:p>
                <a:pPr algn="l"/>
                <a:endParaRPr lang="en-US" altLang="ko-KR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blipFill>
                <a:blip r:embed="rId3"/>
                <a:stretch>
                  <a:fillRect t="-21176" b="-6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309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A19FD9-C3BD-402F-99E2-9981C526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71" y="2123476"/>
            <a:ext cx="7586057" cy="297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82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0DCB7A-BE14-424E-B179-6C280696BD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F38ED96-085B-4A69-ADAE-0FF9BC55E223}"/>
              </a:ext>
            </a:extLst>
          </p:cNvPr>
          <p:cNvGrpSpPr/>
          <p:nvPr/>
        </p:nvGrpSpPr>
        <p:grpSpPr>
          <a:xfrm>
            <a:off x="566261" y="1043940"/>
            <a:ext cx="8011477" cy="4617177"/>
            <a:chOff x="675323" y="1729740"/>
            <a:chExt cx="8011477" cy="4617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6DD1003-1A95-4125-9921-B5F22CC58407}"/>
                    </a:ext>
                  </a:extLst>
                </p:cNvPr>
                <p:cNvSpPr txBox="1"/>
                <p:nvPr/>
              </p:nvSpPr>
              <p:spPr>
                <a:xfrm>
                  <a:off x="716280" y="1729740"/>
                  <a:ext cx="6492240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질문</a:t>
                  </a:r>
                  <a:endParaRPr lang="en-US" altLang="ko-KR" sz="1100"/>
                </a:p>
                <a:p>
                  <a:pPr algn="l"/>
                  <a:r>
                    <a:rPr lang="en-US" altLang="ko-KR" sz="1100"/>
                    <a:t>1)</a:t>
                  </a:r>
                  <a:r>
                    <a:rPr lang="ko-KR" altLang="en-US" sz="1100"/>
                    <a:t>가중치 벡터</a:t>
                  </a:r>
                  <a:r>
                    <a:rPr lang="en-US" altLang="ko-KR" sz="1100"/>
                    <a:t>(w)</a:t>
                  </a:r>
                  <a:r>
                    <a:rPr lang="ko-KR" altLang="en-US" sz="1100"/>
                    <a:t>가 직교한다</a:t>
                  </a:r>
                  <a:r>
                    <a:rPr lang="en-US" altLang="ko-KR" sz="1100"/>
                    <a:t>?</a:t>
                  </a:r>
                </a:p>
                <a:p>
                  <a:pPr algn="l"/>
                  <a:r>
                    <a:rPr lang="ko-KR" altLang="en-US" sz="1100"/>
                    <a:t>벡터 </a:t>
                  </a:r>
                  <a:r>
                    <a:rPr lang="en-US" altLang="ko-KR" sz="1100"/>
                    <a:t>w,x</a:t>
                  </a:r>
                  <a:r>
                    <a:rPr lang="ko-KR" altLang="en-US" sz="1100"/>
                    <a:t>가  있다고 가정하고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ko-KR" altLang="en-US" sz="1100"/>
                    <a:t>의 수식을 따르는 선형 </a:t>
                  </a:r>
                  <a:r>
                    <a:rPr lang="en-US" altLang="ko-KR" sz="1100"/>
                    <a:t>decision boundary</a:t>
                  </a:r>
                  <a:r>
                    <a:rPr lang="ko-KR" altLang="en-US" sz="1100"/>
                    <a:t>라고 함</a:t>
                  </a:r>
                  <a:endParaRPr lang="en-US" altLang="ko-KR" sz="1100"/>
                </a:p>
                <a:p>
                  <a:pPr algn="l"/>
                  <a:r>
                    <a:rPr lang="ko-KR" altLang="en-US" sz="1100"/>
                    <a:t>벡터 </a:t>
                  </a:r>
                  <a:r>
                    <a:rPr lang="en-US" altLang="ko-KR" sz="1100"/>
                    <a:t>w,x</a:t>
                  </a:r>
                  <a:r>
                    <a:rPr lang="ko-KR" altLang="en-US" sz="1100"/>
                    <a:t>의 내적은 </a:t>
                  </a:r>
                  <a:r>
                    <a:rPr lang="en-US" altLang="ko-KR" sz="1100"/>
                    <a:t>p</a:t>
                  </a:r>
                  <a:r>
                    <a:rPr lang="ko-KR" altLang="en-US" sz="1100"/>
                    <a:t>이다 </a:t>
                  </a:r>
                  <a:r>
                    <a:rPr lang="en-US" altLang="ko-KR" sz="1100"/>
                    <a:t>p</a:t>
                  </a:r>
                  <a:r>
                    <a:rPr lang="ko-KR" altLang="en-US" sz="1100"/>
                    <a:t>가</a:t>
                  </a:r>
                  <a:r>
                    <a:rPr lang="en-US" altLang="ko-KR" sz="1100"/>
                    <a:t> </a:t>
                  </a:r>
                  <a:r>
                    <a:rPr lang="ko-KR" altLang="en-US" sz="1100"/>
                    <a:t>제일 커지는 각도 </a:t>
                  </a:r>
                  <a:r>
                    <a:rPr lang="en-US" altLang="ko-KR" sz="1100"/>
                    <a:t>0</a:t>
                  </a:r>
                  <a:r>
                    <a:rPr lang="ko-KR" altLang="en-US" sz="1100"/>
                    <a:t>도</a:t>
                  </a:r>
                  <a:r>
                    <a:rPr lang="en-US" altLang="ko-KR" sz="1100"/>
                    <a:t>(</a:t>
                  </a:r>
                  <a:r>
                    <a:rPr lang="ko-KR" altLang="en-US" sz="1100"/>
                    <a:t>겹쳐졌을때</a:t>
                  </a:r>
                  <a:r>
                    <a:rPr lang="en-US" altLang="ko-KR" sz="1100"/>
                    <a:t>) </a:t>
                  </a:r>
                  <a:r>
                    <a:rPr lang="ko-KR" altLang="en-US" sz="1100"/>
                    <a:t>작아지는 각도가 </a:t>
                  </a:r>
                  <a:r>
                    <a:rPr lang="en-US" altLang="ko-KR" sz="1100"/>
                    <a:t>90(</a:t>
                  </a:r>
                  <a:r>
                    <a:rPr lang="ko-KR" altLang="en-US" sz="1100"/>
                    <a:t>수직</a:t>
                  </a:r>
                  <a:r>
                    <a:rPr lang="en-US" altLang="ko-KR" sz="1100"/>
                    <a:t>)</a:t>
                  </a:r>
                  <a:r>
                    <a:rPr lang="ko-KR" altLang="en-US" sz="1100"/>
                    <a:t>이다</a:t>
                  </a:r>
                  <a:endParaRPr lang="en-US" altLang="ko-KR" sz="1100"/>
                </a:p>
                <a:p>
                  <a:pPr algn="l"/>
                  <a:r>
                    <a:rPr lang="en-US" altLang="ko-KR" sz="1100"/>
                    <a:t>Wx=0</a:t>
                  </a:r>
                  <a:r>
                    <a:rPr lang="ko-KR" altLang="en-US" sz="1100"/>
                    <a:t>일때 벡터 </a:t>
                  </a:r>
                  <a:r>
                    <a:rPr lang="en-US" altLang="ko-KR" sz="1100"/>
                    <a:t>x</a:t>
                  </a:r>
                  <a:r>
                    <a:rPr lang="ko-KR" altLang="en-US" sz="1100"/>
                    <a:t>의 모든 점들은 벡터 </a:t>
                  </a:r>
                  <a:r>
                    <a:rPr lang="en-US" altLang="ko-KR" sz="1100"/>
                    <a:t>w</a:t>
                  </a:r>
                  <a:r>
                    <a:rPr lang="ko-KR" altLang="en-US" sz="1100"/>
                    <a:t>에 직교한다는 의미가 됨</a:t>
                  </a:r>
                  <a:endParaRPr lang="en-US" altLang="ko-KR" sz="1100"/>
                </a:p>
                <a:p>
                  <a:pPr algn="l"/>
                  <a:endParaRPr lang="ko-KR" altLang="en-US" sz="110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6DD1003-1A95-4125-9921-B5F22CC58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280" y="1729740"/>
                  <a:ext cx="6492240" cy="1107996"/>
                </a:xfrm>
                <a:prstGeom prst="rect">
                  <a:avLst/>
                </a:prstGeom>
                <a:blipFill>
                  <a:blip r:embed="rId2"/>
                  <a:stretch>
                    <a:fillRect t="-54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2264EF9D-F72E-4FF9-AF83-26A9F45904A7}"/>
                </a:ext>
              </a:extLst>
            </p:cNvPr>
            <p:cNvCxnSpPr/>
            <p:nvPr/>
          </p:nvCxnSpPr>
          <p:spPr>
            <a:xfrm>
              <a:off x="6837680" y="1866721"/>
              <a:ext cx="1849120" cy="13793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64328B8-AA85-43DD-AD39-18B3FDA68AD9}"/>
                </a:ext>
              </a:extLst>
            </p:cNvPr>
            <p:cNvCxnSpPr/>
            <p:nvPr/>
          </p:nvCxnSpPr>
          <p:spPr>
            <a:xfrm flipV="1">
              <a:off x="7277100" y="2499181"/>
              <a:ext cx="381000" cy="4040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C83B30-665C-4375-B588-E1D9511A468B}"/>
                </a:ext>
              </a:extLst>
            </p:cNvPr>
            <p:cNvSpPr txBox="1"/>
            <p:nvPr/>
          </p:nvSpPr>
          <p:spPr>
            <a:xfrm>
              <a:off x="7326629" y="2713896"/>
              <a:ext cx="2971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w</a:t>
              </a:r>
              <a:endParaRPr lang="ko-KR" altLang="en-US" sz="1100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806CB9D-70FA-4DCB-B40D-198DE4F3BD84}"/>
                </a:ext>
              </a:extLst>
            </p:cNvPr>
            <p:cNvCxnSpPr/>
            <p:nvPr/>
          </p:nvCxnSpPr>
          <p:spPr>
            <a:xfrm flipH="1" flipV="1">
              <a:off x="7094220" y="2114460"/>
              <a:ext cx="182880" cy="788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3662A7-7AF8-4874-9CF3-79ADC83FC743}"/>
                </a:ext>
              </a:extLst>
            </p:cNvPr>
            <p:cNvSpPr txBox="1"/>
            <p:nvPr/>
          </p:nvSpPr>
          <p:spPr>
            <a:xfrm>
              <a:off x="6860540" y="2234862"/>
              <a:ext cx="2971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x</a:t>
              </a:r>
              <a:endParaRPr lang="ko-KR" altLang="en-US" sz="11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E4E660-69A7-4280-902C-9864E41A9AE9}"/>
                </a:ext>
              </a:extLst>
            </p:cNvPr>
            <p:cNvSpPr txBox="1"/>
            <p:nvPr/>
          </p:nvSpPr>
          <p:spPr>
            <a:xfrm>
              <a:off x="7582852" y="2461945"/>
              <a:ext cx="2324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p</a:t>
              </a:r>
              <a:endParaRPr lang="ko-KR" altLang="en-US" sz="1100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0E6CF94-03FD-4711-B5E2-50CEDCA467D6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7318057" y="2592750"/>
              <a:ext cx="264795" cy="2815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6139381-1502-4C5B-9C8E-B597DA066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323" y="2733519"/>
              <a:ext cx="3720993" cy="3613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7281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F62005-02AE-4F83-AFC7-000CCEE08E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029E61-3350-4EFD-B555-9062295CE22F}"/>
                  </a:ext>
                </a:extLst>
              </p:cNvPr>
              <p:cNvSpPr txBox="1"/>
              <p:nvPr/>
            </p:nvSpPr>
            <p:spPr>
              <a:xfrm>
                <a:off x="518160" y="1424940"/>
                <a:ext cx="8305800" cy="51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질문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최대 마진 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/>
                  <a:t>분모를 최소화 하면 최대마진이 나오겠구나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029E61-3350-4EFD-B555-9062295CE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1424940"/>
                <a:ext cx="8305800" cy="515910"/>
              </a:xfrm>
              <a:prstGeom prst="rect">
                <a:avLst/>
              </a:prstGeom>
              <a:blipFill>
                <a:blip r:embed="rId2"/>
                <a:stretch>
                  <a:fillRect t="-11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077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DD34D09-0B84-452B-857E-3AC91B5C41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9E979-703E-4CF1-99D0-47A312AC2823}"/>
              </a:ext>
            </a:extLst>
          </p:cNvPr>
          <p:cNvSpPr txBox="1"/>
          <p:nvPr/>
        </p:nvSpPr>
        <p:spPr>
          <a:xfrm>
            <a:off x="251460" y="1257300"/>
            <a:ext cx="79781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Svm</a:t>
            </a:r>
            <a:r>
              <a:rPr lang="ko-KR" altLang="en-US" sz="1100"/>
              <a:t>이 최적화 문제인이유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ko-KR" altLang="en-US" sz="1100"/>
              <a:t>최대마진을 갖는 </a:t>
            </a:r>
            <a:r>
              <a:rPr lang="en-US" altLang="ko-KR" sz="1100"/>
              <a:t>decision boundary </a:t>
            </a:r>
            <a:r>
              <a:rPr lang="ko-KR" altLang="en-US" sz="1100"/>
              <a:t>찾는 것은 조건부 최적화 문제</a:t>
            </a:r>
            <a:r>
              <a:rPr lang="en-US" altLang="ko-KR" sz="1100"/>
              <a:t>(constrained optimization problem)</a:t>
            </a:r>
            <a:r>
              <a:rPr lang="ko-KR" altLang="en-US" sz="1100"/>
              <a:t>로 나타낼 수 있다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최대마진을 구하는 문제를 역수로 취하면 최소화 하는 문제로 바꿀 수 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940B6C-261B-4873-96A3-59EAFB88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39" y="1964606"/>
            <a:ext cx="2336733" cy="861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447BA-509A-43F2-A793-383BF21C53DA}"/>
              </a:ext>
            </a:extLst>
          </p:cNvPr>
          <p:cNvSpPr txBox="1"/>
          <p:nvPr/>
        </p:nvSpPr>
        <p:spPr>
          <a:xfrm>
            <a:off x="251460" y="2887980"/>
            <a:ext cx="734568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위의 문제의 두가지 측면으로 보면 다음과 같다</a:t>
            </a:r>
            <a:endParaRPr lang="en-US" altLang="ko-KR" sz="1100"/>
          </a:p>
          <a:p>
            <a:pPr algn="l"/>
            <a:r>
              <a:rPr lang="en-US" altLang="ko-KR" sz="1100"/>
              <a:t>-</a:t>
            </a:r>
            <a:r>
              <a:rPr lang="ko-KR" altLang="en-US" sz="1100"/>
              <a:t>해의 유일성</a:t>
            </a:r>
            <a:r>
              <a:rPr lang="en-US" altLang="ko-KR" sz="1100"/>
              <a:t>(uniqueness)</a:t>
            </a:r>
          </a:p>
          <a:p>
            <a:pPr algn="l"/>
            <a:r>
              <a:rPr lang="en-US" altLang="ko-KR" sz="1100"/>
              <a:t>	- w</a:t>
            </a:r>
            <a:r>
              <a:rPr lang="ko-KR" altLang="en-US" sz="1100"/>
              <a:t>의 </a:t>
            </a:r>
            <a:r>
              <a:rPr lang="en-US" altLang="ko-KR" sz="1100"/>
              <a:t>2</a:t>
            </a:r>
            <a:r>
              <a:rPr lang="ko-KR" altLang="en-US" sz="1100"/>
              <a:t>차항만 가짐으로 블록</a:t>
            </a:r>
            <a:r>
              <a:rPr lang="en-US" altLang="ko-KR" sz="1100"/>
              <a:t>(convex)</a:t>
            </a:r>
            <a:r>
              <a:rPr lang="ko-KR" altLang="en-US" sz="1100"/>
              <a:t>한 함수</a:t>
            </a:r>
            <a:r>
              <a:rPr lang="en-US" altLang="ko-KR" sz="1100"/>
              <a:t>, </a:t>
            </a:r>
            <a:r>
              <a:rPr lang="ko-KR" altLang="en-US" sz="1100"/>
              <a:t>조건식은 </a:t>
            </a:r>
            <a:r>
              <a:rPr lang="en-US" altLang="ko-KR" sz="1100"/>
              <a:t>n</a:t>
            </a:r>
            <a:r>
              <a:rPr lang="ko-KR" altLang="en-US" sz="1100"/>
              <a:t>개 모두 선형 </a:t>
            </a:r>
            <a:r>
              <a:rPr lang="en-US" altLang="ko-KR" sz="1100"/>
              <a:t>=&gt; </a:t>
            </a:r>
            <a:r>
              <a:rPr lang="ko-KR" altLang="en-US" sz="1100"/>
              <a:t>유일한 해를 가짐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문제의 난이도</a:t>
            </a:r>
            <a:endParaRPr lang="en-US" altLang="ko-KR" sz="11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N</a:t>
            </a:r>
            <a:r>
              <a:rPr lang="ko-KR" altLang="en-US" sz="1100"/>
              <a:t>개의 선형부등식을 가진 </a:t>
            </a:r>
            <a:r>
              <a:rPr lang="en-US" altLang="ko-KR" sz="1100"/>
              <a:t>2</a:t>
            </a:r>
            <a:r>
              <a:rPr lang="ko-KR" altLang="en-US" sz="1100"/>
              <a:t>차함수의 최적화 문제 </a:t>
            </a:r>
            <a:r>
              <a:rPr lang="en-US" altLang="ko-KR" sz="1100"/>
              <a:t>n</a:t>
            </a:r>
            <a:r>
              <a:rPr lang="ko-KR" altLang="en-US" sz="1100"/>
              <a:t>의 개수는 엄청 클 수 있음 </a:t>
            </a:r>
            <a:r>
              <a:rPr lang="en-US" altLang="ko-KR" sz="1100"/>
              <a:t>=&gt; </a:t>
            </a:r>
            <a:r>
              <a:rPr lang="ko-KR" altLang="en-US" sz="1100"/>
              <a:t>라그랑지안 승수로 해결</a:t>
            </a:r>
            <a:endParaRPr lang="en-US" altLang="ko-KR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2F547-602F-44FE-AF0E-650C443082CC}"/>
                  </a:ext>
                </a:extLst>
              </p:cNvPr>
              <p:cNvSpPr txBox="1"/>
              <p:nvPr/>
            </p:nvSpPr>
            <p:spPr>
              <a:xfrm>
                <a:off x="251460" y="3962400"/>
                <a:ext cx="7399020" cy="26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Primal</a:t>
                </a:r>
                <a:r>
                  <a:rPr lang="ko-KR" altLang="en-US" sz="1100"/>
                  <a:t>문제 최소화 하는 문제 </a:t>
                </a:r>
                <a:r>
                  <a:rPr lang="en-US" altLang="ko-KR" sz="1100"/>
                  <a:t>, dual</a:t>
                </a:r>
                <a:r>
                  <a:rPr lang="ko-KR" altLang="en-US" sz="1100"/>
                  <a:t>문제 편미분</a:t>
                </a:r>
                <a:r>
                  <a:rPr lang="en-US" altLang="ko-KR" sz="1100"/>
                  <a:t>=0,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sz="1100"/>
                  <a:t> 이라는 두조건 에 식을 최대호 ㅏ하는 문제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2F547-602F-44FE-AF0E-650C44308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962400"/>
                <a:ext cx="7399020" cy="264816"/>
              </a:xfrm>
              <a:prstGeom prst="rect">
                <a:avLst/>
              </a:prstGeom>
              <a:blipFill>
                <a:blip r:embed="rId3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248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DCCBDD-B016-43FD-85CF-444B63E3E2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Dual</a:t>
            </a:r>
            <a:r>
              <a:rPr lang="ko-KR" altLang="en-US"/>
              <a:t>을 쓰는 이유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20A29-E49A-4843-8F12-2BDA294D219B}"/>
                  </a:ext>
                </a:extLst>
              </p:cNvPr>
              <p:cNvSpPr txBox="1"/>
              <p:nvPr/>
            </p:nvSpPr>
            <p:spPr>
              <a:xfrm>
                <a:off x="243840" y="1287780"/>
                <a:ext cx="323088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Primal problem </a:t>
                </a:r>
              </a:p>
              <a:p>
                <a:pPr/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  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100"/>
                  <a:t>  		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/>
                  <a:t> =&gt; primal optimal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1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20A29-E49A-4843-8F12-2BDA294D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287780"/>
                <a:ext cx="3230880" cy="938719"/>
              </a:xfrm>
              <a:prstGeom prst="rect">
                <a:avLst/>
              </a:prstGeom>
              <a:blipFill>
                <a:blip r:embed="rId2"/>
                <a:stretch>
                  <a:fillRect t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E3DF83-4C97-41F3-B471-5780C9EAC4B7}"/>
                  </a:ext>
                </a:extLst>
              </p:cNvPr>
              <p:cNvSpPr txBox="1"/>
              <p:nvPr/>
            </p:nvSpPr>
            <p:spPr>
              <a:xfrm>
                <a:off x="3661410" y="1287780"/>
                <a:ext cx="3230880" cy="880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 b="0">
                    <a:latin typeface="Cambria Math" panose="02040503050406030204" pitchFamily="18" charset="0"/>
                  </a:rPr>
                  <a:t>Lagrangain dual function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≜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eqArr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1100" b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              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/>
                  <a:t>(primal optimal value)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E3DF83-4C97-41F3-B471-5780C9EAC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410" y="1287780"/>
                <a:ext cx="3230880" cy="880113"/>
              </a:xfrm>
              <a:prstGeom prst="rect">
                <a:avLst/>
              </a:prstGeom>
              <a:blipFill>
                <a:blip r:embed="rId3"/>
                <a:stretch>
                  <a:fillRect t="-690"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2AF54-9B59-4580-94CB-6CA3BFB03042}"/>
                  </a:ext>
                </a:extLst>
              </p:cNvPr>
              <p:cNvSpPr txBox="1"/>
              <p:nvPr/>
            </p:nvSpPr>
            <p:spPr>
              <a:xfrm>
                <a:off x="243840" y="2598420"/>
                <a:ext cx="3992880" cy="1790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결론</a:t>
                </a:r>
                <a:r>
                  <a:rPr lang="en-US" altLang="ko-KR" sz="1100"/>
                  <a:t>: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≥0,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eqArr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≜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ko-KR" sz="1100" b="0"/>
              </a:p>
              <a:p>
                <a:pPr algn="l"/>
                <a:r>
                  <a:rPr lang="ko-KR" altLang="en-US" sz="1100" b="0"/>
                  <a:t>최종 결론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𝑤𝑒𝑎𝑘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𝑑𝑢𝑎𝑙𝑖𝑡𝑦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100" b="0"/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 b="0"/>
                  <a:t>만족하는 </a:t>
                </a:r>
                <a:r>
                  <a:rPr lang="en-US" altLang="ko-KR" sz="1100" b="0"/>
                  <a:t>feasible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 b="0"/>
                  <a:t>가 </a:t>
                </a:r>
                <a:r>
                  <a:rPr lang="en-US" altLang="ko-KR" sz="1100"/>
                  <a:t>optimal </a:t>
                </a:r>
                <a:r>
                  <a:rPr lang="ko-KR" altLang="en-US" sz="1100"/>
                  <a:t>하다</a:t>
                </a:r>
                <a:endParaRPr lang="en-US" altLang="ko-KR" sz="1100"/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>
                    <a:solidFill>
                      <a:srgbClr val="FF0000"/>
                    </a:solidFill>
                  </a:rPr>
                  <a:t>는 </a:t>
                </a:r>
                <a:r>
                  <a:rPr lang="en-US" altLang="ko-KR" sz="1100">
                    <a:solidFill>
                      <a:srgbClr val="FF0000"/>
                    </a:solidFill>
                  </a:rPr>
                  <a:t>primal problem</a:t>
                </a:r>
                <a:r>
                  <a:rPr lang="ko-KR" altLang="en-US" sz="1100">
                    <a:solidFill>
                      <a:srgbClr val="FF0000"/>
                    </a:solidFill>
                  </a:rPr>
                  <a:t>에 만족해야하고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>
                    <a:solidFill>
                      <a:srgbClr val="FF0000"/>
                    </a:solidFill>
                  </a:rPr>
                  <a:t>는 조건 없고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>
                    <a:solidFill>
                      <a:srgbClr val="FF0000"/>
                    </a:solidFill>
                  </a:rPr>
                  <a:t>는 양수여야함</a:t>
                </a:r>
                <a:endParaRPr lang="en-US" altLang="ko-KR" sz="1100">
                  <a:solidFill>
                    <a:srgbClr val="FF0000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/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 b="0"/>
                  <a:t>=&gt; dual optimal</a:t>
                </a:r>
                <a:r>
                  <a:rPr lang="en-US" altLang="ko-KR" sz="1100"/>
                  <a:t>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1100" b="0"/>
                  <a:t>=&gt; primal optimal</a:t>
                </a:r>
                <a:r>
                  <a:rPr lang="ko-KR" altLang="en-US" sz="1100" b="0"/>
                  <a:t>이다</a:t>
                </a:r>
                <a:endParaRPr lang="en-US" altLang="ko-KR" sz="1100" b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2AF54-9B59-4580-94CB-6CA3BFB0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2598420"/>
                <a:ext cx="3992880" cy="1790298"/>
              </a:xfrm>
              <a:prstGeom prst="rect">
                <a:avLst/>
              </a:prstGeom>
              <a:blipFill>
                <a:blip r:embed="rId4"/>
                <a:stretch>
                  <a:fillRect t="-340" b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3CDDD9-EEA5-4B05-85B6-E5D76180A7FE}"/>
                  </a:ext>
                </a:extLst>
              </p:cNvPr>
              <p:cNvSpPr txBox="1"/>
              <p:nvPr/>
            </p:nvSpPr>
            <p:spPr>
              <a:xfrm>
                <a:off x="4465320" y="2598420"/>
                <a:ext cx="266700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Dual problem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3CDDD9-EEA5-4B05-85B6-E5D76180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20" y="2598420"/>
                <a:ext cx="2667000" cy="600164"/>
              </a:xfrm>
              <a:prstGeom prst="rect">
                <a:avLst/>
              </a:prstGeom>
              <a:blipFill>
                <a:blip r:embed="rId5"/>
                <a:stretch>
                  <a:fillRect t="-10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590B9-6664-4F33-92CA-70C656E9FB6E}"/>
                  </a:ext>
                </a:extLst>
              </p:cNvPr>
              <p:cNvSpPr txBox="1"/>
              <p:nvPr/>
            </p:nvSpPr>
            <p:spPr>
              <a:xfrm>
                <a:off x="243840" y="4526280"/>
                <a:ext cx="7962900" cy="374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eqArr>
                              <m:eqArrPr>
                                <m:ctrl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eqArr>
                          </m:fNam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func>
                      </m:e>
                    </m:func>
                  </m:oMath>
                </a14:m>
                <a:r>
                  <a:rPr lang="ko-KR" altLang="en-US" sz="1100"/>
                  <a:t>찾고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𝜇𝜆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eqArr>
                          <m:eqArrPr>
                            <m:ctrl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eqAr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ko-KR" altLang="en-US" sz="1100"/>
                  <a:t>찾음</a:t>
                </a:r>
                <a:endParaRPr lang="en-US" altLang="ko-KR" sz="11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590B9-6664-4F33-92CA-70C656E9F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4526280"/>
                <a:ext cx="7962900" cy="3749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AD7B636-60D5-483C-85BF-75B5E903B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980" y="3471733"/>
            <a:ext cx="3793337" cy="183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197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B3F6F3-2807-4ACE-BA1E-D8D5932B50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Dual</a:t>
            </a:r>
            <a:r>
              <a:rPr lang="ko-KR" altLang="en-US"/>
              <a:t>을 쓰는 이유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CF73DC-A625-411B-AD12-49C03B34CF58}"/>
                  </a:ext>
                </a:extLst>
              </p:cNvPr>
              <p:cNvSpPr txBox="1"/>
              <p:nvPr/>
            </p:nvSpPr>
            <p:spPr>
              <a:xfrm>
                <a:off x="2011680" y="1234440"/>
                <a:ext cx="7962900" cy="374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eqArr>
                              <m:eqArrPr>
                                <m:ctrl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eqArr>
                          </m:fNam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func>
                      </m:e>
                    </m:func>
                  </m:oMath>
                </a14:m>
                <a:r>
                  <a:rPr lang="ko-KR" altLang="en-US" sz="1100"/>
                  <a:t>찾고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𝜇𝜆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eqArr>
                          <m:eqArrPr>
                            <m:ctrl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≥0,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eqAr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ko-KR" altLang="en-US" sz="1100"/>
                  <a:t>찾음</a:t>
                </a:r>
                <a:endParaRPr lang="en-US" altLang="ko-KR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CF73DC-A625-411B-AD12-49C03B34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0" y="1234440"/>
                <a:ext cx="7962900" cy="3749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42165D-BC3A-45ED-BAB8-CD92715226D8}"/>
                  </a:ext>
                </a:extLst>
              </p:cNvPr>
              <p:cNvSpPr txBox="1"/>
              <p:nvPr/>
            </p:nvSpPr>
            <p:spPr>
              <a:xfrm>
                <a:off x="129540" y="1633733"/>
                <a:ext cx="323088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Primal problem </a:t>
                </a:r>
              </a:p>
              <a:p>
                <a:pPr/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  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100"/>
                  <a:t>  		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/>
                  <a:t> =&gt; primal optimal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1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42165D-BC3A-45ED-BAB8-CD9271522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" y="1633733"/>
                <a:ext cx="3230880" cy="938719"/>
              </a:xfrm>
              <a:prstGeom prst="rect">
                <a:avLst/>
              </a:prstGeom>
              <a:blipFill>
                <a:blip r:embed="rId3"/>
                <a:stretch>
                  <a:fillRect t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E27FCA8A-D6FF-4695-BD6F-453FEED07129}"/>
              </a:ext>
            </a:extLst>
          </p:cNvPr>
          <p:cNvSpPr/>
          <p:nvPr/>
        </p:nvSpPr>
        <p:spPr>
          <a:xfrm>
            <a:off x="1447800" y="2596771"/>
            <a:ext cx="563880" cy="32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AE689-9B5D-4FF0-BF80-CC97E1EB50EA}"/>
              </a:ext>
            </a:extLst>
          </p:cNvPr>
          <p:cNvSpPr txBox="1"/>
          <p:nvPr/>
        </p:nvSpPr>
        <p:spPr>
          <a:xfrm>
            <a:off x="990600" y="2916811"/>
            <a:ext cx="2720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내가 풀고싶은 문제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FB0CB2-640B-4294-805F-555F7387DDB1}"/>
                  </a:ext>
                </a:extLst>
              </p:cNvPr>
              <p:cNvSpPr txBox="1"/>
              <p:nvPr/>
            </p:nvSpPr>
            <p:spPr>
              <a:xfrm>
                <a:off x="3931920" y="1633733"/>
                <a:ext cx="266700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Dual problem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FB0CB2-640B-4294-805F-555F7387D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0" y="1633733"/>
                <a:ext cx="2667000" cy="600164"/>
              </a:xfrm>
              <a:prstGeom prst="rect">
                <a:avLst/>
              </a:prstGeom>
              <a:blipFill>
                <a:blip r:embed="rId4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A5F7A6-9872-4905-9340-84CEB868C8EB}"/>
                  </a:ext>
                </a:extLst>
              </p:cNvPr>
              <p:cNvSpPr txBox="1"/>
              <p:nvPr/>
            </p:nvSpPr>
            <p:spPr>
              <a:xfrm>
                <a:off x="236220" y="3429000"/>
                <a:ext cx="4038600" cy="201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l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≜</m:t>
                    </m:r>
                    <m:limLow>
                      <m:limLowPr>
                        <m:ctrl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lim>
                    </m:limLow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altLang="ko-KR" sz="1100" b="0"/>
              </a:p>
              <a:p>
                <a:pPr marL="228600" indent="-228600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1100" b="0"/>
              </a:p>
              <a:p>
                <a:pPr marL="228600" indent="-228600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 </a:t>
                </a:r>
                <a:r>
                  <a:rPr lang="en-US" altLang="ko-KR" sz="1100"/>
                  <a:t>= f(x) </a:t>
                </a:r>
                <a:r>
                  <a:rPr lang="ko-KR" altLang="en-US" sz="1100"/>
                  <a:t>만족하는 </a:t>
                </a:r>
                <a:r>
                  <a:rPr lang="en-US" altLang="ko-KR" sz="1100"/>
                  <a:t>feasible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optimal</a:t>
                </a:r>
              </a:p>
              <a:p>
                <a:pPr marL="228600" indent="-228600">
                  <a:buFont typeface="+mj-ea"/>
                  <a:buAutoNum type="circleNumDbPlain"/>
                </a:pPr>
                <a:endParaRPr lang="en-US" altLang="ko-KR" sz="1100"/>
              </a:p>
              <a:p>
                <a:r>
                  <a:rPr lang="ko-KR" altLang="en-US" sz="1100"/>
                  <a:t>문제를 풀어보면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100"/>
                  <a:t>(</a:t>
                </a:r>
                <a:r>
                  <a:rPr lang="ko-KR" altLang="en-US" sz="1100"/>
                  <a:t>편미분</a:t>
                </a:r>
                <a:r>
                  <a:rPr lang="en-US" altLang="ko-KR" sz="1100"/>
                  <a:t>)</a:t>
                </a:r>
                <a:r>
                  <a:rPr lang="ko-KR" altLang="en-US" sz="1100"/>
                  <a:t>을 하여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</m:oMath>
                </a14:m>
                <a:r>
                  <a:rPr lang="ko-KR" altLang="en-US" sz="1100"/>
                  <a:t>은 위의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번식을 구하기 위함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𝜇𝜆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≥0,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func>
                  </m:oMath>
                </a14:m>
                <a:r>
                  <a:rPr lang="ko-KR" altLang="en-US" sz="1100"/>
                  <a:t>는 </a:t>
                </a:r>
                <a:r>
                  <a:rPr lang="en-US" altLang="ko-KR" sz="1100"/>
                  <a:t>dual proble</a:t>
                </a:r>
                <a:r>
                  <a:rPr lang="ko-KR" altLang="en-US" sz="1100"/>
                  <a:t>을 풀기 위함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:r>
                  <a:rPr lang="en-US" altLang="ko-KR" sz="1100"/>
                  <a:t>Dual problem </a:t>
                </a:r>
                <a:r>
                  <a:rPr lang="ko-KR" altLang="en-US" sz="1100"/>
                  <a:t>푸는 의미는 위의 </a:t>
                </a:r>
                <a:r>
                  <a:rPr lang="en-US" altLang="ko-KR" sz="1100"/>
                  <a:t>2,3</a:t>
                </a:r>
                <a:r>
                  <a:rPr lang="ko-KR" altLang="en-US" sz="1100"/>
                  <a:t>번식 때문이다</a:t>
                </a:r>
                <a:endParaRPr lang="en-US" altLang="ko-KR" sz="1100"/>
              </a:p>
              <a:p>
                <a:endParaRPr lang="ko-KR" altLang="en-US" sz="1100"/>
              </a:p>
              <a:p>
                <a:pPr marL="228600" indent="-228600" algn="l">
                  <a:buFont typeface="+mj-ea"/>
                  <a:buAutoNum type="circleNumDbPlain"/>
                </a:pPr>
                <a:endParaRPr lang="en-US" altLang="ko-KR" sz="1100" b="0"/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A5F7A6-9872-4905-9340-84CEB868C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" y="3429000"/>
                <a:ext cx="4038600" cy="2018117"/>
              </a:xfrm>
              <a:prstGeom prst="rect">
                <a:avLst/>
              </a:prstGeom>
              <a:blipFill>
                <a:blip r:embed="rId5"/>
                <a:stretch>
                  <a:fillRect l="-151" t="-1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714F31-0E2B-4092-B737-703BE3E3CB66}"/>
                  </a:ext>
                </a:extLst>
              </p:cNvPr>
              <p:cNvSpPr txBox="1"/>
              <p:nvPr/>
            </p:nvSpPr>
            <p:spPr>
              <a:xfrm>
                <a:off x="4714874" y="3617328"/>
                <a:ext cx="4192905" cy="1496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왼쪽의 </a:t>
                </a:r>
                <a:r>
                  <a:rPr lang="en-US" altLang="ko-KR" sz="1100"/>
                  <a:t>3</a:t>
                </a:r>
                <a:r>
                  <a:rPr lang="ko-KR" altLang="en-US" sz="1100"/>
                  <a:t>번식 보면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optimal</a:t>
                </a:r>
                <a:r>
                  <a:rPr lang="ko-KR" altLang="en-US" sz="1100"/>
                  <a:t>을 증명한다</a:t>
                </a:r>
                <a:r>
                  <a:rPr lang="en-US" altLang="ko-KR" sz="1100"/>
                  <a:t>.</a:t>
                </a:r>
              </a:p>
              <a:p>
                <a:pPr algn="l"/>
                <a:r>
                  <a:rPr lang="ko-KR" altLang="en-US" sz="1100"/>
                  <a:t>위의 그림을 보면 궁긍적으로 구하고 싶은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중에 </a:t>
                </a:r>
                <a:r>
                  <a:rPr lang="en-US" altLang="ko-KR" sz="1100"/>
                  <a:t>x</a:t>
                </a:r>
                <a:r>
                  <a:rPr lang="ko-KR" altLang="en-US" sz="1100"/>
                  <a:t>인데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를 구하면 무슨의미인가</a:t>
                </a:r>
                <a:endParaRPr lang="en-US" altLang="ko-KR" sz="1100"/>
              </a:p>
              <a:p>
                <a:pPr marL="171450" indent="-171450">
                  <a:buFont typeface="Symbol" panose="05050102010706020507" pitchFamily="18" charset="2"/>
                  <a:buChar char="Þ"/>
                </a:pPr>
                <a:r>
                  <a:rPr lang="en-US" altLang="ko-KR" sz="1100"/>
                  <a:t>1</a:t>
                </a:r>
                <a:r>
                  <a:rPr lang="ko-KR" altLang="en-US" sz="1100"/>
                  <a:t>번식을 보면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ko-KR" altLang="en-US" sz="1100"/>
                  <a:t>는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lim>
                    </m:limLow>
                    <m:r>
                      <a:rPr lang="en-US" altLang="ko-KR" sz="11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ko-KR" altLang="en-US" sz="1100"/>
                  <a:t>을 찾는것인데 찾으면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𝜇𝜆</m:t>
                    </m:r>
                  </m:oMath>
                </a14:m>
                <a:r>
                  <a:rPr lang="ko-KR" altLang="en-US" sz="1100"/>
                  <a:t>의 값이 나옴으로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를 잘 찾으면 </a:t>
                </a:r>
                <a:r>
                  <a:rPr lang="en-US" altLang="ko-KR" sz="1100"/>
                  <a:t>x</a:t>
                </a:r>
                <a:r>
                  <a:rPr lang="ko-KR" altLang="en-US" sz="1100"/>
                  <a:t>의 값을 도출할수 있다</a:t>
                </a:r>
                <a:r>
                  <a:rPr lang="en-US" altLang="ko-KR" sz="1100"/>
                  <a:t>.</a:t>
                </a:r>
              </a:p>
              <a:p>
                <a:endParaRPr lang="en-US" altLang="ko-KR" sz="1100"/>
              </a:p>
              <a:p>
                <a:r>
                  <a:rPr lang="ko-KR" altLang="en-US" sz="1100"/>
                  <a:t> </a:t>
                </a:r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714F31-0E2B-4092-B737-703BE3E3C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4" y="3617328"/>
                <a:ext cx="4192905" cy="1496692"/>
              </a:xfrm>
              <a:prstGeom prst="rect">
                <a:avLst/>
              </a:prstGeom>
              <a:blipFill>
                <a:blip r:embed="rId6"/>
                <a:stretch>
                  <a:fillRect t="-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B04D280-63CE-4461-860F-37AA823431AF}"/>
              </a:ext>
            </a:extLst>
          </p:cNvPr>
          <p:cNvCxnSpPr/>
          <p:nvPr/>
        </p:nvCxnSpPr>
        <p:spPr>
          <a:xfrm>
            <a:off x="4701540" y="2558738"/>
            <a:ext cx="3390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2D28B4F-E925-4ECB-ABDB-C0198AC92A54}"/>
              </a:ext>
            </a:extLst>
          </p:cNvPr>
          <p:cNvCxnSpPr/>
          <p:nvPr/>
        </p:nvCxnSpPr>
        <p:spPr>
          <a:xfrm>
            <a:off x="4701540" y="3178421"/>
            <a:ext cx="3390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DD22296-86F6-4134-9744-790BC5A467B8}"/>
              </a:ext>
            </a:extLst>
          </p:cNvPr>
          <p:cNvSpPr/>
          <p:nvPr/>
        </p:nvSpPr>
        <p:spPr>
          <a:xfrm>
            <a:off x="5798820" y="2590800"/>
            <a:ext cx="1264920" cy="601980"/>
          </a:xfrm>
          <a:custGeom>
            <a:avLst/>
            <a:gdLst>
              <a:gd name="connsiteX0" fmla="*/ 0 w 1264920"/>
              <a:gd name="connsiteY0" fmla="*/ 579120 h 579120"/>
              <a:gd name="connsiteX1" fmla="*/ 7620 w 1264920"/>
              <a:gd name="connsiteY1" fmla="*/ 541020 h 579120"/>
              <a:gd name="connsiteX2" fmla="*/ 15240 w 1264920"/>
              <a:gd name="connsiteY2" fmla="*/ 495300 h 579120"/>
              <a:gd name="connsiteX3" fmla="*/ 45720 w 1264920"/>
              <a:gd name="connsiteY3" fmla="*/ 449580 h 579120"/>
              <a:gd name="connsiteX4" fmla="*/ 76200 w 1264920"/>
              <a:gd name="connsiteY4" fmla="*/ 396240 h 579120"/>
              <a:gd name="connsiteX5" fmla="*/ 99060 w 1264920"/>
              <a:gd name="connsiteY5" fmla="*/ 350520 h 579120"/>
              <a:gd name="connsiteX6" fmla="*/ 129540 w 1264920"/>
              <a:gd name="connsiteY6" fmla="*/ 312420 h 579120"/>
              <a:gd name="connsiteX7" fmla="*/ 152400 w 1264920"/>
              <a:gd name="connsiteY7" fmla="*/ 259080 h 579120"/>
              <a:gd name="connsiteX8" fmla="*/ 182880 w 1264920"/>
              <a:gd name="connsiteY8" fmla="*/ 220980 h 579120"/>
              <a:gd name="connsiteX9" fmla="*/ 236220 w 1264920"/>
              <a:gd name="connsiteY9" fmla="*/ 144780 h 579120"/>
              <a:gd name="connsiteX10" fmla="*/ 289560 w 1264920"/>
              <a:gd name="connsiteY10" fmla="*/ 91440 h 579120"/>
              <a:gd name="connsiteX11" fmla="*/ 312420 w 1264920"/>
              <a:gd name="connsiteY11" fmla="*/ 68580 h 579120"/>
              <a:gd name="connsiteX12" fmla="*/ 342900 w 1264920"/>
              <a:gd name="connsiteY12" fmla="*/ 60960 h 579120"/>
              <a:gd name="connsiteX13" fmla="*/ 419100 w 1264920"/>
              <a:gd name="connsiteY13" fmla="*/ 30480 h 579120"/>
              <a:gd name="connsiteX14" fmla="*/ 533400 w 1264920"/>
              <a:gd name="connsiteY14" fmla="*/ 15240 h 579120"/>
              <a:gd name="connsiteX15" fmla="*/ 571500 w 1264920"/>
              <a:gd name="connsiteY15" fmla="*/ 7620 h 579120"/>
              <a:gd name="connsiteX16" fmla="*/ 601980 w 1264920"/>
              <a:gd name="connsiteY16" fmla="*/ 0 h 579120"/>
              <a:gd name="connsiteX17" fmla="*/ 838200 w 1264920"/>
              <a:gd name="connsiteY17" fmla="*/ 7620 h 579120"/>
              <a:gd name="connsiteX18" fmla="*/ 937260 w 1264920"/>
              <a:gd name="connsiteY18" fmla="*/ 68580 h 579120"/>
              <a:gd name="connsiteX19" fmla="*/ 990600 w 1264920"/>
              <a:gd name="connsiteY19" fmla="*/ 114300 h 579120"/>
              <a:gd name="connsiteX20" fmla="*/ 1120140 w 1264920"/>
              <a:gd name="connsiteY20" fmla="*/ 220980 h 579120"/>
              <a:gd name="connsiteX21" fmla="*/ 1143000 w 1264920"/>
              <a:gd name="connsiteY21" fmla="*/ 243840 h 579120"/>
              <a:gd name="connsiteX22" fmla="*/ 1181100 w 1264920"/>
              <a:gd name="connsiteY22" fmla="*/ 312420 h 579120"/>
              <a:gd name="connsiteX23" fmla="*/ 1188720 w 1264920"/>
              <a:gd name="connsiteY23" fmla="*/ 342900 h 579120"/>
              <a:gd name="connsiteX24" fmla="*/ 1211580 w 1264920"/>
              <a:gd name="connsiteY24" fmla="*/ 373380 h 579120"/>
              <a:gd name="connsiteX25" fmla="*/ 1234440 w 1264920"/>
              <a:gd name="connsiteY25" fmla="*/ 434340 h 579120"/>
              <a:gd name="connsiteX26" fmla="*/ 1249680 w 1264920"/>
              <a:gd name="connsiteY26" fmla="*/ 480060 h 579120"/>
              <a:gd name="connsiteX27" fmla="*/ 1257300 w 1264920"/>
              <a:gd name="connsiteY27" fmla="*/ 502920 h 579120"/>
              <a:gd name="connsiteX28" fmla="*/ 1264920 w 1264920"/>
              <a:gd name="connsiteY28" fmla="*/ 57150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64920" h="579120">
                <a:moveTo>
                  <a:pt x="0" y="579120"/>
                </a:moveTo>
                <a:cubicBezTo>
                  <a:pt x="2540" y="566420"/>
                  <a:pt x="5303" y="553763"/>
                  <a:pt x="7620" y="541020"/>
                </a:cubicBezTo>
                <a:cubicBezTo>
                  <a:pt x="10384" y="525819"/>
                  <a:pt x="9298" y="509562"/>
                  <a:pt x="15240" y="495300"/>
                </a:cubicBezTo>
                <a:cubicBezTo>
                  <a:pt x="22285" y="478393"/>
                  <a:pt x="36121" y="465179"/>
                  <a:pt x="45720" y="449580"/>
                </a:cubicBezTo>
                <a:cubicBezTo>
                  <a:pt x="56453" y="432140"/>
                  <a:pt x="66491" y="414270"/>
                  <a:pt x="76200" y="396240"/>
                </a:cubicBezTo>
                <a:cubicBezTo>
                  <a:pt x="84278" y="381238"/>
                  <a:pt x="89912" y="364895"/>
                  <a:pt x="99060" y="350520"/>
                </a:cubicBezTo>
                <a:cubicBezTo>
                  <a:pt x="107792" y="336799"/>
                  <a:pt x="121345" y="326468"/>
                  <a:pt x="129540" y="312420"/>
                </a:cubicBezTo>
                <a:cubicBezTo>
                  <a:pt x="139287" y="295711"/>
                  <a:pt x="142653" y="275789"/>
                  <a:pt x="152400" y="259080"/>
                </a:cubicBezTo>
                <a:cubicBezTo>
                  <a:pt x="160595" y="245032"/>
                  <a:pt x="173314" y="234133"/>
                  <a:pt x="182880" y="220980"/>
                </a:cubicBezTo>
                <a:cubicBezTo>
                  <a:pt x="196039" y="202886"/>
                  <a:pt x="219265" y="163431"/>
                  <a:pt x="236220" y="144780"/>
                </a:cubicBezTo>
                <a:cubicBezTo>
                  <a:pt x="253134" y="126174"/>
                  <a:pt x="271780" y="109220"/>
                  <a:pt x="289560" y="91440"/>
                </a:cubicBezTo>
                <a:cubicBezTo>
                  <a:pt x="297180" y="83820"/>
                  <a:pt x="301965" y="71194"/>
                  <a:pt x="312420" y="68580"/>
                </a:cubicBezTo>
                <a:cubicBezTo>
                  <a:pt x="322580" y="66040"/>
                  <a:pt x="333094" y="64637"/>
                  <a:pt x="342900" y="60960"/>
                </a:cubicBezTo>
                <a:cubicBezTo>
                  <a:pt x="444741" y="22770"/>
                  <a:pt x="282004" y="71609"/>
                  <a:pt x="419100" y="30480"/>
                </a:cubicBezTo>
                <a:cubicBezTo>
                  <a:pt x="463000" y="17310"/>
                  <a:pt x="476112" y="20448"/>
                  <a:pt x="533400" y="15240"/>
                </a:cubicBezTo>
                <a:cubicBezTo>
                  <a:pt x="546100" y="12700"/>
                  <a:pt x="558857" y="10430"/>
                  <a:pt x="571500" y="7620"/>
                </a:cubicBezTo>
                <a:cubicBezTo>
                  <a:pt x="581723" y="5348"/>
                  <a:pt x="591507" y="0"/>
                  <a:pt x="601980" y="0"/>
                </a:cubicBezTo>
                <a:cubicBezTo>
                  <a:pt x="680761" y="0"/>
                  <a:pt x="759460" y="5080"/>
                  <a:pt x="838200" y="7620"/>
                </a:cubicBezTo>
                <a:cubicBezTo>
                  <a:pt x="871060" y="26397"/>
                  <a:pt x="907043" y="45336"/>
                  <a:pt x="937260" y="68580"/>
                </a:cubicBezTo>
                <a:cubicBezTo>
                  <a:pt x="955821" y="82858"/>
                  <a:pt x="971998" y="100075"/>
                  <a:pt x="990600" y="114300"/>
                </a:cubicBezTo>
                <a:cubicBezTo>
                  <a:pt x="1114019" y="208679"/>
                  <a:pt x="1023288" y="124128"/>
                  <a:pt x="1120140" y="220980"/>
                </a:cubicBezTo>
                <a:cubicBezTo>
                  <a:pt x="1127760" y="228600"/>
                  <a:pt x="1136534" y="235219"/>
                  <a:pt x="1143000" y="243840"/>
                </a:cubicBezTo>
                <a:cubicBezTo>
                  <a:pt x="1168508" y="277851"/>
                  <a:pt x="1167130" y="270511"/>
                  <a:pt x="1181100" y="312420"/>
                </a:cubicBezTo>
                <a:cubicBezTo>
                  <a:pt x="1184412" y="322355"/>
                  <a:pt x="1184036" y="333533"/>
                  <a:pt x="1188720" y="342900"/>
                </a:cubicBezTo>
                <a:cubicBezTo>
                  <a:pt x="1194400" y="354259"/>
                  <a:pt x="1203960" y="363220"/>
                  <a:pt x="1211580" y="373380"/>
                </a:cubicBezTo>
                <a:cubicBezTo>
                  <a:pt x="1234226" y="441319"/>
                  <a:pt x="1197994" y="334113"/>
                  <a:pt x="1234440" y="434340"/>
                </a:cubicBezTo>
                <a:cubicBezTo>
                  <a:pt x="1239930" y="449437"/>
                  <a:pt x="1244600" y="464820"/>
                  <a:pt x="1249680" y="480060"/>
                </a:cubicBezTo>
                <a:lnTo>
                  <a:pt x="1257300" y="502920"/>
                </a:lnTo>
                <a:lnTo>
                  <a:pt x="1264920" y="5715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B09493-4479-4FA6-9CF0-6BFC69CF3743}"/>
                  </a:ext>
                </a:extLst>
              </p:cNvPr>
              <p:cNvSpPr txBox="1"/>
              <p:nvPr/>
            </p:nvSpPr>
            <p:spPr>
              <a:xfrm>
                <a:off x="7673340" y="2331720"/>
                <a:ext cx="487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B09493-4479-4FA6-9CF0-6BFC69CF3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340" y="2331720"/>
                <a:ext cx="487680" cy="261610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585956-56E5-4AEA-BA75-ED4A29DDB19F}"/>
                  </a:ext>
                </a:extLst>
              </p:cNvPr>
              <p:cNvSpPr txBox="1"/>
              <p:nvPr/>
            </p:nvSpPr>
            <p:spPr>
              <a:xfrm>
                <a:off x="7734300" y="2926080"/>
                <a:ext cx="487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585956-56E5-4AEA-BA75-ED4A29DD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2926080"/>
                <a:ext cx="487680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5A98CD-BEE7-4F1F-B9A4-2D978ADEEA76}"/>
                  </a:ext>
                </a:extLst>
              </p:cNvPr>
              <p:cNvSpPr txBox="1"/>
              <p:nvPr/>
            </p:nvSpPr>
            <p:spPr>
              <a:xfrm>
                <a:off x="7010400" y="2736036"/>
                <a:ext cx="487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5A98CD-BEE7-4F1F-B9A4-2D978ADEE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2736036"/>
                <a:ext cx="487680" cy="261610"/>
              </a:xfrm>
              <a:prstGeom prst="rect">
                <a:avLst/>
              </a:prstGeom>
              <a:blipFill>
                <a:blip r:embed="rId9"/>
                <a:stretch>
                  <a:fillRect r="-17500"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타원 16">
            <a:extLst>
              <a:ext uri="{FF2B5EF4-FFF2-40B4-BE49-F238E27FC236}">
                <a16:creationId xmlns:a16="http://schemas.microsoft.com/office/drawing/2014/main" id="{DD3A3A39-B165-48F6-BCB5-C6E3A8318A0D}"/>
              </a:ext>
            </a:extLst>
          </p:cNvPr>
          <p:cNvSpPr/>
          <p:nvPr/>
        </p:nvSpPr>
        <p:spPr>
          <a:xfrm>
            <a:off x="6396990" y="2531366"/>
            <a:ext cx="95250" cy="6540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DACC5-C474-464B-B51D-0C24C8D22293}"/>
                  </a:ext>
                </a:extLst>
              </p:cNvPr>
              <p:cNvSpPr txBox="1"/>
              <p:nvPr/>
            </p:nvSpPr>
            <p:spPr>
              <a:xfrm>
                <a:off x="4792980" y="3199591"/>
                <a:ext cx="412242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를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𝜇𝜆</m:t>
                    </m:r>
                  </m:oMath>
                </a14:m>
                <a:r>
                  <a:rPr lang="ko-KR" altLang="en-US" sz="1100"/>
                  <a:t>에 대해서 </a:t>
                </a:r>
                <a:r>
                  <a:rPr lang="en-US" altLang="ko-KR" sz="1100"/>
                  <a:t>maximize</a:t>
                </a:r>
                <a:r>
                  <a:rPr lang="ko-KR" altLang="en-US" sz="1100"/>
                  <a:t>하면 위의 빨간점과 같다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DACC5-C474-464B-B51D-0C24C8D22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980" y="3199591"/>
                <a:ext cx="4122420" cy="261610"/>
              </a:xfrm>
              <a:prstGeom prst="rect">
                <a:avLst/>
              </a:prstGeom>
              <a:blipFill>
                <a:blip r:embed="rId10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555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94F5BA-2F01-4E47-B5C2-44EA45313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F2BF-A2AD-439A-8835-73858AD4459B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345191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≥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0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345191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AD6608-0747-43B6-8396-A681BAB91A2F}"/>
                  </a:ext>
                </a:extLst>
              </p:cNvPr>
              <p:cNvSpPr txBox="1"/>
              <p:nvPr/>
            </p:nvSpPr>
            <p:spPr>
              <a:xfrm>
                <a:off x="5381554" y="3581129"/>
                <a:ext cx="3813246" cy="793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sz="1100"/>
                  <a:t>방향으로 기울기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빨간색 영역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 b="0"/>
                  <a:t>를 줄이는 영역</a:t>
                </a:r>
                <a:endParaRPr lang="en-US" altLang="ko-KR" sz="1100" b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파란색 영역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 b="0"/>
                  <a:t>를 줄이는 영역</a:t>
                </a: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노란색 영역 </a:t>
                </a:r>
                <a:r>
                  <a:rPr lang="en-US" altLang="ko-KR" sz="1100"/>
                  <a:t>=&gt;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와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/>
                  <a:t>영역이 겹치는 영역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AD6608-0747-43B6-8396-A681BAB91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54" y="3581129"/>
                <a:ext cx="3813246" cy="793294"/>
              </a:xfrm>
              <a:prstGeom prst="rect">
                <a:avLst/>
              </a:prstGeom>
              <a:blipFill>
                <a:blip r:embed="rId3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그룹 95">
            <a:extLst>
              <a:ext uri="{FF2B5EF4-FFF2-40B4-BE49-F238E27FC236}">
                <a16:creationId xmlns:a16="http://schemas.microsoft.com/office/drawing/2014/main" id="{20BEF07F-EE8E-4F0F-BDA5-FF3EB9659946}"/>
              </a:ext>
            </a:extLst>
          </p:cNvPr>
          <p:cNvGrpSpPr/>
          <p:nvPr/>
        </p:nvGrpSpPr>
        <p:grpSpPr>
          <a:xfrm>
            <a:off x="3057048" y="3434675"/>
            <a:ext cx="1935480" cy="1066929"/>
            <a:chOff x="7005954" y="4075082"/>
            <a:chExt cx="1935480" cy="1066929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DF9FA2D-6FCF-42C7-9D8E-24C836A82A7C}"/>
                </a:ext>
              </a:extLst>
            </p:cNvPr>
            <p:cNvSpPr/>
            <p:nvPr/>
          </p:nvSpPr>
          <p:spPr>
            <a:xfrm>
              <a:off x="7005954" y="4627585"/>
              <a:ext cx="1855471" cy="48082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94335FC-E6CA-45F2-960E-68CCD0182739}"/>
                </a:ext>
              </a:extLst>
            </p:cNvPr>
            <p:cNvCxnSpPr/>
            <p:nvPr/>
          </p:nvCxnSpPr>
          <p:spPr>
            <a:xfrm>
              <a:off x="7005954" y="4627585"/>
              <a:ext cx="193548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40CC1DC-251E-4016-826B-020972375779}"/>
                </a:ext>
              </a:extLst>
            </p:cNvPr>
            <p:cNvCxnSpPr>
              <a:cxnSpLocks/>
            </p:cNvCxnSpPr>
            <p:nvPr/>
          </p:nvCxnSpPr>
          <p:spPr>
            <a:xfrm>
              <a:off x="7961312" y="4627585"/>
              <a:ext cx="3334" cy="5144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43E4083-76F4-4904-99DA-CBD24C719A41}"/>
                    </a:ext>
                  </a:extLst>
                </p:cNvPr>
                <p:cNvSpPr txBox="1"/>
                <p:nvPr/>
              </p:nvSpPr>
              <p:spPr>
                <a:xfrm>
                  <a:off x="7654606" y="4766926"/>
                  <a:ext cx="3190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43E4083-76F4-4904-99DA-CBD24C719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606" y="4766926"/>
                  <a:ext cx="319088" cy="261610"/>
                </a:xfrm>
                <a:prstGeom prst="rect">
                  <a:avLst/>
                </a:prstGeom>
                <a:blipFill>
                  <a:blip r:embed="rId4"/>
                  <a:stretch>
                    <a:fillRect r="-67308"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733945B-429C-441B-BFE2-93CA59D878E1}"/>
                </a:ext>
              </a:extLst>
            </p:cNvPr>
            <p:cNvSpPr/>
            <p:nvPr/>
          </p:nvSpPr>
          <p:spPr>
            <a:xfrm>
              <a:off x="7005954" y="4137356"/>
              <a:ext cx="1855471" cy="480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D4807F56-2D50-4E5F-A26A-7AF52B8E9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801" y="4075082"/>
              <a:ext cx="6686" cy="554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F43E17-7F35-4360-8AE5-7A13CC660F0F}"/>
                    </a:ext>
                  </a:extLst>
                </p:cNvPr>
                <p:cNvSpPr txBox="1"/>
                <p:nvPr/>
              </p:nvSpPr>
              <p:spPr>
                <a:xfrm>
                  <a:off x="7886064" y="4280609"/>
                  <a:ext cx="3190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F43E17-7F35-4360-8AE5-7A13CC660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6064" y="4280609"/>
                  <a:ext cx="319088" cy="261610"/>
                </a:xfrm>
                <a:prstGeom prst="rect">
                  <a:avLst/>
                </a:prstGeom>
                <a:blipFill>
                  <a:blip r:embed="rId5"/>
                  <a:stretch>
                    <a:fillRect r="-63462"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BF52F89-F2C1-4CC4-AA2C-503D40DF1EE2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1458913" y="4018093"/>
            <a:ext cx="251061" cy="22629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6487378-913B-4B94-AC7B-3E743BF4631F}"/>
              </a:ext>
            </a:extLst>
          </p:cNvPr>
          <p:cNvGrpSpPr/>
          <p:nvPr/>
        </p:nvGrpSpPr>
        <p:grpSpPr>
          <a:xfrm>
            <a:off x="259080" y="2849880"/>
            <a:ext cx="4653439" cy="1651724"/>
            <a:chOff x="259080" y="2849880"/>
            <a:chExt cx="4653439" cy="165172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599F2F-04BD-4DEE-ABA0-36C2F50B1705}"/>
                </a:ext>
              </a:extLst>
            </p:cNvPr>
            <p:cNvSpPr txBox="1"/>
            <p:nvPr/>
          </p:nvSpPr>
          <p:spPr>
            <a:xfrm>
              <a:off x="259080" y="2849880"/>
              <a:ext cx="465343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100"/>
                <a:t>KKT</a:t>
              </a:r>
              <a:r>
                <a:rPr lang="ko-KR" altLang="en-US" sz="1100"/>
                <a:t>조건 </a:t>
              </a:r>
              <a:r>
                <a:rPr lang="en-US" altLang="ko-KR" sz="1100"/>
                <a:t>3~5</a:t>
              </a:r>
              <a:r>
                <a:rPr lang="ko-KR" altLang="en-US" sz="1100"/>
                <a:t>번식은 제약조건임으로 </a:t>
              </a:r>
              <a:r>
                <a:rPr lang="en-US" altLang="ko-KR" sz="1100"/>
                <a:t>1</a:t>
              </a:r>
              <a:r>
                <a:rPr lang="ko-KR" altLang="en-US" sz="1100"/>
                <a:t>번</a:t>
              </a:r>
              <a:r>
                <a:rPr lang="en-US" altLang="ko-KR" sz="1100"/>
                <a:t>2</a:t>
              </a:r>
              <a:r>
                <a:rPr lang="ko-KR" altLang="en-US" sz="1100"/>
                <a:t>번식을 증명</a:t>
              </a:r>
              <a:endParaRPr lang="en-US" altLang="ko-KR" sz="1100"/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100"/>
                <a:t>1</a:t>
              </a:r>
              <a:r>
                <a:rPr lang="ko-KR" altLang="en-US" sz="1100"/>
                <a:t>번식 증명</a:t>
              </a:r>
              <a:endParaRPr lang="en-US" altLang="ko-KR" sz="11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100"/>
                <a:t>local minimum=&gt;</a:t>
              </a:r>
              <a:r>
                <a:rPr lang="ko-KR" altLang="en-US" sz="1100"/>
                <a:t> </a:t>
              </a:r>
              <a:r>
                <a:rPr lang="en-US" altLang="ko-KR" sz="1100"/>
                <a:t>KKT,</a:t>
              </a:r>
              <a:r>
                <a:rPr lang="ko-KR" altLang="en-US" sz="1100"/>
                <a:t> </a:t>
              </a:r>
              <a:r>
                <a:rPr lang="en-US" altLang="ko-KR" sz="1100"/>
                <a:t>~KKT=&gt;~</a:t>
              </a:r>
              <a:r>
                <a:rPr lang="ko-KR" altLang="en-US" sz="1100"/>
                <a:t> </a:t>
              </a:r>
              <a:r>
                <a:rPr lang="en-US" altLang="ko-KR" sz="1100"/>
                <a:t>local minimum(</a:t>
              </a:r>
              <a:r>
                <a:rPr lang="ko-KR" altLang="en-US" sz="1100"/>
                <a:t>대우명제</a:t>
              </a:r>
              <a:r>
                <a:rPr lang="en-US" altLang="ko-KR" sz="1100"/>
                <a:t>)</a:t>
              </a:r>
              <a:endParaRPr lang="ko-KR" altLang="en-US" sz="110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B0377534-615D-42A9-8A2F-0D839B5D612D}"/>
                </a:ext>
              </a:extLst>
            </p:cNvPr>
            <p:cNvGrpSpPr/>
            <p:nvPr/>
          </p:nvGrpSpPr>
          <p:grpSpPr>
            <a:xfrm>
              <a:off x="509905" y="3480521"/>
              <a:ext cx="1935480" cy="1021083"/>
              <a:chOff x="7090250" y="2294974"/>
              <a:chExt cx="1935480" cy="1021083"/>
            </a:xfrm>
          </p:grpSpPr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A270DC94-03F5-4929-A0F0-C0866DBD3059}"/>
                  </a:ext>
                </a:extLst>
              </p:cNvPr>
              <p:cNvGrpSpPr/>
              <p:nvPr/>
            </p:nvGrpSpPr>
            <p:grpSpPr>
              <a:xfrm>
                <a:off x="7090250" y="2294974"/>
                <a:ext cx="1935480" cy="1021083"/>
                <a:chOff x="7090250" y="2294974"/>
                <a:chExt cx="1935480" cy="1021083"/>
              </a:xfrm>
            </p:grpSpPr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992C18D2-BC79-4B55-956C-CC7CA6276DD7}"/>
                    </a:ext>
                  </a:extLst>
                </p:cNvPr>
                <p:cNvSpPr/>
                <p:nvPr/>
              </p:nvSpPr>
              <p:spPr>
                <a:xfrm>
                  <a:off x="7090250" y="2835230"/>
                  <a:ext cx="1855471" cy="4808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76" name="자유형: 도형 75">
                  <a:extLst>
                    <a:ext uri="{FF2B5EF4-FFF2-40B4-BE49-F238E27FC236}">
                      <a16:creationId xmlns:a16="http://schemas.microsoft.com/office/drawing/2014/main" id="{1C96F4D6-398E-4750-B377-FC595628D722}"/>
                    </a:ext>
                  </a:extLst>
                </p:cNvPr>
                <p:cNvSpPr/>
                <p:nvPr/>
              </p:nvSpPr>
              <p:spPr>
                <a:xfrm>
                  <a:off x="8039258" y="2835052"/>
                  <a:ext cx="901700" cy="479425"/>
                </a:xfrm>
                <a:custGeom>
                  <a:avLst/>
                  <a:gdLst>
                    <a:gd name="connsiteX0" fmla="*/ 0 w 901700"/>
                    <a:gd name="connsiteY0" fmla="*/ 0 h 479425"/>
                    <a:gd name="connsiteX1" fmla="*/ 898525 w 901700"/>
                    <a:gd name="connsiteY1" fmla="*/ 479425 h 479425"/>
                    <a:gd name="connsiteX2" fmla="*/ 901700 w 901700"/>
                    <a:gd name="connsiteY2" fmla="*/ 0 h 479425"/>
                    <a:gd name="connsiteX3" fmla="*/ 0 w 901700"/>
                    <a:gd name="connsiteY3" fmla="*/ 0 h 479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1700" h="479425">
                      <a:moveTo>
                        <a:pt x="0" y="0"/>
                      </a:moveTo>
                      <a:lnTo>
                        <a:pt x="898525" y="479425"/>
                      </a:lnTo>
                      <a:cubicBezTo>
                        <a:pt x="899583" y="319617"/>
                        <a:pt x="900642" y="159808"/>
                        <a:pt x="9017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71" name="자유형: 도형 70">
                  <a:extLst>
                    <a:ext uri="{FF2B5EF4-FFF2-40B4-BE49-F238E27FC236}">
                      <a16:creationId xmlns:a16="http://schemas.microsoft.com/office/drawing/2014/main" id="{555AD9AF-DF9A-4183-84C7-54A2AC813E1B}"/>
                    </a:ext>
                  </a:extLst>
                </p:cNvPr>
                <p:cNvSpPr/>
                <p:nvPr/>
              </p:nvSpPr>
              <p:spPr>
                <a:xfrm>
                  <a:off x="7115333" y="2337279"/>
                  <a:ext cx="1838325" cy="507298"/>
                </a:xfrm>
                <a:custGeom>
                  <a:avLst/>
                  <a:gdLst>
                    <a:gd name="connsiteX0" fmla="*/ 923925 w 1838325"/>
                    <a:gd name="connsiteY0" fmla="*/ 784225 h 803275"/>
                    <a:gd name="connsiteX1" fmla="*/ 0 w 1838325"/>
                    <a:gd name="connsiteY1" fmla="*/ 0 h 803275"/>
                    <a:gd name="connsiteX2" fmla="*/ 1838325 w 1838325"/>
                    <a:gd name="connsiteY2" fmla="*/ 0 h 803275"/>
                    <a:gd name="connsiteX3" fmla="*/ 1825625 w 1838325"/>
                    <a:gd name="connsiteY3" fmla="*/ 803275 h 803275"/>
                    <a:gd name="connsiteX4" fmla="*/ 923925 w 1838325"/>
                    <a:gd name="connsiteY4" fmla="*/ 784225 h 803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38325" h="803275">
                      <a:moveTo>
                        <a:pt x="923925" y="784225"/>
                      </a:moveTo>
                      <a:lnTo>
                        <a:pt x="0" y="0"/>
                      </a:lnTo>
                      <a:lnTo>
                        <a:pt x="1838325" y="0"/>
                      </a:lnTo>
                      <a:lnTo>
                        <a:pt x="1825625" y="803275"/>
                      </a:lnTo>
                      <a:lnTo>
                        <a:pt x="923925" y="784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73" name="직선 화살표 연결선 72">
                  <a:extLst>
                    <a:ext uri="{FF2B5EF4-FFF2-40B4-BE49-F238E27FC236}">
                      <a16:creationId xmlns:a16="http://schemas.microsoft.com/office/drawing/2014/main" id="{5322046E-12BC-4CEB-B270-62900DD391AC}"/>
                    </a:ext>
                  </a:extLst>
                </p:cNvPr>
                <p:cNvCxnSpPr/>
                <p:nvPr/>
              </p:nvCxnSpPr>
              <p:spPr>
                <a:xfrm>
                  <a:off x="7090250" y="2835230"/>
                  <a:ext cx="1935480" cy="0"/>
                </a:xfrm>
                <a:prstGeom prst="straightConnector1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화살표 연결선 73">
                  <a:extLst>
                    <a:ext uri="{FF2B5EF4-FFF2-40B4-BE49-F238E27FC236}">
                      <a16:creationId xmlns:a16="http://schemas.microsoft.com/office/drawing/2014/main" id="{5B8A707D-AB76-44CD-B2A8-43FBF4DC3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19344" y="2294974"/>
                  <a:ext cx="16017" cy="54025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화살표 연결선 74">
                  <a:extLst>
                    <a:ext uri="{FF2B5EF4-FFF2-40B4-BE49-F238E27FC236}">
                      <a16:creationId xmlns:a16="http://schemas.microsoft.com/office/drawing/2014/main" id="{A80DDCE9-FAE5-4F2B-8050-A976894EE817}"/>
                    </a:ext>
                  </a:extLst>
                </p:cNvPr>
                <p:cNvCxnSpPr/>
                <p:nvPr/>
              </p:nvCxnSpPr>
              <p:spPr>
                <a:xfrm flipH="1">
                  <a:off x="7550308" y="2835230"/>
                  <a:ext cx="495300" cy="48082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2355C526-AB17-4167-9533-F8FCB9371D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8902" y="2974571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2355C526-AB17-4167-9533-F8FCB9371D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38902" y="2974571"/>
                      <a:ext cx="319088" cy="2616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308"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4" name="직선 화살표 연결선 93">
                  <a:extLst>
                    <a:ext uri="{FF2B5EF4-FFF2-40B4-BE49-F238E27FC236}">
                      <a16:creationId xmlns:a16="http://schemas.microsoft.com/office/drawing/2014/main" id="{5E799D91-7BFC-471D-8B83-BCABC0655697}"/>
                    </a:ext>
                  </a:extLst>
                </p:cNvPr>
                <p:cNvCxnSpPr/>
                <p:nvPr/>
              </p:nvCxnSpPr>
              <p:spPr>
                <a:xfrm>
                  <a:off x="7090250" y="2841402"/>
                  <a:ext cx="1935480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39246" y="2456401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9246" y="2456401"/>
                    <a:ext cx="319088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63462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0BBCD0-0D9A-4936-944E-DB3AE5FFE5AD}"/>
                    </a:ext>
                  </a:extLst>
                </p:cNvPr>
                <p:cNvSpPr txBox="1"/>
                <p:nvPr/>
              </p:nvSpPr>
              <p:spPr>
                <a:xfrm>
                  <a:off x="1547340" y="3937195"/>
                  <a:ext cx="25717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0BBCD0-0D9A-4936-944E-DB3AE5FFE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7340" y="3937195"/>
                  <a:ext cx="257175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BE9B655-2C23-41F2-8D67-61DA490F938B}"/>
              </a:ext>
            </a:extLst>
          </p:cNvPr>
          <p:cNvSpPr txBox="1"/>
          <p:nvPr/>
        </p:nvSpPr>
        <p:spPr>
          <a:xfrm>
            <a:off x="259080" y="4661459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노란색 영역은 서로의 줄이는 영역이 겹침으로 더 나은 솔루션 존재하는 영역임 </a:t>
            </a:r>
            <a:r>
              <a:rPr lang="en-US" altLang="ko-KR" sz="1100"/>
              <a:t>=&gt; local</a:t>
            </a:r>
            <a:r>
              <a:rPr lang="ko-KR" altLang="en-US" sz="1100"/>
              <a:t> </a:t>
            </a:r>
            <a:r>
              <a:rPr lang="en-US" altLang="ko-KR" sz="1100"/>
              <a:t>minimum</a:t>
            </a:r>
            <a:r>
              <a:rPr lang="ko-KR" altLang="en-US" sz="1100"/>
              <a:t>의 위배</a:t>
            </a:r>
            <a:endParaRPr lang="en-US" altLang="ko-KR" sz="1100"/>
          </a:p>
          <a:p>
            <a:pPr algn="l"/>
            <a:r>
              <a:rPr lang="en-US" altLang="ko-KR" sz="1100"/>
              <a:t>Local minimum</a:t>
            </a:r>
            <a:r>
              <a:rPr lang="ko-KR" altLang="en-US" sz="1100"/>
              <a:t>은 해당 원점에서의 제일 적절한 </a:t>
            </a:r>
            <a:r>
              <a:rPr lang="en-US" altLang="ko-KR" sz="1100"/>
              <a:t>minimum</a:t>
            </a:r>
            <a:r>
              <a:rPr lang="ko-KR" altLang="en-US" sz="1100"/>
              <a:t>이기 때문 </a:t>
            </a:r>
            <a:r>
              <a:rPr lang="en-US" altLang="ko-KR" sz="1100"/>
              <a:t>=&gt; </a:t>
            </a:r>
            <a:r>
              <a:rPr lang="ko-KR" altLang="en-US" sz="1100"/>
              <a:t>노란색 영역 없애야함</a:t>
            </a:r>
          </a:p>
        </p:txBody>
      </p:sp>
    </p:spTree>
    <p:extLst>
      <p:ext uri="{BB962C8B-B14F-4D97-AF65-F5344CB8AC3E}">
        <p14:creationId xmlns:p14="http://schemas.microsoft.com/office/powerpoint/2010/main" val="1814188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80DFC6-8019-4CC9-9ED6-DFDCC39B8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165BF-A9D2-4C8A-BB50-6CEF7A9E5A24}"/>
              </a:ext>
            </a:extLst>
          </p:cNvPr>
          <p:cNvSpPr txBox="1"/>
          <p:nvPr/>
        </p:nvSpPr>
        <p:spPr>
          <a:xfrm>
            <a:off x="262925" y="2816985"/>
            <a:ext cx="798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ㆍ</a:t>
            </a:r>
            <a:r>
              <a:rPr lang="en-US" altLang="ko-KR" sz="1100"/>
              <a:t>KKT 2</a:t>
            </a:r>
            <a:r>
              <a:rPr lang="ko-KR" altLang="en-US" sz="1100"/>
              <a:t>번째조건 만족</a:t>
            </a:r>
            <a:endParaRPr lang="en-US" altLang="ko-KR" sz="110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2D7A3E2-75CB-4432-A980-CE6A9BD53079}"/>
              </a:ext>
            </a:extLst>
          </p:cNvPr>
          <p:cNvGrpSpPr/>
          <p:nvPr/>
        </p:nvGrpSpPr>
        <p:grpSpPr>
          <a:xfrm>
            <a:off x="419554" y="3305803"/>
            <a:ext cx="2169882" cy="1183314"/>
            <a:chOff x="1504495" y="3755705"/>
            <a:chExt cx="2169882" cy="1183314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B308EAC-73B6-4470-AB98-534A2E647FBE}"/>
                </a:ext>
              </a:extLst>
            </p:cNvPr>
            <p:cNvGrpSpPr/>
            <p:nvPr/>
          </p:nvGrpSpPr>
          <p:grpSpPr>
            <a:xfrm>
              <a:off x="1504495" y="3755705"/>
              <a:ext cx="2169882" cy="1183314"/>
              <a:chOff x="220980" y="2245686"/>
              <a:chExt cx="2169882" cy="1183314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B3F06D4A-6532-4352-993C-3C33D9BE33EB}"/>
                  </a:ext>
                </a:extLst>
              </p:cNvPr>
              <p:cNvCxnSpPr/>
              <p:nvPr/>
            </p:nvCxnSpPr>
            <p:spPr>
              <a:xfrm>
                <a:off x="220980" y="3429000"/>
                <a:ext cx="216988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124FAB57-E726-4A4C-AD88-337FA8AF66C0}"/>
                  </a:ext>
                </a:extLst>
              </p:cNvPr>
              <p:cNvSpPr/>
              <p:nvPr/>
            </p:nvSpPr>
            <p:spPr>
              <a:xfrm>
                <a:off x="453005" y="2245686"/>
                <a:ext cx="1525372" cy="1183314"/>
              </a:xfrm>
              <a:custGeom>
                <a:avLst/>
                <a:gdLst>
                  <a:gd name="connsiteX0" fmla="*/ 0 w 1525372"/>
                  <a:gd name="connsiteY0" fmla="*/ 25167 h 1183314"/>
                  <a:gd name="connsiteX1" fmla="*/ 125835 w 1525372"/>
                  <a:gd name="connsiteY1" fmla="*/ 830510 h 1183314"/>
                  <a:gd name="connsiteX2" fmla="*/ 444616 w 1525372"/>
                  <a:gd name="connsiteY2" fmla="*/ 1107347 h 1183314"/>
                  <a:gd name="connsiteX3" fmla="*/ 998290 w 1525372"/>
                  <a:gd name="connsiteY3" fmla="*/ 1174459 h 1183314"/>
                  <a:gd name="connsiteX4" fmla="*/ 1325460 w 1525372"/>
                  <a:gd name="connsiteY4" fmla="*/ 947956 h 1183314"/>
                  <a:gd name="connsiteX5" fmla="*/ 1484851 w 1525372"/>
                  <a:gd name="connsiteY5" fmla="*/ 436227 h 1183314"/>
                  <a:gd name="connsiteX6" fmla="*/ 1518407 w 1525372"/>
                  <a:gd name="connsiteY6" fmla="*/ 0 h 118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372" h="1183314">
                    <a:moveTo>
                      <a:pt x="0" y="25167"/>
                    </a:moveTo>
                    <a:cubicBezTo>
                      <a:pt x="25866" y="337657"/>
                      <a:pt x="51732" y="650147"/>
                      <a:pt x="125835" y="830510"/>
                    </a:cubicBezTo>
                    <a:cubicBezTo>
                      <a:pt x="199938" y="1010873"/>
                      <a:pt x="299207" y="1050022"/>
                      <a:pt x="444616" y="1107347"/>
                    </a:cubicBezTo>
                    <a:cubicBezTo>
                      <a:pt x="590025" y="1164672"/>
                      <a:pt x="851483" y="1201024"/>
                      <a:pt x="998290" y="1174459"/>
                    </a:cubicBezTo>
                    <a:cubicBezTo>
                      <a:pt x="1145097" y="1147894"/>
                      <a:pt x="1244367" y="1070995"/>
                      <a:pt x="1325460" y="947956"/>
                    </a:cubicBezTo>
                    <a:cubicBezTo>
                      <a:pt x="1406553" y="824917"/>
                      <a:pt x="1452693" y="594220"/>
                      <a:pt x="1484851" y="436227"/>
                    </a:cubicBezTo>
                    <a:cubicBezTo>
                      <a:pt x="1517009" y="278234"/>
                      <a:pt x="1536583" y="55927"/>
                      <a:pt x="1518407" y="0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177FEE-52A3-432A-A501-6309D280BE8A}"/>
                </a:ext>
              </a:extLst>
            </p:cNvPr>
            <p:cNvSpPr/>
            <p:nvPr/>
          </p:nvSpPr>
          <p:spPr>
            <a:xfrm>
              <a:off x="3132259" y="4405227"/>
              <a:ext cx="87688" cy="8389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6784F19-4315-4439-8570-90D1A981A02A}"/>
                </a:ext>
              </a:extLst>
            </p:cNvPr>
            <p:cNvSpPr/>
            <p:nvPr/>
          </p:nvSpPr>
          <p:spPr>
            <a:xfrm>
              <a:off x="2754754" y="4271603"/>
              <a:ext cx="87688" cy="8389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84799CA-8F10-4E70-A5F6-E70F0F505DF4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174608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</a:rPr>
                                <m:t>=0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174608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09470C-9F52-49DE-85E4-F2291B80832A}"/>
                  </a:ext>
                </a:extLst>
              </p:cNvPr>
              <p:cNvSpPr txBox="1"/>
              <p:nvPr/>
            </p:nvSpPr>
            <p:spPr>
              <a:xfrm>
                <a:off x="262925" y="4648452"/>
                <a:ext cx="61920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l">
                  <a:buAutoNum type="arabicPeriod"/>
                </a:pPr>
                <a:r>
                  <a:rPr lang="ko-KR" altLang="en-US" sz="1100"/>
                  <a:t>경계선에 있으면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에 영향을 안줌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1100"/>
                  <a:t>0 </a:t>
                </a:r>
                <a:r>
                  <a:rPr lang="ko-KR" altLang="en-US" sz="1100"/>
                  <a:t>이여야하는데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될수 도있어서 만족못함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:r>
                  <a:rPr lang="ko-KR" altLang="en-US" sz="1100"/>
                  <a:t>안쪽의 값이 있으면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/>
                  <a:t>은 만족이고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를 만족시키려면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는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이 됨으로 만족</a:t>
                </a:r>
                <a:endParaRPr lang="en-US" altLang="ko-KR" sz="1100"/>
              </a:p>
              <a:p>
                <a:r>
                  <a:rPr lang="ko-KR" altLang="en-US" sz="1100"/>
                  <a:t>즉</a:t>
                </a:r>
                <a:r>
                  <a:rPr lang="en-US" altLang="ko-KR" sz="1100"/>
                  <a:t>, kkt 2</a:t>
                </a:r>
                <a:r>
                  <a:rPr lang="ko-KR" altLang="en-US" sz="1100"/>
                  <a:t>번조건을 만족하면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번조건을 만족하여 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 </a:t>
                </a:r>
                <a:endParaRPr lang="en-US" altLang="ko-KR" sz="110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09470C-9F52-49DE-85E4-F2291B808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25" y="4648452"/>
                <a:ext cx="6192054" cy="769441"/>
              </a:xfrm>
              <a:prstGeom prst="rect">
                <a:avLst/>
              </a:prstGeom>
              <a:blipFill>
                <a:blip r:embed="rId3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871A1-5130-4AC6-A0C7-DC0AB026F849}"/>
                  </a:ext>
                </a:extLst>
              </p:cNvPr>
              <p:cNvSpPr txBox="1"/>
              <p:nvPr/>
            </p:nvSpPr>
            <p:spPr>
              <a:xfrm>
                <a:off x="2054449" y="3491673"/>
                <a:ext cx="5987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871A1-5130-4AC6-A0C7-DC0AB026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449" y="3491673"/>
                <a:ext cx="598784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2040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719B58-8C5F-416D-9090-4C79B8CB18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2C2DFD-7AB5-4684-8446-FCEAA9942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60" y="3170367"/>
            <a:ext cx="4709160" cy="227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71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10125</TotalTime>
  <Pages>4</Pages>
  <Words>4244</Words>
  <Characters>0</Characters>
  <Application>Microsoft Office PowerPoint</Application>
  <DocSecurity>0</DocSecurity>
  <PresentationFormat>화면 슬라이드 쇼(4:3)</PresentationFormat>
  <Lines>0</Lines>
  <Paragraphs>548</Paragraphs>
  <Slides>37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50" baseType="lpstr">
      <vt:lpstr>AppleSDGothicNeo</vt:lpstr>
      <vt:lpstr>HY견고딕</vt:lpstr>
      <vt:lpstr>MJXc-TeX-main-R</vt:lpstr>
      <vt:lpstr>Nanum Gothic</vt:lpstr>
      <vt:lpstr>맑은 고딕</vt:lpstr>
      <vt:lpstr>Arial</vt:lpstr>
      <vt:lpstr>Arial Black</vt:lpstr>
      <vt:lpstr>Calibri</vt:lpstr>
      <vt:lpstr>Calibri Light</vt:lpstr>
      <vt:lpstr>Cambria Math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jh</cp:lastModifiedBy>
  <cp:revision>194</cp:revision>
  <dcterms:modified xsi:type="dcterms:W3CDTF">2023-02-05T23:51:04Z</dcterms:modified>
  <cp:version>9.104.131.47063</cp:version>
</cp:coreProperties>
</file>