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notesMasterIdLst>
    <p:notesMasterId r:id="rId20"/>
  </p:notesMasterIdLst>
  <p:handoutMasterIdLst>
    <p:handoutMasterId r:id="rId2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8" r:id="rId17"/>
    <p:sldId id="279" r:id="rId18"/>
    <p:sldId id="266" r:id="rId19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56">
          <p15:clr>
            <a:srgbClr val="A4A3A4"/>
          </p15:clr>
        </p15:guide>
        <p15:guide id="2" pos="2876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h" initials="j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034" autoAdjust="0"/>
    <p:restoredTop sz="92941" autoAdjust="0"/>
  </p:normalViewPr>
  <p:slideViewPr>
    <p:cSldViewPr snapToGrid="0" snapToObjects="1">
      <p:cViewPr varScale="1">
        <p:scale>
          <a:sx n="106" d="100"/>
          <a:sy n="106" d="100"/>
        </p:scale>
        <p:origin x="2256" y="78"/>
      </p:cViewPr>
      <p:guideLst>
        <p:guide orient="horz" pos="2156"/>
        <p:guide pos="2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 snapToObjects="1">
      <p:cViewPr varScale="1">
        <p:scale>
          <a:sx n="77" d="100"/>
          <a:sy n="77" d="100"/>
        </p:scale>
        <p:origin x="3156" y="120"/>
      </p:cViewPr>
      <p:guideLst>
        <p:guide orient="horz" pos="2156"/>
        <p:guide pos="287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837" y="0"/>
            <a:ext cx="3078639" cy="511176"/>
          </a:xfrm>
          <a:prstGeom prst="rect">
            <a:avLst/>
          </a:prstGeom>
        </p:spPr>
        <p:txBody>
          <a:bodyPr vert="horz" lIns="91166" tIns="45582" rIns="91166" bIns="45582"/>
          <a:lstStyle>
            <a:lvl1pPr algn="r">
              <a:defRPr sz="1200"/>
            </a:lvl1pPr>
          </a:lstStyle>
          <a:p>
            <a:pPr lvl="0">
              <a:defRPr/>
            </a:pPr>
            <a:fld id="{86BECE3D-28DF-44F2-BBF4-A1F550C97DF1}" type="datetime1">
              <a:rPr lang="ko-KR" altLang="en-US"/>
              <a:pPr lvl="0">
                <a:defRPr/>
              </a:pPr>
              <a:t>2023-08-04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837" y="9721851"/>
            <a:ext cx="3078639" cy="511176"/>
          </a:xfrm>
          <a:prstGeom prst="rect">
            <a:avLst/>
          </a:prstGeom>
        </p:spPr>
        <p:txBody>
          <a:bodyPr vert="horz" lIns="91166" tIns="45582" rIns="91166" bIns="45582" anchor="b"/>
          <a:lstStyle>
            <a:lvl1pPr algn="r">
              <a:defRPr sz="1200"/>
            </a:lvl1pPr>
          </a:lstStyle>
          <a:p>
            <a:pPr lvl="0">
              <a:defRPr/>
            </a:pPr>
            <a:fld id="{9CCD6CBE-4E81-4091-B594-FAD27E600D5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205" y="2"/>
            <a:ext cx="3079202" cy="513859"/>
          </a:xfrm>
          <a:prstGeom prst="rect">
            <a:avLst/>
          </a:prstGeom>
        </p:spPr>
        <p:txBody>
          <a:bodyPr vert="horz" lIns="94475" tIns="47237" rIns="94475" bIns="47237"/>
          <a:lstStyle>
            <a:lvl1pPr algn="r">
              <a:defRPr sz="1200"/>
            </a:lvl1pPr>
          </a:lstStyle>
          <a:p>
            <a:pPr lvl="0">
              <a:defRPr/>
            </a:pPr>
            <a:fld id="{3A58FB49-0BA5-40AA-BFC7-FBD141E0550C}" type="datetime1">
              <a:rPr lang="ko-KR" altLang="en-US"/>
              <a:pPr lvl="0">
                <a:defRPr/>
              </a:pPr>
              <a:t>2023-08-04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249363" y="1279525"/>
            <a:ext cx="4605337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475" tIns="47237" rIns="94475" bIns="472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078" y="4925839"/>
            <a:ext cx="5683914" cy="4029039"/>
          </a:xfrm>
          <a:prstGeom prst="rect">
            <a:avLst/>
          </a:prstGeom>
        </p:spPr>
        <p:txBody>
          <a:bodyPr vert="horz" lIns="94475" tIns="47237" rIns="94475" bIns="47237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205" y="9720755"/>
            <a:ext cx="3079202" cy="513859"/>
          </a:xfrm>
          <a:prstGeom prst="rect">
            <a:avLst/>
          </a:prstGeom>
        </p:spPr>
        <p:txBody>
          <a:bodyPr vert="horz" lIns="94475" tIns="47237" rIns="94475" bIns="47237" anchor="b"/>
          <a:lstStyle>
            <a:lvl1pPr algn="r">
              <a:defRPr sz="1200"/>
            </a:lvl1pPr>
          </a:lstStyle>
          <a:p>
            <a:pPr lvl="0">
              <a:defRPr/>
            </a:pPr>
            <a:fld id="{81BAB70A-F45A-47C3-B1C3-08DF0F4D1921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강화학습의 모티브가 된 학습방법 중 하나인 스키너 상자실험</a:t>
            </a:r>
          </a:p>
          <a:p>
            <a:pPr lvl="0">
              <a:defRPr/>
            </a:pPr>
            <a:r>
              <a:rPr lang="ko-KR" altLang="en-US"/>
              <a:t>처벌은 잘 안함 국가에서 허락을 해줘야하기때문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ko-KR" altLang="en-US" sz="1200">
                <a:latin typeface="+mn-ea"/>
              </a:rPr>
              <a:t>어떤 행동이 좋은 행동이고 좋은 조합인지 </a:t>
            </a:r>
            <a:r>
              <a:rPr lang="en-US" altLang="ko-KR" sz="1200">
                <a:latin typeface="+mn-ea"/>
              </a:rPr>
              <a:t>trial and error</a:t>
            </a:r>
            <a:r>
              <a:rPr lang="ko-KR" altLang="en-US" sz="1200">
                <a:latin typeface="+mn-ea"/>
              </a:rPr>
              <a:t>로서 이것저것 시도해 보며 알아가게 되고 실제로 학습을 시켜보면서 경험을 하여 얻어진다</a:t>
            </a:r>
            <a:r>
              <a:rPr lang="en-US" altLang="ko-KR" sz="1200">
                <a:latin typeface="+mn-ea"/>
              </a:rPr>
              <a:t>. </a:t>
            </a:r>
            <a:r>
              <a:rPr lang="ko-KR" altLang="en-US" sz="1200">
                <a:latin typeface="+mn-ea"/>
              </a:rPr>
              <a:t>계속 학습이 이뤄지고 어느 순간 터널이 뚫리게 된다면 점수가 한번에 많은 점수를 얻는 경험을 하는데 이때는 전략을 바꾸게 되며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는 터널을 뚫으면 많은 점수를 얻는 것을 알 수 있게된다</a:t>
            </a:r>
            <a:r>
              <a:rPr lang="en-US" altLang="ko-KR" sz="1200">
                <a:latin typeface="+mn-ea"/>
              </a:rPr>
              <a:t>.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https://velog.io/@sjinu/%EA%B0%9C%EB%85%90%EC%A0%95%EB%A6%AC-2.-Markov-Decision-ProcessesMDPs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https://velog.io/@sjinu/%EA%B0%9C%EB%85%90%EC%A0%95%EB%A6%AC-2.-Markov-Decision-ProcessesMDPs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리턴은 현재시점에서 앞으로 내가 받게될 보상의 합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https://blog.naver.com/PostView.naver?blogId=kryj9625&amp;logNo=221769935372&amp;categoryNo=15&amp;parentCategoryNo=0&amp;viewDate=&amp;currentPage=1&amp;postListTopCurrentPage=1&amp;from=postView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81BAB70A-F45A-47C3-B1C3-08DF0F4D1921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345" y="1693545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10105"/>
            <a:ext cx="9144000" cy="110934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355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740"/>
            <a:ext cx="9144000" cy="47498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텍스트 개체 틀 6"/>
          <p:cNvSpPr txBox="1">
            <a:spLocks noGrp="1"/>
          </p:cNvSpPr>
          <p:nvPr>
            <p:ph type="body" sz="quarter" idx="14"/>
          </p:nvPr>
        </p:nvSpPr>
        <p:spPr>
          <a:xfrm>
            <a:off x="0" y="4535805"/>
            <a:ext cx="9144635" cy="47561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algn="ctr" latinLnBrk="0">
              <a:buFontTx/>
              <a:buNone/>
              <a:defRPr lang="en-GB" altLang="en-US"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charset="0"/>
                <a:ea typeface="HY견고딕" charset="0"/>
              </a:defRPr>
            </a:lvl1pPr>
          </a:lstStyle>
          <a:p>
            <a:pPr marL="0" indent="0" latinLnBrk="0">
              <a:buFontTx/>
              <a:buNone/>
            </a:pPr>
            <a:endParaRPr lang="ko-KR" altLang="en-US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037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자유형 3"/>
          <p:cNvSpPr/>
          <p:nvPr userDrawn="1"/>
        </p:nvSpPr>
        <p:spPr>
          <a:xfrm>
            <a:off x="-220150" y="1693649"/>
            <a:ext cx="9144000" cy="2582059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11" name="직사각형 10"/>
          <p:cNvSpPr/>
          <p:nvPr userDrawn="1"/>
        </p:nvSpPr>
        <p:spPr>
          <a:xfrm>
            <a:off x="0" y="6451359"/>
            <a:ext cx="9144000" cy="1956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11"/>
          <p:cNvSpPr/>
          <p:nvPr userDrawn="1"/>
        </p:nvSpPr>
        <p:spPr>
          <a:xfrm>
            <a:off x="0" y="6677011"/>
            <a:ext cx="9144000" cy="17078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4A12FF3-B48F-4CEB-A598-F2FF8F12B519}"/>
              </a:ext>
            </a:extLst>
          </p:cNvPr>
          <p:cNvSpPr/>
          <p:nvPr userDrawn="1"/>
        </p:nvSpPr>
        <p:spPr>
          <a:xfrm>
            <a:off x="0" y="5939395"/>
            <a:ext cx="9144000" cy="9186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AAAD1CA-9854-4AD2-9A09-9128641DB0C3}"/>
              </a:ext>
            </a:extLst>
          </p:cNvPr>
          <p:cNvGrpSpPr/>
          <p:nvPr userDrawn="1"/>
        </p:nvGrpSpPr>
        <p:grpSpPr>
          <a:xfrm>
            <a:off x="6985686" y="5020795"/>
            <a:ext cx="2158314" cy="1837205"/>
            <a:chOff x="9919316" y="4585315"/>
            <a:chExt cx="2272684" cy="2272684"/>
          </a:xfrm>
        </p:grpSpPr>
        <p:sp>
          <p:nvSpPr>
            <p:cNvPr id="15" name="직각 삼각형 14">
              <a:extLst>
                <a:ext uri="{FF2B5EF4-FFF2-40B4-BE49-F238E27FC236}">
                  <a16:creationId xmlns:a16="http://schemas.microsoft.com/office/drawing/2014/main" id="{909E612A-71C7-4167-80E9-977EAF958603}"/>
                </a:ext>
              </a:extLst>
            </p:cNvPr>
            <p:cNvSpPr/>
            <p:nvPr/>
          </p:nvSpPr>
          <p:spPr>
            <a:xfrm rot="5400000">
              <a:off x="11055658" y="4585315"/>
              <a:ext cx="1136342" cy="1136342"/>
            </a:xfrm>
            <a:prstGeom prst="rt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6" name="직각 삼각형 15">
              <a:extLst>
                <a:ext uri="{FF2B5EF4-FFF2-40B4-BE49-F238E27FC236}">
                  <a16:creationId xmlns:a16="http://schemas.microsoft.com/office/drawing/2014/main" id="{FF4A6971-B874-4CDC-9E32-6F72593F0560}"/>
                </a:ext>
              </a:extLst>
            </p:cNvPr>
            <p:cNvSpPr/>
            <p:nvPr/>
          </p:nvSpPr>
          <p:spPr>
            <a:xfrm rot="16200000">
              <a:off x="9919316" y="4585315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7" name="직각 삼각형 16">
              <a:extLst>
                <a:ext uri="{FF2B5EF4-FFF2-40B4-BE49-F238E27FC236}">
                  <a16:creationId xmlns:a16="http://schemas.microsoft.com/office/drawing/2014/main" id="{A4CB350A-E6D0-4928-9917-C0668D0FD153}"/>
                </a:ext>
              </a:extLst>
            </p:cNvPr>
            <p:cNvSpPr/>
            <p:nvPr/>
          </p:nvSpPr>
          <p:spPr>
            <a:xfrm rot="5400000">
              <a:off x="11055658" y="5721657"/>
              <a:ext cx="1136342" cy="1136342"/>
            </a:xfrm>
            <a:prstGeom prst="rtTriangl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18" name="텍스트 개체 틀 6"/>
          <p:cNvSpPr>
            <a:spLocks noGrp="1"/>
          </p:cNvSpPr>
          <p:nvPr>
            <p:ph type="body" sz="quarter" idx="11"/>
          </p:nvPr>
        </p:nvSpPr>
        <p:spPr>
          <a:xfrm>
            <a:off x="0" y="2109788"/>
            <a:ext cx="9144000" cy="11096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9" name="텍스트 개체 틀 6"/>
          <p:cNvSpPr>
            <a:spLocks noGrp="1"/>
          </p:cNvSpPr>
          <p:nvPr>
            <p:ph type="body" sz="quarter" idx="12"/>
          </p:nvPr>
        </p:nvSpPr>
        <p:spPr>
          <a:xfrm>
            <a:off x="0" y="3475292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0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0" y="401586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1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0" y="4535677"/>
            <a:ext cx="9144000" cy="47491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95000"/>
                    <a:lumOff val="5000"/>
                  </a:schemeClr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1619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83305" y="236918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83305" y="1450975"/>
            <a:ext cx="4315460" cy="356870"/>
            <a:chOff x="3583305" y="1450975"/>
            <a:chExt cx="4315460" cy="356870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83305" y="326961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grpSp>
        <p:nvGrpSpPr>
          <p:cNvPr id="15" name="그룹 14"/>
          <p:cNvGrpSpPr/>
          <p:nvPr userDrawn="1"/>
        </p:nvGrpSpPr>
        <p:grpSpPr>
          <a:xfrm>
            <a:off x="3583305" y="4170045"/>
            <a:ext cx="4330700" cy="338455"/>
            <a:chOff x="3583305" y="4170045"/>
            <a:chExt cx="4330700" cy="338455"/>
          </a:xfrm>
        </p:grpSpPr>
        <p:sp>
          <p:nvSpPr>
            <p:cNvPr id="23" name="TextBox 22"/>
            <p:cNvSpPr txBox="1">
              <a:spLocks/>
            </p:cNvSpPr>
            <p:nvPr userDrawn="1"/>
          </p:nvSpPr>
          <p:spPr>
            <a:xfrm>
              <a:off x="3583305" y="4170045"/>
              <a:ext cx="337375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4.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6" name="직선 연결선 25"/>
            <p:cNvCxnSpPr/>
            <p:nvPr/>
          </p:nvCxnSpPr>
          <p:spPr>
            <a:xfrm>
              <a:off x="3674745" y="450850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48B66F11-5D02-4F59-B59B-8EE82468D934}"/>
              </a:ext>
            </a:extLst>
          </p:cNvPr>
          <p:cNvGrpSpPr/>
          <p:nvPr userDrawn="1"/>
        </p:nvGrpSpPr>
        <p:grpSpPr>
          <a:xfrm>
            <a:off x="3583305" y="5067935"/>
            <a:ext cx="6702425" cy="339090"/>
            <a:chOff x="3583305" y="5067935"/>
            <a:chExt cx="6702425" cy="339090"/>
          </a:xfrm>
        </p:grpSpPr>
        <p:sp>
          <p:nvSpPr>
            <p:cNvPr id="27" name="TextBox 26"/>
            <p:cNvSpPr txBox="1">
              <a:spLocks/>
            </p:cNvSpPr>
            <p:nvPr userDrawn="1"/>
          </p:nvSpPr>
          <p:spPr>
            <a:xfrm>
              <a:off x="3583305" y="5067935"/>
              <a:ext cx="670306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5.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</a:p>
          </p:txBody>
        </p:sp>
        <p:cxnSp>
          <p:nvCxnSpPr>
            <p:cNvPr id="29" name="직선 연결선 28"/>
            <p:cNvCxnSpPr/>
            <p:nvPr/>
          </p:nvCxnSpPr>
          <p:spPr>
            <a:xfrm>
              <a:off x="3674745" y="540702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텍스트 상자 1"/>
          <p:cNvSpPr txBox="1">
            <a:spLocks/>
          </p:cNvSpPr>
          <p:nvPr/>
        </p:nvSpPr>
        <p:spPr>
          <a:xfrm>
            <a:off x="3940175" y="1471295"/>
            <a:ext cx="3500755" cy="341630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379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885190" y="3032125"/>
            <a:ext cx="2402205" cy="7080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000" dirty="0">
                <a:latin typeface="HY견고딕" panose="02030600000101010101" pitchFamily="18" charset="-127"/>
                <a:ea typeface="HY견고딕" panose="02030600000101010101" pitchFamily="18" charset="-127"/>
              </a:rPr>
              <a:t>순서</a:t>
            </a:r>
          </a:p>
        </p:txBody>
      </p:sp>
      <p:grpSp>
        <p:nvGrpSpPr>
          <p:cNvPr id="5" name="그룹 4"/>
          <p:cNvGrpSpPr/>
          <p:nvPr userDrawn="1"/>
        </p:nvGrpSpPr>
        <p:grpSpPr>
          <a:xfrm>
            <a:off x="540385" y="3208020"/>
            <a:ext cx="594360" cy="431165"/>
            <a:chOff x="540385" y="3208020"/>
            <a:chExt cx="594360" cy="431165"/>
          </a:xfrm>
          <a:solidFill>
            <a:schemeClr val="accent1">
              <a:lumMod val="50000"/>
            </a:schemeClr>
          </a:solidFill>
        </p:grpSpPr>
        <p:sp>
          <p:nvSpPr>
            <p:cNvPr id="6" name="모서리가 둥근 직사각형 5"/>
            <p:cNvSpPr/>
            <p:nvPr/>
          </p:nvSpPr>
          <p:spPr>
            <a:xfrm>
              <a:off x="540385" y="320802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784860" y="320802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784860" y="3386455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540385" y="3386455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540385" y="3567430"/>
              <a:ext cx="151130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784860" y="3567430"/>
              <a:ext cx="349885" cy="72390"/>
            </a:xfrm>
            <a:prstGeom prst="roundRect">
              <a:avLst/>
            </a:prstGeom>
            <a:grpFill/>
            <a:ln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HY견고딕" panose="02030600000101010101" pitchFamily="18" charset="-127"/>
                <a:ea typeface="HY견고딕" panose="02030600000101010101" pitchFamily="18" charset="-127"/>
              </a:endParaRPr>
            </a:p>
          </p:txBody>
        </p:sp>
      </p:grpSp>
      <p:cxnSp>
        <p:nvCxnSpPr>
          <p:cNvPr id="16" name="직선 연결선 15"/>
          <p:cNvCxnSpPr/>
          <p:nvPr userDrawn="1"/>
        </p:nvCxnSpPr>
        <p:spPr>
          <a:xfrm flipH="1">
            <a:off x="3549650" y="257810"/>
            <a:ext cx="8255" cy="6392545"/>
          </a:xfrm>
          <a:prstGeom prst="line">
            <a:avLst/>
          </a:prstGeom>
          <a:ln w="41275" cmpd="sng">
            <a:solidFill>
              <a:schemeClr val="accent1">
                <a:lumMod val="7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그룹 19"/>
          <p:cNvGrpSpPr/>
          <p:nvPr userDrawn="1"/>
        </p:nvGrpSpPr>
        <p:grpSpPr>
          <a:xfrm>
            <a:off x="3549650" y="3038475"/>
            <a:ext cx="4468495" cy="339090"/>
            <a:chOff x="3583305" y="2369185"/>
            <a:chExt cx="4468495" cy="339090"/>
          </a:xfrm>
        </p:grpSpPr>
        <p:sp>
          <p:nvSpPr>
            <p:cNvPr id="13" name="TextBox 12"/>
            <p:cNvSpPr txBox="1">
              <a:spLocks/>
            </p:cNvSpPr>
            <p:nvPr userDrawn="1"/>
          </p:nvSpPr>
          <p:spPr>
            <a:xfrm>
              <a:off x="3583305" y="2369185"/>
              <a:ext cx="4469130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2.</a:t>
              </a:r>
              <a:r>
                <a:rPr lang="ko-KR" altLang="en-US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3679190" y="2708275"/>
              <a:ext cx="3901440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그룹 27"/>
          <p:cNvGrpSpPr/>
          <p:nvPr userDrawn="1"/>
        </p:nvGrpSpPr>
        <p:grpSpPr>
          <a:xfrm>
            <a:off x="3549650" y="2120265"/>
            <a:ext cx="4316095" cy="357505"/>
            <a:chOff x="3583305" y="1450975"/>
            <a:chExt cx="4316095" cy="357505"/>
          </a:xfrm>
        </p:grpSpPr>
        <p:sp>
          <p:nvSpPr>
            <p:cNvPr id="12" name="TextBox 11"/>
            <p:cNvSpPr txBox="1">
              <a:spLocks/>
            </p:cNvSpPr>
            <p:nvPr userDrawn="1"/>
          </p:nvSpPr>
          <p:spPr>
            <a:xfrm>
              <a:off x="3583305" y="1450975"/>
              <a:ext cx="426656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1. </a:t>
              </a:r>
              <a:endParaRPr lang="ko-KR" altLang="en-US" sz="1600" b="1" i="0">
                <a:solidFill>
                  <a:schemeClr val="tx1"/>
                </a:solidFill>
                <a:latin typeface="HY견고딕" charset="0"/>
                <a:ea typeface="HY견고딕" charset="0"/>
              </a:endParaRPr>
            </a:p>
          </p:txBody>
        </p:sp>
        <p:cxnSp>
          <p:nvCxnSpPr>
            <p:cNvPr id="21" name="직선 연결선 20"/>
            <p:cNvCxnSpPr/>
            <p:nvPr/>
          </p:nvCxnSpPr>
          <p:spPr>
            <a:xfrm>
              <a:off x="3659505" y="1807845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그룹 18"/>
          <p:cNvGrpSpPr/>
          <p:nvPr userDrawn="1"/>
        </p:nvGrpSpPr>
        <p:grpSpPr>
          <a:xfrm>
            <a:off x="3549650" y="3938905"/>
            <a:ext cx="4460240" cy="338455"/>
            <a:chOff x="3583305" y="3269615"/>
            <a:chExt cx="4460240" cy="338455"/>
          </a:xfrm>
        </p:grpSpPr>
        <p:cxnSp>
          <p:nvCxnSpPr>
            <p:cNvPr id="22" name="직선 연결선 21"/>
            <p:cNvCxnSpPr/>
            <p:nvPr/>
          </p:nvCxnSpPr>
          <p:spPr>
            <a:xfrm>
              <a:off x="3674745" y="3608070"/>
              <a:ext cx="4239895" cy="635"/>
            </a:xfrm>
            <a:prstGeom prst="line">
              <a:avLst/>
            </a:prstGeom>
            <a:ln w="22225" cap="flat" cmpd="sng">
              <a:gradFill rotWithShape="1">
                <a:gsLst>
                  <a:gs pos="0">
                    <a:schemeClr val="accent1">
                      <a:lumMod val="50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83000">
                    <a:schemeClr val="accent1">
                      <a:lumMod val="40000"/>
                      <a:lumOff val="60000"/>
                    </a:scheme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</a:gradFill>
              <a:prstDash val="solid"/>
              <a:headEnd type="diamond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>
              <a:spLocks/>
            </p:cNvSpPr>
            <p:nvPr userDrawn="1"/>
          </p:nvSpPr>
          <p:spPr>
            <a:xfrm>
              <a:off x="3583305" y="3269615"/>
              <a:ext cx="4460875" cy="33845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/>
            <a:p>
              <a:pPr marL="0" indent="0" latinLnBrk="0">
                <a:buFontTx/>
                <a:buNone/>
              </a:pPr>
              <a:r>
                <a:rPr lang="en-US" altLang="ko-KR" sz="1600" b="1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3. </a:t>
              </a:r>
              <a:r>
                <a:rPr lang="ko-KR" altLang="en-US" sz="1600" b="1" i="0">
                  <a:solidFill>
                    <a:schemeClr val="tx1"/>
                  </a:solidFill>
                  <a:latin typeface="HY견고딕" charset="0"/>
                  <a:ea typeface="HY견고딕" charset="0"/>
                </a:rPr>
                <a:t> </a:t>
              </a:r>
            </a:p>
          </p:txBody>
        </p:sp>
      </p:grp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0D4A21-775F-47F7-8A71-3C0AB26EAD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25875" y="2120265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1</a:t>
            </a:r>
            <a:endParaRPr lang="ko-KR" altLang="en-US"/>
          </a:p>
        </p:txBody>
      </p:sp>
      <p:sp>
        <p:nvSpPr>
          <p:cNvPr id="39" name="텍스트 개체 틀 2">
            <a:extLst>
              <a:ext uri="{FF2B5EF4-FFF2-40B4-BE49-F238E27FC236}">
                <a16:creationId xmlns:a16="http://schemas.microsoft.com/office/drawing/2014/main" id="{111D8129-9C51-4746-B42C-E30B0CFFB1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26510" y="302641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2</a:t>
            </a:r>
            <a:endParaRPr lang="ko-KR" altLang="en-US"/>
          </a:p>
        </p:txBody>
      </p:sp>
      <p:sp>
        <p:nvSpPr>
          <p:cNvPr id="40" name="텍스트 개체 틀 2">
            <a:extLst>
              <a:ext uri="{FF2B5EF4-FFF2-40B4-BE49-F238E27FC236}">
                <a16:creationId xmlns:a16="http://schemas.microsoft.com/office/drawing/2014/main" id="{FBA89A38-4604-4945-B611-7E24E9FFC80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510" y="3912870"/>
            <a:ext cx="3721100" cy="338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</a:lstStyle>
          <a:p>
            <a:pPr lvl="0"/>
            <a:r>
              <a:rPr lang="ko-KR" altLang="en-US"/>
              <a:t>주제</a:t>
            </a:r>
            <a:r>
              <a:rPr lang="en-US" altLang="ko-KR"/>
              <a:t>3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874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22" name="그룹 21"/>
          <p:cNvGrpSpPr/>
          <p:nvPr userDrawn="1"/>
        </p:nvGrpSpPr>
        <p:grpSpPr>
          <a:xfrm>
            <a:off x="4824730" y="1054735"/>
            <a:ext cx="4301490" cy="247650"/>
            <a:chOff x="4824730" y="1054735"/>
            <a:chExt cx="4301490" cy="247650"/>
          </a:xfrm>
        </p:grpSpPr>
        <p:sp>
          <p:nvSpPr>
            <p:cNvPr id="29" name="직사각형 28"/>
            <p:cNvSpPr/>
            <p:nvPr userDrawn="1"/>
          </p:nvSpPr>
          <p:spPr>
            <a:xfrm>
              <a:off x="4824730" y="1056005"/>
              <a:ext cx="2148840" cy="24638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INTRODUCTION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A677E20-C4CE-43D7-8121-447A3D04B307}"/>
                </a:ext>
              </a:extLst>
            </p:cNvPr>
            <p:cNvSpPr/>
            <p:nvPr userDrawn="1"/>
          </p:nvSpPr>
          <p:spPr>
            <a:xfrm>
              <a:off x="6977380" y="1054735"/>
              <a:ext cx="2148840" cy="24638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solidFill>
                <a:srgbClr val="1F4E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+mj-ea"/>
                  <a:ea typeface="+mj-ea"/>
                </a:rPr>
                <a:t>PROJECT</a:t>
              </a:r>
              <a:endParaRPr lang="ko-KR" altLang="en-US" sz="105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en-US" altLang="ko-KR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PORTFOLIO</a:t>
            </a:r>
            <a:endParaRPr lang="ko-KR" altLang="en-US" sz="1600" b="1">
              <a:solidFill>
                <a:schemeClr val="bg2">
                  <a:lumMod val="25000"/>
                </a:schemeClr>
              </a:solidFill>
              <a:latin typeface="맑은 고딕" charset="0"/>
              <a:ea typeface="맑은 고딕" charset="0"/>
              <a:cs typeface="+mn-cs"/>
            </a:endParaRPr>
          </a:p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3305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553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771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 userDrawn="1"/>
        </p:nvSpPr>
        <p:spPr>
          <a:xfrm>
            <a:off x="0" y="0"/>
            <a:ext cx="9144635" cy="715645"/>
          </a:xfrm>
          <a:prstGeom prst="rect">
            <a:avLst/>
          </a:prstGeom>
          <a:gradFill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</a:gradFill>
          <a:ln w="12700" cap="flat" cmpd="sng">
            <a:solidFill>
              <a:schemeClr val="bg1">
                <a:lumMod val="95000"/>
                <a:alpha val="10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endParaRPr lang="ko-KR" altLang="en-US">
              <a:latin typeface="HY견고딕" charset="0"/>
              <a:ea typeface="HY견고딕" charset="0"/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93709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pSp>
        <p:nvGrpSpPr>
          <p:cNvPr id="35" name="그룹 8"/>
          <p:cNvGrpSpPr/>
          <p:nvPr/>
        </p:nvGrpSpPr>
        <p:grpSpPr>
          <a:xfrm>
            <a:off x="0" y="716280"/>
            <a:ext cx="9144635" cy="337185"/>
            <a:chOff x="0" y="716280"/>
            <a:chExt cx="9144635" cy="337185"/>
          </a:xfrm>
        </p:grpSpPr>
        <p:sp>
          <p:nvSpPr>
            <p:cNvPr id="7" name="직사각형 6"/>
            <p:cNvSpPr>
              <a:spLocks/>
            </p:cNvSpPr>
            <p:nvPr userDrawn="1"/>
          </p:nvSpPr>
          <p:spPr>
            <a:xfrm>
              <a:off x="0" y="716280"/>
              <a:ext cx="9144635" cy="1016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 w="12700" cap="flat" cmpd="sng">
              <a:solidFill>
                <a:schemeClr val="bg1">
                  <a:lumMod val="95000"/>
                  <a:alpha val="100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>
              <a:noAutofit/>
            </a:bodyPr>
            <a:lstStyle/>
            <a:p>
              <a:pPr marL="0" indent="0" algn="ctr" latinLnBrk="0">
                <a:buFontTx/>
                <a:buNone/>
              </a:pPr>
              <a:endParaRPr lang="ko-KR" altLang="en-US">
                <a:solidFill>
                  <a:schemeClr val="accent5">
                    <a:lumMod val="50000"/>
                  </a:schemeClr>
                </a:solidFill>
                <a:latin typeface="HY견고딕" charset="0"/>
                <a:ea typeface="HY견고딕" charset="0"/>
              </a:endParaRPr>
            </a:p>
          </p:txBody>
        </p:sp>
        <p:grpSp>
          <p:nvGrpSpPr>
            <p:cNvPr id="22" name="그룹 21"/>
            <p:cNvGrpSpPr/>
            <p:nvPr userDrawn="1"/>
          </p:nvGrpSpPr>
          <p:grpSpPr>
            <a:xfrm>
              <a:off x="2675255" y="805180"/>
              <a:ext cx="6451600" cy="248285"/>
              <a:chOff x="2675255" y="805180"/>
              <a:chExt cx="6451600" cy="248285"/>
            </a:xfrm>
          </p:grpSpPr>
          <p:sp>
            <p:nvSpPr>
              <p:cNvPr id="29" name="직사각형 28"/>
              <p:cNvSpPr>
                <a:spLocks/>
              </p:cNvSpPr>
              <p:nvPr userDrawn="1"/>
            </p:nvSpPr>
            <p:spPr>
              <a:xfrm>
                <a:off x="4824730" y="806450"/>
                <a:ext cx="2149475" cy="247015"/>
              </a:xfrm>
              <a:prstGeom prst="rect">
                <a:avLst/>
              </a:prstGeom>
              <a:solidFill>
                <a:schemeClr val="accent1">
                  <a:lumMod val="50000"/>
                </a:schemeClr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MDP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8" name="직사각형 17"/>
              <p:cNvSpPr>
                <a:spLocks/>
              </p:cNvSpPr>
              <p:nvPr userDrawn="1"/>
            </p:nvSpPr>
            <p:spPr>
              <a:xfrm>
                <a:off x="6977380" y="805180"/>
                <a:ext cx="2149475" cy="247015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indent="0" algn="ctr" latinLnBrk="0">
                  <a:buFontTx/>
                  <a:buNone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Bellman Equation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C6513CF-1BDC-4525-A773-5ABE5E78A776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2675255" y="806450"/>
                <a:ext cx="2219325" cy="247015"/>
              </a:xfrm>
              <a:prstGeom prst="rect">
                <a:avLst/>
              </a:prstGeom>
              <a:solidFill>
                <a:srgbClr val="1F4E79"/>
              </a:solidFill>
              <a:ln w="12700" cap="flat" cmpd="sng">
                <a:solidFill>
                  <a:srgbClr val="1F4E79">
                    <a:alpha val="100000"/>
                  </a:srgbClr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ctr">
                <a:no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ko-KR" sz="1400" b="1">
                    <a:solidFill>
                      <a:schemeClr val="tx1"/>
                    </a:solidFill>
                    <a:latin typeface="맑은 고딕" charset="0"/>
                    <a:ea typeface="맑은 고딕" charset="0"/>
                  </a:rPr>
                  <a:t>Reinforcement Learning</a:t>
                </a:r>
                <a:endParaRPr lang="ko-KR" altLang="en-US" sz="1400" b="1">
                  <a:solidFill>
                    <a:schemeClr val="tx1"/>
                  </a:solidFill>
                  <a:latin typeface="맑은 고딕" charset="0"/>
                  <a:ea typeface="맑은 고딕" charset="0"/>
                </a:endParaRPr>
              </a:p>
            </p:txBody>
          </p:sp>
        </p:grpSp>
      </p:grpSp>
      <p:sp>
        <p:nvSpPr>
          <p:cNvPr id="32" name="텍스트 개체 틀 21"/>
          <p:cNvSpPr txBox="1">
            <a:spLocks noGrp="1"/>
          </p:cNvSpPr>
          <p:nvPr>
            <p:ph type="body" sz="quarter" idx="11"/>
          </p:nvPr>
        </p:nvSpPr>
        <p:spPr>
          <a:xfrm>
            <a:off x="-3810" y="194945"/>
            <a:ext cx="4898390" cy="320040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latinLnBrk="0">
              <a:buFontTx/>
              <a:buNone/>
              <a:defRPr/>
            </a:pPr>
            <a:endParaRPr lang="ko-KR" altLang="en-US" sz="1600" b="1">
              <a:latin typeface="Arial Black" charset="0"/>
            </a:endParaRPr>
          </a:p>
        </p:txBody>
      </p:sp>
      <p:sp>
        <p:nvSpPr>
          <p:cNvPr id="36" name="도형 9"/>
          <p:cNvSpPr>
            <a:spLocks/>
          </p:cNvSpPr>
          <p:nvPr/>
        </p:nvSpPr>
        <p:spPr>
          <a:xfrm>
            <a:off x="0" y="507365"/>
            <a:ext cx="4980305" cy="88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lstStyle/>
          <a:p>
            <a:pPr marL="0" indent="0" algn="ctr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037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645160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직사각형 4"/>
          <p:cNvSpPr/>
          <p:nvPr userDrawn="1"/>
        </p:nvSpPr>
        <p:spPr>
          <a:xfrm>
            <a:off x="0" y="6677025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6" name="자유형 5"/>
          <p:cNvSpPr/>
          <p:nvPr userDrawn="1"/>
        </p:nvSpPr>
        <p:spPr>
          <a:xfrm>
            <a:off x="-220345" y="1868170"/>
            <a:ext cx="9144000" cy="2581910"/>
          </a:xfrm>
          <a:custGeom>
            <a:avLst/>
            <a:gdLst>
              <a:gd name="connsiteX0" fmla="*/ 55340 w 7037470"/>
              <a:gd name="connsiteY0" fmla="*/ 1044433 h 1987223"/>
              <a:gd name="connsiteX1" fmla="*/ 3421995 w 7037470"/>
              <a:gd name="connsiteY1" fmla="*/ 470855 h 1987223"/>
              <a:gd name="connsiteX2" fmla="*/ 5466926 w 7037470"/>
              <a:gd name="connsiteY2" fmla="*/ 445917 h 1987223"/>
              <a:gd name="connsiteX3" fmla="*/ 3704628 w 7037470"/>
              <a:gd name="connsiteY3" fmla="*/ 1318753 h 1987223"/>
              <a:gd name="connsiteX4" fmla="*/ 1776075 w 7037470"/>
              <a:gd name="connsiteY4" fmla="*/ 1967146 h 1987223"/>
              <a:gd name="connsiteX5" fmla="*/ 6306511 w 7037470"/>
              <a:gd name="connsiteY5" fmla="*/ 545670 h 1987223"/>
              <a:gd name="connsiteX6" fmla="*/ 6389639 w 7037470"/>
              <a:gd name="connsiteY6" fmla="*/ 13655 h 1987223"/>
              <a:gd name="connsiteX7" fmla="*/ 55340 w 7037470"/>
              <a:gd name="connsiteY7" fmla="*/ 1044433 h 198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37470" h="1987223">
                <a:moveTo>
                  <a:pt x="55340" y="1044433"/>
                </a:moveTo>
                <a:cubicBezTo>
                  <a:pt x="-439267" y="1120633"/>
                  <a:pt x="2520064" y="570608"/>
                  <a:pt x="3421995" y="470855"/>
                </a:cubicBezTo>
                <a:cubicBezTo>
                  <a:pt x="4323926" y="371102"/>
                  <a:pt x="5419821" y="304601"/>
                  <a:pt x="5466926" y="445917"/>
                </a:cubicBezTo>
                <a:cubicBezTo>
                  <a:pt x="5514032" y="587233"/>
                  <a:pt x="4319770" y="1065215"/>
                  <a:pt x="3704628" y="1318753"/>
                </a:cubicBezTo>
                <a:cubicBezTo>
                  <a:pt x="3089486" y="1572291"/>
                  <a:pt x="1342428" y="2095993"/>
                  <a:pt x="1776075" y="1967146"/>
                </a:cubicBezTo>
                <a:cubicBezTo>
                  <a:pt x="2209722" y="1838299"/>
                  <a:pt x="5537584" y="871252"/>
                  <a:pt x="6306511" y="545670"/>
                </a:cubicBezTo>
                <a:cubicBezTo>
                  <a:pt x="7075438" y="220088"/>
                  <a:pt x="7432886" y="-66701"/>
                  <a:pt x="6389639" y="13655"/>
                </a:cubicBezTo>
                <a:cubicBezTo>
                  <a:pt x="5346392" y="94011"/>
                  <a:pt x="549947" y="968233"/>
                  <a:pt x="55340" y="1044433"/>
                </a:cubicBezTo>
                <a:close/>
              </a:path>
            </a:pathLst>
          </a:custGeom>
          <a:gradFill>
            <a:gsLst>
              <a:gs pos="71000">
                <a:schemeClr val="accent1">
                  <a:lumMod val="40000"/>
                  <a:lumOff val="60000"/>
                </a:schemeClr>
              </a:gs>
              <a:gs pos="0">
                <a:schemeClr val="bg1"/>
              </a:gs>
              <a:gs pos="90000">
                <a:schemeClr val="accent1">
                  <a:lumMod val="75000"/>
                </a:schemeClr>
              </a:gs>
              <a:gs pos="100000">
                <a:schemeClr val="accent1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/>
          </a:p>
        </p:txBody>
      </p:sp>
      <p:sp>
        <p:nvSpPr>
          <p:cNvPr id="7" name="TextBox 6"/>
          <p:cNvSpPr txBox="1"/>
          <p:nvPr userDrawn="1"/>
        </p:nvSpPr>
        <p:spPr>
          <a:xfrm>
            <a:off x="1285240" y="2482215"/>
            <a:ext cx="6777990" cy="76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 latinLnBrk="0"/>
            <a:r>
              <a:rPr lang="ko-KR" altLang="en-US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감사합니다</a:t>
            </a:r>
            <a:r>
              <a:rPr lang="en-US" altLang="ko-KR" sz="4400" b="1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ko-KR" altLang="en-US" sz="3200" b="1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0672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 userDrawn="1"/>
        </p:nvSpPr>
        <p:spPr>
          <a:xfrm>
            <a:off x="0" y="0"/>
            <a:ext cx="9144000" cy="103632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E6F0FA"/>
              </a:gs>
            </a:gsLst>
            <a:lin ang="10800000" scaled="1"/>
            <a:tileRect/>
          </a:gra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6" name="직선 연결선 5"/>
          <p:cNvCxnSpPr/>
          <p:nvPr userDrawn="1"/>
        </p:nvCxnSpPr>
        <p:spPr>
          <a:xfrm>
            <a:off x="268605" y="531495"/>
            <a:ext cx="6057265" cy="0"/>
          </a:xfrm>
          <a:prstGeom prst="line">
            <a:avLst/>
          </a:prstGeom>
          <a:ln w="28575">
            <a:gradFill flip="none" rotWithShape="1">
              <a:gsLst>
                <a:gs pos="0">
                  <a:schemeClr val="accent1">
                    <a:lumMod val="50000"/>
                  </a:schemeClr>
                </a:gs>
                <a:gs pos="3900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lumMod val="40000"/>
                    <a:lumOff val="60000"/>
                  </a:schemeClr>
                </a:gs>
              </a:gsLst>
              <a:lin ang="0" scaled="1"/>
              <a:tileRect/>
            </a:gradFill>
            <a:head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 userDrawn="1"/>
        </p:nvSpPr>
        <p:spPr>
          <a:xfrm>
            <a:off x="0" y="1032510"/>
            <a:ext cx="9144000" cy="10096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5">
                  <a:lumMod val="50000"/>
                </a:scheme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1" name="직사각형 51"/>
          <p:cNvSpPr/>
          <p:nvPr userDrawn="1"/>
        </p:nvSpPr>
        <p:spPr>
          <a:xfrm>
            <a:off x="0" y="6442710"/>
            <a:ext cx="9144000" cy="1955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직사각형 52"/>
          <p:cNvSpPr/>
          <p:nvPr userDrawn="1"/>
        </p:nvSpPr>
        <p:spPr>
          <a:xfrm>
            <a:off x="0" y="6668770"/>
            <a:ext cx="9144000" cy="17081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35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5" name="Slide Number Placeholder 5"/>
          <p:cNvSpPr txBox="1">
            <a:spLocks/>
          </p:cNvSpPr>
          <p:nvPr userDrawn="1"/>
        </p:nvSpPr>
        <p:spPr>
          <a:xfrm>
            <a:off x="7152005" y="65849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11BA9C9-ACA8-4929-8E38-3AE1CAD68ED2}" type="slidenum">
              <a:rPr lang="ko-KR" altLang="en-US" sz="1400" smtClean="0"/>
              <a:pPr/>
              <a:t>‹#›</a:t>
            </a:fld>
            <a:endParaRPr lang="ko-KR" altLang="en-US" sz="1400" dirty="0"/>
          </a:p>
        </p:txBody>
      </p:sp>
      <p:sp>
        <p:nvSpPr>
          <p:cNvPr id="24" name="육각형 23"/>
          <p:cNvSpPr/>
          <p:nvPr userDrawn="1"/>
        </p:nvSpPr>
        <p:spPr>
          <a:xfrm>
            <a:off x="421640" y="1477645"/>
            <a:ext cx="159385" cy="137160"/>
          </a:xfrm>
          <a:prstGeom prst="hexagon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2" name="텍스트 개체 틀 21"/>
          <p:cNvSpPr>
            <a:spLocks noGrp="1"/>
          </p:cNvSpPr>
          <p:nvPr>
            <p:ph type="body" sz="quarter" idx="11" hasCustomPrompt="1"/>
          </p:nvPr>
        </p:nvSpPr>
        <p:spPr>
          <a:xfrm>
            <a:off x="268605" y="219710"/>
            <a:ext cx="4898390" cy="418465"/>
          </a:xfrm>
          <a:prstGeom prst="rect">
            <a:avLst/>
          </a:prstGeom>
        </p:spPr>
        <p:txBody>
          <a:bodyPr vert="horz" wrap="square" lIns="91440" tIns="45720" rIns="91440" bIns="45720" numCol="1" anchor="t">
            <a:noAutofit/>
          </a:bodyPr>
          <a:lstStyle>
            <a:lvl1pPr marL="0" indent="0" latinLnBrk="0">
              <a:buFontTx/>
              <a:buNone/>
              <a:defRPr lang="en-GB" altLang="en-US" sz="1600" b="1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/>
            </a:pPr>
            <a:r>
              <a:rPr lang="ko-KR" altLang="en-US" sz="1600" b="1">
                <a:solidFill>
                  <a:schemeClr val="bg2">
                    <a:lumMod val="25000"/>
                  </a:schemeClr>
                </a:solidFill>
                <a:latin typeface="맑은 고딕" charset="0"/>
                <a:ea typeface="맑은 고딕" charset="0"/>
                <a:cs typeface="+mn-cs"/>
              </a:rPr>
              <a:t>참조</a:t>
            </a:r>
            <a:endParaRPr lang="ko-KR" altLang="en-US" sz="1600" b="1">
              <a:latin typeface="Arial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635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8D494E-9A8C-4064-A675-DDDE5251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86235-E225-44F2-AEE7-6594F1FE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E81B25-1300-449B-BED3-50A8067F4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8035" cy="365760"/>
          </a:xfrm>
        </p:spPr>
        <p:txBody>
          <a:bodyPr/>
          <a:lstStyle/>
          <a:p>
            <a:fld id="{886427A3-7A7B-471F-9052-B4F6CB5735F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8178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11BA9C9-ACA8-4929-8E38-3AE1CAD68ED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941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33" r:id="rId4"/>
    <p:sldLayoutId id="2147483728" r:id="rId5"/>
    <p:sldLayoutId id="2147483734" r:id="rId6"/>
    <p:sldLayoutId id="2147483735" r:id="rId7"/>
    <p:sldLayoutId id="2147483736" r:id="rId8"/>
    <p:sldLayoutId id="2147483730" r:id="rId9"/>
    <p:sldLayoutId id="2147483748" r:id="rId10"/>
    <p:sldLayoutId id="214748373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19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png"/><Relationship Id="rId4" Type="http://schemas.openxmlformats.org/officeDocument/2006/relationships/image" Target="../media/image31.png"/><Relationship Id="rId9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9.png"/><Relationship Id="rId5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information.koreainfoguide.com/entry/Lecture-2-Markov-Decision-Process" TargetMode="External"/><Relationship Id="rId3" Type="http://schemas.openxmlformats.org/officeDocument/2006/relationships/hyperlink" Target="https://brunch.co.kr/@mnc/14" TargetMode="External"/><Relationship Id="rId7" Type="http://schemas.openxmlformats.org/officeDocument/2006/relationships/hyperlink" Target="https://blog.naver.com/PostView.naver?blogId=kryj9625&amp;logNo=221769935372&amp;categoryNo=15&amp;parentCategoryNo=0&amp;viewDate=&amp;currentPage=1&amp;postListTopCurrentPage=1&amp;from=postView" TargetMode="External"/><Relationship Id="rId2" Type="http://schemas.openxmlformats.org/officeDocument/2006/relationships/hyperlink" Target="https://dnddnjs.gitbooks.io/rl/content/example.html" TargetMode="External"/><Relationship Id="rId1" Type="http://schemas.openxmlformats.org/officeDocument/2006/relationships/slideLayout" Target="../slideLayouts/slideLayout10.xml"/><Relationship Id="rId6" Type="http://schemas.openxmlformats.org/officeDocument/2006/relationships/hyperlink" Target="https://ai-sinq.tistory.com/entry/Bellman-Equation%EB%B2%A8%EB%A7%8C-%EB%B0%A9%EC%A0%95%EC%8B%9D" TargetMode="External"/><Relationship Id="rId5" Type="http://schemas.openxmlformats.org/officeDocument/2006/relationships/hyperlink" Target="https://skidrow6122.tistory.com/entry/3-Bellman-Equation-and-Optimality" TargetMode="External"/><Relationship Id="rId4" Type="http://schemas.openxmlformats.org/officeDocument/2006/relationships/hyperlink" Target="https://sumniya.tistory.com/3" TargetMode="External"/><Relationship Id="rId9" Type="http://schemas.openxmlformats.org/officeDocument/2006/relationships/hyperlink" Target="https://velog.io/@sjinu/%EA%B0%9C%EB%85%90%EC%A0%95%EB%A6%AC-2.-Markov-Decision-ProcessesMDPs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>
            <a:spLocks/>
          </p:cNvSpPr>
          <p:nvPr/>
        </p:nvSpPr>
        <p:spPr>
          <a:xfrm>
            <a:off x="6600825" y="5478145"/>
            <a:ext cx="2542540" cy="496570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UST21 부설 연구소 </a:t>
            </a:r>
          </a:p>
          <a:p>
            <a:pPr marL="0" indent="0" algn="ctr" latinLnBrk="0">
              <a:buFontTx/>
              <a:buNone/>
            </a:pPr>
            <a:r>
              <a:rPr lang="ko-KR" altLang="en-US" sz="1400">
                <a:solidFill>
                  <a:schemeClr val="tx1"/>
                </a:solidFill>
              </a:rPr>
              <a:t>김지훈</a:t>
            </a:r>
          </a:p>
        </p:txBody>
      </p:sp>
      <p:sp>
        <p:nvSpPr>
          <p:cNvPr id="5" name="직사각형 4"/>
          <p:cNvSpPr>
            <a:spLocks/>
          </p:cNvSpPr>
          <p:nvPr/>
        </p:nvSpPr>
        <p:spPr>
          <a:xfrm>
            <a:off x="0" y="2234565"/>
            <a:ext cx="9145270" cy="1419225"/>
          </a:xfrm>
          <a:prstGeom prst="rect">
            <a:avLst/>
          </a:prstGeom>
          <a:noFill/>
          <a:ln w="0">
            <a:noFill/>
            <a:prstDash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>
            <a:noAutofit/>
          </a:bodyPr>
          <a:lstStyle/>
          <a:p>
            <a:pPr marL="0" indent="0" algn="ctr" latinLnBrk="0">
              <a:buFontTx/>
              <a:buNone/>
            </a:pPr>
            <a:r>
              <a:rPr lang="ko-KR" altLang="en-US" sz="6000">
                <a:solidFill>
                  <a:schemeClr val="tx1"/>
                </a:solidFill>
              </a:rPr>
              <a:t>강화학습</a:t>
            </a:r>
            <a:endParaRPr lang="en-US" altLang="ko-KR" sz="6000">
              <a:solidFill>
                <a:schemeClr val="tx1"/>
              </a:solidFill>
            </a:endParaRPr>
          </a:p>
          <a:p>
            <a:pPr marL="0" indent="0" algn="ctr" latinLnBrk="0">
              <a:buFontTx/>
              <a:buNone/>
            </a:pPr>
            <a:endParaRPr lang="ko-KR" altLang="en-US" sz="60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0255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상자 6"/>
          <p:cNvSpPr txBox="1">
            <a:spLocks/>
          </p:cNvSpPr>
          <p:nvPr/>
        </p:nvSpPr>
        <p:spPr>
          <a:xfrm>
            <a:off x="3890645" y="5037455"/>
            <a:ext cx="3508375" cy="370205"/>
          </a:xfrm>
          <a:prstGeom prst="rect">
            <a:avLst/>
          </a:prstGeom>
          <a:noFill/>
          <a:ln w="0"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맑은 고딕" charset="0"/>
              <a:ea typeface="맑은 고딕" charset="0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A95A8B6C-64EB-49EA-B8E4-B4CEECCF63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90645" y="2102801"/>
            <a:ext cx="3721100" cy="370205"/>
          </a:xfrm>
        </p:spPr>
        <p:txBody>
          <a:bodyPr/>
          <a:lstStyle/>
          <a:p>
            <a:r>
              <a:rPr lang="en-US" altLang="ko-KR"/>
              <a:t>Reinforcement Learning</a:t>
            </a:r>
            <a:endParaRPr lang="ko-KR" altLang="en-US" sz="2400"/>
          </a:p>
        </p:txBody>
      </p:sp>
      <p:sp>
        <p:nvSpPr>
          <p:cNvPr id="14" name="텍스트 개체 틀 6">
            <a:extLst>
              <a:ext uri="{FF2B5EF4-FFF2-40B4-BE49-F238E27FC236}">
                <a16:creationId xmlns:a16="http://schemas.microsoft.com/office/drawing/2014/main" id="{055F7001-F83D-4CFE-A15C-2A9E1C8B702D}"/>
              </a:ext>
            </a:extLst>
          </p:cNvPr>
          <p:cNvSpPr txBox="1">
            <a:spLocks/>
          </p:cNvSpPr>
          <p:nvPr/>
        </p:nvSpPr>
        <p:spPr>
          <a:xfrm>
            <a:off x="3890644" y="29943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MDP(Markov Decision Process)</a:t>
            </a:r>
            <a:endParaRPr lang="ko-KR" altLang="en-US" sz="2400"/>
          </a:p>
        </p:txBody>
      </p:sp>
      <p:sp>
        <p:nvSpPr>
          <p:cNvPr id="15" name="텍스트 개체 틀 6">
            <a:extLst>
              <a:ext uri="{FF2B5EF4-FFF2-40B4-BE49-F238E27FC236}">
                <a16:creationId xmlns:a16="http://schemas.microsoft.com/office/drawing/2014/main" id="{0848AE5B-1115-44CA-B0EE-2DA9F36489C1}"/>
              </a:ext>
            </a:extLst>
          </p:cNvPr>
          <p:cNvSpPr txBox="1">
            <a:spLocks/>
          </p:cNvSpPr>
          <p:nvPr/>
        </p:nvSpPr>
        <p:spPr>
          <a:xfrm>
            <a:off x="3890645" y="3885881"/>
            <a:ext cx="3721100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8" name="텍스트 개체 틀 6">
            <a:extLst>
              <a:ext uri="{FF2B5EF4-FFF2-40B4-BE49-F238E27FC236}">
                <a16:creationId xmlns:a16="http://schemas.microsoft.com/office/drawing/2014/main" id="{641D312C-478B-4F9C-87EE-A8124196DF70}"/>
              </a:ext>
            </a:extLst>
          </p:cNvPr>
          <p:cNvSpPr txBox="1">
            <a:spLocks/>
          </p:cNvSpPr>
          <p:nvPr/>
        </p:nvSpPr>
        <p:spPr>
          <a:xfrm>
            <a:off x="3890645" y="3893741"/>
            <a:ext cx="4070507" cy="3702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/>
              <a:t>Bellman Equation</a:t>
            </a:r>
            <a:endParaRPr lang="ko-KR" alt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 sz="1600" b="1">
                <a:solidFill>
                  <a:schemeClr val="tx1"/>
                </a:solidFill>
                <a:latin typeface="맑은 고딕"/>
                <a:ea typeface="맑은 고딕"/>
              </a:rPr>
              <a:t>Reinforcement Learning</a:t>
            </a:r>
          </a:p>
          <a:p>
            <a:pPr lvl="0">
              <a:defRPr/>
            </a:pPr>
            <a:endParaRPr lang="ko-KR" altLang="en-US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67558" y="1102405"/>
            <a:ext cx="3620031" cy="30736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15273" y="4155925"/>
            <a:ext cx="8674727" cy="2471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 &lt;</a:t>
            </a:r>
            <a:r>
              <a:rPr lang="ko-KR" altLang="en-US" sz="1200">
                <a:latin typeface="+mn-ea"/>
              </a:rPr>
              <a:t>강화학습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ko-KR" altLang="en-US" sz="1200">
                <a:latin typeface="+mn-ea"/>
              </a:rPr>
              <a:t>강화학습은 </a:t>
            </a:r>
            <a:r>
              <a:rPr lang="en-US" altLang="ko-KR" sz="1200">
                <a:latin typeface="+mn-ea"/>
              </a:rPr>
              <a:t>Machine Learning</a:t>
            </a:r>
            <a:r>
              <a:rPr lang="ko-KR" altLang="en-US" sz="1200">
                <a:latin typeface="+mn-ea"/>
              </a:rPr>
              <a:t>의 한 종류로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행동을 수행하는 학습자가 어떤 행동을 해야할지지 모르는 상태에서 행동에 대한 보상을 극대화하기 위해 어떻게 행동을 해야하는지 방향을 찾는 학습 방법</a:t>
            </a:r>
          </a:p>
          <a:p>
            <a:pPr marL="171450" indent="-171450" algn="l">
              <a:buFont typeface="Arial"/>
              <a:buChar char="•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</a:rPr>
              <a:t> &lt;</a:t>
            </a:r>
            <a:r>
              <a:rPr lang="ko-KR" altLang="en-US" sz="1200">
                <a:latin typeface="+mn-ea"/>
              </a:rPr>
              <a:t>강화학습 특징</a:t>
            </a:r>
            <a:r>
              <a:rPr lang="en-US" altLang="ko-KR" sz="1200">
                <a:latin typeface="+mn-ea"/>
              </a:rPr>
              <a:t>&gt;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ko-KR" altLang="en-US" sz="1200">
                <a:latin typeface="+mn-ea"/>
              </a:rPr>
              <a:t>데이터에 대한 라벨의 여부로 분류되는 </a:t>
            </a:r>
            <a:r>
              <a:rPr lang="en-US" altLang="ko-KR" sz="1200">
                <a:latin typeface="+mn-ea"/>
              </a:rPr>
              <a:t>Supervised Learning/Unsupervised Learning</a:t>
            </a:r>
            <a:r>
              <a:rPr lang="ko-KR" altLang="en-US" sz="1200">
                <a:latin typeface="+mn-ea"/>
              </a:rPr>
              <a:t>과는 다른 특징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en-US" altLang="ko-KR" sz="1200">
                <a:latin typeface="+mn-ea"/>
              </a:rPr>
              <a:t>Trial and Error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어떤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해야 하는 지 전달받지 않고 많은 시도와 실패를 통해 가장 높은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받을 수 있는 </a:t>
            </a:r>
            <a:r>
              <a:rPr lang="en-US" altLang="ko-KR" sz="1200">
                <a:latin typeface="+mn-ea"/>
              </a:rPr>
              <a:t>Action</a:t>
            </a:r>
          </a:p>
          <a:p>
            <a:pPr marL="171450" indent="-171450" algn="l">
              <a:buFont typeface="Arial"/>
              <a:buChar char="•"/>
              <a:defRPr/>
            </a:pPr>
            <a:r>
              <a:rPr lang="en-US" altLang="ko-KR" sz="1200">
                <a:solidFill>
                  <a:srgbClr val="FFC000"/>
                </a:solidFill>
                <a:latin typeface="+mn-ea"/>
              </a:rPr>
              <a:t>Delayed Reward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강화학습이 다루는 문제는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시간</a:t>
            </a:r>
            <a:r>
              <a:rPr lang="en-US" altLang="ko-KR" sz="1200">
                <a:latin typeface="+mn-ea"/>
              </a:rPr>
              <a:t>’</a:t>
            </a:r>
            <a:r>
              <a:rPr lang="ko-KR" altLang="en-US" sz="1200">
                <a:latin typeface="+mn-ea"/>
              </a:rPr>
              <a:t>이라는 개념 포함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환경이 반응할때까지 많은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이있고 시간도 포함되어 있기 때문에 어떤 행동이 더 나은 행동인지 판단하기 어려움</a:t>
            </a:r>
            <a:r>
              <a:rPr lang="en-US" altLang="ko-KR" sz="1200">
                <a:latin typeface="+mn-ea"/>
              </a:rPr>
              <a:t> 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대해서 보상 </a:t>
            </a:r>
            <a:r>
              <a:rPr lang="en-US" altLang="ko-KR" sz="1200">
                <a:latin typeface="+mn-ea"/>
              </a:rPr>
              <a:t>vs </a:t>
            </a:r>
            <a:r>
              <a:rPr lang="ko-KR" altLang="en-US" sz="1200">
                <a:latin typeface="+mn-ea"/>
              </a:rPr>
              <a:t>미래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보상 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( </a:t>
            </a:r>
            <a:r>
              <a:rPr lang="ko-KR" altLang="en-US" sz="1200">
                <a:latin typeface="+mn-ea"/>
              </a:rPr>
              <a:t>대부분의 사람은 현재의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대한 보상을 받음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미래에는 더 좋은 환경이 구성될수 도 있지만 아닐수도 있어서가 이유</a:t>
            </a:r>
            <a:r>
              <a:rPr lang="en-US" altLang="ko-KR" sz="1200">
                <a:latin typeface="+mn-ea"/>
              </a:rPr>
              <a:t>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 sz="1600" b="1">
                <a:solidFill>
                  <a:schemeClr val="tx1"/>
                </a:solidFill>
                <a:latin typeface="맑은 고딕"/>
                <a:ea typeface="맑은 고딕"/>
              </a:rPr>
              <a:t>Reinforcement Learning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4100297"/>
            <a:ext cx="8254767" cy="2470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스키너 상자 실험</a:t>
            </a:r>
            <a:r>
              <a:rPr lang="en-US" altLang="ko-KR" sz="1200">
                <a:latin typeface="+mn-ea"/>
              </a:rPr>
              <a:t>&gt;</a:t>
            </a:r>
            <a:r>
              <a:rPr lang="ko-KR" altLang="en-US" sz="1200">
                <a:latin typeface="+mn-ea"/>
              </a:rPr>
              <a:t> </a:t>
            </a:r>
          </a:p>
          <a:p>
            <a:pPr marL="171450" indent="-171450" algn="l">
              <a:buFontTx/>
              <a:buChar char="-"/>
              <a:defRPr/>
            </a:pPr>
            <a:r>
              <a:rPr lang="ko-KR" altLang="en-US" sz="1200">
                <a:latin typeface="+mn-ea"/>
              </a:rPr>
              <a:t>스키너 상자실험은 동물을 가두어 특정한 행동</a:t>
            </a:r>
            <a:r>
              <a:rPr lang="en-US" altLang="ko-KR" sz="1200">
                <a:latin typeface="+mn-ea"/>
              </a:rPr>
              <a:t>(action)</a:t>
            </a:r>
            <a:r>
              <a:rPr lang="ko-KR" altLang="en-US" sz="1200">
                <a:latin typeface="+mn-ea"/>
              </a:rPr>
              <a:t>을 하면 보상</a:t>
            </a:r>
            <a:r>
              <a:rPr lang="en-US" altLang="ko-KR" sz="1200">
                <a:latin typeface="+mn-ea"/>
              </a:rPr>
              <a:t>(reward)</a:t>
            </a:r>
            <a:r>
              <a:rPr lang="ko-KR" altLang="en-US" sz="1200">
                <a:latin typeface="+mn-ea"/>
              </a:rPr>
              <a:t>을 주는 실험</a:t>
            </a:r>
          </a:p>
          <a:p>
            <a:pPr marL="171450" indent="-171450" algn="l">
              <a:buFontTx/>
              <a:buChar char="-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실험 방법</a:t>
            </a:r>
            <a:r>
              <a:rPr lang="en-US" altLang="ko-KR" sz="1200">
                <a:latin typeface="+mn-ea"/>
              </a:rPr>
              <a:t>&gt; </a:t>
            </a:r>
          </a:p>
          <a:p>
            <a:pPr algn="l">
              <a:defRPr/>
            </a:pP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스키너 상자에는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를 누르면</a:t>
            </a:r>
            <a:r>
              <a:rPr lang="en-US" altLang="ko-KR" sz="1200">
                <a:latin typeface="+mn-ea"/>
              </a:rPr>
              <a:t>(action)</a:t>
            </a:r>
            <a:r>
              <a:rPr lang="ko-KR" altLang="en-US" sz="1200">
                <a:latin typeface="+mn-ea"/>
              </a:rPr>
              <a:t> 먹이</a:t>
            </a:r>
            <a:r>
              <a:rPr lang="en-US" altLang="ko-KR" sz="1200">
                <a:latin typeface="+mn-ea"/>
              </a:rPr>
              <a:t>(reward)</a:t>
            </a:r>
            <a:r>
              <a:rPr lang="ko-KR" altLang="en-US" sz="1200">
                <a:latin typeface="+mn-ea"/>
              </a:rPr>
              <a:t>가 나오도록 설정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배고픈 상태의 쥐가 처음에는 여러가지 행동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우연히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를 누르게 되면 먹이가 자동적으로 주어짐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과정 몇 차례 반복되면 다른 행동을 하지 않고 </a:t>
            </a:r>
            <a:r>
              <a:rPr lang="en-US" altLang="ko-KR" sz="1200">
                <a:latin typeface="+mn-ea"/>
              </a:rPr>
              <a:t>lever</a:t>
            </a:r>
            <a:r>
              <a:rPr lang="ko-KR" altLang="en-US" sz="1200">
                <a:latin typeface="+mn-ea"/>
              </a:rPr>
              <a:t>만 누르는 행동만 하게되어 먹이를 얻음</a:t>
            </a: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ko-KR" altLang="en-US" sz="1200">
                <a:latin typeface="+mn-ea"/>
              </a:rPr>
              <a:t>이와 같이 자신이 한 행동에 따른 보상으로 더 좋은 보상을 받는 행동을 하도록 학습이 되는것을 볼 수 있는데 이러한 학습방법이 강화학습의 모티브가 됨</a:t>
            </a: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</p:txBody>
      </p:sp>
      <p:grpSp>
        <p:nvGrpSpPr>
          <p:cNvPr id="11" name="그룹 10"/>
          <p:cNvGrpSpPr/>
          <p:nvPr/>
        </p:nvGrpSpPr>
        <p:grpSpPr>
          <a:xfrm>
            <a:off x="917019" y="1152835"/>
            <a:ext cx="7237080" cy="2700214"/>
            <a:chOff x="917019" y="1152835"/>
            <a:chExt cx="7237080" cy="2700214"/>
          </a:xfrm>
        </p:grpSpPr>
        <p:pic>
          <p:nvPicPr>
            <p:cNvPr id="5" name="그림 4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917019" y="1176150"/>
              <a:ext cx="3743847" cy="2676899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 rotWithShape="1">
            <a:blip r:embed="rId4"/>
            <a:stretch>
              <a:fillRect/>
            </a:stretch>
          </p:blipFill>
          <p:spPr>
            <a:xfrm>
              <a:off x="4908661" y="1152835"/>
              <a:ext cx="3245438" cy="2663709"/>
            </a:xfrm>
            <a:prstGeom prst="rect">
              <a:avLst/>
            </a:prstGeom>
          </p:spPr>
        </p:pic>
      </p:grpSp>
      <p:sp>
        <p:nvSpPr>
          <p:cNvPr id="13" name="TextBox 12"/>
          <p:cNvSpPr txBox="1"/>
          <p:nvPr/>
        </p:nvSpPr>
        <p:spPr>
          <a:xfrm>
            <a:off x="3196206" y="3816544"/>
            <a:ext cx="28690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&lt; </a:t>
            </a:r>
            <a:r>
              <a:rPr lang="ko-KR" altLang="en-US" sz="1100"/>
              <a:t>스키너 상자 </a:t>
            </a:r>
            <a:r>
              <a:rPr lang="en-US" altLang="ko-KR" sz="1100"/>
              <a:t>(</a:t>
            </a:r>
            <a:r>
              <a:rPr lang="ko-KR" altLang="en-US" sz="1100"/>
              <a:t>좌</a:t>
            </a:r>
            <a:r>
              <a:rPr lang="en-US" altLang="ko-KR" sz="1100"/>
              <a:t>: </a:t>
            </a:r>
            <a:r>
              <a:rPr lang="ko-KR" altLang="en-US" sz="1100"/>
              <a:t>쥐 </a:t>
            </a:r>
            <a:r>
              <a:rPr lang="en-US" altLang="ko-KR" sz="1100"/>
              <a:t>/ </a:t>
            </a:r>
            <a:r>
              <a:rPr lang="ko-KR" altLang="en-US" sz="1100"/>
              <a:t>우</a:t>
            </a:r>
            <a:r>
              <a:rPr lang="en-US" altLang="ko-KR" sz="1100"/>
              <a:t>: </a:t>
            </a:r>
            <a:r>
              <a:rPr lang="ko-KR" altLang="en-US" sz="1100"/>
              <a:t>비둘기</a:t>
            </a:r>
            <a:r>
              <a:rPr lang="en-US" altLang="ko-KR" sz="1100"/>
              <a:t>) &gt;</a:t>
            </a:r>
            <a:endParaRPr lang="ko-KR" alt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 sz="1600" b="1">
                <a:solidFill>
                  <a:schemeClr val="tx1"/>
                </a:solidFill>
                <a:latin typeface="맑은 고딕"/>
                <a:ea typeface="맑은 고딕"/>
              </a:rPr>
              <a:t>Reinforcement Learning</a:t>
            </a:r>
          </a:p>
          <a:p>
            <a:pPr lvl="0">
              <a:defRPr/>
            </a:pP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4100297"/>
            <a:ext cx="8254767" cy="228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강화학습 예시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벽돌깨기</a:t>
            </a:r>
            <a:r>
              <a:rPr lang="en-US" altLang="ko-KR" sz="1200">
                <a:latin typeface="+mn-ea"/>
              </a:rPr>
              <a:t>)&gt;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강화학습과 딥러닝으로 </a:t>
            </a:r>
            <a:r>
              <a:rPr lang="en-US" altLang="ko-KR" sz="1200">
                <a:latin typeface="+mn-ea"/>
              </a:rPr>
              <a:t>atari</a:t>
            </a:r>
            <a:r>
              <a:rPr lang="ko-KR" altLang="en-US" sz="1200">
                <a:latin typeface="+mn-ea"/>
              </a:rPr>
              <a:t>게임 학습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강화학습의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학습</a:t>
            </a:r>
            <a:r>
              <a:rPr lang="en-US" altLang="ko-KR" sz="1200">
                <a:latin typeface="+mn-ea"/>
              </a:rPr>
              <a:t>＇</a:t>
            </a:r>
            <a:r>
              <a:rPr lang="ko-KR" altLang="en-US" sz="1200">
                <a:latin typeface="+mn-ea"/>
              </a:rPr>
              <a:t>대상을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라고 하며 예시에서는 사람의 뇌에 해당된다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조작키를 사용하여 랜덤하게 움직임이다가 공을 치게 되고 게임 점수가 올라가는것 확인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행동을 학습하여 점수를 올리지만 </a:t>
            </a:r>
            <a:r>
              <a:rPr lang="en-US" altLang="ko-KR" sz="1200">
                <a:latin typeface="+mn-ea"/>
              </a:rPr>
              <a:t>episode</a:t>
            </a:r>
            <a:r>
              <a:rPr lang="ko-KR" altLang="en-US" sz="1200">
                <a:latin typeface="+mn-ea"/>
              </a:rPr>
              <a:t>당 최고의 점수를 얻기위해 다른 시도도 해봄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agent</a:t>
            </a:r>
            <a:r>
              <a:rPr lang="ko-KR" altLang="en-US" sz="1200">
                <a:latin typeface="+mn-ea"/>
              </a:rPr>
              <a:t>는 일련의 연속된 행동 중 정책</a:t>
            </a:r>
            <a:r>
              <a:rPr lang="en-US" altLang="ko-KR" sz="1200">
                <a:latin typeface="+mn-ea"/>
              </a:rPr>
              <a:t>(policy)</a:t>
            </a:r>
            <a:r>
              <a:rPr lang="ko-KR" altLang="en-US" sz="1200">
                <a:latin typeface="+mn-ea"/>
              </a:rPr>
              <a:t>이 필요하게 됨으로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정책 </a:t>
            </a:r>
            <a:r>
              <a:rPr lang="en-US" altLang="ko-KR" sz="1200">
                <a:latin typeface="+mn-ea"/>
              </a:rPr>
              <a:t>or </a:t>
            </a:r>
            <a:r>
              <a:rPr lang="ko-KR" altLang="en-US" sz="1200">
                <a:latin typeface="+mn-ea"/>
              </a:rPr>
              <a:t>다른행동을 하여 좀 더 높은</a:t>
            </a:r>
            <a:br>
              <a:rPr lang="ko-KR" altLang="en-US" sz="1200">
                <a:latin typeface="+mn-ea"/>
              </a:rPr>
            </a:br>
            <a:r>
              <a:rPr lang="ko-KR" altLang="en-US" sz="1200">
                <a:latin typeface="+mn-ea"/>
              </a:rPr>
              <a:t>   점수를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찾음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벽돌사이틈에 공이들어갔을때</a:t>
            </a:r>
            <a:r>
              <a:rPr lang="en-US" altLang="ko-KR" sz="1200">
                <a:latin typeface="+mn-ea"/>
              </a:rPr>
              <a:t>)</a:t>
            </a: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endParaRPr lang="en-US" altLang="ko-KR" sz="1200">
              <a:latin typeface="+mn-ea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98582" y="1168651"/>
            <a:ext cx="4664281" cy="29316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879133" y="1444404"/>
            <a:ext cx="58323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600" b="1">
                <a:latin typeface="+mj-ea"/>
                <a:ea typeface="+mj-ea"/>
                <a:cs typeface="+mn-cs"/>
              </a:rPr>
              <a:t>‘</a:t>
            </a:r>
            <a:r>
              <a:rPr lang="ko-KR" altLang="en-US" sz="1600" b="1">
                <a:latin typeface="+mj-ea"/>
                <a:ea typeface="+mj-ea"/>
                <a:cs typeface="+mn-cs"/>
              </a:rPr>
              <a:t>강화학습은 </a:t>
            </a:r>
            <a:r>
              <a:rPr lang="en-US" altLang="ko-KR" sz="1600" b="1">
                <a:latin typeface="+mj-ea"/>
                <a:ea typeface="+mj-ea"/>
                <a:cs typeface="+mn-cs"/>
              </a:rPr>
              <a:t>Markov Decision Process</a:t>
            </a:r>
            <a:r>
              <a:rPr lang="ko-KR" altLang="en-US" sz="1600" b="1">
                <a:latin typeface="+mj-ea"/>
                <a:ea typeface="+mj-ea"/>
                <a:cs typeface="+mn-cs"/>
              </a:rPr>
              <a:t>의 문제를 푸는것이다</a:t>
            </a:r>
            <a:r>
              <a:rPr lang="en-US" altLang="ko-KR" sz="1600" b="1">
                <a:latin typeface="+mj-ea"/>
                <a:ea typeface="+mj-ea"/>
                <a:cs typeface="+mn-cs"/>
              </a:rPr>
              <a:t>!’</a:t>
            </a:r>
            <a:endParaRPr lang="ko-KR" altLang="en-US" sz="1600" b="1">
              <a:latin typeface="+mj-ea"/>
              <a:ea typeface="+mj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35560" y="1905506"/>
            <a:ext cx="8254767" cy="4474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&lt;Markov Property&gt;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어떤 시간에 특정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도달하든 그 이전에 어떤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를 거쳐왔든 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로 갈 확률은 항상 같다는 성질</a:t>
            </a:r>
          </a:p>
          <a:p>
            <a:pPr algn="ctr">
              <a:defRPr/>
            </a:pPr>
            <a:endParaRPr lang="en-US" altLang="ko-KR" sz="1200">
              <a:latin typeface="+mn-ea"/>
            </a:endParaRPr>
          </a:p>
          <a:p>
            <a:pPr algn="ctr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- 0</a:t>
            </a:r>
            <a:r>
              <a:rPr lang="ko-KR" altLang="en-US" sz="1200">
                <a:latin typeface="+mn-ea"/>
              </a:rPr>
              <a:t>부터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 까지의 여러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를 거쳐오고 </a:t>
            </a:r>
            <a:r>
              <a:rPr lang="en-US" altLang="ko-KR" sz="1200">
                <a:latin typeface="+mn-ea"/>
              </a:rPr>
              <a:t>t+1</a:t>
            </a:r>
            <a:r>
              <a:rPr lang="ko-KR" altLang="en-US" sz="1200">
                <a:latin typeface="+mn-ea"/>
              </a:rPr>
              <a:t>시간에 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도달할 확률</a:t>
            </a:r>
            <a:r>
              <a:rPr lang="en-US" altLang="ko-KR" sz="1200">
                <a:latin typeface="+mn-ea"/>
              </a:rPr>
              <a:t>(</a:t>
            </a:r>
            <a:r>
              <a:rPr lang="ko-KR" altLang="en-US" sz="1200">
                <a:latin typeface="+mn-ea"/>
              </a:rPr>
              <a:t>좌변</a:t>
            </a:r>
            <a:r>
              <a:rPr lang="en-US" altLang="ko-KR" sz="1200">
                <a:latin typeface="+mn-ea"/>
              </a:rPr>
              <a:t>)</a:t>
            </a:r>
            <a:r>
              <a:rPr lang="ko-KR" altLang="en-US" sz="1200">
                <a:latin typeface="+mn-ea"/>
              </a:rPr>
              <a:t>이 바로 직전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시간의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다음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로 올 확률이 같다는 식</a:t>
            </a: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ko-KR" altLang="en-US" sz="1200">
                <a:latin typeface="+mn-ea"/>
              </a:rPr>
              <a:t>   </a:t>
            </a:r>
            <a:r>
              <a:rPr lang="en-US" altLang="ko-KR" sz="1200">
                <a:latin typeface="+mn-ea"/>
              </a:rPr>
              <a:t>(0~t-1</a:t>
            </a:r>
            <a:r>
              <a:rPr lang="ko-KR" altLang="en-US" sz="1200">
                <a:latin typeface="+mn-ea"/>
              </a:rPr>
              <a:t>시간까지의 정보는 이미 </a:t>
            </a:r>
            <a:r>
              <a:rPr lang="en-US" altLang="ko-KR" sz="1200">
                <a:latin typeface="+mn-ea"/>
              </a:rPr>
              <a:t>t</a:t>
            </a:r>
            <a:r>
              <a:rPr lang="ko-KR" altLang="en-US" sz="1200">
                <a:latin typeface="+mn-ea"/>
              </a:rPr>
              <a:t>시간의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가지고 있다는 가정 전제</a:t>
            </a:r>
            <a:r>
              <a:rPr lang="en-US" altLang="ko-KR" sz="1200">
                <a:latin typeface="+mn-ea"/>
              </a:rPr>
              <a:t>)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&lt;State Transition Probability Matrix&gt;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들간의 이동하는 것을 </a:t>
            </a:r>
            <a:r>
              <a:rPr lang="en-US" altLang="ko-KR" sz="1200">
                <a:latin typeface="+mn-ea"/>
              </a:rPr>
              <a:t>Transition</a:t>
            </a:r>
            <a:r>
              <a:rPr lang="ko-KR" altLang="en-US" sz="1200">
                <a:latin typeface="+mn-ea"/>
              </a:rPr>
              <a:t>이라고 하며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이를 확률로 표현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Markov </a:t>
            </a:r>
            <a:r>
              <a:rPr lang="ko-KR" altLang="en-US" sz="1200">
                <a:latin typeface="+mn-ea"/>
              </a:rPr>
              <a:t>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다음상태 </a:t>
            </a:r>
            <a:r>
              <a:rPr lang="en-US" altLang="ko-KR" sz="1200">
                <a:latin typeface="+mn-ea"/>
              </a:rPr>
              <a:t>s’</a:t>
            </a:r>
            <a:r>
              <a:rPr lang="ko-KR" altLang="en-US" sz="1200">
                <a:latin typeface="+mn-ea"/>
              </a:rPr>
              <a:t>으로 이동할 확률을 뜻하며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행렬의 형태로 정리한 것을 </a:t>
            </a:r>
            <a:r>
              <a:rPr lang="en-US" altLang="ko-KR" sz="1200">
                <a:latin typeface="+mn-ea"/>
              </a:rPr>
              <a:t>State Transition Probability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Matrix</a:t>
            </a:r>
            <a:r>
              <a:rPr lang="ko-KR" altLang="en-US" sz="1200">
                <a:latin typeface="+mn-ea"/>
              </a:rPr>
              <a:t>라고 함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 Transition Probability Matrix</a:t>
            </a:r>
            <a:r>
              <a:rPr lang="ko-KR" altLang="en-US" sz="1200">
                <a:latin typeface="+mn-ea"/>
              </a:rPr>
              <a:t>는 주어진 환경을 설명하는데 필요한 요소이며 각 행의 합은 </a:t>
            </a:r>
            <a:r>
              <a:rPr lang="en-US" altLang="ko-KR" sz="1200">
                <a:latin typeface="+mn-ea"/>
              </a:rPr>
              <a:t>1</a:t>
            </a:r>
            <a:r>
              <a:rPr lang="ko-KR" altLang="en-US" sz="1200">
                <a:latin typeface="+mn-ea"/>
              </a:rPr>
              <a:t>이 된다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endParaRPr lang="en-US" altLang="ko-KR" sz="1200" b="0">
              <a:latin typeface="+mn-ea"/>
            </a:endParaRPr>
          </a:p>
          <a:p>
            <a:pPr lvl="0">
              <a:defRPr/>
            </a:pPr>
            <a:endParaRPr lang="en-US" altLang="ko-KR" sz="1200" b="0">
              <a:latin typeface="+mn-ea"/>
            </a:endParaRPr>
          </a:p>
          <a:p>
            <a:pPr lvl="0">
              <a:defRPr/>
            </a:pPr>
            <a:endParaRPr lang="en-US" altLang="ko-KR" sz="1200">
              <a:latin typeface="+mn-ea"/>
            </a:endParaRPr>
          </a:p>
        </p:txBody>
      </p:sp>
      <p:graphicFrame>
        <p:nvGraphicFramePr>
          <p:cNvPr id="7" name="표 7"/>
          <p:cNvGraphicFramePr>
            <a:graphicFrameLocks noGrp="1"/>
          </p:cNvGraphicFramePr>
          <p:nvPr/>
        </p:nvGraphicFramePr>
        <p:xfrm>
          <a:off x="1414943" y="2318782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표 7"/>
          <p:cNvGraphicFramePr>
            <a:graphicFrameLocks noGrp="1"/>
          </p:cNvGraphicFramePr>
          <p:nvPr/>
        </p:nvGraphicFramePr>
        <p:xfrm>
          <a:off x="1524000" y="3771835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4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552391" y="4663251"/>
            <a:ext cx="3284529" cy="1500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1905506"/>
            <a:ext cx="8254767" cy="1178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b="0">
                <a:latin typeface="+mn-ea"/>
              </a:rPr>
              <a:t>&lt;Markov Process (</a:t>
            </a:r>
            <a:r>
              <a:rPr lang="en-US" altLang="ko-KR" sz="1200">
                <a:latin typeface="+mn-ea"/>
              </a:rPr>
              <a:t>Markov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Chain)&gt;</a:t>
            </a:r>
          </a:p>
          <a:p>
            <a:pPr lvl="0">
              <a:defRPr/>
            </a:pPr>
            <a:r>
              <a:rPr lang="en-US" altLang="ko-KR" sz="1200" b="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시간에 상관없이 랜덤하게 다른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로 전이할 수 있는 </a:t>
            </a:r>
            <a:r>
              <a:rPr lang="en-US" altLang="ko-KR" sz="1200">
                <a:latin typeface="+mn-ea"/>
              </a:rPr>
              <a:t>process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Markov Process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&lt;S,P&gt; </a:t>
            </a:r>
            <a:r>
              <a:rPr lang="ko-KR" altLang="en-US" sz="1200">
                <a:latin typeface="+mn-ea"/>
              </a:rPr>
              <a:t>튜플이며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는 상태들의 집합</a:t>
            </a:r>
            <a:r>
              <a:rPr lang="en-US" altLang="ko-KR" sz="1200">
                <a:latin typeface="+mn-ea"/>
              </a:rPr>
              <a:t>, P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 Transition Probability Matrix</a:t>
            </a:r>
          </a:p>
          <a:p>
            <a:pPr lvl="0">
              <a:defRPr/>
            </a:pPr>
            <a:r>
              <a:rPr lang="en-US" altLang="ko-KR" sz="1200" b="0">
                <a:latin typeface="+mn-ea"/>
              </a:rPr>
              <a:t> - Markov Chain</a:t>
            </a:r>
            <a:r>
              <a:rPr lang="ko-KR" altLang="en-US" sz="1200" b="0">
                <a:latin typeface="+mn-ea"/>
              </a:rPr>
              <a:t>에서 </a:t>
            </a:r>
            <a:r>
              <a:rPr lang="en-US" altLang="ko-KR" sz="1200" b="0">
                <a:latin typeface="+mn-ea"/>
              </a:rPr>
              <a:t>sleep</a:t>
            </a:r>
            <a:r>
              <a:rPr lang="ko-KR" altLang="en-US" sz="1200" b="0">
                <a:latin typeface="+mn-ea"/>
              </a:rPr>
              <a:t>은 종점이며 에피소드가 끝나는 </a:t>
            </a:r>
            <a:r>
              <a:rPr lang="en-US" altLang="ko-KR" sz="1200" b="0">
                <a:latin typeface="+mn-ea"/>
              </a:rPr>
              <a:t>state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에피소드는 샘플링한다는 의미로 이해 하면 쉽고 에피소드는 무한한경우의 수가 될 수 있다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34799" y="3002355"/>
            <a:ext cx="4237201" cy="336560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636895" y="3429000"/>
            <a:ext cx="2440987" cy="1266454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462943" y="4777272"/>
            <a:ext cx="4360269" cy="15906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636895" y="3173730"/>
            <a:ext cx="1264919" cy="262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/>
              <a:t>&lt;</a:t>
            </a:r>
            <a:r>
              <a:rPr lang="ko-KR" altLang="en-US" sz="1100"/>
              <a:t> 에피소드 예시 </a:t>
            </a:r>
            <a:r>
              <a:rPr lang="en-US" altLang="ko-KR" sz="1100"/>
              <a:t>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969" y="6367963"/>
            <a:ext cx="1598296" cy="2628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100"/>
              <a:t>&lt;</a:t>
            </a:r>
            <a:r>
              <a:rPr lang="ko-KR" altLang="en-US" sz="1100"/>
              <a:t> </a:t>
            </a:r>
            <a:r>
              <a:rPr lang="en-US" altLang="ko-KR" sz="1100"/>
              <a:t>Markov Process </a:t>
            </a:r>
            <a:r>
              <a:rPr lang="ko-KR" altLang="en-US" sz="1100"/>
              <a:t>예시 </a:t>
            </a:r>
            <a:r>
              <a:rPr lang="en-US" altLang="ko-KR" sz="1100"/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8302" y="6359891"/>
            <a:ext cx="2847024" cy="2709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State Transition Probability Matrix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&gt;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graphicFrame>
        <p:nvGraphicFramePr>
          <p:cNvPr id="11" name="표 7"/>
          <p:cNvGraphicFramePr>
            <a:graphicFrameLocks noGrp="1"/>
          </p:cNvGraphicFramePr>
          <p:nvPr/>
        </p:nvGraphicFramePr>
        <p:xfrm>
          <a:off x="1244169" y="4997644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2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35560" y="5271011"/>
            <a:ext cx="8254767" cy="1185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&lt;Discounting factor&gt;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의 정확한 가치를 구하기 위해서 어느 시점에서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얻느냐가 중요한 관점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도달한 후 지금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받을 것인가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나중에 도달해서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얻을 것이냐에 대한 가치판단 필요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즉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현재가치 </a:t>
            </a:r>
            <a:r>
              <a:rPr lang="en-US" altLang="ko-KR" sz="1200">
                <a:latin typeface="+mn-ea"/>
              </a:rPr>
              <a:t>vs </a:t>
            </a:r>
            <a:r>
              <a:rPr lang="ko-KR" altLang="en-US" sz="1200">
                <a:latin typeface="+mn-ea"/>
              </a:rPr>
              <a:t>미래가치인데 이때 필요한게 시간 개념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미래가치를 현재시점으로 보면 현재가치보다 적은것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</a:t>
            </a:r>
            <a:r>
              <a:rPr lang="ko-KR" altLang="en-US" sz="1200">
                <a:latin typeface="+mn-ea"/>
              </a:rPr>
              <a:t>이를 수식적으로 반영한것이 </a:t>
            </a:r>
            <a:r>
              <a:rPr lang="en-US" altLang="ko-KR" sz="1200">
                <a:latin typeface="+mn-ea"/>
              </a:rPr>
              <a:t>discounting factor, </a:t>
            </a:r>
            <a:r>
              <a:rPr lang="el-GR" altLang="ko-KR" sz="1200">
                <a:latin typeface="+mn-ea"/>
              </a:rPr>
              <a:t>γ</a:t>
            </a:r>
            <a:r>
              <a:rPr lang="ko-KR" altLang="en-US" sz="1200">
                <a:latin typeface="+mn-ea"/>
              </a:rPr>
              <a:t>이다</a:t>
            </a:r>
            <a:r>
              <a:rPr lang="en-US" altLang="ko-KR" sz="1200">
                <a:latin typeface="+mn-ea"/>
              </a:rPr>
              <a:t>. </a:t>
            </a:r>
            <a:r>
              <a:rPr lang="el-GR" altLang="ko-KR" sz="1200">
                <a:latin typeface="+mn-ea"/>
              </a:rPr>
              <a:t>γ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0~1</a:t>
            </a:r>
            <a:r>
              <a:rPr lang="ko-KR" altLang="en-US" sz="1200">
                <a:latin typeface="+mn-ea"/>
              </a:rPr>
              <a:t>사이의 값으로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미래가치를 현재시점에서의 가치로   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변환한다</a:t>
            </a:r>
            <a:r>
              <a:rPr lang="en-US" altLang="ko-KR" sz="1200">
                <a:latin typeface="+mn-ea"/>
              </a:rPr>
              <a:t>. 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5547361" y="4990025"/>
            <a:ext cx="3215639" cy="308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100"/>
              <a:t>State</a:t>
            </a:r>
            <a:r>
              <a:rPr lang="ko-KR" altLang="en-US" sz="1100"/>
              <a:t>에서 </a:t>
            </a:r>
            <a:r>
              <a:rPr lang="en-US" altLang="ko-KR" sz="1100"/>
              <a:t>Reward</a:t>
            </a:r>
            <a:r>
              <a:rPr lang="ko-KR" altLang="en-US" sz="1100"/>
              <a:t>를 받을 수 있는 기댓값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9144000" y="5082143"/>
            <a:ext cx="1913660" cy="7904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sz="1100"/>
              <a:t>delay reward vs discount factor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2E8017-443B-45D3-A731-B7992814D35F}"/>
                  </a:ext>
                </a:extLst>
              </p:cNvPr>
              <p:cNvSpPr txBox="1"/>
              <p:nvPr/>
            </p:nvSpPr>
            <p:spPr>
              <a:xfrm>
                <a:off x="335560" y="1209219"/>
                <a:ext cx="8254767" cy="39738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dirty="0">
                    <a:latin typeface="+mn-ea"/>
                  </a:rPr>
                  <a:t>&lt;Markov Reward Process&gt;</a:t>
                </a:r>
              </a:p>
              <a:p>
                <a:r>
                  <a:rPr lang="en-US" altLang="ko-KR" sz="1200" dirty="0">
                    <a:latin typeface="+mn-ea"/>
                  </a:rPr>
                  <a:t> - Markov Reward Process</a:t>
                </a:r>
                <a:r>
                  <a:rPr lang="ko-KR" altLang="en-US" sz="1200" dirty="0">
                    <a:latin typeface="+mn-ea"/>
                  </a:rPr>
                  <a:t>는</a:t>
                </a:r>
                <a:r>
                  <a:rPr lang="en-US" altLang="ko-KR" sz="1200" dirty="0">
                    <a:latin typeface="+mn-ea"/>
                  </a:rPr>
                  <a:t> &lt;S,P,R,</a:t>
                </a:r>
                <a:r>
                  <a:rPr lang="el-GR" altLang="ko-KR" sz="1200" dirty="0">
                    <a:latin typeface="+mn-ea"/>
                  </a:rPr>
                  <a:t>γ</a:t>
                </a:r>
                <a:r>
                  <a:rPr lang="en-US" altLang="ko-KR" sz="1200" dirty="0">
                    <a:latin typeface="+mn-ea"/>
                  </a:rPr>
                  <a:t>&gt; </a:t>
                </a:r>
                <a:r>
                  <a:rPr lang="ko-KR" altLang="en-US" sz="1200" dirty="0" err="1">
                    <a:latin typeface="+mn-ea"/>
                  </a:rPr>
                  <a:t>튜플이며</a:t>
                </a:r>
                <a:r>
                  <a:rPr lang="ko-KR" altLang="en-US" sz="1200" dirty="0">
                    <a:latin typeface="+mn-ea"/>
                  </a:rPr>
                  <a:t> </a:t>
                </a:r>
                <a:r>
                  <a:rPr lang="en-US" altLang="ko-KR" sz="1200" dirty="0">
                    <a:latin typeface="+mn-ea"/>
                  </a:rPr>
                  <a:t>R</a:t>
                </a:r>
                <a:r>
                  <a:rPr lang="ko-KR" altLang="en-US" sz="1200" dirty="0">
                    <a:latin typeface="+mn-ea"/>
                  </a:rPr>
                  <a:t>은</a:t>
                </a:r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각</a:t>
                </a:r>
                <a:r>
                  <a:rPr lang="en-US" altLang="ko-KR" sz="1200" dirty="0">
                    <a:latin typeface="+mn-ea"/>
                  </a:rPr>
                  <a:t> state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를 정해주는 함수</a:t>
                </a:r>
                <a:r>
                  <a:rPr lang="en-US" altLang="ko-KR" sz="1200" dirty="0">
                    <a:latin typeface="+mn-ea"/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1200" dirty="0">
                    <a:latin typeface="+mn-ea"/>
                  </a:rPr>
                  <a:t>는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en-US" altLang="ko-KR" sz="1200" dirty="0">
                    <a:latin typeface="+mn-ea"/>
                  </a:rPr>
                  <a:t>timestep</a:t>
                </a:r>
                <a:r>
                  <a:rPr lang="ko-KR" altLang="en-US" sz="1200" dirty="0">
                    <a:latin typeface="+mn-ea"/>
                  </a:rPr>
                  <a:t>에 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  따라</a:t>
                </a:r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감쇄율을 정해주는 </a:t>
                </a:r>
                <a:r>
                  <a:rPr lang="en-US" altLang="ko-KR" sz="1200" dirty="0">
                    <a:latin typeface="+mn-ea"/>
                  </a:rPr>
                  <a:t>discount factor</a:t>
                </a:r>
              </a:p>
              <a:p>
                <a:r>
                  <a:rPr lang="en-US" altLang="ko-KR" sz="1200" dirty="0">
                    <a:latin typeface="+mn-ea"/>
                  </a:rPr>
                  <a:t> - S,P</a:t>
                </a:r>
                <a:r>
                  <a:rPr lang="ko-KR" altLang="en-US" sz="1200" dirty="0">
                    <a:latin typeface="+mn-ea"/>
                  </a:rPr>
                  <a:t>가 주어지면 </a:t>
                </a:r>
                <a:r>
                  <a:rPr lang="en-US" altLang="ko-KR" sz="1200" dirty="0">
                    <a:latin typeface="+mn-ea"/>
                  </a:rPr>
                  <a:t>Markov Process</a:t>
                </a:r>
                <a:r>
                  <a:rPr lang="ko-KR" altLang="en-US" sz="1200" dirty="0">
                    <a:latin typeface="+mn-ea"/>
                  </a:rPr>
                  <a:t>가 정의되고 </a:t>
                </a:r>
                <a:r>
                  <a:rPr lang="en-US" altLang="ko-KR" sz="1200" dirty="0">
                    <a:latin typeface="+mn-ea"/>
                  </a:rPr>
                  <a:t>S,P,R,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sz="1200" dirty="0">
                    <a:latin typeface="+mn-ea"/>
                  </a:rPr>
                  <a:t> </a:t>
                </a:r>
                <a:r>
                  <a:rPr lang="ko-KR" altLang="en-US" sz="1200" dirty="0">
                    <a:latin typeface="+mn-ea"/>
                  </a:rPr>
                  <a:t>주어지면 </a:t>
                </a:r>
                <a:r>
                  <a:rPr lang="en-US" altLang="ko-KR" sz="1200" dirty="0">
                    <a:latin typeface="+mn-ea"/>
                  </a:rPr>
                  <a:t>Markov Reward Process</a:t>
                </a:r>
                <a:r>
                  <a:rPr lang="ko-KR" altLang="en-US" sz="1200" dirty="0">
                    <a:latin typeface="+mn-ea"/>
                  </a:rPr>
                  <a:t>가 정의</a:t>
                </a:r>
                <a:endParaRPr lang="en-US" altLang="ko-KR" sz="1200" dirty="0">
                  <a:latin typeface="+mn-ea"/>
                </a:endParaRPr>
              </a:p>
              <a:p>
                <a:r>
                  <a:rPr lang="en-US" altLang="ko-KR" sz="1200" dirty="0">
                    <a:latin typeface="+mn-ea"/>
                  </a:rPr>
                  <a:t> - Markov Process</a:t>
                </a:r>
                <a:r>
                  <a:rPr lang="ko-KR" altLang="en-US" sz="1200" dirty="0">
                    <a:latin typeface="+mn-ea"/>
                  </a:rPr>
                  <a:t>에서 다음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로 </a:t>
                </a:r>
                <a:r>
                  <a:rPr lang="ko-KR" altLang="en-US" sz="1200" dirty="0" err="1">
                    <a:latin typeface="+mn-ea"/>
                  </a:rPr>
                  <a:t>이동할때</a:t>
                </a:r>
                <a:r>
                  <a:rPr lang="ko-KR" altLang="en-US" sz="1200" dirty="0">
                    <a:latin typeface="+mn-ea"/>
                  </a:rPr>
                  <a:t> 얼마나 </a:t>
                </a:r>
                <a:r>
                  <a:rPr lang="ko-KR" altLang="en-US" sz="1200" dirty="0" err="1">
                    <a:latin typeface="+mn-ea"/>
                  </a:rPr>
                  <a:t>가치있는지</a:t>
                </a:r>
                <a:r>
                  <a:rPr lang="ko-KR" altLang="en-US" sz="1200" dirty="0">
                    <a:latin typeface="+mn-ea"/>
                  </a:rPr>
                  <a:t> </a:t>
                </a:r>
                <a:r>
                  <a:rPr lang="ko-KR" altLang="en-US" sz="1200" dirty="0" err="1">
                    <a:latin typeface="+mn-ea"/>
                  </a:rPr>
                  <a:t>정량화하기</a:t>
                </a:r>
                <a:r>
                  <a:rPr lang="ko-KR" altLang="en-US" sz="1200" dirty="0">
                    <a:latin typeface="+mn-ea"/>
                  </a:rPr>
                  <a:t> 위해 도입한 프로세스</a:t>
                </a:r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endParaRPr lang="en-US" altLang="ko-KR" sz="1200" dirty="0">
                  <a:latin typeface="+mn-ea"/>
                </a:endParaRPr>
              </a:p>
              <a:p>
                <a:r>
                  <a:rPr lang="en-US" altLang="ko-KR" sz="1200" dirty="0">
                    <a:latin typeface="+mn-ea"/>
                  </a:rPr>
                  <a:t>   - </a:t>
                </a:r>
                <a:r>
                  <a:rPr lang="ko-KR" altLang="en-US" sz="1200" dirty="0">
                    <a:latin typeface="+mn-ea"/>
                  </a:rPr>
                  <a:t>위의 그림처럼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별로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의 개념이 적용되어 어떤 </a:t>
                </a:r>
                <a:r>
                  <a:rPr lang="en-US" altLang="ko-KR" sz="1200" dirty="0">
                    <a:latin typeface="+mn-ea"/>
                  </a:rPr>
                  <a:t>state</a:t>
                </a:r>
                <a:r>
                  <a:rPr lang="ko-KR" altLang="en-US" sz="1200" dirty="0">
                    <a:latin typeface="+mn-ea"/>
                  </a:rPr>
                  <a:t>에서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 값 존재</a:t>
                </a:r>
                <a:br>
                  <a:rPr lang="en-US" altLang="ko-KR" sz="1200" dirty="0">
                    <a:latin typeface="+mn-ea"/>
                  </a:rPr>
                </a:br>
                <a:r>
                  <a:rPr lang="en-US" altLang="ko-KR" sz="1200" dirty="0">
                    <a:latin typeface="+mn-ea"/>
                  </a:rPr>
                  <a:t>   - state</a:t>
                </a:r>
                <a:r>
                  <a:rPr lang="ko-KR" altLang="en-US" sz="1200" dirty="0">
                    <a:latin typeface="+mn-ea"/>
                  </a:rPr>
                  <a:t>를 받아 </a:t>
                </a:r>
                <a:r>
                  <a:rPr lang="en-US" altLang="ko-KR" sz="1200" dirty="0">
                    <a:latin typeface="+mn-ea"/>
                  </a:rPr>
                  <a:t>reward</a:t>
                </a:r>
                <a:r>
                  <a:rPr lang="ko-KR" altLang="en-US" sz="1200" dirty="0">
                    <a:latin typeface="+mn-ea"/>
                  </a:rPr>
                  <a:t>의 </a:t>
                </a:r>
                <a:r>
                  <a:rPr lang="ko-KR" altLang="en-US" sz="1200" dirty="0" err="1">
                    <a:latin typeface="+mn-ea"/>
                  </a:rPr>
                  <a:t>기댓값으로</a:t>
                </a:r>
                <a:r>
                  <a:rPr lang="ko-KR" altLang="en-US" sz="1200" dirty="0">
                    <a:latin typeface="+mn-ea"/>
                  </a:rPr>
                  <a:t> </a:t>
                </a:r>
                <a:r>
                  <a:rPr lang="en-US" altLang="ko-KR" sz="1200" dirty="0">
                    <a:latin typeface="+mn-ea"/>
                  </a:rPr>
                  <a:t>mapping</a:t>
                </a:r>
                <a:r>
                  <a:rPr lang="ko-KR" altLang="en-US" sz="1200" dirty="0">
                    <a:latin typeface="+mn-ea"/>
                  </a:rPr>
                  <a:t>하는 함수를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ko-KR" altLang="en-US" sz="1200" dirty="0">
                    <a:latin typeface="+mn-ea"/>
                  </a:rPr>
                  <a:t>라고 </a:t>
                </a:r>
                <a:r>
                  <a:rPr lang="ko-KR" altLang="en-US" sz="1200" dirty="0" err="1">
                    <a:latin typeface="+mn-ea"/>
                  </a:rPr>
                  <a:t>할때</a:t>
                </a:r>
                <a:r>
                  <a:rPr lang="ko-KR" altLang="en-US" sz="1200" dirty="0">
                    <a:latin typeface="+mn-ea"/>
                  </a:rPr>
                  <a:t> 수식은 다음과 같다</a:t>
                </a:r>
                <a:r>
                  <a:rPr lang="en-US" altLang="ko-KR" sz="1200" dirty="0">
                    <a:latin typeface="+mn-ea"/>
                  </a:rPr>
                  <a:t> </a:t>
                </a:r>
              </a:p>
              <a:p>
                <a:endParaRPr lang="en-US" altLang="ko-KR" sz="1200" dirty="0">
                  <a:latin typeface="+mn-ea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2E8017-443B-45D3-A731-B7992814D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60" y="1209219"/>
                <a:ext cx="8254767" cy="39738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569C99C5-237A-4DFB-9259-9492809A59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2383843"/>
            <a:ext cx="3057670" cy="19808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ko-KR" altLang="en-US"/>
              <a:t>강화학습 기초개념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60" y="1209219"/>
            <a:ext cx="8254767" cy="817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&lt;Return&gt;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각각의 에피소드를 따라 받는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총합이 </a:t>
            </a:r>
            <a:r>
              <a:rPr lang="en-US" altLang="ko-KR" sz="1200">
                <a:latin typeface="+mn-ea"/>
              </a:rPr>
              <a:t>Return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강화학습의 목적은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을 최대화 하는 문제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정확히는 미래에 받을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‘</a:t>
            </a:r>
            <a:r>
              <a:rPr lang="ko-KR" altLang="en-US" sz="1200">
                <a:latin typeface="+mn-ea"/>
              </a:rPr>
              <a:t>총합</a:t>
            </a:r>
            <a:r>
              <a:rPr lang="en-US" altLang="ko-KR" sz="1200">
                <a:latin typeface="+mn-ea"/>
              </a:rPr>
              <a:t>’</a:t>
            </a:r>
            <a:r>
              <a:rPr lang="ko-KR" altLang="en-US" sz="1200">
                <a:latin typeface="+mn-ea"/>
              </a:rPr>
              <a:t>을 최대화 하는것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Return</a:t>
            </a:r>
            <a:r>
              <a:rPr lang="ko-KR" altLang="en-US" sz="1200">
                <a:latin typeface="+mn-ea"/>
              </a:rPr>
              <a:t>은 현재시점에서의 앞으로 내가 받게될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의 합이며 수식은 다음과 같다</a:t>
            </a:r>
            <a:r>
              <a:rPr lang="en-US" altLang="ko-KR" sz="1200">
                <a:latin typeface="+mn-ea"/>
              </a:rPr>
              <a:t>.</a:t>
            </a:r>
          </a:p>
        </p:txBody>
      </p:sp>
      <p:graphicFrame>
        <p:nvGraphicFramePr>
          <p:cNvPr id="11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099375"/>
              </p:ext>
            </p:extLst>
          </p:nvPr>
        </p:nvGraphicFramePr>
        <p:xfrm>
          <a:off x="1414943" y="1975278"/>
          <a:ext cx="6096000" cy="6734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73418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3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35558" y="2718033"/>
            <a:ext cx="8585557" cy="1185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 -Markov Process(MP)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추가한것이 </a:t>
            </a:r>
            <a:r>
              <a:rPr lang="en-US" altLang="ko-KR" sz="1200">
                <a:latin typeface="+mn-ea"/>
              </a:rPr>
              <a:t>Markov Reward Process(MRP), MRP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추가한 개념이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Markov Decision Process(MDP)</a:t>
            </a:r>
            <a:r>
              <a:rPr lang="ko-KR" altLang="en-US" sz="1200">
                <a:latin typeface="+mn-ea"/>
              </a:rPr>
              <a:t>이다</a:t>
            </a:r>
          </a:p>
          <a:p>
            <a:pPr marL="171450" indent="-171450" algn="l">
              <a:buFont typeface="Arial"/>
              <a:buChar char="•"/>
              <a:defRPr/>
            </a:pPr>
            <a:endParaRPr lang="en-US" altLang="ko-KR" sz="1200">
              <a:latin typeface="+mn-ea"/>
            </a:endParaRPr>
          </a:p>
          <a:p>
            <a:pPr algn="l">
              <a:defRPr/>
            </a:pPr>
            <a:r>
              <a:rPr lang="en-US" altLang="ko-KR" sz="1200">
                <a:latin typeface="+mn-ea"/>
              </a:rPr>
              <a:t>&lt;Action&gt;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Markov Process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변하는것은 </a:t>
            </a:r>
            <a:r>
              <a:rPr lang="en-US" altLang="ko-KR" sz="1200">
                <a:latin typeface="+mn-ea"/>
              </a:rPr>
              <a:t>transition probability</a:t>
            </a:r>
            <a:r>
              <a:rPr lang="ko-KR" altLang="en-US" sz="1200">
                <a:latin typeface="+mn-ea"/>
              </a:rPr>
              <a:t>에 따라 임의로 변했다면</a:t>
            </a:r>
            <a:r>
              <a:rPr lang="en-US" altLang="ko-KR" sz="1200">
                <a:latin typeface="+mn-ea"/>
              </a:rPr>
              <a:t>,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 MDP</a:t>
            </a:r>
            <a:r>
              <a:rPr lang="ko-KR" altLang="en-US" sz="1200">
                <a:latin typeface="+mn-ea"/>
              </a:rPr>
              <a:t>에서는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함으로써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변한다</a:t>
            </a:r>
            <a:r>
              <a:rPr lang="en-US" altLang="ko-KR" sz="1200">
                <a:latin typeface="+mn-ea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5560" y="4503137"/>
            <a:ext cx="741398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&lt;Policy&gt;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</a:t>
            </a:r>
            <a:r>
              <a:rPr lang="en-US" altLang="ko-KR" sz="1200">
                <a:latin typeface="+mn-ea"/>
              </a:rPr>
              <a:t>mapping</a:t>
            </a:r>
            <a:r>
              <a:rPr lang="ko-KR" altLang="en-US" sz="1200">
                <a:latin typeface="+mn-ea"/>
              </a:rPr>
              <a:t>하는 함수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즉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해당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어떤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을 할 지 정하는 것을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라고함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수식으로는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수행할 확률로 정의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17" name="표 7"/>
          <p:cNvGraphicFramePr>
            <a:graphicFrameLocks noGrp="1"/>
          </p:cNvGraphicFramePr>
          <p:nvPr/>
        </p:nvGraphicFramePr>
        <p:xfrm>
          <a:off x="1524000" y="5049313"/>
          <a:ext cx="60960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4"/>
                      <a:stretch>
                        <a:fillRect b="-980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35560" y="5315143"/>
            <a:ext cx="8661755" cy="4455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&lt;Policy vs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Transition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probability&gt;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 - Transition Probability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으로 전이할 확률</a:t>
            </a:r>
            <a:r>
              <a:rPr lang="en-US" altLang="ko-KR" sz="1200">
                <a:latin typeface="+mn-ea"/>
              </a:rPr>
              <a:t>, Policy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이라는 개념이 추가되어 수식은 다음과 같음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12" name="표 7"/>
          <p:cNvGraphicFramePr>
            <a:graphicFrameLocks noGrp="1"/>
          </p:cNvGraphicFramePr>
          <p:nvPr/>
        </p:nvGraphicFramePr>
        <p:xfrm>
          <a:off x="1558913" y="5689209"/>
          <a:ext cx="60960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2263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5"/>
                      <a:stretch>
                        <a:fillRect b="-185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35560" y="5944360"/>
            <a:ext cx="5061305" cy="4450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/>
            </a:pPr>
            <a:r>
              <a:rPr lang="en-US" altLang="ko-KR" sz="1200">
                <a:latin typeface="+mn-ea"/>
              </a:rPr>
              <a:t>&lt;Reward with action&gt;</a:t>
            </a:r>
          </a:p>
          <a:p>
            <a:pPr algn="l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의 변화가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따라 달라짐으로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에 </a:t>
            </a:r>
            <a:r>
              <a:rPr lang="en-US" altLang="ko-KR" sz="1200">
                <a:latin typeface="+mn-ea"/>
              </a:rPr>
              <a:t>action </a:t>
            </a:r>
            <a:r>
              <a:rPr lang="ko-KR" altLang="en-US" sz="1200">
                <a:latin typeface="+mn-ea"/>
              </a:rPr>
              <a:t>함수 추가</a:t>
            </a:r>
            <a:endParaRPr lang="en-US" altLang="ko-KR" sz="1200">
              <a:latin typeface="+mn-ea"/>
            </a:endParaRPr>
          </a:p>
        </p:txBody>
      </p:sp>
      <p:graphicFrame>
        <p:nvGraphicFramePr>
          <p:cNvPr id="15" name="표 7"/>
          <p:cNvGraphicFramePr>
            <a:graphicFrameLocks noGrp="1"/>
          </p:cNvGraphicFramePr>
          <p:nvPr/>
        </p:nvGraphicFramePr>
        <p:xfrm>
          <a:off x="1633735" y="6309459"/>
          <a:ext cx="6096000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6"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8" name="그룹 27"/>
          <p:cNvGrpSpPr/>
          <p:nvPr/>
        </p:nvGrpSpPr>
        <p:grpSpPr>
          <a:xfrm>
            <a:off x="2460939" y="3829496"/>
            <a:ext cx="1072522" cy="475311"/>
            <a:chOff x="2460939" y="3829496"/>
            <a:chExt cx="1072522" cy="4753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타원 2"/>
                <p:cNvSpPr/>
                <p:nvPr/>
              </p:nvSpPr>
              <p:spPr>
                <a:xfrm>
                  <a:off x="2460939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3" name=""/>
                <p:cNvSpPr txBox="1"/>
                <p:nvPr/>
              </p:nvSpPr>
              <p:spPr>
                <a:xfrm>
                  <a:off x="2460939" y="4043950"/>
                  <a:ext cx="254000" cy="260857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</p:sp>
          </mc:Fallback>
        </mc:AlternateContent>
        <p:cxnSp>
          <p:nvCxnSpPr>
            <p:cNvPr id="7" name="직선 화살표 연결선 6"/>
            <p:cNvCxnSpPr/>
            <p:nvPr/>
          </p:nvCxnSpPr>
          <p:spPr>
            <a:xfrm flipV="1">
              <a:off x="2714939" y="4174378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타원 18"/>
                <p:cNvSpPr/>
                <p:nvPr/>
              </p:nvSpPr>
              <p:spPr>
                <a:xfrm>
                  <a:off x="3213100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′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19" name=""/>
                <p:cNvSpPr txBox="1"/>
                <p:nvPr/>
              </p:nvSpPr>
              <p:spPr>
                <a:xfrm>
                  <a:off x="3213100" y="4043950"/>
                  <a:ext cx="254000" cy="260857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9" name="TextBox 8"/>
            <p:cNvSpPr txBox="1"/>
            <p:nvPr/>
          </p:nvSpPr>
          <p:spPr>
            <a:xfrm>
              <a:off x="2473157" y="3829496"/>
              <a:ext cx="237658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</a:t>
              </a:r>
              <a:endParaRPr lang="ko-KR" altLang="en-US" sz="11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146739" y="3842134"/>
              <a:ext cx="38672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t+1</a:t>
              </a:r>
              <a:endParaRPr lang="ko-KR" altLang="en-US" sz="1100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4375512" y="3829496"/>
            <a:ext cx="1830411" cy="479628"/>
            <a:chOff x="4375512" y="3829496"/>
            <a:chExt cx="1830411" cy="4796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타원 20"/>
                <p:cNvSpPr/>
                <p:nvPr/>
              </p:nvSpPr>
              <p:spPr>
                <a:xfrm>
                  <a:off x="4375512" y="4043950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21" name=""/>
                <p:cNvSpPr txBox="1"/>
                <p:nvPr/>
              </p:nvSpPr>
              <p:spPr>
                <a:xfrm>
                  <a:off x="4375512" y="4043950"/>
                  <a:ext cx="254000" cy="260857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/>
                  </a:stretch>
                </a:blipFill>
              </p:spPr>
            </p:sp>
          </mc:Fallback>
        </mc:AlternateContent>
        <p:cxnSp>
          <p:nvCxnSpPr>
            <p:cNvPr id="22" name="직선 화살표 연결선 21"/>
            <p:cNvCxnSpPr/>
            <p:nvPr/>
          </p:nvCxnSpPr>
          <p:spPr>
            <a:xfrm flipV="1">
              <a:off x="4629512" y="4174378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타원 22"/>
                <p:cNvSpPr/>
                <p:nvPr/>
              </p:nvSpPr>
              <p:spPr>
                <a:xfrm>
                  <a:off x="5127673" y="4043950"/>
                  <a:ext cx="254000" cy="260857"/>
                </a:xfrm>
                <a:prstGeom prst="ellipse">
                  <a:avLst/>
                </a:prstGeom>
                <a:solidFill>
                  <a:srgbClr val="1F4E79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𝐴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23" name=""/>
                <p:cNvSpPr txBox="1"/>
                <p:nvPr/>
              </p:nvSpPr>
              <p:spPr>
                <a:xfrm>
                  <a:off x="5127673" y="4043950"/>
                  <a:ext cx="254000" cy="260857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/>
                  </a:stretch>
                </a:blipFill>
              </p:spPr>
            </p:sp>
          </mc:Fallback>
        </mc:AlternateContent>
        <p:sp>
          <p:nvSpPr>
            <p:cNvPr id="24" name="TextBox 23"/>
            <p:cNvSpPr txBox="1"/>
            <p:nvPr/>
          </p:nvSpPr>
          <p:spPr>
            <a:xfrm>
              <a:off x="4387730" y="3829496"/>
              <a:ext cx="237609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</a:t>
              </a:r>
              <a:endParaRPr lang="ko-KR" altLang="en-US" sz="110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819201" y="3835846"/>
              <a:ext cx="386722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t+1</a:t>
              </a:r>
              <a:endParaRPr lang="ko-KR" altLang="en-US" sz="1100"/>
            </a:p>
          </p:txBody>
        </p:sp>
        <p:cxnSp>
          <p:nvCxnSpPr>
            <p:cNvPr id="26" name="직선 화살표 연결선 25"/>
            <p:cNvCxnSpPr/>
            <p:nvPr/>
          </p:nvCxnSpPr>
          <p:spPr>
            <a:xfrm flipV="1">
              <a:off x="5374701" y="4178695"/>
              <a:ext cx="498161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타원 26"/>
                <p:cNvSpPr/>
                <p:nvPr/>
              </p:nvSpPr>
              <p:spPr>
                <a:xfrm>
                  <a:off x="5872862" y="4048267"/>
                  <a:ext cx="254000" cy="260857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21474836470000000000" pitchFamily="18" charset="0"/>
                          </a:rPr>
                          <m:t>′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 xmlns:c="http://schemas.openxmlformats.org/drawingml/2006/chart" xmlns:dgm="http://schemas.openxmlformats.org/drawingml/2006/diagram" xmlns:dsp="http://schemas.microsoft.com/office/drawing/2008/diagram">
            <p:sp>
              <p:nvSpPr>
                <p:cNvPr id="27" name=""/>
                <p:cNvSpPr txBox="1"/>
                <p:nvPr/>
              </p:nvSpPr>
              <p:spPr>
                <a:xfrm>
                  <a:off x="5872862" y="4048267"/>
                  <a:ext cx="254000" cy="260857"/>
                </a:xfrm>
                <a:prstGeom prst="rect">
                  <a:avLst/>
                </a:prstGeom>
                <a:blipFill rotWithShape="1">
                  <a:blip r:embed="rId11"/>
                  <a:stretch>
                    <a:fillRect/>
                  </a:stretch>
                </a:blipFill>
              </p:spPr>
            </p:sp>
          </mc:Fallback>
        </mc:AlternateContent>
      </p:grpSp>
      <p:sp>
        <p:nvSpPr>
          <p:cNvPr id="30" name="TextBox 29"/>
          <p:cNvSpPr txBox="1"/>
          <p:nvPr/>
        </p:nvSpPr>
        <p:spPr>
          <a:xfrm>
            <a:off x="2708589" y="4319781"/>
            <a:ext cx="75216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&lt; MP &gt;</a:t>
            </a:r>
            <a:endParaRPr lang="ko-KR" altLang="en-US" sz="1100"/>
          </a:p>
        </p:txBody>
      </p:sp>
      <p:sp>
        <p:nvSpPr>
          <p:cNvPr id="31" name="TextBox 30"/>
          <p:cNvSpPr txBox="1"/>
          <p:nvPr/>
        </p:nvSpPr>
        <p:spPr>
          <a:xfrm>
            <a:off x="4926330" y="4307672"/>
            <a:ext cx="752160" cy="262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altLang="ko-KR" sz="1100"/>
              <a:t>&lt; MDP &gt;</a:t>
            </a:r>
            <a:endParaRPr lang="ko-KR" alt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텍스트 개체 틀 9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  <a:defRPr/>
            </a:pPr>
            <a:r>
              <a:rPr lang="en-US" altLang="ko-KR"/>
              <a:t>Markov Decision Process</a:t>
            </a:r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335560" y="1180644"/>
            <a:ext cx="82547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 dirty="0">
                <a:latin typeface="+mn-ea"/>
              </a:rPr>
              <a:t>&lt;Value function of MDP&gt;</a:t>
            </a:r>
          </a:p>
          <a:p>
            <a:pPr lvl="0">
              <a:defRPr/>
            </a:pPr>
            <a:r>
              <a:rPr lang="en-US" altLang="ko-KR" sz="1200" dirty="0">
                <a:latin typeface="+mn-ea"/>
              </a:rPr>
              <a:t> - MRP</a:t>
            </a:r>
            <a:r>
              <a:rPr lang="ko-KR" altLang="en-US" sz="1200" dirty="0">
                <a:latin typeface="+mn-ea"/>
              </a:rPr>
              <a:t>에서는 </a:t>
            </a:r>
            <a:r>
              <a:rPr lang="en-US" altLang="ko-KR" sz="1200" dirty="0">
                <a:latin typeface="+mn-ea"/>
              </a:rPr>
              <a:t>state</a:t>
            </a:r>
            <a:r>
              <a:rPr lang="ko-KR" altLang="en-US" sz="1200" dirty="0">
                <a:latin typeface="+mn-ea"/>
              </a:rPr>
              <a:t>들에 대한 </a:t>
            </a:r>
            <a:r>
              <a:rPr lang="en-US" altLang="ko-KR" sz="1200" dirty="0">
                <a:latin typeface="+mn-ea"/>
              </a:rPr>
              <a:t>value</a:t>
            </a:r>
            <a:r>
              <a:rPr lang="ko-KR" altLang="en-US" sz="1200" dirty="0">
                <a:latin typeface="+mn-ea"/>
              </a:rPr>
              <a:t>만 판단했지만</a:t>
            </a:r>
            <a:r>
              <a:rPr lang="en-US" altLang="ko-KR" sz="1200" dirty="0">
                <a:latin typeface="+mn-ea"/>
              </a:rPr>
              <a:t>, </a:t>
            </a:r>
            <a:r>
              <a:rPr lang="ko-KR" altLang="en-US" sz="1200" dirty="0">
                <a:latin typeface="+mn-ea"/>
              </a:rPr>
              <a:t>새롭게 추가된 </a:t>
            </a:r>
            <a:r>
              <a:rPr lang="en-US" altLang="ko-KR" sz="1200" dirty="0">
                <a:latin typeface="+mn-ea"/>
              </a:rPr>
              <a:t>agent</a:t>
            </a:r>
            <a:r>
              <a:rPr lang="ko-KR" altLang="en-US" sz="1200" dirty="0">
                <a:latin typeface="+mn-ea"/>
              </a:rPr>
              <a:t>의 </a:t>
            </a:r>
            <a:r>
              <a:rPr lang="en-US" altLang="ko-KR" sz="1200" dirty="0">
                <a:latin typeface="+mn-ea"/>
              </a:rPr>
              <a:t>action</a:t>
            </a:r>
            <a:r>
              <a:rPr lang="ko-KR" altLang="en-US" sz="1200" dirty="0">
                <a:latin typeface="+mn-ea"/>
              </a:rPr>
              <a:t>에 대해서도 </a:t>
            </a:r>
            <a:r>
              <a:rPr lang="en-US" altLang="ko-KR" sz="1200" dirty="0">
                <a:latin typeface="+mn-ea"/>
              </a:rPr>
              <a:t>value </a:t>
            </a:r>
            <a:r>
              <a:rPr lang="ko-KR" altLang="en-US" sz="1200" dirty="0">
                <a:latin typeface="+mn-ea"/>
              </a:rPr>
              <a:t>판단 가능</a:t>
            </a:r>
            <a:endParaRPr lang="en-US" altLang="ko-KR" sz="1200" dirty="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4616" y="2799976"/>
            <a:ext cx="8254767" cy="636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 1) t</a:t>
            </a:r>
            <a:r>
              <a:rPr lang="ko-KR" altLang="en-US" sz="1200">
                <a:latin typeface="+mn-ea"/>
              </a:rPr>
              <a:t>시점에 </a:t>
            </a:r>
            <a:r>
              <a:rPr lang="en-US" altLang="ko-KR" sz="1200">
                <a:latin typeface="+mn-ea"/>
              </a:rPr>
              <a:t>state s</a:t>
            </a:r>
            <a:r>
              <a:rPr lang="ko-KR" altLang="en-US" sz="1200">
                <a:latin typeface="+mn-ea"/>
              </a:rPr>
              <a:t>에 놓인 </a:t>
            </a:r>
            <a:r>
              <a:rPr lang="en-US" altLang="ko-KR" sz="1200">
                <a:latin typeface="+mn-ea"/>
              </a:rPr>
              <a:t>agent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2) state s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action a</a:t>
            </a:r>
            <a:r>
              <a:rPr lang="ko-KR" altLang="en-US" sz="1200">
                <a:latin typeface="+mn-ea"/>
              </a:rPr>
              <a:t>를 수행하면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받음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3) </a:t>
            </a:r>
            <a:r>
              <a:rPr lang="ko-KR" altLang="en-US" sz="1200">
                <a:latin typeface="+mn-ea"/>
              </a:rPr>
              <a:t>그리고 </a:t>
            </a:r>
            <a:r>
              <a:rPr lang="en-US" altLang="ko-KR" sz="1200">
                <a:latin typeface="+mn-ea"/>
              </a:rPr>
              <a:t>transition probability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state s’</a:t>
            </a:r>
            <a:r>
              <a:rPr lang="ko-KR" altLang="en-US" sz="1200">
                <a:latin typeface="+mn-ea"/>
              </a:rPr>
              <a:t>로 전이</a:t>
            </a:r>
            <a:endParaRPr lang="en-US" altLang="ko-KR" sz="1200">
              <a:latin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5084" y="3459969"/>
            <a:ext cx="8254767" cy="824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&lt;State-value function&gt;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MDP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state-value</a:t>
            </a:r>
            <a:r>
              <a:rPr lang="ko-KR" altLang="en-US" sz="1200">
                <a:latin typeface="+mn-ea"/>
              </a:rPr>
              <a:t>는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선택하는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따라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값이 달라지고 이후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가 달라지기 떄문에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영향을 받음</a:t>
            </a:r>
            <a:r>
              <a:rPr lang="en-US" altLang="ko-KR" sz="1200">
                <a:latin typeface="+mn-ea"/>
              </a:rPr>
              <a:t>, </a:t>
            </a:r>
            <a:r>
              <a:rPr lang="ko-KR" altLang="en-US" sz="1200">
                <a:latin typeface="+mn-ea"/>
              </a:rPr>
              <a:t>수식은 다음과 같음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의 가치는 해당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에 얻게되는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들의 총합을 나타냄</a:t>
            </a:r>
          </a:p>
        </p:txBody>
      </p:sp>
      <p:graphicFrame>
        <p:nvGraphicFramePr>
          <p:cNvPr id="12" name="표 7"/>
          <p:cNvGraphicFramePr>
            <a:graphicFrameLocks noGrp="1"/>
          </p:cNvGraphicFramePr>
          <p:nvPr/>
        </p:nvGraphicFramePr>
        <p:xfrm>
          <a:off x="1523999" y="5690194"/>
          <a:ext cx="6096000" cy="365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lvl="0">
                        <a:defRPr/>
                      </a:pPr>
                      <a:endParaRPr lang="ko-KR"/>
                    </a:p>
                  </a:txBody>
                  <a:tcPr>
                    <a:blipFill rotWithShape="1">
                      <a:blip r:embed="rId2"/>
                      <a:stretch>
                        <a:fillRect l="100" b="-11770"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44616" y="4795907"/>
            <a:ext cx="8254767" cy="1002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&lt;Action-value function&gt;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agent</a:t>
            </a:r>
            <a:r>
              <a:rPr lang="ko-KR" altLang="en-US" sz="1200">
                <a:latin typeface="+mn-ea"/>
              </a:rPr>
              <a:t>가 하는 </a:t>
            </a:r>
            <a:r>
              <a:rPr lang="en-US" altLang="ko-KR" sz="1200">
                <a:latin typeface="+mn-ea"/>
              </a:rPr>
              <a:t>action</a:t>
            </a:r>
            <a:r>
              <a:rPr lang="ko-KR" altLang="en-US" sz="1200">
                <a:latin typeface="+mn-ea"/>
              </a:rPr>
              <a:t>에 대해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를 판단할 수 있으며 수식은 다음과 같음</a:t>
            </a:r>
          </a:p>
          <a:p>
            <a:pPr lvl="0">
              <a:defRPr/>
            </a:pP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어떤 state s에서 action a를 취할 경우의 받을 return에 대한 기대값으로서 어떤 행동을 했을 때 얼마나 좋을 것인가에 대한 값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- Q function</a:t>
            </a:r>
            <a:r>
              <a:rPr lang="ko-KR" altLang="en-US" sz="1200">
                <a:latin typeface="+mn-ea"/>
              </a:rPr>
              <a:t>이라고도 함</a:t>
            </a:r>
          </a:p>
        </p:txBody>
      </p:sp>
      <p:grpSp>
        <p:nvGrpSpPr>
          <p:cNvPr id="31" name="그룹 30"/>
          <p:cNvGrpSpPr/>
          <p:nvPr/>
        </p:nvGrpSpPr>
        <p:grpSpPr>
          <a:xfrm>
            <a:off x="3390391" y="1616580"/>
            <a:ext cx="2541237" cy="1076148"/>
            <a:chOff x="3390391" y="1683255"/>
            <a:chExt cx="2541237" cy="1076148"/>
          </a:xfrm>
        </p:grpSpPr>
        <p:grpSp>
          <p:nvGrpSpPr>
            <p:cNvPr id="32" name="그룹 31"/>
            <p:cNvGrpSpPr/>
            <p:nvPr/>
          </p:nvGrpSpPr>
          <p:grpSpPr>
            <a:xfrm>
              <a:off x="3390391" y="1683255"/>
              <a:ext cx="2541237" cy="846457"/>
              <a:chOff x="4327432" y="3824341"/>
              <a:chExt cx="1932152" cy="71692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타원 33"/>
                  <p:cNvSpPr/>
                  <p:nvPr/>
                </p:nvSpPr>
                <p:spPr>
                  <a:xfrm>
                    <a:off x="4375512" y="4043950"/>
                    <a:ext cx="254000" cy="26085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34" name=""/>
                  <p:cNvSpPr txBox="1"/>
                  <p:nvPr/>
                </p:nvSpPr>
                <p:spPr>
                  <a:xfrm>
                    <a:off x="4375512" y="4043950"/>
                    <a:ext cx="254000" cy="260857"/>
                  </a:xfrm>
                  <a:prstGeom prst="rect">
                    <a:avLst/>
                  </a:prstGeom>
                  <a:blipFill rotWithShape="1">
                    <a:blip r:embed="rId3"/>
                    <a:stretch>
                      <a:fillRect/>
                    </a:stretch>
                  </a:blipFill>
                </p:spPr>
              </p:sp>
            </mc:Fallback>
          </mc:AlternateContent>
          <p:cxnSp>
            <p:nvCxnSpPr>
              <p:cNvPr id="35" name="직선 화살표 연결선 34"/>
              <p:cNvCxnSpPr/>
              <p:nvPr/>
            </p:nvCxnSpPr>
            <p:spPr>
              <a:xfrm flipV="1">
                <a:off x="4629512" y="4174378"/>
                <a:ext cx="49816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타원 35"/>
                  <p:cNvSpPr/>
                  <p:nvPr/>
                </p:nvSpPr>
                <p:spPr>
                  <a:xfrm>
                    <a:off x="5127673" y="4043950"/>
                    <a:ext cx="254000" cy="260857"/>
                  </a:xfrm>
                  <a:prstGeom prst="ellipse">
                    <a:avLst/>
                  </a:prstGeom>
                  <a:solidFill>
                    <a:srgbClr val="1F4E79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36" name=""/>
                  <p:cNvSpPr txBox="1"/>
                  <p:nvPr/>
                </p:nvSpPr>
                <p:spPr>
                  <a:xfrm>
                    <a:off x="5127673" y="4043950"/>
                    <a:ext cx="254000" cy="260857"/>
                  </a:xfrm>
                  <a:prstGeom prst="rect">
                    <a:avLst/>
                  </a:prstGeom>
                  <a:blipFill rotWithShape="1">
                    <a:blip r:embed="rId4"/>
                    <a:stretch>
                      <a:fillRect/>
                    </a:stretch>
                  </a:blipFill>
                </p:spPr>
              </p:sp>
            </mc:Fallback>
          </mc:AlternateContent>
          <p:sp>
            <p:nvSpPr>
              <p:cNvPr id="37" name="TextBox 36"/>
              <p:cNvSpPr txBox="1"/>
              <p:nvPr/>
            </p:nvSpPr>
            <p:spPr>
              <a:xfrm>
                <a:off x="4415667" y="3824340"/>
                <a:ext cx="180661" cy="2184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/>
                  <a:t>t</a:t>
                </a:r>
                <a:endParaRPr lang="ko-KR" altLang="en-US" sz="1100"/>
              </a:p>
            </p:txBody>
          </p:sp>
          <p:sp>
            <p:nvSpPr>
              <p:cNvPr id="38" name="TextBox 37"/>
              <p:cNvSpPr txBox="1"/>
              <p:nvPr/>
            </p:nvSpPr>
            <p:spPr>
              <a:xfrm>
                <a:off x="5872862" y="3835844"/>
                <a:ext cx="386722" cy="2150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/>
                  <a:t>t+1</a:t>
                </a:r>
                <a:endParaRPr lang="ko-KR" altLang="en-US" sz="1100"/>
              </a:p>
            </p:txBody>
          </p:sp>
          <p:cxnSp>
            <p:nvCxnSpPr>
              <p:cNvPr id="39" name="직선 화살표 연결선 38"/>
              <p:cNvCxnSpPr/>
              <p:nvPr/>
            </p:nvCxnSpPr>
            <p:spPr>
              <a:xfrm flipV="1">
                <a:off x="5374701" y="4178695"/>
                <a:ext cx="498161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타원 39"/>
                  <p:cNvSpPr/>
                  <p:nvPr/>
                </p:nvSpPr>
                <p:spPr>
                  <a:xfrm>
                    <a:off x="5872862" y="4048267"/>
                    <a:ext cx="254000" cy="260857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′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0" name=""/>
                  <p:cNvSpPr txBox="1"/>
                  <p:nvPr/>
                </p:nvSpPr>
                <p:spPr>
                  <a:xfrm>
                    <a:off x="5872862" y="4048267"/>
                    <a:ext cx="254000" cy="260857"/>
                  </a:xfrm>
                  <a:prstGeom prst="rect">
                    <a:avLst/>
                  </a:prstGeom>
                  <a:blipFill rotWithShape="1">
                    <a:blip r:embed="rId5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4327432" y="4319692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21474836470000000000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21474836470000000000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1" name=""/>
                  <p:cNvSpPr txBox="1"/>
                  <p:nvPr/>
                </p:nvSpPr>
                <p:spPr>
                  <a:xfrm>
                    <a:off x="4327432" y="4319692"/>
                    <a:ext cx="350161" cy="221577"/>
                  </a:xfrm>
                  <a:prstGeom prst="rect">
                    <a:avLst/>
                  </a:prstGeom>
                  <a:blipFill rotWithShape="1">
                    <a:blip r:embed="rId6"/>
                    <a:stretch>
                      <a:fillRect/>
                    </a:stretch>
                  </a:blipFill>
                </p:spPr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TextBox 41"/>
                  <p:cNvSpPr txBox="1"/>
                  <p:nvPr/>
                </p:nvSpPr>
                <p:spPr>
                  <a:xfrm>
                    <a:off x="5819294" y="4303624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21474836470000000000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21474836470000000000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′)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2" name=""/>
                  <p:cNvSpPr txBox="1"/>
                  <p:nvPr/>
                </p:nvSpPr>
                <p:spPr>
                  <a:xfrm>
                    <a:off x="5819294" y="4303624"/>
                    <a:ext cx="350161" cy="221577"/>
                  </a:xfrm>
                  <a:prstGeom prst="rect">
                    <a:avLst/>
                  </a:prstGeom>
                  <a:blipFill rotWithShape="1">
                    <a:blip r:embed="rId7"/>
                    <a:stretch>
                      <a:fillRect/>
                    </a:stretch>
                  </a:blipFill>
                </p:spPr>
              </p:sp>
            </mc:Fallback>
          </mc:AlternateContent>
          <p:sp>
            <p:nvSpPr>
              <p:cNvPr id="43" name="TextBox 42"/>
              <p:cNvSpPr txBox="1"/>
              <p:nvPr/>
            </p:nvSpPr>
            <p:spPr>
              <a:xfrm>
                <a:off x="4669665" y="3949822"/>
                <a:ext cx="498162" cy="222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>
                    <a:solidFill>
                      <a:srgbClr val="FF0000"/>
                    </a:solidFill>
                  </a:rPr>
                  <a:t>Policy</a:t>
                </a:r>
                <a:endParaRPr lang="ko-KR" altLang="en-US" sz="1100">
                  <a:solidFill>
                    <a:srgbClr val="FF0000"/>
                  </a:solidFill>
                </a:endParaRP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369781" y="3956078"/>
                <a:ext cx="498161" cy="2215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defRPr/>
                </a:pPr>
                <a:r>
                  <a:rPr lang="en-US" altLang="ko-KR" sz="1100">
                    <a:solidFill>
                      <a:srgbClr val="FFC000"/>
                    </a:solidFill>
                  </a:rPr>
                  <a:t>Reward</a:t>
                </a:r>
                <a:endParaRPr lang="ko-KR" altLang="en-US" sz="1100">
                  <a:solidFill>
                    <a:srgbClr val="FFC000"/>
                  </a:solidFill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TextBox 44"/>
                  <p:cNvSpPr txBox="1"/>
                  <p:nvPr/>
                </p:nvSpPr>
                <p:spPr>
                  <a:xfrm>
                    <a:off x="5081383" y="4303624"/>
                    <a:ext cx="350161" cy="221577"/>
                  </a:xfrm>
                  <a:prstGeom prst="rect">
                    <a:avLst/>
                  </a:prstGeom>
                  <a:noFill/>
                </p:spPr>
                <p:txBody>
                  <a:bodyPr/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atin typeface="Cambria Math" panose="21474836470000000000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ko-KR" altLang="en-US" sz="1100" b="0" i="1" smtClean="0">
                                  <a:latin typeface="Cambria Math" panose="21474836470000000000" pitchFamily="18" charset="0"/>
                                </a:rPr>
                                <m:t>𝜋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(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𝑠</m:t>
                          </m:r>
                          <m:r>
                            <a:rPr lang="en-US" altLang="ko-KR" sz="1100" b="0" i="1" smtClean="0">
                              <a:latin typeface="Cambria Math" panose="21474836470000000000" pitchFamily="18" charset="0"/>
                            </a:rPr>
                            <m:t>)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 xmlns="" xmlns:c="http://schemas.openxmlformats.org/drawingml/2006/chart" xmlns:dgm="http://schemas.openxmlformats.org/drawingml/2006/diagram" xmlns:dsp="http://schemas.microsoft.com/office/drawing/2008/diagram">
              <p:sp>
                <p:nvSpPr>
                  <p:cNvPr id="45" name=""/>
                  <p:cNvSpPr txBox="1"/>
                  <p:nvPr/>
                </p:nvSpPr>
                <p:spPr>
                  <a:xfrm>
                    <a:off x="5081383" y="4303624"/>
                    <a:ext cx="350161" cy="221577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/>
                    </a:stretch>
                  </a:blipFill>
                </p:spPr>
              </p:sp>
            </mc:Fallback>
          </mc:AlternateContent>
        </p:grpSp>
        <p:sp>
          <p:nvSpPr>
            <p:cNvPr id="33" name="TextBox 32"/>
            <p:cNvSpPr txBox="1"/>
            <p:nvPr/>
          </p:nvSpPr>
          <p:spPr>
            <a:xfrm>
              <a:off x="4297680" y="2497793"/>
              <a:ext cx="1193800" cy="26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/>
              </a:pPr>
              <a:r>
                <a:rPr lang="en-US" altLang="ko-KR" sz="1100"/>
                <a:t>&lt; MDP &gt;</a:t>
              </a:r>
              <a:endParaRPr lang="ko-KR" altLang="en-US" sz="11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자유형: 도형 45"/>
              <p:cNvSpPr/>
              <p:nvPr/>
            </p:nvSpPr>
            <p:spPr>
              <a:xfrm>
                <a:off x="3362325" y="4348232"/>
                <a:ext cx="2419350" cy="4476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400" h="914400">
                    <a:moveTo>
                      <a:pt x="0" y="0"/>
                    </a:moveTo>
                    <a:lnTo>
                      <a:pt x="914400" y="0"/>
                    </a:lnTo>
                    <a:lnTo>
                      <a:pt x="914400" y="914400"/>
                    </a:lnTo>
                    <a:lnTo>
                      <a:pt x="0" y="914400"/>
                    </a:lnTo>
                    <a:close/>
                  </a:path>
                </a:pathLst>
              </a:custGeom>
            </p:spPr>
            <p:txBody>
              <a:bodyPr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𝑉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(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) = 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𝐸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𝜋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[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𝐺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|</m:t>
                      </m:r>
                      <m:sSub>
                        <m:sSubPr>
                          <m:ctrlPr>
                            <a:rPr sz="1800" i="1">
                              <a:latin typeface="Cambria Math" panose="02040503050406030204" pitchFamily="18" charset="0"/>
                              <a:sym typeface="Cambria Math"/>
                            </a:rPr>
                          </m:ctrlPr>
                        </m:sSubPr>
                        <m:e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𝑆</m:t>
                          </m:r>
                        </m:e>
                        <m:sub>
                          <m:r>
                            <a:rPr sz="1800" i="1">
                              <a:latin typeface="Cambria Math"/>
                              <a:sym typeface="Cambria Math"/>
                            </a:rPr>
                            <m:t>𝑡</m:t>
                          </m:r>
                        </m:sub>
                      </m:sSub>
                      <m:r>
                        <a:rPr sz="1800" i="1">
                          <a:latin typeface="Cambria Math"/>
                          <a:sym typeface="Cambria Math"/>
                        </a:rPr>
                        <m:t>=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𝑠</m:t>
                      </m:r>
                      <m:r>
                        <a:rPr sz="1800" i="1">
                          <a:latin typeface="Cambria Math"/>
                          <a:sym typeface="Cambria Math"/>
                        </a:rPr>
                        <m:t>]</m:t>
                      </m:r>
                    </m:oMath>
                  </m:oMathPara>
                </a14:m>
                <a:endParaRPr/>
              </a:p>
            </p:txBody>
          </p:sp>
        </mc:Choice>
        <mc:Fallback xmlns="" xmlns:c="http://schemas.openxmlformats.org/drawingml/2006/chart" xmlns:dgm="http://schemas.openxmlformats.org/drawingml/2006/diagram" xmlns:dsp="http://schemas.microsoft.com/office/drawing/2008/diagram">
          <p:sp>
            <p:nvSpPr>
              <p:cNvPr id="46" name=""/>
              <p:cNvSpPr txBox="1"/>
              <p:nvPr/>
            </p:nvSpPr>
            <p:spPr>
              <a:xfrm>
                <a:off x="3362325" y="4348232"/>
                <a:ext cx="2419350" cy="447675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 xmlns:a14="http://schemas.microsoft.com/office/drawing/2010/main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895969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&lt;Bellman Expectation Equation&gt;</a:t>
            </a:r>
          </a:p>
          <a:p>
            <a:pPr algn="l"/>
            <a:r>
              <a:rPr lang="en-US" altLang="ko-KR" sz="1200">
                <a:latin typeface="+mn-ea"/>
              </a:rPr>
              <a:t>-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Bellman Expectation Equation</a:t>
            </a:r>
            <a:r>
              <a:rPr lang="ko-KR" altLang="en-US" sz="1200">
                <a:latin typeface="+mn-ea"/>
              </a:rPr>
              <a:t>이란 기존의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에 현재 상태에서 행동을 취할 확률인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추가한 방정식으로  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행동에 대한 확률이 적용된 기댓값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- Bellman equation : </a:t>
            </a: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사이의 관계식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- </a:t>
            </a:r>
            <a:r>
              <a:rPr lang="ko-KR" altLang="en-US" sz="1200">
                <a:latin typeface="+mn-ea"/>
              </a:rPr>
              <a:t>기존의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-&gt;</a:t>
            </a:r>
            <a:r>
              <a:rPr lang="ko-KR" altLang="en-US" sz="1200">
                <a:latin typeface="+mn-ea"/>
              </a:rPr>
              <a:t> 벨만 방정식으로 변형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8E550A-901A-41B7-81BE-A89F845DDB7A}"/>
              </a:ext>
            </a:extLst>
          </p:cNvPr>
          <p:cNvSpPr txBox="1"/>
          <p:nvPr/>
        </p:nvSpPr>
        <p:spPr>
          <a:xfrm>
            <a:off x="495300" y="2994660"/>
            <a:ext cx="5630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&lt;State-value function&gt;</a:t>
            </a:r>
          </a:p>
          <a:p>
            <a:pPr algn="l"/>
            <a:r>
              <a:rPr lang="en-US" altLang="ko-KR" sz="1200">
                <a:latin typeface="+mn-ea"/>
              </a:rPr>
              <a:t>  - </a:t>
            </a:r>
            <a:r>
              <a:rPr lang="ko-KR" altLang="en-US" sz="1200">
                <a:latin typeface="+mn-ea"/>
              </a:rPr>
              <a:t>어떤 상태의 에이전트가 앞으로 받을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에 대한 기댓값을 나타내는 함수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Bellman Equation</a:t>
            </a:r>
            <a:endParaRPr lang="ko-KR" altLang="en-US" sz="12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4061438"/>
                  </p:ext>
                </p:extLst>
              </p:nvPr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</m:e>
                                </m:d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[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ko-KR" altLang="en-US" sz="1200" b="0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sub>
                                </m:sSub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)]</m:t>
                                </m:r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>
                <a:extLst>
                  <a:ext uri="{FF2B5EF4-FFF2-40B4-BE49-F238E27FC236}">
                    <a16:creationId xmlns:a16="http://schemas.microsoft.com/office/drawing/2014/main" id="{ABB008C6-A8EC-4CF1-9F1D-51A1D9CBD6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34061438"/>
                  </p:ext>
                </p:extLst>
              </p:nvPr>
            </p:nvGraphicFramePr>
            <p:xfrm>
              <a:off x="2299141" y="5301158"/>
              <a:ext cx="4545718" cy="27432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23278">
                      <a:extLst>
                        <a:ext uri="{9D8B030D-6E8A-4147-A177-3AD203B41FA5}">
                          <a16:colId xmlns:a16="http://schemas.microsoft.com/office/drawing/2014/main" val="775677582"/>
                        </a:ext>
                      </a:extLst>
                    </a:gridCol>
                    <a:gridCol w="260908">
                      <a:extLst>
                        <a:ext uri="{9D8B030D-6E8A-4147-A177-3AD203B41FA5}">
                          <a16:colId xmlns:a16="http://schemas.microsoft.com/office/drawing/2014/main" val="104107168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24569295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r="-452593" b="-173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1338" b="-173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1827554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3F2D4F50-68A1-44AB-9B63-4627E5711AC0}"/>
              </a:ext>
            </a:extLst>
          </p:cNvPr>
          <p:cNvSpPr txBox="1"/>
          <p:nvPr/>
        </p:nvSpPr>
        <p:spPr>
          <a:xfrm>
            <a:off x="495300" y="4711789"/>
            <a:ext cx="83295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&lt;action-value function&gt;</a:t>
            </a:r>
          </a:p>
          <a:p>
            <a:pPr algn="l"/>
            <a:r>
              <a:rPr lang="en-US" altLang="ko-KR" sz="1200">
                <a:latin typeface="+mn-ea"/>
              </a:rPr>
              <a:t>  - Q function</a:t>
            </a:r>
            <a:r>
              <a:rPr lang="ko-KR" altLang="en-US" sz="1200">
                <a:latin typeface="+mn-ea"/>
              </a:rPr>
              <a:t>이라고 하며 어떤 상태의 에이전트가 어떤행동을 취했을 때 행동의 가치가 얼마나 좋은지 판단하는 함수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 - Bellman Equation</a:t>
            </a:r>
            <a:endParaRPr lang="ko-KR" altLang="en-US" sz="1200"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8DBD334A-CB64-5E46-98B5-99D5FD1E09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117431"/>
                  </p:ext>
                </p:extLst>
              </p:nvPr>
            </p:nvGraphicFramePr>
            <p:xfrm>
              <a:off x="1927949" y="3533672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=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b="0" i="0" smtClean="0">
                                            <a:latin typeface="Cambria Math" panose="02040503050406030204" pitchFamily="18" charset="0"/>
                                          </a:rPr>
                                          <m:t>t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+2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ko-KR" altLang="en-US" sz="1200" b="0" smtClean="0">
                                            <a:latin typeface="Cambria Math" panose="02040503050406030204" pitchFamily="18" charset="0"/>
                                          </a:rPr>
                                          <m:t>𝛾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+3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+…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𝐺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|"/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altLang="ko-KR" sz="1200" b="0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sub>
                                    </m:sSub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𝑡</m:t>
                                            </m:r>
                                            <m:r>
                                              <a:rPr lang="en-US" altLang="ko-KR" sz="1200" b="0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S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b="0" i="0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  <m: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200" b="0" i="0" smtClean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a:rPr lang="en-US" altLang="ko-KR" sz="1200" b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oMath>
                            </m:oMathPara>
                          </a14:m>
                          <a:endParaRPr lang="ko-KR" altLang="en-US" sz="12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표 8">
                <a:extLst>
                  <a:ext uri="{FF2B5EF4-FFF2-40B4-BE49-F238E27FC236}">
                    <a16:creationId xmlns:a16="http://schemas.microsoft.com/office/drawing/2014/main" id="{8DBD334A-CB64-5E46-98B5-99D5FD1E098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117431"/>
                  </p:ext>
                </p:extLst>
              </p:nvPr>
            </p:nvGraphicFramePr>
            <p:xfrm>
              <a:off x="1927949" y="3533672"/>
              <a:ext cx="4545718" cy="10972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875906">
                      <a:extLst>
                        <a:ext uri="{9D8B030D-6E8A-4147-A177-3AD203B41FA5}">
                          <a16:colId xmlns:a16="http://schemas.microsoft.com/office/drawing/2014/main" val="93826780"/>
                        </a:ext>
                      </a:extLst>
                    </a:gridCol>
                    <a:gridCol w="208280">
                      <a:extLst>
                        <a:ext uri="{9D8B030D-6E8A-4147-A177-3AD203B41FA5}">
                          <a16:colId xmlns:a16="http://schemas.microsoft.com/office/drawing/2014/main" val="3273980361"/>
                        </a:ext>
                      </a:extLst>
                    </a:gridCol>
                    <a:gridCol w="3461532">
                      <a:extLst>
                        <a:ext uri="{9D8B030D-6E8A-4147-A177-3AD203B41FA5}">
                          <a16:colId xmlns:a16="http://schemas.microsoft.com/office/drawing/2014/main" val="1438739457"/>
                        </a:ext>
                      </a:extLst>
                    </a:gridCol>
                  </a:tblGrid>
                  <a:tr h="27432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r="-418056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 dirty="0"/>
                            <a:t>=</a:t>
                          </a:r>
                          <a:endParaRPr lang="ko-KR" altLang="en-US" sz="12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1338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517059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1338" t="-97826" b="-21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6577827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1338" t="-202222" b="-1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08894241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200"/>
                            <a:t>=</a:t>
                          </a:r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l="-31338" t="-302222" b="-1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98445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직사각형 3">
            <a:extLst>
              <a:ext uri="{FF2B5EF4-FFF2-40B4-BE49-F238E27FC236}">
                <a16:creationId xmlns:a16="http://schemas.microsoft.com/office/drawing/2014/main" id="{AD17F7B7-C4C5-42FF-B567-57E54CFB0107}"/>
              </a:ext>
            </a:extLst>
          </p:cNvPr>
          <p:cNvSpPr/>
          <p:nvPr/>
        </p:nvSpPr>
        <p:spPr>
          <a:xfrm>
            <a:off x="5739897" y="4230360"/>
            <a:ext cx="2426329" cy="3628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/>
              <a:t>확률변수로 정해져있는 특정값이 아님으로 기댓값개념 추가가능</a:t>
            </a:r>
          </a:p>
        </p:txBody>
      </p:sp>
    </p:spTree>
    <p:extLst>
      <p:ext uri="{BB962C8B-B14F-4D97-AF65-F5344CB8AC3E}">
        <p14:creationId xmlns:p14="http://schemas.microsoft.com/office/powerpoint/2010/main" val="3283652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77235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function</a:t>
            </a:r>
            <a:r>
              <a:rPr lang="ko-KR" altLang="en-US" sz="1200">
                <a:latin typeface="+mn-ea"/>
              </a:rPr>
              <a:t>들 사이의 관계식</a:t>
            </a:r>
            <a:r>
              <a:rPr lang="en-US" altLang="ko-KR" sz="1200">
                <a:latin typeface="+mn-ea"/>
              </a:rPr>
              <a:t>&gt;</a:t>
            </a:r>
          </a:p>
          <a:p>
            <a:pPr algn="l"/>
            <a:r>
              <a:rPr lang="en-US" altLang="ko-KR" sz="1200">
                <a:latin typeface="+mn-ea"/>
              </a:rPr>
              <a:t> - State value function : </a:t>
            </a:r>
            <a:r>
              <a:rPr lang="ko-KR" altLang="en-US" sz="1200">
                <a:latin typeface="+mn-ea"/>
              </a:rPr>
              <a:t>어떤 상태 </a:t>
            </a:r>
            <a:r>
              <a:rPr lang="en-US" altLang="ko-KR" sz="1200">
                <a:latin typeface="+mn-ea"/>
              </a:rPr>
              <a:t>s</a:t>
            </a:r>
            <a:r>
              <a:rPr lang="ko-KR" altLang="en-US" sz="1200">
                <a:latin typeface="+mn-ea"/>
              </a:rPr>
              <a:t>에서 에이전트가 취할 수 있는 여러가지 행동 </a:t>
            </a:r>
            <a:r>
              <a:rPr lang="en-US" altLang="ko-KR" sz="1200">
                <a:latin typeface="+mn-ea"/>
              </a:rPr>
              <a:t>a</a:t>
            </a:r>
            <a:r>
              <a:rPr lang="ko-KR" altLang="en-US" sz="1200">
                <a:latin typeface="+mn-ea"/>
              </a:rPr>
              <a:t>를 할 수 있다는 기댓값</a:t>
            </a:r>
            <a:endParaRPr lang="en-US" altLang="ko-KR" sz="1200">
              <a:latin typeface="+mn-ea"/>
            </a:endParaRPr>
          </a:p>
          <a:p>
            <a:pPr algn="l"/>
            <a:r>
              <a:rPr lang="en-US" altLang="ko-KR" sz="1200">
                <a:latin typeface="+mn-ea"/>
              </a:rPr>
              <a:t> - 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각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action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할 확률과 그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action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해서 받는 미래 보상을 곱하여 더하면 현재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state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의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value functio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+mn-ea"/>
              </a:rPr>
              <a:t>n</a:t>
            </a:r>
            <a:r>
              <a:rPr lang="ko-KR" altLang="en-US" sz="1200">
                <a:latin typeface="+mn-ea"/>
              </a:rPr>
              <a:t> 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7FD22F0-E003-4C66-B158-3C2F87CFCC71}"/>
              </a:ext>
            </a:extLst>
          </p:cNvPr>
          <p:cNvGrpSpPr/>
          <p:nvPr/>
        </p:nvGrpSpPr>
        <p:grpSpPr>
          <a:xfrm>
            <a:off x="1362246" y="2036754"/>
            <a:ext cx="1947330" cy="813743"/>
            <a:chOff x="733596" y="1916791"/>
            <a:chExt cx="1947330" cy="813743"/>
          </a:xfrm>
        </p:grpSpPr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E41A8764-0100-4C22-A1DE-520D62FB7F0A}"/>
                </a:ext>
              </a:extLst>
            </p:cNvPr>
            <p:cNvGrpSpPr/>
            <p:nvPr/>
          </p:nvGrpSpPr>
          <p:grpSpPr>
            <a:xfrm>
              <a:off x="733596" y="2000202"/>
              <a:ext cx="806724" cy="659872"/>
              <a:chOff x="920921" y="2178997"/>
              <a:chExt cx="806724" cy="659872"/>
            </a:xfrm>
          </p:grpSpPr>
          <p:sp>
            <p:nvSpPr>
              <p:cNvPr id="8" name="타원 7">
                <a:extLst>
                  <a:ext uri="{FF2B5EF4-FFF2-40B4-BE49-F238E27FC236}">
                    <a16:creationId xmlns:a16="http://schemas.microsoft.com/office/drawing/2014/main" id="{C4F2279F-2521-42CD-9D13-7E5E98356B20}"/>
                  </a:ext>
                </a:extLst>
              </p:cNvPr>
              <p:cNvSpPr/>
              <p:nvPr/>
            </p:nvSpPr>
            <p:spPr>
              <a:xfrm>
                <a:off x="1253311" y="2178997"/>
                <a:ext cx="161197" cy="151141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cxnSp>
            <p:nvCxnSpPr>
              <p:cNvPr id="10" name="직선 연결선 9">
                <a:extLst>
                  <a:ext uri="{FF2B5EF4-FFF2-40B4-BE49-F238E27FC236}">
                    <a16:creationId xmlns:a16="http://schemas.microsoft.com/office/drawing/2014/main" id="{6A4A4491-B32D-4F27-996E-1F041B9D9EC6}"/>
                  </a:ext>
                </a:extLst>
              </p:cNvPr>
              <p:cNvCxnSpPr>
                <a:cxnSpLocks/>
                <a:stCxn id="8" idx="3"/>
              </p:cNvCxnSpPr>
              <p:nvPr/>
            </p:nvCxnSpPr>
            <p:spPr>
              <a:xfrm flipH="1">
                <a:off x="979693" y="2308004"/>
                <a:ext cx="297225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F367A8FC-9E7D-417E-B131-38B4111E29E8}"/>
                  </a:ext>
                </a:extLst>
              </p:cNvPr>
              <p:cNvCxnSpPr>
                <a:cxnSpLocks/>
                <a:stCxn id="8" idx="5"/>
              </p:cNvCxnSpPr>
              <p:nvPr/>
            </p:nvCxnSpPr>
            <p:spPr>
              <a:xfrm>
                <a:off x="1390901" y="2308004"/>
                <a:ext cx="273798" cy="40185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371D046E-D903-4E2E-AE4A-77869F4CCDFC}"/>
                  </a:ext>
                </a:extLst>
              </p:cNvPr>
              <p:cNvSpPr/>
              <p:nvPr/>
            </p:nvSpPr>
            <p:spPr>
              <a:xfrm>
                <a:off x="920921" y="2718179"/>
                <a:ext cx="117544" cy="1206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A8282695-347E-4FDB-BFFF-8F512B6D22AB}"/>
                  </a:ext>
                </a:extLst>
              </p:cNvPr>
              <p:cNvSpPr/>
              <p:nvPr/>
            </p:nvSpPr>
            <p:spPr>
              <a:xfrm>
                <a:off x="1610101" y="2718179"/>
                <a:ext cx="117544" cy="12069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/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776" y="1916791"/>
                  <a:ext cx="853503" cy="261610"/>
                </a:xfrm>
                <a:prstGeom prst="rect">
                  <a:avLst/>
                </a:prstGeom>
                <a:blipFill>
                  <a:blip r:embed="rId2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/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5204" y="2468924"/>
                  <a:ext cx="995722" cy="261610"/>
                </a:xfrm>
                <a:prstGeom prst="rect">
                  <a:avLst/>
                </a:prstGeom>
                <a:blipFill>
                  <a:blip r:embed="rId3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401555"/>
                  </p:ext>
                </p:extLst>
              </p:nvPr>
            </p:nvGraphicFramePr>
            <p:xfrm>
              <a:off x="3987832" y="2115725"/>
              <a:ext cx="3461532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401555"/>
                  </p:ext>
                </p:extLst>
              </p:nvPr>
            </p:nvGraphicFramePr>
            <p:xfrm>
              <a:off x="3987832" y="2115725"/>
              <a:ext cx="3461532" cy="53530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53530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4"/>
                          <a:stretch>
                            <a:fillRect t="-117045" b="-165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2FD750-4626-4737-A106-D03661E79225}"/>
                  </a:ext>
                </a:extLst>
              </p:cNvPr>
              <p:cNvSpPr txBox="1"/>
              <p:nvPr/>
            </p:nvSpPr>
            <p:spPr>
              <a:xfrm>
                <a:off x="400050" y="3011990"/>
                <a:ext cx="4071371" cy="4687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했을때 앞으로 받을 보상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할 확률</a:t>
                </a: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F2FD750-4626-4737-A106-D03661E79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3011990"/>
                <a:ext cx="4071371" cy="468718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28B581A-31A0-47B9-AA98-ED35AC274470}"/>
              </a:ext>
            </a:extLst>
          </p:cNvPr>
          <p:cNvSpPr txBox="1"/>
          <p:nvPr/>
        </p:nvSpPr>
        <p:spPr>
          <a:xfrm>
            <a:off x="400050" y="3679879"/>
            <a:ext cx="7194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ko-KR" altLang="en-US" sz="1200">
                <a:latin typeface="+mn-ea"/>
              </a:rPr>
              <a:t>위 그림에서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추가</a:t>
            </a:r>
            <a:endParaRPr lang="en-US" altLang="ko-KR" sz="1200">
              <a:latin typeface="+mn-ea"/>
            </a:endParaRPr>
          </a:p>
          <a:p>
            <a:pPr marL="171450" indent="-171450" algn="l">
              <a:buFontTx/>
              <a:buChar char="-"/>
            </a:pP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 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imediate reward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에다가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action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취해 각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state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로 갈 확률 곱하기 그 위치에서의 </a:t>
            </a:r>
            <a:r>
              <a:rPr lang="en-US" altLang="ko-KR" sz="1200" b="0" i="0">
                <a:solidFill>
                  <a:srgbClr val="333333"/>
                </a:solidFill>
                <a:effectLst/>
                <a:latin typeface="Helvetica Neue"/>
              </a:rPr>
              <a:t>value function</a:t>
            </a:r>
            <a:r>
              <a:rPr lang="ko-KR" altLang="en-US" sz="1200" b="0" i="0">
                <a:solidFill>
                  <a:srgbClr val="333333"/>
                </a:solidFill>
                <a:effectLst/>
                <a:latin typeface="Helvetica Neue"/>
              </a:rPr>
              <a:t>을 더함</a:t>
            </a:r>
            <a:endParaRPr lang="en-US" altLang="ko-KR" sz="1200" b="0" i="0">
              <a:solidFill>
                <a:srgbClr val="333333"/>
              </a:solidFill>
              <a:effectLst/>
              <a:latin typeface="Helvetica Neue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표 44">
                <a:extLst>
                  <a:ext uri="{FF2B5EF4-FFF2-40B4-BE49-F238E27FC236}">
                    <a16:creationId xmlns:a16="http://schemas.microsoft.com/office/drawing/2014/main" id="{17A8438B-440A-45C3-9B5D-EB2F3D8A0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000299"/>
                  </p:ext>
                </p:extLst>
              </p:nvPr>
            </p:nvGraphicFramePr>
            <p:xfrm>
              <a:off x="3987832" y="4618934"/>
              <a:ext cx="3461532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표 44">
                <a:extLst>
                  <a:ext uri="{FF2B5EF4-FFF2-40B4-BE49-F238E27FC236}">
                    <a16:creationId xmlns:a16="http://schemas.microsoft.com/office/drawing/2014/main" id="{17A8438B-440A-45C3-9B5D-EB2F3D8A074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74000299"/>
                  </p:ext>
                </p:extLst>
              </p:nvPr>
            </p:nvGraphicFramePr>
            <p:xfrm>
              <a:off x="3987832" y="4618934"/>
              <a:ext cx="3461532" cy="429578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461532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</a:tblGrid>
                  <a:tr h="42957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6"/>
                          <a:stretch>
                            <a:fillRect t="-150000" b="-2180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BA08B-5662-496F-A64A-000AC576A0C1}"/>
                  </a:ext>
                </a:extLst>
              </p:cNvPr>
              <p:cNvSpPr txBox="1"/>
              <p:nvPr/>
            </p:nvSpPr>
            <p:spPr>
              <a:xfrm>
                <a:off x="408379" y="5634283"/>
                <a:ext cx="4214231" cy="8638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 : 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상</m:t>
                    </m:r>
                  </m:oMath>
                </a14:m>
                <a:r>
                  <a:rPr lang="ko-KR" altLang="en-US" sz="1200">
                    <a:latin typeface="+mn-ea"/>
                  </a:rPr>
                  <a:t>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 때 즉각적인 보상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ko-KR" altLang="en-US" sz="1200">
                    <a:latin typeface="+mn-ea"/>
                  </a:rPr>
                  <a:t>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시간에 대한 보상의 가치를 판단하는 </a:t>
                </a:r>
                <a:r>
                  <a:rPr lang="en-US" altLang="ko-KR" sz="1200">
                    <a:latin typeface="+mn-ea"/>
                  </a:rPr>
                  <a:t>discount factor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</m:oMath>
                </a14:m>
                <a:r>
                  <a:rPr lang="ko-KR" altLang="en-US" sz="1200">
                    <a:latin typeface="+mn-ea"/>
                  </a:rPr>
                  <a:t> </a:t>
                </a:r>
                <a:r>
                  <a:rPr lang="en-US" altLang="ko-KR" sz="1200">
                    <a:latin typeface="+mn-ea"/>
                  </a:rPr>
                  <a:t>: </a:t>
                </a:r>
                <a:r>
                  <a:rPr lang="ko-KR" altLang="en-US" sz="1200">
                    <a:latin typeface="+mn-ea"/>
                  </a:rPr>
                  <a:t>상태 </a:t>
                </a:r>
                <a:r>
                  <a:rPr lang="en-US" altLang="ko-KR" sz="1200">
                    <a:latin typeface="+mn-ea"/>
                  </a:rPr>
                  <a:t>s</a:t>
                </a:r>
                <a:r>
                  <a:rPr lang="ko-KR" altLang="en-US" sz="1200">
                    <a:latin typeface="+mn-ea"/>
                  </a:rPr>
                  <a:t>에서 행동 </a:t>
                </a:r>
                <a:r>
                  <a:rPr lang="en-US" altLang="ko-KR" sz="1200">
                    <a:latin typeface="+mn-ea"/>
                  </a:rPr>
                  <a:t>a</a:t>
                </a:r>
                <a:r>
                  <a:rPr lang="ko-KR" altLang="en-US" sz="1200">
                    <a:latin typeface="+mn-ea"/>
                  </a:rPr>
                  <a:t>를 했을 때 상태 </a:t>
                </a:r>
                <a:r>
                  <a:rPr lang="en-US" altLang="ko-KR" sz="1200">
                    <a:latin typeface="+mn-ea"/>
                  </a:rPr>
                  <a:t>s’</a:t>
                </a:r>
                <a:r>
                  <a:rPr lang="ko-KR" altLang="en-US" sz="1200">
                    <a:latin typeface="+mn-ea"/>
                  </a:rPr>
                  <a:t>가 될 확률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altLang="ko-KR" sz="1200">
                    <a:latin typeface="+mn-ea"/>
                  </a:rPr>
                  <a:t>(s’) : </a:t>
                </a:r>
                <a:r>
                  <a:rPr lang="ko-KR" altLang="en-US" sz="1200">
                    <a:latin typeface="+mn-ea"/>
                  </a:rPr>
                  <a:t>상태 </a:t>
                </a:r>
                <a:r>
                  <a:rPr lang="en-US" altLang="ko-KR" sz="1200">
                    <a:latin typeface="+mn-ea"/>
                  </a:rPr>
                  <a:t>s’</a:t>
                </a:r>
                <a:r>
                  <a:rPr lang="ko-KR" altLang="en-US" sz="1200">
                    <a:latin typeface="+mn-ea"/>
                  </a:rPr>
                  <a:t>에서 앞으로 받을 보상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DD4BA08B-5662-496F-A64A-000AC576A0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379" y="5634283"/>
                <a:ext cx="4214231" cy="863891"/>
              </a:xfrm>
              <a:prstGeom prst="rect">
                <a:avLst/>
              </a:prstGeom>
              <a:blipFill>
                <a:blip r:embed="rId7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1A2DA693-655E-4750-AB9C-16D10DFC830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064" y="4468190"/>
            <a:ext cx="2546122" cy="116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3550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61A3C55C-7438-438F-B754-7167904868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/>
              <a:t>Bellman Equation</a:t>
            </a:r>
            <a:endParaRPr lang="ko-KR" altLang="en-US"/>
          </a:p>
          <a:p>
            <a:pPr>
              <a:buNone/>
            </a:pP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DE72CD-66E5-414B-9CD3-B8A96A2F41D9}"/>
              </a:ext>
            </a:extLst>
          </p:cNvPr>
          <p:cNvSpPr txBox="1"/>
          <p:nvPr/>
        </p:nvSpPr>
        <p:spPr>
          <a:xfrm>
            <a:off x="400050" y="1457325"/>
            <a:ext cx="3057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</a:t>
            </a:r>
            <a:r>
              <a:rPr lang="ko-KR" altLang="en-US" sz="1200">
                <a:latin typeface="+mn-ea"/>
              </a:rPr>
              <a:t>두 관계식의 결합</a:t>
            </a:r>
            <a:r>
              <a:rPr lang="en-US" altLang="ko-KR" sz="1200">
                <a:latin typeface="+mn-ea"/>
              </a:rPr>
              <a:t>(state value function)&gt;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8851"/>
                  </p:ext>
                </p:extLst>
              </p:nvPr>
            </p:nvGraphicFramePr>
            <p:xfrm>
              <a:off x="3987832" y="2115725"/>
              <a:ext cx="5156168" cy="12534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200" b="0"/>
                        </a:p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ko-KR" altLang="en-US" sz="1200" b="0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</m:d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+ </m:t>
                                    </m:r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𝛾</m:t>
                                    </m:r>
                                    <m:nary>
                                      <m:naryPr>
                                        <m:chr m:val="∑"/>
                                        <m:limLoc m:val="subSup"/>
                                        <m:supHide m:val="on"/>
                                        <m:ctrlP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sSubSup>
                                          <m:sSub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𝑃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sub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sup>
                                        </m:sSub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</m:e>
                                    </m:nary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3" name="표 32">
                <a:extLst>
                  <a:ext uri="{FF2B5EF4-FFF2-40B4-BE49-F238E27FC236}">
                    <a16:creationId xmlns:a16="http://schemas.microsoft.com/office/drawing/2014/main" id="{4E1212F3-4556-4143-A25E-D748C8380B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99418851"/>
                  </p:ext>
                </p:extLst>
              </p:nvPr>
            </p:nvGraphicFramePr>
            <p:xfrm>
              <a:off x="3987832" y="2115725"/>
              <a:ext cx="5156168" cy="125349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718185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92373" r="-60837" b="-1983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64375" t="-92373" b="-1983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535305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t="-257955" b="-1659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8" name="그룹 17">
            <a:extLst>
              <a:ext uri="{FF2B5EF4-FFF2-40B4-BE49-F238E27FC236}">
                <a16:creationId xmlns:a16="http://schemas.microsoft.com/office/drawing/2014/main" id="{BCD13EEB-922F-40C4-B853-4CD180171101}"/>
              </a:ext>
            </a:extLst>
          </p:cNvPr>
          <p:cNvGrpSpPr/>
          <p:nvPr/>
        </p:nvGrpSpPr>
        <p:grpSpPr>
          <a:xfrm>
            <a:off x="974496" y="2000306"/>
            <a:ext cx="2309724" cy="1318082"/>
            <a:chOff x="997922" y="2036754"/>
            <a:chExt cx="2309724" cy="1318082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C4F2279F-2521-42CD-9D13-7E5E98356B20}"/>
                </a:ext>
              </a:extLst>
            </p:cNvPr>
            <p:cNvSpPr/>
            <p:nvPr/>
          </p:nvSpPr>
          <p:spPr>
            <a:xfrm>
              <a:off x="1686573" y="2120165"/>
              <a:ext cx="161197" cy="1511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A4A4491-B32D-4F27-996E-1F041B9D9EC6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 flipH="1">
              <a:off x="1412955" y="2249172"/>
              <a:ext cx="297225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F367A8FC-9E7D-417E-B131-38B4111E29E8}"/>
                </a:ext>
              </a:extLst>
            </p:cNvPr>
            <p:cNvCxnSpPr>
              <a:cxnSpLocks/>
              <a:stCxn id="8" idx="5"/>
            </p:cNvCxnSpPr>
            <p:nvPr/>
          </p:nvCxnSpPr>
          <p:spPr>
            <a:xfrm>
              <a:off x="1824163" y="2249172"/>
              <a:ext cx="273798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371D046E-D903-4E2E-AE4A-77869F4CCDFC}"/>
                </a:ext>
              </a:extLst>
            </p:cNvPr>
            <p:cNvSpPr/>
            <p:nvPr/>
          </p:nvSpPr>
          <p:spPr>
            <a:xfrm>
              <a:off x="1354183" y="2659347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A8282695-347E-4FDB-BFFF-8F512B6D22AB}"/>
                </a:ext>
              </a:extLst>
            </p:cNvPr>
            <p:cNvSpPr/>
            <p:nvPr/>
          </p:nvSpPr>
          <p:spPr>
            <a:xfrm>
              <a:off x="2043363" y="2659347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1AB46DDD-3980-4C33-A1E0-7736BBFF89A6}"/>
                </a:ext>
              </a:extLst>
            </p:cNvPr>
            <p:cNvCxnSpPr>
              <a:cxnSpLocks/>
              <a:stCxn id="27" idx="3"/>
            </p:cNvCxnSpPr>
            <p:nvPr/>
          </p:nvCxnSpPr>
          <p:spPr>
            <a:xfrm flipH="1">
              <a:off x="1154671" y="2762362"/>
              <a:ext cx="216726" cy="415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442C5CE8-CD5A-4B10-B61E-9BC517270B7F}"/>
                </a:ext>
              </a:extLst>
            </p:cNvPr>
            <p:cNvCxnSpPr>
              <a:cxnSpLocks/>
            </p:cNvCxnSpPr>
            <p:nvPr/>
          </p:nvCxnSpPr>
          <p:spPr>
            <a:xfrm>
              <a:off x="1443294" y="2773933"/>
              <a:ext cx="145974" cy="4192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/>
                <p:nvPr/>
              </p:nvSpPr>
              <p:spPr>
                <a:xfrm>
                  <a:off x="2051426" y="2036754"/>
                  <a:ext cx="853503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6610D4C4-CAF7-45DB-AF59-D9F529DEDD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426" y="2036754"/>
                  <a:ext cx="853503" cy="261610"/>
                </a:xfrm>
                <a:prstGeom prst="rect">
                  <a:avLst/>
                </a:prstGeom>
                <a:blipFill>
                  <a:blip r:embed="rId4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/>
                <p:nvPr/>
              </p:nvSpPr>
              <p:spPr>
                <a:xfrm>
                  <a:off x="2313854" y="2588887"/>
                  <a:ext cx="29873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0BD460A7-B93F-4275-AC38-E272DAE6DC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13854" y="2588887"/>
                  <a:ext cx="298736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5" name="직선 연결선 64">
              <a:extLst>
                <a:ext uri="{FF2B5EF4-FFF2-40B4-BE49-F238E27FC236}">
                  <a16:creationId xmlns:a16="http://schemas.microsoft.com/office/drawing/2014/main" id="{C3496ED2-8DBC-4572-8DF0-AB4525BC633F}"/>
                </a:ext>
              </a:extLst>
            </p:cNvPr>
            <p:cNvCxnSpPr>
              <a:cxnSpLocks/>
              <a:stCxn id="28" idx="3"/>
            </p:cNvCxnSpPr>
            <p:nvPr/>
          </p:nvCxnSpPr>
          <p:spPr>
            <a:xfrm flipH="1">
              <a:off x="1847771" y="2762362"/>
              <a:ext cx="212806" cy="414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755E7EA9-34E7-49C1-8EF0-EA6B209448AF}"/>
                </a:ext>
              </a:extLst>
            </p:cNvPr>
            <p:cNvCxnSpPr>
              <a:cxnSpLocks/>
              <a:stCxn id="28" idx="5"/>
            </p:cNvCxnSpPr>
            <p:nvPr/>
          </p:nvCxnSpPr>
          <p:spPr>
            <a:xfrm>
              <a:off x="2143693" y="2762362"/>
              <a:ext cx="144321" cy="429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>
              <a:extLst>
                <a:ext uri="{FF2B5EF4-FFF2-40B4-BE49-F238E27FC236}">
                  <a16:creationId xmlns:a16="http://schemas.microsoft.com/office/drawing/2014/main" id="{CCA73A1C-8B14-4885-847A-558C519CD612}"/>
                </a:ext>
              </a:extLst>
            </p:cNvPr>
            <p:cNvSpPr/>
            <p:nvPr/>
          </p:nvSpPr>
          <p:spPr>
            <a:xfrm>
              <a:off x="1088518" y="3184086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AE023D48-64F2-45DD-B7F0-465F8C16B007}"/>
                </a:ext>
              </a:extLst>
            </p:cNvPr>
            <p:cNvSpPr/>
            <p:nvPr/>
          </p:nvSpPr>
          <p:spPr>
            <a:xfrm>
              <a:off x="1536242" y="3184086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78FA6E7F-CA93-4832-8F52-2E386EC7BC21}"/>
                </a:ext>
              </a:extLst>
            </p:cNvPr>
            <p:cNvSpPr/>
            <p:nvPr/>
          </p:nvSpPr>
          <p:spPr>
            <a:xfrm>
              <a:off x="1787264" y="3183219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2B1CEFB8-D2A5-42D2-89A2-A8D69F3932A7}"/>
                </a:ext>
              </a:extLst>
            </p:cNvPr>
            <p:cNvSpPr/>
            <p:nvPr/>
          </p:nvSpPr>
          <p:spPr>
            <a:xfrm>
              <a:off x="2234988" y="3183219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A0D4E83-9D8B-466B-AC81-056587C5006B}"/>
                    </a:ext>
                  </a:extLst>
                </p:cNvPr>
                <p:cNvSpPr txBox="1"/>
                <p:nvPr/>
              </p:nvSpPr>
              <p:spPr>
                <a:xfrm>
                  <a:off x="997922" y="2819938"/>
                  <a:ext cx="2871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A0D4E83-9D8B-466B-AC81-056587C500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7922" y="2819938"/>
                  <a:ext cx="287130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13238C-704B-4BDC-ACBA-59E6BFF83EAA}"/>
                    </a:ext>
                  </a:extLst>
                </p:cNvPr>
                <p:cNvSpPr txBox="1"/>
                <p:nvPr/>
              </p:nvSpPr>
              <p:spPr>
                <a:xfrm>
                  <a:off x="2401116" y="3093226"/>
                  <a:ext cx="9065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2713238C-704B-4BDC-ACBA-59E6BFF83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1116" y="3093226"/>
                  <a:ext cx="906530" cy="261610"/>
                </a:xfrm>
                <a:prstGeom prst="rect">
                  <a:avLst/>
                </a:prstGeom>
                <a:blipFill>
                  <a:blip r:embed="rId7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9719CE9-2637-4AD4-A838-B3D54A7D3A4A}"/>
              </a:ext>
            </a:extLst>
          </p:cNvPr>
          <p:cNvSpPr/>
          <p:nvPr/>
        </p:nvSpPr>
        <p:spPr>
          <a:xfrm>
            <a:off x="5905500" y="2249172"/>
            <a:ext cx="617220" cy="237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254BE78-834F-44C6-915F-CC1FC7261166}"/>
              </a:ext>
            </a:extLst>
          </p:cNvPr>
          <p:cNvCxnSpPr/>
          <p:nvPr/>
        </p:nvCxnSpPr>
        <p:spPr>
          <a:xfrm flipH="1">
            <a:off x="6603579" y="2371688"/>
            <a:ext cx="6675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화살표: 아래쪽 16">
            <a:extLst>
              <a:ext uri="{FF2B5EF4-FFF2-40B4-BE49-F238E27FC236}">
                <a16:creationId xmlns:a16="http://schemas.microsoft.com/office/drawing/2014/main" id="{39C0D30A-D789-46AB-8DF7-1761064DB668}"/>
              </a:ext>
            </a:extLst>
          </p:cNvPr>
          <p:cNvSpPr/>
          <p:nvPr/>
        </p:nvSpPr>
        <p:spPr>
          <a:xfrm>
            <a:off x="6522720" y="2570676"/>
            <a:ext cx="415168" cy="279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74D5021-EEDE-4510-A0F8-25E342363CCC}"/>
              </a:ext>
            </a:extLst>
          </p:cNvPr>
          <p:cNvSpPr txBox="1"/>
          <p:nvPr/>
        </p:nvSpPr>
        <p:spPr>
          <a:xfrm>
            <a:off x="400050" y="3476973"/>
            <a:ext cx="31087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1200">
                <a:latin typeface="+mn-ea"/>
              </a:rPr>
              <a:t>두 관계식의 결합</a:t>
            </a:r>
            <a:r>
              <a:rPr lang="en-US" altLang="ko-KR" sz="1200">
                <a:latin typeface="+mn-ea"/>
              </a:rPr>
              <a:t>(action value function)</a:t>
            </a: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2947F407-7B7A-4E45-B1ED-4F22E29EF064}"/>
              </a:ext>
            </a:extLst>
          </p:cNvPr>
          <p:cNvGrpSpPr/>
          <p:nvPr/>
        </p:nvGrpSpPr>
        <p:grpSpPr>
          <a:xfrm>
            <a:off x="1010269" y="3738583"/>
            <a:ext cx="2400460" cy="1318082"/>
            <a:chOff x="1088518" y="2036754"/>
            <a:chExt cx="2400460" cy="1318082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FDE7239A-16CD-4BF2-B9FE-62C99FE77DE6}"/>
                </a:ext>
              </a:extLst>
            </p:cNvPr>
            <p:cNvSpPr/>
            <p:nvPr/>
          </p:nvSpPr>
          <p:spPr>
            <a:xfrm>
              <a:off x="1686573" y="2120165"/>
              <a:ext cx="161197" cy="15114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18BE286F-6692-4251-B6B2-9BD8F89B65D3}"/>
                </a:ext>
              </a:extLst>
            </p:cNvPr>
            <p:cNvCxnSpPr>
              <a:cxnSpLocks/>
              <a:stCxn id="96" idx="3"/>
            </p:cNvCxnSpPr>
            <p:nvPr/>
          </p:nvCxnSpPr>
          <p:spPr>
            <a:xfrm flipH="1">
              <a:off x="1412955" y="2249172"/>
              <a:ext cx="297225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D715F44C-13BC-41CC-903F-F455DB16D922}"/>
                </a:ext>
              </a:extLst>
            </p:cNvPr>
            <p:cNvCxnSpPr>
              <a:cxnSpLocks/>
              <a:stCxn id="96" idx="5"/>
            </p:cNvCxnSpPr>
            <p:nvPr/>
          </p:nvCxnSpPr>
          <p:spPr>
            <a:xfrm>
              <a:off x="1824163" y="2249172"/>
              <a:ext cx="273798" cy="4018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F12F7853-9F91-49E5-8B29-01F7DF99C0C1}"/>
                </a:ext>
              </a:extLst>
            </p:cNvPr>
            <p:cNvSpPr/>
            <p:nvPr/>
          </p:nvSpPr>
          <p:spPr>
            <a:xfrm>
              <a:off x="1354183" y="2659347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D301F6D0-C2D3-4620-BB9A-EFDC13A5E7BF}"/>
                </a:ext>
              </a:extLst>
            </p:cNvPr>
            <p:cNvSpPr/>
            <p:nvPr/>
          </p:nvSpPr>
          <p:spPr>
            <a:xfrm>
              <a:off x="2043363" y="2659347"/>
              <a:ext cx="117544" cy="12069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B2016979-2D87-4352-A98F-1268058C0893}"/>
                </a:ext>
              </a:extLst>
            </p:cNvPr>
            <p:cNvCxnSpPr>
              <a:cxnSpLocks/>
              <a:stCxn id="99" idx="3"/>
            </p:cNvCxnSpPr>
            <p:nvPr/>
          </p:nvCxnSpPr>
          <p:spPr>
            <a:xfrm flipH="1">
              <a:off x="1154671" y="2762362"/>
              <a:ext cx="216726" cy="4157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직선 연결선 101">
              <a:extLst>
                <a:ext uri="{FF2B5EF4-FFF2-40B4-BE49-F238E27FC236}">
                  <a16:creationId xmlns:a16="http://schemas.microsoft.com/office/drawing/2014/main" id="{A1A7673D-85D8-410A-A28B-A9AEEF87C368}"/>
                </a:ext>
              </a:extLst>
            </p:cNvPr>
            <p:cNvCxnSpPr>
              <a:cxnSpLocks/>
            </p:cNvCxnSpPr>
            <p:nvPr/>
          </p:nvCxnSpPr>
          <p:spPr>
            <a:xfrm>
              <a:off x="1443294" y="2773933"/>
              <a:ext cx="145974" cy="4192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38FE247-F111-4EA1-ABBE-98DECA603CCA}"/>
                    </a:ext>
                  </a:extLst>
                </p:cNvPr>
                <p:cNvSpPr txBox="1"/>
                <p:nvPr/>
              </p:nvSpPr>
              <p:spPr>
                <a:xfrm>
                  <a:off x="2051426" y="2036754"/>
                  <a:ext cx="1126206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 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538FE247-F111-4EA1-ABBE-98DECA603C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1426" y="2036754"/>
                  <a:ext cx="1126206" cy="261610"/>
                </a:xfrm>
                <a:prstGeom prst="rect">
                  <a:avLst/>
                </a:prstGeom>
                <a:blipFill>
                  <a:blip r:embed="rId8"/>
                  <a:stretch>
                    <a:fillRect b="-69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1D2255D0-AA84-40B3-8674-FAD5629D33BD}"/>
                    </a:ext>
                  </a:extLst>
                </p:cNvPr>
                <p:cNvSpPr txBox="1"/>
                <p:nvPr/>
              </p:nvSpPr>
              <p:spPr>
                <a:xfrm>
                  <a:off x="2160907" y="2546137"/>
                  <a:ext cx="33182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1D2255D0-AA84-40B3-8674-FAD5629D33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0907" y="2546137"/>
                  <a:ext cx="331821" cy="2616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564BAE42-E103-40A6-AAEF-6C5DD1373BC5}"/>
                </a:ext>
              </a:extLst>
            </p:cNvPr>
            <p:cNvCxnSpPr>
              <a:cxnSpLocks/>
              <a:stCxn id="100" idx="3"/>
            </p:cNvCxnSpPr>
            <p:nvPr/>
          </p:nvCxnSpPr>
          <p:spPr>
            <a:xfrm flipH="1">
              <a:off x="1847771" y="2762362"/>
              <a:ext cx="212806" cy="4148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3C906DC6-1901-4EA9-B728-060EC094A8C1}"/>
                </a:ext>
              </a:extLst>
            </p:cNvPr>
            <p:cNvCxnSpPr>
              <a:cxnSpLocks/>
              <a:stCxn id="100" idx="5"/>
            </p:cNvCxnSpPr>
            <p:nvPr/>
          </p:nvCxnSpPr>
          <p:spPr>
            <a:xfrm>
              <a:off x="2143693" y="2762362"/>
              <a:ext cx="144321" cy="4299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0DEEC525-737E-4ED3-86F1-4DBDC0248E32}"/>
                </a:ext>
              </a:extLst>
            </p:cNvPr>
            <p:cNvSpPr/>
            <p:nvPr/>
          </p:nvSpPr>
          <p:spPr>
            <a:xfrm>
              <a:off x="1088518" y="3184086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ABA02999-8337-4BF2-933E-494D29B9501F}"/>
                </a:ext>
              </a:extLst>
            </p:cNvPr>
            <p:cNvSpPr/>
            <p:nvPr/>
          </p:nvSpPr>
          <p:spPr>
            <a:xfrm>
              <a:off x="1536242" y="3184086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타원 108">
              <a:extLst>
                <a:ext uri="{FF2B5EF4-FFF2-40B4-BE49-F238E27FC236}">
                  <a16:creationId xmlns:a16="http://schemas.microsoft.com/office/drawing/2014/main" id="{E311EC47-7857-4005-A485-7E086237375F}"/>
                </a:ext>
              </a:extLst>
            </p:cNvPr>
            <p:cNvSpPr/>
            <p:nvPr/>
          </p:nvSpPr>
          <p:spPr>
            <a:xfrm>
              <a:off x="1787264" y="3183219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A9D527DF-58C8-452B-B2BD-FCB7E92AF343}"/>
                </a:ext>
              </a:extLst>
            </p:cNvPr>
            <p:cNvSpPr/>
            <p:nvPr/>
          </p:nvSpPr>
          <p:spPr>
            <a:xfrm>
              <a:off x="2234988" y="3183219"/>
              <a:ext cx="117544" cy="1206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6521350-A067-4B59-A58B-5D6237E2ED18}"/>
                    </a:ext>
                  </a:extLst>
                </p:cNvPr>
                <p:cNvSpPr txBox="1"/>
                <p:nvPr/>
              </p:nvSpPr>
              <p:spPr>
                <a:xfrm>
                  <a:off x="1920478" y="2240855"/>
                  <a:ext cx="287130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11" name="TextBox 110">
                  <a:extLst>
                    <a:ext uri="{FF2B5EF4-FFF2-40B4-BE49-F238E27FC236}">
                      <a16:creationId xmlns:a16="http://schemas.microsoft.com/office/drawing/2014/main" id="{66521350-A067-4B59-A58B-5D6237E2E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0478" y="2240855"/>
                  <a:ext cx="287130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2D8D8FBD-8821-40CE-8A26-3823BAA21EA6}"/>
                    </a:ext>
                  </a:extLst>
                </p:cNvPr>
                <p:cNvSpPr txBox="1"/>
                <p:nvPr/>
              </p:nvSpPr>
              <p:spPr>
                <a:xfrm>
                  <a:off x="2401116" y="3093226"/>
                  <a:ext cx="1087862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sSub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ko-KR" altLang="en-US" sz="11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sub>
                        </m:sSub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  <m:t>′)</m:t>
                        </m:r>
                      </m:oMath>
                    </m:oMathPara>
                  </a14:m>
                  <a:endParaRPr lang="ko-KR" altLang="en-US" sz="1100"/>
                </a:p>
              </p:txBody>
            </p:sp>
          </mc:Choice>
          <mc:Fallback xmlns="">
            <p:sp>
              <p:nvSpPr>
                <p:cNvPr id="112" name="TextBox 111">
                  <a:extLst>
                    <a:ext uri="{FF2B5EF4-FFF2-40B4-BE49-F238E27FC236}">
                      <a16:creationId xmlns:a16="http://schemas.microsoft.com/office/drawing/2014/main" id="{2D8D8FBD-8821-40CE-8A26-3823BAA21E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01116" y="3093226"/>
                  <a:ext cx="1087862" cy="261610"/>
                </a:xfrm>
                <a:prstGeom prst="rect">
                  <a:avLst/>
                </a:prstGeom>
                <a:blipFill>
                  <a:blip r:embed="rId10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4" name="표 113">
                <a:extLst>
                  <a:ext uri="{FF2B5EF4-FFF2-40B4-BE49-F238E27FC236}">
                    <a16:creationId xmlns:a16="http://schemas.microsoft.com/office/drawing/2014/main" id="{5ED0FE2B-5714-46DE-95FB-88A6E4573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80104"/>
                  </p:ext>
                </p:extLst>
              </p:nvPr>
            </p:nvGraphicFramePr>
            <p:xfrm>
              <a:off x="3985308" y="3641490"/>
              <a:ext cx="5156168" cy="11477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US" altLang="ko-KR" sz="1200" b="0"/>
                        </a:p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  <m:d>
                                      <m:d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sz="1200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′,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′)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0">
                    <a:tc gridSpan="2"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ko-KR" altLang="en-US" sz="1200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altLang="ko-KR" sz="1200" smtClean="0"/>
                                  <m:t>= </m:t>
                                </m:r>
                                <m:sSubSup>
                                  <m:sSubSupPr>
                                    <m:ctrl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1200" i="1" smtClean="0">
                                        <a:latin typeface="Cambria Math" panose="02040503050406030204" pitchFamily="18" charset="0"/>
                                      </a:rPr>
                                      <m:t>R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  <m:sup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p>
                                </m:sSubSup>
                                <m:r>
                                  <a:rPr lang="en-US" altLang="ko-KR" sz="1200" b="0" i="1" smtClean="0">
                                    <a:latin typeface="Cambria Math" panose="02040503050406030204" pitchFamily="18" charset="0"/>
                                  </a:rPr>
                                  <m:t>+ </m:t>
                                </m:r>
                                <m:r>
                                  <a:rPr lang="ko-KR" altLang="en-US" sz="1200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  <m:nary>
                                  <m:naryPr>
                                    <m:chr m:val="∑"/>
                                    <m:limLoc m:val="subSup"/>
                                    <m:supHide m:val="on"/>
                                    <m:ctrlPr>
                                      <a:rPr lang="ko-KR" altLang="en-US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9"/>
                                      </m:rP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∈</m:t>
                                    </m:r>
                                    <m:r>
                                      <a:rPr lang="en-US" altLang="ko-KR" sz="1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/>
                                  <m:e>
                                    <m:sSubSup>
                                      <m:sSubSupPr>
                                        <m:ctrl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  <m:sup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sup>
                                    </m:sSubSup>
                                    <m:nary>
                                      <m:naryPr>
                                        <m:chr m:val="∑"/>
                                        <m:supHide m:val="on"/>
                                        <m:ctrlPr>
                                          <a:rPr lang="en-US" altLang="ko-KR" sz="12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9"/>
                                          </m:rP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∈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sub>
                                      <m:sup/>
                                      <m:e>
                                        <m:r>
                                          <a:rPr lang="ko-KR" altLang="en-US" sz="120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  <m:d>
                                          <m:d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𝑎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  <m:e>
                                            <m:sSup>
                                              <m:sSupPr>
                                                <m:ctrlP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pPr>
                                              <m:e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𝑠</m:t>
                                                </m:r>
                                              </m:e>
                                              <m:sup>
                                                <m:r>
                                                  <a:rPr lang="en-US" altLang="ko-KR" sz="12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′</m:t>
                                                </m:r>
                                              </m:sup>
                                            </m:sSup>
                                          </m:e>
                                        </m:d>
                                        <m:sSub>
                                          <m:sSubPr>
                                            <m:ctrlP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𝑞</m:t>
                                            </m:r>
                                          </m:e>
                                          <m:sub>
                                            <m:r>
                                              <a:rPr lang="ko-KR" altLang="en-US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𝜋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′,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r>
                                          <a:rPr lang="en-US" altLang="ko-KR" sz="1200" b="0" i="1" smtClean="0">
                                            <a:latin typeface="Cambria Math" panose="02040503050406030204" pitchFamily="18" charset="0"/>
                                          </a:rPr>
                                          <m:t>′)</m:t>
                                        </m:r>
                                      </m:e>
                                    </m:nary>
                                  </m:e>
                                </m:nary>
                              </m:oMath>
                            </m:oMathPara>
                          </a14:m>
                          <a:endParaRPr lang="ko-KR" altLang="en-US" sz="1200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4" name="표 113">
                <a:extLst>
                  <a:ext uri="{FF2B5EF4-FFF2-40B4-BE49-F238E27FC236}">
                    <a16:creationId xmlns:a16="http://schemas.microsoft.com/office/drawing/2014/main" id="{5ED0FE2B-5714-46DE-95FB-88A6E457312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8980104"/>
                  </p:ext>
                </p:extLst>
              </p:nvPr>
            </p:nvGraphicFramePr>
            <p:xfrm>
              <a:off x="3985308" y="3641490"/>
              <a:ext cx="5156168" cy="1147763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205448">
                      <a:extLst>
                        <a:ext uri="{9D8B030D-6E8A-4147-A177-3AD203B41FA5}">
                          <a16:colId xmlns:a16="http://schemas.microsoft.com/office/drawing/2014/main" val="1314108953"/>
                        </a:ext>
                      </a:extLst>
                    </a:gridCol>
                    <a:gridCol w="1950720">
                      <a:extLst>
                        <a:ext uri="{9D8B030D-6E8A-4147-A177-3AD203B41FA5}">
                          <a16:colId xmlns:a16="http://schemas.microsoft.com/office/drawing/2014/main" val="231257618"/>
                        </a:ext>
                      </a:extLst>
                    </a:gridCol>
                  </a:tblGrid>
                  <a:tr h="612458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107921" r="-60721" b="-23168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l="-164688" t="-107921" b="-2316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7564398"/>
                      </a:ext>
                    </a:extLst>
                  </a:tr>
                  <a:tr h="535305"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11"/>
                          <a:stretch>
                            <a:fillRect t="-238636" b="-16590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sz="120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410873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12D850DD-3E81-4140-B492-E45308451265}"/>
              </a:ext>
            </a:extLst>
          </p:cNvPr>
          <p:cNvSpPr/>
          <p:nvPr/>
        </p:nvSpPr>
        <p:spPr>
          <a:xfrm>
            <a:off x="6202679" y="3721542"/>
            <a:ext cx="552975" cy="23737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0BA62C1A-2941-4BBB-A94B-B40D13848BE0}"/>
              </a:ext>
            </a:extLst>
          </p:cNvPr>
          <p:cNvCxnSpPr/>
          <p:nvPr/>
        </p:nvCxnSpPr>
        <p:spPr>
          <a:xfrm flipH="1">
            <a:off x="6836514" y="3844058"/>
            <a:ext cx="66757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화살표: 아래쪽 116">
            <a:extLst>
              <a:ext uri="{FF2B5EF4-FFF2-40B4-BE49-F238E27FC236}">
                <a16:creationId xmlns:a16="http://schemas.microsoft.com/office/drawing/2014/main" id="{0845E22C-36BD-4124-9C45-3B6693A20F35}"/>
              </a:ext>
            </a:extLst>
          </p:cNvPr>
          <p:cNvSpPr/>
          <p:nvPr/>
        </p:nvSpPr>
        <p:spPr>
          <a:xfrm>
            <a:off x="6522720" y="4012019"/>
            <a:ext cx="415168" cy="27982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BBFA8-E7B9-4F1A-B593-C31E5067047E}"/>
              </a:ext>
            </a:extLst>
          </p:cNvPr>
          <p:cNvSpPr txBox="1"/>
          <p:nvPr/>
        </p:nvSpPr>
        <p:spPr>
          <a:xfrm>
            <a:off x="543208" y="5260063"/>
            <a:ext cx="672794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100"/>
              <a:t>실제 강화학습은 무엇을 학습시킬때 </a:t>
            </a:r>
            <a:r>
              <a:rPr lang="en-US" altLang="ko-KR" sz="1100"/>
              <a:t>rewar</a:t>
            </a:r>
            <a:r>
              <a:rPr lang="ko-KR" altLang="en-US" sz="1100"/>
              <a:t>와 </a:t>
            </a:r>
            <a:r>
              <a:rPr lang="en-US" altLang="ko-KR" sz="1100"/>
              <a:t>state transition probabilit</a:t>
            </a:r>
            <a:r>
              <a:rPr lang="ko-KR" altLang="en-US" sz="1100"/>
              <a:t>를 미리 알 수 없다</a:t>
            </a:r>
            <a:r>
              <a:rPr lang="en-US" altLang="ko-KR" sz="1100"/>
              <a:t>.</a:t>
            </a:r>
          </a:p>
          <a:p>
            <a:pPr algn="l"/>
            <a:r>
              <a:rPr lang="ko-KR" altLang="en-US" sz="1100"/>
              <a:t>경험을 통해 알아가는것 이러한 정보를 다 알때 </a:t>
            </a:r>
            <a:r>
              <a:rPr lang="en-US" altLang="ko-KR" sz="1100"/>
              <a:t>MDP</a:t>
            </a:r>
            <a:r>
              <a:rPr lang="ko-KR" altLang="en-US" sz="1100"/>
              <a:t>를 모두 안다고 표현하는것이며 </a:t>
            </a:r>
            <a:r>
              <a:rPr lang="en-US" altLang="ko-KR" sz="1100"/>
              <a:t>MODEL</a:t>
            </a:r>
            <a:r>
              <a:rPr lang="ko-KR" altLang="en-US" sz="1100"/>
              <a:t>이라고한다</a:t>
            </a:r>
            <a:endParaRPr lang="en-US" altLang="ko-KR" sz="1100"/>
          </a:p>
          <a:p>
            <a:pPr algn="l"/>
            <a:r>
              <a:rPr lang="ko-KR" altLang="en-US" sz="1100"/>
              <a:t>강화학습의 큰 특징은 </a:t>
            </a:r>
            <a:r>
              <a:rPr lang="en-US" altLang="ko-KR" sz="1100"/>
              <a:t>MDP</a:t>
            </a:r>
            <a:r>
              <a:rPr lang="ko-KR" altLang="en-US" sz="1100"/>
              <a:t>의 </a:t>
            </a:r>
            <a:r>
              <a:rPr lang="en-US" altLang="ko-KR" sz="1100"/>
              <a:t>MODEL</a:t>
            </a:r>
            <a:r>
              <a:rPr lang="ko-KR" altLang="en-US" sz="1100"/>
              <a:t>을 몰라도 학습할 수 있다는 것</a:t>
            </a:r>
          </a:p>
        </p:txBody>
      </p:sp>
    </p:spTree>
    <p:extLst>
      <p:ext uri="{BB962C8B-B14F-4D97-AF65-F5344CB8AC3E}">
        <p14:creationId xmlns:p14="http://schemas.microsoft.com/office/powerpoint/2010/main" val="2783157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0022CEE-A0C5-4F3D-B778-E08D193C5D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sz="1600">
                <a:latin typeface="+mn-ea"/>
              </a:rPr>
              <a:t>Bellman Expectation Equation</a:t>
            </a:r>
            <a:endParaRPr lang="ko-KR" altLang="en-US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055CC03-0A00-4382-9990-794820AFA894}"/>
              </a:ext>
            </a:extLst>
          </p:cNvPr>
          <p:cNvGrpSpPr/>
          <p:nvPr/>
        </p:nvGrpSpPr>
        <p:grpSpPr>
          <a:xfrm>
            <a:off x="3137852" y="1171575"/>
            <a:ext cx="3513455" cy="2973705"/>
            <a:chOff x="2445385" y="1171575"/>
            <a:chExt cx="4762500" cy="413385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834D9C2-3B91-493D-BE69-74892E0969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5385" y="1171575"/>
              <a:ext cx="4762500" cy="4133850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35EF64BE-44D6-4693-B167-2CB917663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01624" y="1334525"/>
              <a:ext cx="778808" cy="1044180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18CA1-C7DE-478B-A1B7-745B712565F6}"/>
                  </a:ext>
                </a:extLst>
              </p:cNvPr>
              <p:cNvSpPr txBox="1"/>
              <p:nvPr/>
            </p:nvSpPr>
            <p:spPr>
              <a:xfrm>
                <a:off x="618534" y="3863340"/>
                <a:ext cx="7726680" cy="27386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 algn="l">
                  <a:buFont typeface="Arial" panose="020B0604020202020204" pitchFamily="34" charset="0"/>
                  <a:buChar char="•"/>
                </a:pPr>
                <a:r>
                  <a:rPr lang="ko-KR" altLang="en-US" sz="1200">
                    <a:latin typeface="+mn-ea"/>
                  </a:rPr>
                  <a:t>풀이</a:t>
                </a:r>
                <a:r>
                  <a:rPr lang="en-US" altLang="ko-KR" sz="1200">
                    <a:latin typeface="+mn-ea"/>
                  </a:rPr>
                  <a:t>(4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)</a:t>
                </a:r>
                <a:r>
                  <a:rPr lang="ko-KR" altLang="en-US" sz="1200">
                    <a:latin typeface="+mn-ea"/>
                  </a:rPr>
                  <a:t> 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     -  </a:t>
                </a:r>
                <a14:m>
                  <m:oMath xmlns:m="http://schemas.openxmlformats.org/officeDocument/2006/math">
                    <m:r>
                      <a:rPr lang="ko-KR" altLang="en-US" sz="12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=1,  </m:t>
                    </m:r>
                    <m:r>
                      <a:rPr lang="ko-KR" altLang="en-US" sz="12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      -  Study</a:t>
                </a:r>
                <a:r>
                  <a:rPr lang="ko-KR" altLang="en-US" sz="1200">
                    <a:latin typeface="+mn-ea"/>
                  </a:rPr>
                  <a:t>와 </a:t>
                </a:r>
                <a:r>
                  <a:rPr lang="en-US" altLang="ko-KR" sz="1200">
                    <a:latin typeface="+mn-ea"/>
                  </a:rPr>
                  <a:t>Pub</a:t>
                </a:r>
                <a:r>
                  <a:rPr lang="ko-KR" altLang="en-US" sz="1200">
                    <a:latin typeface="+mn-ea"/>
                  </a:rPr>
                  <a:t> 두가지 행동이 존재</a:t>
                </a:r>
                <a:endParaRPr lang="en-US" altLang="ko-KR" sz="1200">
                  <a:latin typeface="+mn-ea"/>
                </a:endParaRPr>
              </a:p>
              <a:p>
                <a:pPr algn="l"/>
                <a:endParaRPr lang="en-US" altLang="ko-KR" sz="1200">
                  <a:latin typeface="+mn-ea"/>
                </a:endParaRPr>
              </a:p>
              <a:p>
                <a:pPr algn="l"/>
                <a:r>
                  <a:rPr lang="ko-KR" altLang="en-US" sz="1200">
                    <a:latin typeface="+mn-ea"/>
                  </a:rPr>
                  <a:t>     </a:t>
                </a:r>
                <a:r>
                  <a:rPr lang="en-US" altLang="ko-KR" sz="1200">
                    <a:latin typeface="+mn-ea"/>
                  </a:rPr>
                  <a:t>1) Study</a:t>
                </a:r>
                <a:r>
                  <a:rPr lang="ko-KR" altLang="en-US" sz="1200">
                    <a:latin typeface="+mn-ea"/>
                  </a:rPr>
                  <a:t>의 경우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:r>
                  <a:rPr lang="ko-KR" altLang="en-US" sz="1200">
                    <a:latin typeface="+mn-ea"/>
                  </a:rPr>
                  <a:t>다음 </a:t>
                </a:r>
                <a:r>
                  <a:rPr lang="en-US" altLang="ko-KR" sz="1200">
                    <a:latin typeface="+mn-ea"/>
                  </a:rPr>
                  <a:t>state</a:t>
                </a:r>
                <a:r>
                  <a:rPr lang="ko-KR" altLang="en-US" sz="1200">
                    <a:latin typeface="+mn-ea"/>
                  </a:rPr>
                  <a:t>의 위치가 종점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=10, </m:t>
                    </m:r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=&gt;  0.5(10+1*1*0)=5</a:t>
                </a:r>
              </a:p>
              <a:p>
                <a:pPr algn="l"/>
                <a:r>
                  <a:rPr lang="en-US" altLang="ko-KR" sz="1200">
                    <a:latin typeface="+mn-ea"/>
                  </a:rPr>
                  <a:t>     2) Pub</a:t>
                </a:r>
                <a:r>
                  <a:rPr lang="ko-KR" altLang="en-US" sz="1200">
                    <a:latin typeface="+mn-ea"/>
                  </a:rPr>
                  <a:t>인 경우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:r>
                  <a:rPr lang="ko-KR" altLang="en-US" sz="1200">
                    <a:latin typeface="+mn-ea"/>
                  </a:rPr>
                  <a:t>다음 </a:t>
                </a:r>
                <a:r>
                  <a:rPr lang="en-US" altLang="ko-KR" sz="1200">
                    <a:latin typeface="+mn-ea"/>
                  </a:rPr>
                  <a:t>state</a:t>
                </a:r>
                <a:r>
                  <a:rPr lang="ko-KR" altLang="en-US" sz="1200">
                    <a:latin typeface="+mn-ea"/>
                  </a:rPr>
                  <a:t>가 </a:t>
                </a:r>
                <a:r>
                  <a:rPr lang="en-US" altLang="ko-KR" sz="1200">
                    <a:latin typeface="+mn-ea"/>
                  </a:rPr>
                  <a:t>(2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,3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,4</a:t>
                </a:r>
                <a:r>
                  <a:rPr lang="ko-KR" altLang="en-US" sz="1200">
                    <a:latin typeface="+mn-ea"/>
                  </a:rPr>
                  <a:t>번</a:t>
                </a:r>
                <a:r>
                  <a:rPr lang="en-US" altLang="ko-KR" sz="1200">
                    <a:latin typeface="+mn-ea"/>
                  </a:rPr>
                  <a:t>)</a:t>
                </a:r>
                <a:r>
                  <a:rPr lang="ko-KR" altLang="en-US" sz="1200">
                    <a:latin typeface="+mn-ea"/>
                  </a:rPr>
                  <a:t>존재</a:t>
                </a:r>
                <a:endParaRPr lang="en-US" altLang="ko-KR" sz="1200">
                  <a:latin typeface="+mn-ea"/>
                </a:endParaRPr>
              </a:p>
              <a:p>
                <a:pPr algn="l"/>
                <a:r>
                  <a:rPr lang="en-US" altLang="ko-KR" sz="1200">
                    <a:latin typeface="+mn-ea"/>
                  </a:rPr>
                  <a:t>	-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sz="120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s’=2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=0.2,,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−1.3</m:t>
                    </m:r>
                  </m:oMath>
                </a14:m>
                <a:endParaRPr lang="en-US" altLang="ko-KR" sz="1200" b="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s’=3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2.7</m:t>
                    </m:r>
                  </m:oMath>
                </a14:m>
                <a:endParaRPr lang="en-US" altLang="ko-KR" sz="1200" b="0">
                  <a:latin typeface="+mn-ea"/>
                </a:endParaRPr>
              </a:p>
              <a:p>
                <a:r>
                  <a:rPr lang="en-US" altLang="ko-KR" sz="1200">
                    <a:latin typeface="+mn-ea"/>
                  </a:rPr>
                  <a:t>	s’=4</a:t>
                </a:r>
                <a:r>
                  <a:rPr lang="ko-KR" altLang="en-US" sz="1200">
                    <a:latin typeface="+mn-ea"/>
                  </a:rPr>
                  <a:t>번일 경우</a:t>
                </a:r>
                <a:r>
                  <a:rPr lang="en-US" altLang="ko-KR" sz="1200">
                    <a:latin typeface="+mn-ea"/>
                  </a:rPr>
                  <a:t>,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bSup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=0.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altLang="ko-KR" sz="1200" i="1">
                        <a:latin typeface="Cambria Math" panose="02040503050406030204" pitchFamily="18" charset="0"/>
                      </a:rPr>
                      <m:t>,, </m:t>
                    </m:r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1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7.4</m:t>
                    </m:r>
                  </m:oMath>
                </a14:m>
                <a:r>
                  <a:rPr lang="en-US" altLang="ko-KR" sz="1200">
                    <a:latin typeface="+mn-ea"/>
                  </a:rPr>
                  <a:t>	</a:t>
                </a:r>
                <a:endParaRPr lang="ko-KR" altLang="en-US" sz="1200">
                  <a:latin typeface="+mn-ea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FB18CA1-C7DE-478B-A1B7-745B71256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534" y="3863340"/>
                <a:ext cx="7726680" cy="2738698"/>
              </a:xfrm>
              <a:prstGeom prst="rect">
                <a:avLst/>
              </a:prstGeom>
              <a:blipFill>
                <a:blip r:embed="rId4"/>
                <a:stretch>
                  <a:fillRect t="-223" b="-2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A7834D-667D-4C03-A8D6-305F022EA614}"/>
                  </a:ext>
                </a:extLst>
              </p:cNvPr>
              <p:cNvSpPr txBox="1"/>
              <p:nvPr/>
            </p:nvSpPr>
            <p:spPr>
              <a:xfrm>
                <a:off x="3520606" y="4410727"/>
                <a:ext cx="4629150" cy="764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ko-KR" altLang="en-US" sz="1800" b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r>
                            <a:rPr lang="ko-KR" altLang="en-US" sz="18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1" smtClean="0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bSup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r>
                            <a:rPr lang="ko-KR" altLang="en-US" sz="1800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ko-KR" alt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  <m:sup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sup>
                              </m:sSub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ko-KR" altLang="en-US" sz="1800" b="0" i="1" smtClean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nary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BA7834D-667D-4C03-A8D6-305F022EA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606" y="4410727"/>
                <a:ext cx="4629150" cy="7645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D29439FE-DCFE-409C-B511-F74ACEE91BA0}"/>
              </a:ext>
            </a:extLst>
          </p:cNvPr>
          <p:cNvSpPr/>
          <p:nvPr/>
        </p:nvSpPr>
        <p:spPr>
          <a:xfrm>
            <a:off x="4052527" y="6110395"/>
            <a:ext cx="701040" cy="3886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D4D211-B3AE-48AF-93B5-24453A742ECA}"/>
                  </a:ext>
                </a:extLst>
              </p:cNvPr>
              <p:cNvSpPr txBox="1"/>
              <p:nvPr/>
            </p:nvSpPr>
            <p:spPr>
              <a:xfrm>
                <a:off x="5095071" y="5799412"/>
                <a:ext cx="3606757" cy="6219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en-US" altLang="ko-KR" sz="1100" b="0">
                    <a:latin typeface="Cambria Math" panose="02040503050406030204" pitchFamily="18" charset="0"/>
                  </a:rPr>
                  <a:t>1. 0.5(10+1*1*0) = 5</a:t>
                </a:r>
              </a:p>
              <a:p>
                <a:pPr algn="l"/>
                <a:r>
                  <a:rPr lang="en-US" altLang="ko-KR" sz="1100" b="0"/>
                  <a:t>2. </a:t>
                </a:r>
                <a14:m>
                  <m:oMath xmlns:m="http://schemas.openxmlformats.org/officeDocument/2006/math"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0.5</m:t>
                    </m:r>
                    <m:d>
                      <m:dPr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100" b="0" i="0" smtClean="0">
                            <a:latin typeface="Cambria Math" panose="02040503050406030204" pitchFamily="18" charset="0"/>
                          </a:rPr>
                          <m:t>1+1∗</m:t>
                        </m:r>
                        <m:d>
                          <m:dPr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sz="1100" b="0" i="0" smtClean="0">
                                <a:latin typeface="Cambria Math" panose="02040503050406030204" pitchFamily="18" charset="0"/>
                              </a:rPr>
                              <m:t>0.2∗−1.3+0.4∗2.7+0.4∗7.4</m:t>
                            </m:r>
                          </m:e>
                        </m:d>
                      </m:e>
                    </m:d>
                    <m:r>
                      <a:rPr lang="en-US" altLang="ko-KR" sz="1100" b="0" i="0" smtClean="0">
                        <a:latin typeface="Cambria Math" panose="02040503050406030204" pitchFamily="18" charset="0"/>
                      </a:rPr>
                      <m:t>=2.39</m:t>
                    </m:r>
                  </m:oMath>
                </a14:m>
                <a:endParaRPr lang="en-US" altLang="ko-KR" sz="1100"/>
              </a:p>
              <a:p>
                <a:pPr algn="l"/>
                <a:r>
                  <a:rPr lang="en-US" altLang="ko-KR" sz="1100"/>
                  <a:t>=&gt; S 5+2.39 =7.4</a:t>
                </a:r>
                <a:endParaRPr lang="ko-KR" altLang="en-US" sz="110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ED4D211-B3AE-48AF-93B5-24453A742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5071" y="5799412"/>
                <a:ext cx="3606757" cy="621965"/>
              </a:xfrm>
              <a:prstGeom prst="rect">
                <a:avLst/>
              </a:prstGeom>
              <a:blipFill>
                <a:blip r:embed="rId6"/>
                <a:stretch>
                  <a:fillRect t="-980" b="-588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FCE02316-CB8D-4AED-B8BC-06AF7AB8EBD8}"/>
              </a:ext>
            </a:extLst>
          </p:cNvPr>
          <p:cNvSpPr txBox="1"/>
          <p:nvPr/>
        </p:nvSpPr>
        <p:spPr>
          <a:xfrm>
            <a:off x="400050" y="1157989"/>
            <a:ext cx="3055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>
                <a:latin typeface="+mn-ea"/>
              </a:rPr>
              <a:t>&lt;Bellman Expectation Equation</a:t>
            </a:r>
            <a:r>
              <a:rPr lang="ko-KR" altLang="en-US" sz="1200">
                <a:latin typeface="+mn-ea"/>
              </a:rPr>
              <a:t>의 예제</a:t>
            </a:r>
            <a:r>
              <a:rPr lang="en-US" altLang="ko-KR" sz="1200">
                <a:latin typeface="+mn-ea"/>
              </a:rPr>
              <a:t> &gt;</a:t>
            </a:r>
          </a:p>
        </p:txBody>
      </p:sp>
    </p:spTree>
    <p:extLst>
      <p:ext uri="{BB962C8B-B14F-4D97-AF65-F5344CB8AC3E}">
        <p14:creationId xmlns:p14="http://schemas.microsoft.com/office/powerpoint/2010/main" val="4208582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AABE52A-E19B-4157-8328-FFC2D3BE476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buNone/>
            </a:pPr>
            <a:r>
              <a:rPr lang="en-US" altLang="ko-KR"/>
              <a:t>Bellman Optimality Equation</a:t>
            </a:r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E7CF6-9BCF-4E2A-800E-5C352AB7D881}"/>
              </a:ext>
            </a:extLst>
          </p:cNvPr>
          <p:cNvSpPr txBox="1"/>
          <p:nvPr/>
        </p:nvSpPr>
        <p:spPr>
          <a:xfrm>
            <a:off x="444616" y="1192208"/>
            <a:ext cx="825476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latin typeface="+mn-ea"/>
              </a:rPr>
              <a:t>&lt;Bellman Optimality Equation&gt;</a:t>
            </a:r>
          </a:p>
          <a:p>
            <a:r>
              <a:rPr lang="en-US" altLang="ko-KR" sz="1200">
                <a:latin typeface="+mn-ea"/>
              </a:rPr>
              <a:t> - optimal policy</a:t>
            </a:r>
            <a:r>
              <a:rPr lang="ko-KR" altLang="en-US" sz="1200">
                <a:latin typeface="+mn-ea"/>
              </a:rPr>
              <a:t>를 따르는 </a:t>
            </a:r>
            <a:r>
              <a:rPr lang="en-US" altLang="ko-KR" sz="1200">
                <a:latin typeface="+mn-ea"/>
              </a:rPr>
              <a:t>bellman equation</a:t>
            </a:r>
            <a:r>
              <a:rPr lang="ko-KR" altLang="en-US" sz="1200">
                <a:latin typeface="+mn-ea"/>
              </a:rPr>
              <a:t>으로 최대의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 갖는 </a:t>
            </a:r>
            <a:r>
              <a:rPr lang="en-US" altLang="ko-KR" sz="1200">
                <a:latin typeface="+mn-ea"/>
              </a:rPr>
              <a:t>value function(max</a:t>
            </a:r>
            <a:r>
              <a:rPr lang="ko-KR" altLang="en-US" sz="1200">
                <a:latin typeface="+mn-ea"/>
              </a:rPr>
              <a:t>적용</a:t>
            </a:r>
            <a:r>
              <a:rPr lang="en-US" altLang="ko-KR" sz="1200">
                <a:latin typeface="+mn-ea"/>
              </a:rPr>
              <a:t>)</a:t>
            </a: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state value function</a:t>
            </a:r>
          </a:p>
          <a:p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에서 </a:t>
            </a:r>
            <a:r>
              <a:rPr lang="en-US" altLang="ko-KR" sz="1200">
                <a:latin typeface="+mn-ea"/>
              </a:rPr>
              <a:t>polic</a:t>
            </a:r>
            <a:r>
              <a:rPr lang="ko-KR" altLang="en-US" sz="1200">
                <a:latin typeface="+mn-ea"/>
              </a:rPr>
              <a:t>에 따라서 앞으로 받을 </a:t>
            </a:r>
            <a:r>
              <a:rPr lang="en-US" altLang="ko-KR" sz="1200">
                <a:latin typeface="+mn-ea"/>
              </a:rPr>
              <a:t>reward </a:t>
            </a:r>
            <a:r>
              <a:rPr lang="ko-KR" altLang="en-US" sz="1200">
                <a:latin typeface="+mn-ea"/>
              </a:rPr>
              <a:t>중 가장 높은 </a:t>
            </a:r>
            <a:r>
              <a:rPr lang="en-US" altLang="ko-KR" sz="1200">
                <a:latin typeface="+mn-ea"/>
              </a:rPr>
              <a:t>reward</a:t>
            </a:r>
            <a:r>
              <a:rPr lang="ko-KR" altLang="en-US" sz="1200">
                <a:latin typeface="+mn-ea"/>
              </a:rPr>
              <a:t>를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받을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r>
              <a:rPr lang="en-US" altLang="ko-KR" sz="1200">
                <a:latin typeface="+mn-ea"/>
              </a:rPr>
              <a:t>Optimal action value function</a:t>
            </a:r>
          </a:p>
          <a:p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(s,a)</a:t>
            </a:r>
            <a:r>
              <a:rPr lang="ko-KR" altLang="en-US" sz="1200">
                <a:latin typeface="+mn-ea"/>
              </a:rPr>
              <a:t>에서 얻을 수 있는 최대 </a:t>
            </a:r>
            <a:r>
              <a:rPr lang="en-US" altLang="ko-KR" sz="1200">
                <a:latin typeface="+mn-ea"/>
              </a:rPr>
              <a:t>value function</a:t>
            </a: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pPr marL="228600" indent="-228600">
              <a:buAutoNum type="arabicParenR"/>
            </a:pPr>
            <a:endParaRPr lang="en-US" altLang="ko-KR" sz="1200">
              <a:latin typeface="+mn-ea"/>
            </a:endParaRPr>
          </a:p>
          <a:p>
            <a:r>
              <a:rPr lang="en-US" altLang="ko-KR" sz="1200">
                <a:latin typeface="+mn-ea"/>
              </a:rPr>
              <a:t> 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4">
                <a:extLst>
                  <a:ext uri="{FF2B5EF4-FFF2-40B4-BE49-F238E27FC236}">
                    <a16:creationId xmlns:a16="http://schemas.microsoft.com/office/drawing/2014/main" id="{14B29DAA-0AA2-4AD4-A82D-8819752E970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54954822"/>
                  </p:ext>
                </p:extLst>
              </p:nvPr>
            </p:nvGraphicFramePr>
            <p:xfrm>
              <a:off x="1846580" y="1961937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7902762"/>
                  </p:ext>
                </p:extLst>
              </p:nvPr>
            </p:nvGraphicFramePr>
            <p:xfrm>
              <a:off x="1909342" y="2668799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384211">
                    <a:tc>
                      <a:txBody>
                        <a:bodyPr/>
                        <a:lstStyle/>
                        <a:p>
                          <a:pPr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= 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limLow>
                                      <m:limLow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limLow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atin typeface="Cambria Math" panose="02040503050406030204" pitchFamily="18" charset="0"/>
                                          </a:rPr>
                                          <m:t>max</m:t>
                                        </m:r>
                                      </m:e>
                                      <m:lim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lim>
                                    </m:limLow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ko-KR" altLang="en-US" b="0" i="1" smtClean="0">
                                            <a:latin typeface="Cambria Math" panose="02040503050406030204" pitchFamily="18" charset="0"/>
                                          </a:rPr>
                                          <m:t>𝜋</m:t>
                                        </m:r>
                                      </m:sub>
                                    </m:sSub>
                                  </m:e>
                                </m:func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3BB765CC-5BCA-426D-83AD-7630E27DC35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67902762"/>
                  </p:ext>
                </p:extLst>
              </p:nvPr>
            </p:nvGraphicFramePr>
            <p:xfrm>
              <a:off x="1909342" y="2668799"/>
              <a:ext cx="6096000" cy="45034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6096000">
                      <a:extLst>
                        <a:ext uri="{9D8B030D-6E8A-4147-A177-3AD203B41FA5}">
                          <a16:colId xmlns:a16="http://schemas.microsoft.com/office/drawing/2014/main" val="3102476127"/>
                        </a:ext>
                      </a:extLst>
                    </a:gridCol>
                  </a:tblGrid>
                  <a:tr h="450342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5950623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E48D6658-26F5-A516-7DA7-E731ED87E341}"/>
              </a:ext>
            </a:extLst>
          </p:cNvPr>
          <p:cNvSpPr txBox="1"/>
          <p:nvPr/>
        </p:nvSpPr>
        <p:spPr>
          <a:xfrm>
            <a:off x="444616" y="2903888"/>
            <a:ext cx="7426453" cy="377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&lt;Bellman Optimality Equation </a:t>
            </a:r>
            <a:r>
              <a:rPr lang="ko-KR" altLang="en-US" sz="1200" dirty="0">
                <a:latin typeface="+mn-ea"/>
              </a:rPr>
              <a:t>예제</a:t>
            </a:r>
            <a:r>
              <a:rPr lang="en-US" altLang="ko-KR" sz="1200" dirty="0">
                <a:latin typeface="+mn-ea"/>
              </a:rPr>
              <a:t>&gt;</a:t>
            </a:r>
          </a:p>
          <a:p>
            <a:r>
              <a:rPr lang="en-US" altLang="ko-KR" sz="1200" dirty="0">
                <a:latin typeface="+mn-ea"/>
              </a:rPr>
              <a:t>  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3AED37-CB5A-88F2-83C7-CE8B45E2D7D9}"/>
              </a:ext>
            </a:extLst>
          </p:cNvPr>
          <p:cNvSpPr txBox="1"/>
          <p:nvPr/>
        </p:nvSpPr>
        <p:spPr>
          <a:xfrm>
            <a:off x="900649" y="6106143"/>
            <a:ext cx="7087197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Tx/>
              <a:buChar char="-"/>
            </a:pPr>
            <a:r>
              <a:rPr lang="en-US" altLang="ko-KR" sz="1100"/>
              <a:t>Graph</a:t>
            </a:r>
            <a:r>
              <a:rPr lang="ko-KR" altLang="en-US" sz="1100"/>
              <a:t>를 살펴보면</a:t>
            </a:r>
            <a:r>
              <a:rPr lang="en-US" altLang="ko-KR" sz="1100"/>
              <a:t>, state</a:t>
            </a:r>
            <a:r>
              <a:rPr lang="ko-KR" altLang="en-US" sz="1100"/>
              <a:t>입장에서 </a:t>
            </a:r>
            <a:r>
              <a:rPr lang="en-US" altLang="ko-KR" sz="1100"/>
              <a:t>optimal action-value function </a:t>
            </a:r>
            <a:r>
              <a:rPr lang="ko-KR" altLang="en-US" sz="1100"/>
              <a:t>중에서 가장 큰 값은 </a:t>
            </a:r>
            <a:r>
              <a:rPr lang="en-US" altLang="ko-KR" sz="1100"/>
              <a:t>10</a:t>
            </a:r>
            <a:r>
              <a:rPr lang="ko-KR" altLang="en-US" sz="1100"/>
              <a:t>이며 그것이 </a:t>
            </a:r>
            <a:r>
              <a:rPr lang="en-US" altLang="ko-KR" sz="1100"/>
              <a:t>optimal policy</a:t>
            </a:r>
          </a:p>
          <a:p>
            <a:pPr marL="171450" indent="-171450" algn="l">
              <a:buFontTx/>
              <a:buChar char="-"/>
            </a:pPr>
            <a:r>
              <a:rPr lang="en-US" altLang="ko-KR" sz="1100"/>
              <a:t>Optimal polic</a:t>
            </a:r>
            <a:r>
              <a:rPr lang="ko-KR" altLang="en-US" sz="1100"/>
              <a:t>는 </a:t>
            </a:r>
            <a:r>
              <a:rPr lang="en-US" altLang="ko-KR" sz="1100"/>
              <a:t>Quit -&gt; </a:t>
            </a:r>
            <a:r>
              <a:rPr lang="ko-KR" altLang="en-US" sz="1100"/>
              <a:t> </a:t>
            </a:r>
            <a:r>
              <a:rPr lang="en-US" altLang="ko-KR" sz="1100"/>
              <a:t>study -&gt; study -&gt; study</a:t>
            </a:r>
            <a:r>
              <a:rPr lang="ko-KR" altLang="en-US" sz="1100"/>
              <a:t>임</a:t>
            </a:r>
            <a:endParaRPr lang="en-US" altLang="ko-KR" sz="1100"/>
          </a:p>
          <a:p>
            <a:pPr marL="171450" indent="-171450" algn="l">
              <a:buFontTx/>
              <a:buChar char="-"/>
            </a:pPr>
            <a:r>
              <a:rPr lang="ko-KR" altLang="en-US" sz="1100"/>
              <a:t>이선들을 찾는 것이 강화학습 목적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E485043-EFF4-4319-ADBA-5232429CD2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1141" y="3216410"/>
            <a:ext cx="3975960" cy="282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3657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1EC5E0-A389-42DA-A030-908D7C4B80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/>
              <a:t>참조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7B7F54-F341-4D1B-9711-03ED3CE1AC20}"/>
              </a:ext>
            </a:extLst>
          </p:cNvPr>
          <p:cNvSpPr txBox="1"/>
          <p:nvPr/>
        </p:nvSpPr>
        <p:spPr>
          <a:xfrm>
            <a:off x="536895" y="1719743"/>
            <a:ext cx="8179266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100">
                <a:hlinkClick r:id="rId2"/>
              </a:rPr>
              <a:t>https://dnddnjs.gitbooks.io/rl/content/example.html</a:t>
            </a:r>
            <a:endParaRPr lang="en-US" altLang="ko-KR" sz="1100"/>
          </a:p>
          <a:p>
            <a:pPr algn="l"/>
            <a:r>
              <a:rPr lang="en-US" altLang="ko-KR" sz="1100">
                <a:hlinkClick r:id="rId3"/>
              </a:rPr>
              <a:t>https://brunch.co.kr/@mnc/14</a:t>
            </a:r>
            <a:endParaRPr lang="en-US" altLang="ko-KR" sz="1100"/>
          </a:p>
          <a:p>
            <a:pPr algn="l"/>
            <a:r>
              <a:rPr lang="en-US" altLang="ko-KR" sz="1100">
                <a:hlinkClick r:id="rId4"/>
              </a:rPr>
              <a:t>https://sumniya.tistory.com/3</a:t>
            </a:r>
            <a:endParaRPr lang="en-US" altLang="ko-KR" sz="1100"/>
          </a:p>
          <a:p>
            <a:pPr algn="l"/>
            <a:r>
              <a:rPr lang="en-US" altLang="ko-KR" sz="1100">
                <a:hlinkClick r:id="rId5"/>
              </a:rPr>
              <a:t>https://skidrow6122.tistory.com/entry/3-Bellman-Equation-and-Optimality</a:t>
            </a:r>
            <a:endParaRPr lang="en-US" altLang="ko-KR" sz="1100"/>
          </a:p>
          <a:p>
            <a:pPr algn="l"/>
            <a:r>
              <a:rPr lang="en-US" altLang="ko-KR" sz="1100">
                <a:hlinkClick r:id="rId6"/>
              </a:rPr>
              <a:t>https://ai-sinq.tistory.com/entry/Bellman-Equation%EB%B2%A8%EB%A7%8C-%EB%B0%A9%EC%A0%95%EC%8B%9D</a:t>
            </a:r>
            <a:endParaRPr lang="en-US" altLang="ko-KR" sz="1100"/>
          </a:p>
          <a:p>
            <a:pPr algn="l"/>
            <a:r>
              <a:rPr lang="en-US" altLang="ko-KR" sz="1100">
                <a:hlinkClick r:id="rId7"/>
              </a:rPr>
              <a:t>https://blog.naver.com/PostView.naver?blogId=kryj9625&amp;logNo=221769935372&amp;categoryNo=15&amp;parentCategoryNo=0&amp;viewDate=&amp;currentPage=1&amp;postListTopCurrentPage=1&amp;from=postView</a:t>
            </a:r>
            <a:endParaRPr lang="en-US" altLang="ko-KR" sz="1100"/>
          </a:p>
          <a:p>
            <a:pPr algn="l"/>
            <a:r>
              <a:rPr lang="en-US" altLang="ko-KR" sz="1100">
                <a:hlinkClick r:id="rId8"/>
              </a:rPr>
              <a:t>https://information.koreainfoguide.com/entry/Lecture-2-Markov-Decision-Process</a:t>
            </a:r>
            <a:endParaRPr lang="en-US" altLang="ko-KR" sz="1100"/>
          </a:p>
          <a:p>
            <a:pPr algn="l"/>
            <a:r>
              <a:rPr lang="en-US" altLang="ko-KR" sz="1100">
                <a:hlinkClick r:id="rId9"/>
              </a:rPr>
              <a:t>https://velog.io/@sjinu/%EA%B0%9C%EB%85%90%EC%A0%95%EB%A6%AC-2.-Markov-Decision-ProcessesMDPs</a:t>
            </a:r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  <a:p>
            <a:pPr algn="l"/>
            <a:endParaRPr lang="en-US" altLang="ko-KR" sz="1100"/>
          </a:p>
        </p:txBody>
      </p:sp>
    </p:spTree>
    <p:extLst>
      <p:ext uri="{BB962C8B-B14F-4D97-AF65-F5344CB8AC3E}">
        <p14:creationId xmlns:p14="http://schemas.microsoft.com/office/powerpoint/2010/main" val="1098788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9489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Bellman Equation</a:t>
            </a:r>
          </a:p>
          <a:p>
            <a:pPr>
              <a:buNone/>
              <a:defRPr/>
            </a:pPr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44616" y="1333758"/>
            <a:ext cx="8254767" cy="301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latin typeface="+mn-ea"/>
              </a:rPr>
              <a:t>&lt;Bellman Equation&gt;</a:t>
            </a:r>
          </a:p>
          <a:p>
            <a:pPr lvl="0">
              <a:defRPr/>
            </a:pP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-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MDP</a:t>
            </a:r>
            <a:r>
              <a:rPr lang="ko-KR" altLang="en-US" sz="1200">
                <a:latin typeface="+mn-ea"/>
              </a:rPr>
              <a:t>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들 사이에는 어떠한 연관성을 식으로 나타냄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각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기대값을 얻음으로 인해 모두 계산하여 최적의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찾는 과정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Bellman Equation</a:t>
            </a:r>
            <a:r>
              <a:rPr lang="ko-KR" altLang="en-US" sz="1200">
                <a:latin typeface="+mn-ea"/>
              </a:rPr>
              <a:t>은 최대의 </a:t>
            </a:r>
            <a:r>
              <a:rPr lang="en-US" altLang="ko-KR" sz="1200">
                <a:latin typeface="+mn-ea"/>
              </a:rPr>
              <a:t>return</a:t>
            </a:r>
            <a:r>
              <a:rPr lang="ko-KR" altLang="en-US" sz="1200">
                <a:latin typeface="+mn-ea"/>
              </a:rPr>
              <a:t>값을 찾는 개념이며 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 관계를 나타내는 방정식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state</a:t>
            </a:r>
            <a:r>
              <a:rPr lang="ko-KR" altLang="en-US" sz="1200">
                <a:latin typeface="+mn-ea"/>
              </a:rPr>
              <a:t>에서의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구하고 업데이트 한 후</a:t>
            </a:r>
            <a:r>
              <a:rPr lang="en-US" altLang="ko-KR" sz="1200">
                <a:latin typeface="+mn-ea"/>
              </a:rPr>
              <a:t>, value</a:t>
            </a:r>
            <a:r>
              <a:rPr lang="ko-KR" altLang="en-US" sz="1200">
                <a:latin typeface="+mn-ea"/>
              </a:rPr>
              <a:t> </a:t>
            </a:r>
            <a:r>
              <a:rPr lang="en-US" altLang="ko-KR" sz="1200">
                <a:latin typeface="+mn-ea"/>
              </a:rPr>
              <a:t>function</a:t>
            </a:r>
            <a:r>
              <a:rPr lang="ko-KR" altLang="en-US" sz="1200">
                <a:latin typeface="+mn-ea"/>
              </a:rPr>
              <a:t>을 다시 구하는 방식을 반복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Bellman Equation</a:t>
            </a:r>
            <a:r>
              <a:rPr lang="ko-KR" altLang="en-US" sz="1200">
                <a:latin typeface="+mn-ea"/>
              </a:rPr>
              <a:t>은 </a:t>
            </a:r>
            <a:r>
              <a:rPr lang="en-US" altLang="ko-KR" sz="1200">
                <a:latin typeface="+mn-ea"/>
              </a:rPr>
              <a:t>Expectation </a:t>
            </a:r>
            <a:r>
              <a:rPr lang="ko-KR" altLang="en-US" sz="1200">
                <a:latin typeface="+mn-ea"/>
              </a:rPr>
              <a:t>과 </a:t>
            </a:r>
            <a:r>
              <a:rPr lang="en-US" altLang="ko-KR" sz="1200">
                <a:latin typeface="+mn-ea"/>
              </a:rPr>
              <a:t>Optimality</a:t>
            </a:r>
            <a:r>
              <a:rPr lang="ko-KR" altLang="en-US" sz="1200">
                <a:latin typeface="+mn-ea"/>
              </a:rPr>
              <a:t> 두 가지 종류가 있음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&lt;Bellman Expectation Equation&gt;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현재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와 다음 </a:t>
            </a:r>
            <a:r>
              <a:rPr lang="en-US" altLang="ko-KR" sz="1200">
                <a:latin typeface="+mn-ea"/>
              </a:rPr>
              <a:t>state’</a:t>
            </a:r>
            <a:r>
              <a:rPr lang="ko-KR" altLang="en-US" sz="1200">
                <a:latin typeface="+mn-ea"/>
              </a:rPr>
              <a:t>간의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 관계를 정의 하며 반복적으로 기대값을 업데이트 함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특정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를 따를 때의 </a:t>
            </a:r>
            <a:r>
              <a:rPr lang="en-US" altLang="ko-KR" sz="1200">
                <a:latin typeface="+mn-ea"/>
              </a:rPr>
              <a:t>value function </a:t>
            </a:r>
            <a:r>
              <a:rPr lang="ko-KR" altLang="en-US" sz="1200">
                <a:latin typeface="+mn-ea"/>
              </a:rPr>
              <a:t>사이의 관계를 의미하고 모든 </a:t>
            </a:r>
            <a:r>
              <a:rPr lang="en-US" altLang="ko-KR" sz="1200">
                <a:latin typeface="+mn-ea"/>
              </a:rPr>
              <a:t>state</a:t>
            </a:r>
            <a:r>
              <a:rPr lang="ko-KR" altLang="en-US" sz="1200">
                <a:latin typeface="+mn-ea"/>
              </a:rPr>
              <a:t>에 대한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반복적으로 </a:t>
            </a:r>
            <a:br>
              <a:rPr lang="en-US" altLang="ko-KR" sz="1200">
                <a:latin typeface="+mn-ea"/>
              </a:rPr>
            </a:br>
            <a:r>
              <a:rPr lang="en-US" altLang="ko-KR" sz="1200">
                <a:latin typeface="+mn-ea"/>
              </a:rPr>
              <a:t>  </a:t>
            </a:r>
            <a:r>
              <a:rPr lang="ko-KR" altLang="en-US" sz="1200">
                <a:latin typeface="+mn-ea"/>
              </a:rPr>
              <a:t>업데이트하여 </a:t>
            </a:r>
            <a:r>
              <a:rPr lang="en-US" altLang="ko-KR" sz="1200">
                <a:latin typeface="+mn-ea"/>
              </a:rPr>
              <a:t>real value function</a:t>
            </a:r>
            <a:r>
              <a:rPr lang="ko-KR" altLang="en-US" sz="1200">
                <a:latin typeface="+mn-ea"/>
              </a:rPr>
              <a:t>값을 구한다</a:t>
            </a:r>
            <a:r>
              <a:rPr lang="en-US" altLang="ko-KR" sz="1200">
                <a:latin typeface="+mn-ea"/>
              </a:rPr>
              <a:t>.</a:t>
            </a:r>
          </a:p>
          <a:p>
            <a:pPr lvl="0">
              <a:defRPr/>
            </a:pPr>
            <a:endParaRPr lang="en-US" altLang="ko-KR" sz="1200">
              <a:latin typeface="+mn-ea"/>
            </a:endParaRPr>
          </a:p>
          <a:p>
            <a:pPr lvl="0">
              <a:defRPr/>
            </a:pPr>
            <a:r>
              <a:rPr lang="en-US" altLang="ko-KR" sz="1200">
                <a:latin typeface="+mn-ea"/>
              </a:rPr>
              <a:t>&lt;Bellman Optimality Equation&gt;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가장</a:t>
            </a:r>
            <a:r>
              <a:rPr lang="en-US" altLang="ko-KR" sz="1200">
                <a:latin typeface="+mn-ea"/>
              </a:rPr>
              <a:t> </a:t>
            </a:r>
            <a:r>
              <a:rPr lang="ko-KR" altLang="en-US" sz="1200">
                <a:latin typeface="+mn-ea"/>
              </a:rPr>
              <a:t>큰 </a:t>
            </a:r>
            <a:r>
              <a:rPr lang="en-US" altLang="ko-KR" sz="1200">
                <a:latin typeface="+mn-ea"/>
              </a:rPr>
              <a:t>value</a:t>
            </a:r>
            <a:r>
              <a:rPr lang="ko-KR" altLang="en-US" sz="1200">
                <a:latin typeface="+mn-ea"/>
              </a:rPr>
              <a:t>가 높은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을 구하는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이며 </a:t>
            </a:r>
            <a:r>
              <a:rPr lang="en-US" altLang="ko-KR" sz="1200">
                <a:latin typeface="+mn-ea"/>
              </a:rPr>
              <a:t>optimal policy</a:t>
            </a:r>
            <a:r>
              <a:rPr lang="ko-KR" altLang="en-US" sz="1200">
                <a:latin typeface="+mn-ea"/>
              </a:rPr>
              <a:t>라고 함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</a:t>
            </a:r>
            <a:r>
              <a:rPr lang="ko-KR" altLang="en-US" sz="1200">
                <a:latin typeface="+mn-ea"/>
              </a:rPr>
              <a:t>최적의 </a:t>
            </a:r>
            <a:r>
              <a:rPr lang="en-US" altLang="ko-KR" sz="1200">
                <a:latin typeface="+mn-ea"/>
              </a:rPr>
              <a:t>value function</a:t>
            </a:r>
            <a:r>
              <a:rPr lang="ko-KR" altLang="en-US" sz="1200">
                <a:latin typeface="+mn-ea"/>
              </a:rPr>
              <a:t>값을 나타내는 것을 </a:t>
            </a:r>
            <a:r>
              <a:rPr lang="en-US" altLang="ko-KR" sz="1200">
                <a:latin typeface="+mn-ea"/>
              </a:rPr>
              <a:t>optimal value function</a:t>
            </a:r>
            <a:r>
              <a:rPr lang="ko-KR" altLang="en-US" sz="1200">
                <a:latin typeface="+mn-ea"/>
              </a:rPr>
              <a:t>이라 하며 그때의 </a:t>
            </a:r>
            <a:r>
              <a:rPr lang="en-US" altLang="ko-KR" sz="1200">
                <a:latin typeface="+mn-ea"/>
              </a:rPr>
              <a:t>policy</a:t>
            </a:r>
            <a:r>
              <a:rPr lang="ko-KR" altLang="en-US" sz="1200">
                <a:latin typeface="+mn-ea"/>
              </a:rPr>
              <a:t>가 </a:t>
            </a:r>
            <a:r>
              <a:rPr lang="en-US" altLang="ko-KR" sz="1200">
                <a:latin typeface="+mn-ea"/>
              </a:rPr>
              <a:t>optimal policy</a:t>
            </a:r>
          </a:p>
          <a:p>
            <a:pPr lvl="0">
              <a:defRPr/>
            </a:pPr>
            <a:r>
              <a:rPr lang="en-US" altLang="ko-KR" sz="1200">
                <a:latin typeface="+mn-ea"/>
              </a:rPr>
              <a:t> - value function </a:t>
            </a:r>
            <a:r>
              <a:rPr lang="ko-KR" altLang="en-US" sz="1200">
                <a:latin typeface="+mn-ea"/>
              </a:rPr>
              <a:t>사이의 관계식을 </a:t>
            </a:r>
            <a:r>
              <a:rPr lang="en-US" altLang="ko-KR" sz="1200">
                <a:latin typeface="+mn-ea"/>
              </a:rPr>
              <a:t>Bellman Optimality Equation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11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2538</Words>
  <Application>Microsoft Office PowerPoint</Application>
  <PresentationFormat>화면 슬라이드 쇼(4:3)</PresentationFormat>
  <Paragraphs>286</Paragraphs>
  <Slides>18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7" baseType="lpstr">
      <vt:lpstr>Helvetica Neue</vt:lpstr>
      <vt:lpstr>HY견고딕</vt:lpstr>
      <vt:lpstr>맑은 고딕</vt:lpstr>
      <vt:lpstr>Arial</vt:lpstr>
      <vt:lpstr>Arial Black</vt:lpstr>
      <vt:lpstr>Calibri</vt:lpstr>
      <vt:lpstr>Calibri Light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박진용</dc:creator>
  <cp:lastModifiedBy>지훈 김</cp:lastModifiedBy>
  <cp:revision>264</cp:revision>
  <dcterms:modified xsi:type="dcterms:W3CDTF">2023-08-04T03:27:16Z</dcterms:modified>
  <cp:version>1000.0000.01</cp:version>
</cp:coreProperties>
</file>