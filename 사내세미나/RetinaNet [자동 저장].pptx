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8" r:id="rId3"/>
    <p:sldId id="257" r:id="rId4"/>
    <p:sldId id="270" r:id="rId5"/>
    <p:sldId id="272" r:id="rId6"/>
    <p:sldId id="271" r:id="rId7"/>
    <p:sldId id="274" r:id="rId8"/>
    <p:sldId id="273" r:id="rId9"/>
    <p:sldId id="269" r:id="rId10"/>
    <p:sldId id="275" r:id="rId11"/>
    <p:sldId id="258" r:id="rId12"/>
    <p:sldId id="277" r:id="rId13"/>
    <p:sldId id="261" r:id="rId14"/>
    <p:sldId id="267" r:id="rId15"/>
    <p:sldId id="278" r:id="rId16"/>
    <p:sldId id="279" r:id="rId17"/>
    <p:sldId id="281" r:id="rId18"/>
    <p:sldId id="263" r:id="rId19"/>
    <p:sldId id="282" r:id="rId20"/>
    <p:sldId id="264" r:id="rId21"/>
    <p:sldId id="265" r:id="rId22"/>
    <p:sldId id="266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21"/>
    <a:srgbClr val="FFBB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87294" autoAdjust="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607F-4896-4A28-B39C-C68418EA93C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4510-38E3-49AD-8941-101D30EDA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51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https://atonlee.tistory.com/98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https://atonlee.tistory.com/98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994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https://velog.io/@qtly_u/Object-Detection-Architecture-1-or-2-stage-detector-%EC%B0%A8%EC%9D%B4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88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https://better-tomorrow.tistory.com/entry/Selective-Search-%EA%B0%84%EB%8B%A8%ED%9E%88-%EC%A0%95%EB%A6%AC</a:t>
            </a:r>
          </a:p>
          <a:p>
            <a:r>
              <a:rPr lang="en-US" altLang="ko-KR"/>
              <a:t>https://developer-lionhong.tistory.com/31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02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717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빨간색 네모칸을 </a:t>
            </a:r>
            <a:r>
              <a:rPr lang="en-US" altLang="ko-KR"/>
              <a:t>Background Example, </a:t>
            </a:r>
            <a:r>
              <a:rPr lang="ko-KR" altLang="en-US"/>
              <a:t>배경부분을 탐지하는 </a:t>
            </a:r>
            <a:r>
              <a:rPr lang="en-US" altLang="ko-KR"/>
              <a:t>Anchor Box</a:t>
            </a:r>
            <a:r>
              <a:rPr lang="ko-KR" altLang="en-US"/>
              <a:t>들이며 탐지하기 쉽기에 </a:t>
            </a:r>
            <a:r>
              <a:rPr lang="en-US" altLang="ko-KR"/>
              <a:t>Easy Example</a:t>
            </a:r>
            <a:r>
              <a:rPr lang="ko-KR" altLang="en-US"/>
              <a:t>이라고 부르고 </a:t>
            </a:r>
            <a:r>
              <a:rPr lang="en-US" altLang="ko-KR"/>
              <a:t>Object</a:t>
            </a:r>
            <a:r>
              <a:rPr lang="ko-KR" altLang="en-US"/>
              <a:t>영역이 아니므로 </a:t>
            </a:r>
            <a:r>
              <a:rPr lang="en-US" altLang="ko-KR"/>
              <a:t>Negative Example</a:t>
            </a:r>
            <a:r>
              <a:rPr lang="ko-KR" altLang="en-US"/>
              <a:t>이라고도 불린다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파란색 네모칸을 </a:t>
            </a:r>
            <a:r>
              <a:rPr lang="en-US" altLang="ko-KR"/>
              <a:t>Foreground Example, Detection </a:t>
            </a:r>
            <a:r>
              <a:rPr lang="ko-KR" altLang="en-US"/>
              <a:t>대상인 </a:t>
            </a:r>
            <a:r>
              <a:rPr lang="en-US" altLang="ko-KR"/>
              <a:t>Object</a:t>
            </a:r>
            <a:r>
              <a:rPr lang="ko-KR" altLang="en-US"/>
              <a:t>를 나타내기 때문에 탐지하기 어렵기에 </a:t>
            </a:r>
            <a:r>
              <a:rPr lang="en-US" altLang="ko-KR"/>
              <a:t>Hard Example</a:t>
            </a:r>
            <a:r>
              <a:rPr lang="ko-KR" altLang="en-US"/>
              <a:t>이라고 부르고 </a:t>
            </a:r>
            <a:r>
              <a:rPr lang="en-US" altLang="ko-KR"/>
              <a:t>Object</a:t>
            </a:r>
            <a:r>
              <a:rPr lang="ko-KR" altLang="en-US"/>
              <a:t>영역이기 때문에 </a:t>
            </a:r>
            <a:r>
              <a:rPr lang="en-US" altLang="ko-KR"/>
              <a:t>Positive Example</a:t>
            </a:r>
            <a:r>
              <a:rPr lang="ko-KR" altLang="en-US"/>
              <a:t>이라고 불린다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focal loss</a:t>
            </a:r>
            <a:r>
              <a:rPr lang="ko-KR" altLang="en-US"/>
              <a:t>는 간단히 말하면 </a:t>
            </a:r>
            <a:r>
              <a:rPr lang="en-US" altLang="ko-KR"/>
              <a:t>cross</a:t>
            </a:r>
            <a:r>
              <a:rPr lang="ko-KR" altLang="en-US"/>
              <a:t> </a:t>
            </a:r>
            <a:r>
              <a:rPr lang="en-US" altLang="ko-KR"/>
              <a:t>entropy</a:t>
            </a:r>
            <a:r>
              <a:rPr lang="ko-KR" altLang="en-US"/>
              <a:t>의 클래스 불균형 문제를 다루기위해 개선된 버전</a:t>
            </a:r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어렵거나 쉽게 오뷴류되는 케이스에 더 큰 가중치를 주고</a:t>
            </a:r>
            <a:r>
              <a:rPr lang="en-US" altLang="ko-KR"/>
              <a:t> </a:t>
            </a:r>
            <a:r>
              <a:rPr lang="ko-KR" altLang="en-US"/>
              <a:t>쉬운케이스의 경우 낮은 가중치를 반영하는거라 볼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28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https://gaussian37.github.io/dl-concept-focal_loss/</a:t>
            </a:r>
          </a:p>
          <a:p>
            <a:r>
              <a:rPr lang="en-US" altLang="ko-KR"/>
              <a:t>focal loss</a:t>
            </a:r>
            <a:r>
              <a:rPr lang="ko-KR" altLang="en-US"/>
              <a:t>는 간단히 말하면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820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단순히 개수가 많다하여 </a:t>
            </a:r>
            <a:r>
              <a:rPr lang="en-US" altLang="ko-KR"/>
              <a:t>easy/hard sample</a:t>
            </a:r>
            <a:r>
              <a:rPr lang="ko-KR" altLang="en-US"/>
              <a:t>에 대한 균형을 못잡아줌</a:t>
            </a:r>
          </a:p>
          <a:p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Hard example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은 모델이 예측하기 어려운 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sample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을 의미한다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예를 들어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, 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실제로는 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negative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인데 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positive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라고 잘못 예측하기 쉬운 데이터입니다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. 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반면에 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Easy example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은 모델이 예측하기 쉬운 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sample</a:t>
            </a:r>
            <a:r>
              <a:rPr lang="ko-KR" altLang="en-US" b="0" i="0">
                <a:solidFill>
                  <a:srgbClr val="373C46"/>
                </a:solidFill>
                <a:effectLst/>
                <a:latin typeface="Noto Sans KR"/>
              </a:rPr>
              <a:t>을 의미한다</a:t>
            </a:r>
            <a:r>
              <a:rPr lang="en-US" altLang="ko-KR" b="0" i="0">
                <a:solidFill>
                  <a:srgbClr val="373C46"/>
                </a:solidFill>
                <a:effectLst/>
                <a:latin typeface="Noto Sans KR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94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https://csm-kr.tistory.com/5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0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https://csm-kr.tistory.com/5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06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https://yhu0409.tistory.com/3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126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946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D3255-E0E6-40EE-BF24-447D61DE2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CBB549-73D0-4ADD-8678-DCE10D963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02409-31F6-43B0-AB6D-64558136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DCE49-D70E-495E-A0B1-35F60C5C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27EF29-6844-49EC-8929-09E46ADE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1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2D09-7092-4B46-B118-703DCD12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94A11-8580-4E81-8838-521373C34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81AF8-1942-4DD6-80EA-AE11AEB6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DEBFC6-5D90-4D70-850C-382D5AC6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6C5E8-6255-4A90-AB85-A27F9DC6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2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D0340-E51A-42B2-97A2-04F14B38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1B47C-F8D9-47B1-BC22-C53E66A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972C6-1A33-4B11-8082-A5ABEB0E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BEAC6-C5F2-43B8-89E1-DDA5A0D6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6307DE-43DB-4B84-B682-AF593463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79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C8F63-B8B3-413E-9229-45E9AE3F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E2FA7-8530-46E5-ABD7-494788321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B8D64E-AE51-4B7D-B00A-8E069A402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025AE0-25B2-44EF-95AC-858C792B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FCBFF-6739-41B3-90A4-A112B852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376C1-11C5-42F7-93A8-BE729B9F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23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BA704-E090-41D9-B5A3-4A815EAB5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C9EF5E-9E40-4666-904C-7004D840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425B9E-17B7-4DEE-8D82-C120F2C4A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1A2954-4115-456A-A545-3B8BEF018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1B7864-4CD5-409F-9DAA-986759151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FD3D27-58E8-465E-BAE5-8BB8255C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0D32EE-F4E9-4AAE-86C9-58B55EEA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B259E6-D7BE-4CA9-B9A6-0F64B4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36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022F9-57F6-43E5-8AC5-E9A4F656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C8B0D6-D50D-45AE-9BAC-16E2997D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08C85E-4B05-4630-9048-0E186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5D292F-8929-4412-840A-CDAA3216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57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1A7BBB-1E52-4D05-9DA0-04A0A0BE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D3FFD5-86F8-4164-9DED-A281DFD8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398D5-A304-4E8C-919A-3E2C6B9F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09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8011A-B4F0-453F-9425-61F0DA9FF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ADE14-090E-4686-AA7C-A7BDC79A2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773684-3252-49AA-8EA7-30621F20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05227-64AE-41E9-B81C-0E732F4E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B2E52-DC53-435D-BEE5-BEC5ACE3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8D953E-7974-48AE-84E3-82D7D39D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8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846EE-5085-456C-9AE6-3A1E8C9A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1EBE81-3661-4AC1-80E8-08ECA7CCA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9B51EC-ED8E-4A07-83C1-EF3D6B5C9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2AB19-53ED-47F4-B683-68DDF7CA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BCD5C7-028B-4A5F-96C7-D0E7A185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8BF161-AED2-4CBA-938C-BFF14E30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71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7509D-5332-47ED-BC68-CEA2FE60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AB9720-01B8-45A6-8B6E-35B783AA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25122-4381-4027-BB27-9A51037B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0D2A9-F609-4A25-9734-07BE4B28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43B21-72B0-4D8B-A370-3D8D58DC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19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74099B-1538-4403-9AA7-97FCD88AE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B528F7-4775-4FA5-A11B-AF30D4D26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3FF51-C3A8-4410-8544-A6D5F36D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0F5C7-2664-4FAF-B331-00B64F3F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F71DD-3ABF-41D6-BDF9-9DE35C54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3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8D2FD6-E551-4F1B-9E05-E4589055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381CA-B8D7-49E2-80AC-F82821276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2F968-15B9-4930-86A8-46E501046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EB5D-3C67-432E-8C5C-D899E0449358}" type="datetimeFigureOut">
              <a:rPr lang="ko-KR" altLang="en-US" smtClean="0"/>
              <a:t>2024-01-22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05F38-A388-47BD-A62C-5B52C16F0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E1F6A7-5B08-419C-9A2B-BA17F76AC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8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41.png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3" Type="http://schemas.openxmlformats.org/officeDocument/2006/relationships/image" Target="../media/image1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microsoft.com/office/2007/relationships/hdphoto" Target="../media/hdphoto2.wdp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5582C-AF1B-41AB-BF49-CC864FF66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84" y="2622690"/>
            <a:ext cx="11067495" cy="2387600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RetinaNet</a:t>
            </a:r>
            <a:br>
              <a:rPr lang="en-US" altLang="ko-KR"/>
            </a:br>
            <a:r>
              <a:rPr lang="en-US" altLang="ko-KR" b="1" i="0">
                <a:solidFill>
                  <a:srgbClr val="F3C000"/>
                </a:solidFill>
                <a:effectLst/>
                <a:latin typeface="Noto Serif KR"/>
              </a:rPr>
              <a:t>(Focal Loss</a:t>
            </a:r>
            <a:br>
              <a:rPr lang="en-US" altLang="ko-KR" b="1" i="0">
                <a:solidFill>
                  <a:srgbClr val="F3C000"/>
                </a:solidFill>
                <a:effectLst/>
                <a:latin typeface="Noto Serif KR"/>
              </a:rPr>
            </a:br>
            <a:r>
              <a:rPr lang="en-US" altLang="ko-KR" b="1" i="0">
                <a:solidFill>
                  <a:srgbClr val="F3C000"/>
                </a:solidFill>
                <a:effectLst/>
                <a:latin typeface="Noto Serif KR"/>
              </a:rPr>
              <a:t> + FPN(Feature Pyramid Network)</a:t>
            </a:r>
            <a:br>
              <a:rPr lang="en-US" altLang="ko-KR" b="0" i="0">
                <a:solidFill>
                  <a:srgbClr val="000000"/>
                </a:solidFill>
                <a:effectLst/>
                <a:latin typeface="Noto Sans KR"/>
              </a:rPr>
            </a:b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75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F303B-595C-4098-AA03-5AA93D19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RetinaNet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A1C27-5539-4C28-A8FD-B3A02B804E6A}"/>
              </a:ext>
            </a:extLst>
          </p:cNvPr>
          <p:cNvSpPr txBox="1"/>
          <p:nvPr/>
        </p:nvSpPr>
        <p:spPr>
          <a:xfrm>
            <a:off x="-116252" y="152534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	- RetinaNet</a:t>
            </a:r>
            <a:r>
              <a:rPr lang="ko-KR" altLang="en-US"/>
              <a:t>은</a:t>
            </a:r>
            <a:r>
              <a:rPr lang="en-US" altLang="ko-KR"/>
              <a:t>2017</a:t>
            </a:r>
            <a:r>
              <a:rPr lang="ko-KR" altLang="en-US"/>
              <a:t>년 </a:t>
            </a:r>
            <a:r>
              <a:rPr lang="en-US" altLang="ko-KR"/>
              <a:t>ICCV</a:t>
            </a:r>
            <a:r>
              <a:rPr lang="ko-KR" altLang="en-US"/>
              <a:t>에서 발표된 논문</a:t>
            </a:r>
            <a:endParaRPr lang="en-US" altLang="ko-KR"/>
          </a:p>
          <a:p>
            <a:r>
              <a:rPr lang="en-US" altLang="ko-KR"/>
              <a:t>	- </a:t>
            </a:r>
            <a:r>
              <a:rPr lang="ko-KR" altLang="en-US"/>
              <a:t>성능이 좋은 </a:t>
            </a:r>
            <a:r>
              <a:rPr lang="en-US" altLang="ko-KR"/>
              <a:t>Object Detector</a:t>
            </a:r>
            <a:r>
              <a:rPr lang="ko-KR" altLang="en-US"/>
              <a:t>는 </a:t>
            </a:r>
            <a:r>
              <a:rPr lang="en-US" altLang="ko-KR"/>
              <a:t>2-Stage Detector</a:t>
            </a:r>
          </a:p>
          <a:p>
            <a:r>
              <a:rPr lang="en-US" altLang="ko-KR"/>
              <a:t>	- </a:t>
            </a:r>
            <a:r>
              <a:rPr lang="ko-KR" altLang="en-US"/>
              <a:t>속도 측면에서는 </a:t>
            </a:r>
            <a:r>
              <a:rPr lang="en-US" altLang="ko-KR"/>
              <a:t>1-Stage Detector</a:t>
            </a:r>
            <a:r>
              <a:rPr lang="ko-KR" altLang="en-US"/>
              <a:t>가 좋지만</a:t>
            </a:r>
            <a:r>
              <a:rPr lang="en-US" altLang="ko-KR"/>
              <a:t>, </a:t>
            </a:r>
            <a:r>
              <a:rPr lang="ko-KR" altLang="en-US"/>
              <a:t>정확도 성능 아쉬움</a:t>
            </a:r>
            <a:endParaRPr lang="en-US" altLang="ko-KR"/>
          </a:p>
          <a:p>
            <a:r>
              <a:rPr lang="en-US" altLang="ko-KR"/>
              <a:t>	- 1-Stage Detector</a:t>
            </a:r>
            <a:r>
              <a:rPr lang="ko-KR" altLang="en-US"/>
              <a:t>는 </a:t>
            </a:r>
            <a:r>
              <a:rPr lang="en-US" altLang="ko-KR"/>
              <a:t>Background</a:t>
            </a:r>
            <a:r>
              <a:rPr lang="ko-KR" altLang="en-US"/>
              <a:t>와 </a:t>
            </a:r>
            <a:r>
              <a:rPr lang="en-US" altLang="ko-KR"/>
              <a:t>Foreground class</a:t>
            </a:r>
            <a:r>
              <a:rPr lang="ko-KR" altLang="en-US"/>
              <a:t>간의 불균형 존재</a:t>
            </a:r>
            <a:endParaRPr lang="en-US" altLang="ko-KR"/>
          </a:p>
          <a:p>
            <a:r>
              <a:rPr lang="en-US" altLang="ko-KR"/>
              <a:t>	- Background </a:t>
            </a:r>
            <a:r>
              <a:rPr lang="ko-KR" altLang="en-US"/>
              <a:t>클래스에도 </a:t>
            </a:r>
            <a:r>
              <a:rPr lang="en-US" altLang="ko-KR"/>
              <a:t>Easy Example</a:t>
            </a:r>
            <a:r>
              <a:rPr lang="ko-KR" altLang="en-US"/>
              <a:t>과 </a:t>
            </a:r>
            <a:r>
              <a:rPr lang="en-US" altLang="ko-KR"/>
              <a:t>Hard Example</a:t>
            </a:r>
            <a:r>
              <a:rPr lang="ko-KR" altLang="en-US"/>
              <a:t>로 불균형 존재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	=&gt; Easy Example</a:t>
            </a:r>
            <a:r>
              <a:rPr lang="ko-KR" altLang="en-US"/>
              <a:t>은 가중치를 적게주고</a:t>
            </a:r>
            <a:r>
              <a:rPr lang="en-US" altLang="ko-KR"/>
              <a:t>, Hard Example</a:t>
            </a:r>
            <a:r>
              <a:rPr lang="ko-KR" altLang="en-US"/>
              <a:t>은 상대적으로 가중치를 더 주자</a:t>
            </a:r>
            <a:r>
              <a:rPr lang="en-US" altLang="ko-KR"/>
              <a:t>!</a:t>
            </a:r>
          </a:p>
          <a:p>
            <a:r>
              <a:rPr lang="en-US" altLang="ko-KR"/>
              <a:t>	= </a:t>
            </a:r>
            <a:r>
              <a:rPr lang="en-US" altLang="ko-KR" b="1">
                <a:solidFill>
                  <a:srgbClr val="FF0000"/>
                </a:solidFill>
              </a:rPr>
              <a:t>Focal Loss Function</a:t>
            </a:r>
          </a:p>
        </p:txBody>
      </p:sp>
      <p:pic>
        <p:nvPicPr>
          <p:cNvPr id="1026" name="Picture 2" descr="그림4. 1-Stage Detector vs 2-stage Detector 논문 흐름">
            <a:extLst>
              <a:ext uri="{FF2B5EF4-FFF2-40B4-BE49-F238E27FC236}">
                <a16:creationId xmlns:a16="http://schemas.microsoft.com/office/drawing/2014/main" id="{F30F22CF-C6CC-4474-90DD-CAF757EA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633" y="3833668"/>
            <a:ext cx="7779798" cy="251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81A9FB-6C9B-40CB-88F0-0FD10E73D311}"/>
              </a:ext>
            </a:extLst>
          </p:cNvPr>
          <p:cNvSpPr txBox="1"/>
          <p:nvPr/>
        </p:nvSpPr>
        <p:spPr>
          <a:xfrm>
            <a:off x="4980373" y="6351972"/>
            <a:ext cx="33735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&lt;1-Stage Detector vs 2-stage Detector </a:t>
            </a:r>
            <a:r>
              <a:rPr lang="ko-KR" altLang="en-US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논문 흐름 </a:t>
            </a:r>
            <a:r>
              <a:rPr lang="en-US" altLang="ko-KR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&gt;</a:t>
            </a:r>
            <a:endParaRPr lang="ko-KR" altLang="en-US" sz="1050" b="1"/>
          </a:p>
        </p:txBody>
      </p:sp>
    </p:spTree>
    <p:extLst>
      <p:ext uri="{BB962C8B-B14F-4D97-AF65-F5344CB8AC3E}">
        <p14:creationId xmlns:p14="http://schemas.microsoft.com/office/powerpoint/2010/main" val="263378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 vs 2-stage detector</a:t>
            </a:r>
            <a:endParaRPr lang="ko-KR" altLang="en-US" b="1"/>
          </a:p>
        </p:txBody>
      </p:sp>
      <p:pic>
        <p:nvPicPr>
          <p:cNvPr id="3074" name="Picture 2" descr="그림5. 2-stage Detector의 전체적인 구조 (출처 :&amp;amp;nbsp;hoya012 .github.io)">
            <a:extLst>
              <a:ext uri="{FF2B5EF4-FFF2-40B4-BE49-F238E27FC236}">
                <a16:creationId xmlns:a16="http://schemas.microsoft.com/office/drawing/2014/main" id="{5D0EC1ED-805D-43D5-940C-7AD01F21E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0" y="4141672"/>
            <a:ext cx="11554437" cy="284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그림6. 1-stage Detector의 전체적인 구조 (출처 : hoya012 .github.io)">
            <a:extLst>
              <a:ext uri="{FF2B5EF4-FFF2-40B4-BE49-F238E27FC236}">
                <a16:creationId xmlns:a16="http://schemas.microsoft.com/office/drawing/2014/main" id="{DF314B55-D837-4A2A-B5B6-BEB98D14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5657"/>
            <a:ext cx="11873219" cy="250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C35E9-80ED-49EB-BD6B-829976EFABC8}"/>
              </a:ext>
            </a:extLst>
          </p:cNvPr>
          <p:cNvSpPr txBox="1"/>
          <p:nvPr/>
        </p:nvSpPr>
        <p:spPr>
          <a:xfrm>
            <a:off x="-409" y="4212735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60309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pic>
        <p:nvPicPr>
          <p:cNvPr id="3076" name="Picture 4" descr="그림6. 1-stage Detector의 전체적인 구조 (출처 : hoya012 .github.io)">
            <a:extLst>
              <a:ext uri="{FF2B5EF4-FFF2-40B4-BE49-F238E27FC236}">
                <a16:creationId xmlns:a16="http://schemas.microsoft.com/office/drawing/2014/main" id="{DF314B55-D837-4A2A-B5B6-BEB98D14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5657"/>
            <a:ext cx="11873219" cy="250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792A7-02C9-4257-99C7-C1C674A9E7FA}"/>
              </a:ext>
            </a:extLst>
          </p:cNvPr>
          <p:cNvSpPr txBox="1"/>
          <p:nvPr/>
        </p:nvSpPr>
        <p:spPr>
          <a:xfrm>
            <a:off x="8876" y="443883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	1. </a:t>
            </a:r>
            <a:r>
              <a:rPr lang="ko-KR" altLang="en-US"/>
              <a:t>한 번의 단계로 객체의 경계 상자</a:t>
            </a:r>
            <a:r>
              <a:rPr lang="en-US" altLang="ko-KR"/>
              <a:t>(Bounding Box)</a:t>
            </a:r>
            <a:r>
              <a:rPr lang="ko-KR" altLang="en-US"/>
              <a:t>와 클래스 레이블을 직접 예측하는 모델</a:t>
            </a:r>
            <a:endParaRPr lang="en-US" altLang="ko-KR"/>
          </a:p>
          <a:p>
            <a:r>
              <a:rPr lang="en-US" altLang="ko-KR"/>
              <a:t>	2. </a:t>
            </a:r>
            <a:r>
              <a:rPr lang="ko-KR" altLang="en-US"/>
              <a:t>구현이 간단하고 추론속도 빠르지만 </a:t>
            </a:r>
            <a:r>
              <a:rPr lang="en-US" altLang="ko-KR"/>
              <a:t>2-Stage</a:t>
            </a:r>
            <a:r>
              <a:rPr lang="ko-KR" altLang="en-US"/>
              <a:t>에 비해 정확도 낮음</a:t>
            </a:r>
            <a:endParaRPr lang="en-US" altLang="ko-KR"/>
          </a:p>
          <a:p>
            <a:r>
              <a:rPr lang="en-US" altLang="ko-KR"/>
              <a:t>	3. </a:t>
            </a:r>
            <a:r>
              <a:rPr lang="ko-KR" altLang="en-US"/>
              <a:t>대표적으로 </a:t>
            </a:r>
            <a:r>
              <a:rPr lang="en-US" altLang="ko-KR"/>
              <a:t>YOLO(Yolo Only Look Once)</a:t>
            </a:r>
            <a:r>
              <a:rPr lang="ko-KR" altLang="en-US"/>
              <a:t>와 </a:t>
            </a:r>
            <a:r>
              <a:rPr lang="en-US" altLang="ko-KR"/>
              <a:t>SSD(Single Shot MultiBox Detector)</a:t>
            </a:r>
            <a:r>
              <a:rPr lang="ko-KR" altLang="en-US"/>
              <a:t>가 있음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25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Anchor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A6C85-4A1A-4AA4-BDCA-494BC88FA3BF}"/>
              </a:ext>
            </a:extLst>
          </p:cNvPr>
          <p:cNvSpPr txBox="1"/>
          <p:nvPr/>
        </p:nvSpPr>
        <p:spPr>
          <a:xfrm>
            <a:off x="235258" y="4014780"/>
            <a:ext cx="119567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2-Stage </a:t>
            </a:r>
            <a:r>
              <a:rPr lang="ko-KR" altLang="en-US"/>
              <a:t>처럼 </a:t>
            </a:r>
            <a:r>
              <a:rPr lang="en-US" altLang="ko-KR"/>
              <a:t>ROI</a:t>
            </a:r>
            <a:r>
              <a:rPr lang="ko-KR" altLang="en-US"/>
              <a:t>영역을 추출하는 것이 아닌 </a:t>
            </a:r>
            <a:r>
              <a:rPr lang="en-US" altLang="ko-KR"/>
              <a:t>Anchor box </a:t>
            </a:r>
            <a:r>
              <a:rPr lang="ko-KR" altLang="en-US"/>
              <a:t>사용</a:t>
            </a:r>
            <a:endParaRPr lang="en-US" altLang="ko-KR"/>
          </a:p>
          <a:p>
            <a:r>
              <a:rPr lang="ko-KR" altLang="en-US"/>
              <a:t>미리 정의된 형태를 가진 </a:t>
            </a:r>
            <a:r>
              <a:rPr lang="en-US" altLang="ko-KR"/>
              <a:t>Bounding Box </a:t>
            </a:r>
            <a:r>
              <a:rPr lang="ko-KR" altLang="en-US"/>
              <a:t>수를 </a:t>
            </a:r>
            <a:r>
              <a:rPr lang="en-US" altLang="ko-KR"/>
              <a:t>Anchor box</a:t>
            </a:r>
            <a:r>
              <a:rPr lang="ko-KR" altLang="en-US"/>
              <a:t>라고함</a:t>
            </a:r>
            <a:endParaRPr lang="en-US" altLang="ko-KR"/>
          </a:p>
          <a:p>
            <a:r>
              <a:rPr lang="en-US" altLang="ko-KR"/>
              <a:t>Anchor box</a:t>
            </a:r>
            <a:r>
              <a:rPr lang="ko-KR" altLang="en-US"/>
              <a:t>는 </a:t>
            </a:r>
            <a:r>
              <a:rPr lang="en-US" altLang="ko-KR"/>
              <a:t>K-means </a:t>
            </a:r>
            <a:r>
              <a:rPr lang="ko-KR" altLang="en-US"/>
              <a:t>알고리즘에 의한 데이터로부터 생성됨</a:t>
            </a:r>
            <a:endParaRPr lang="en-US" altLang="ko-KR"/>
          </a:p>
          <a:p>
            <a:r>
              <a:rPr lang="ko-KR" altLang="en-US"/>
              <a:t>사전에 크기와 비율이 모두 결정되어 있는 박스를 전제로</a:t>
            </a:r>
            <a:r>
              <a:rPr lang="en-US" altLang="ko-KR"/>
              <a:t>, </a:t>
            </a:r>
            <a:r>
              <a:rPr lang="ko-KR" altLang="en-US"/>
              <a:t>학습을 통해 이 박스의 위치나 크기를 세부조정하여 객체탐지</a:t>
            </a:r>
            <a:endParaRPr lang="en-US" altLang="ko-KR"/>
          </a:p>
          <a:p>
            <a:r>
              <a:rPr lang="ko-KR" altLang="en-US"/>
              <a:t>앵커 박스를 사용하면 모든 잠재적 위치에서 별도의 예측을 계산하는 슬라이딩 윈도우로 이미지를 스캔할 필요가 없다</a:t>
            </a:r>
            <a:r>
              <a:rPr lang="en-US" altLang="ko-KR"/>
              <a:t>.</a:t>
            </a:r>
          </a:p>
          <a:p>
            <a:r>
              <a:rPr lang="ko-KR" altLang="en-US"/>
              <a:t>각각의 앵커는 다른크기와 형태의 객체를 탐지하도록 설계되어있다</a:t>
            </a:r>
            <a:r>
              <a:rPr lang="en-US" altLang="ko-KR"/>
              <a:t>. </a:t>
            </a:r>
            <a:r>
              <a:rPr lang="ko-KR" altLang="en-US"/>
              <a:t>앵커 박스와 유사한 크기의 개체를 탐지하여 이미지의 </a:t>
            </a:r>
            <a:r>
              <a:rPr lang="en-US" altLang="ko-KR"/>
              <a:t>feature</a:t>
            </a:r>
            <a:r>
              <a:rPr lang="ko-KR" altLang="en-US"/>
              <a:t>맵에서 오프셋을 최적화 한다</a:t>
            </a:r>
            <a:r>
              <a:rPr lang="en-US" altLang="ko-KR"/>
              <a:t>.</a:t>
            </a:r>
          </a:p>
          <a:p>
            <a:r>
              <a:rPr lang="en-US" altLang="ko-KR"/>
              <a:t>offset</a:t>
            </a:r>
            <a:r>
              <a:rPr lang="ko-KR" altLang="en-US"/>
              <a:t>이란 예측된 </a:t>
            </a:r>
            <a:r>
              <a:rPr lang="en-US" altLang="ko-KR"/>
              <a:t>bounding box</a:t>
            </a:r>
            <a:r>
              <a:rPr lang="ko-KR" altLang="en-US"/>
              <a:t>의 위치좌표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DC60EA-9CE0-4DAA-A73A-11925E95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752" y="-78100"/>
            <a:ext cx="6017580" cy="39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그림5. 2-stage Detector의 전체적인 구조 (출처 :&amp;amp;nbsp;hoya012 .github.io)">
            <a:extLst>
              <a:ext uri="{FF2B5EF4-FFF2-40B4-BE49-F238E27FC236}">
                <a16:creationId xmlns:a16="http://schemas.microsoft.com/office/drawing/2014/main" id="{300544F5-9942-47A3-86BD-4778AAB1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0" y="1247548"/>
            <a:ext cx="11554437" cy="284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792A7-02C9-4257-99C7-C1C674A9E7FA}"/>
              </a:ext>
            </a:extLst>
          </p:cNvPr>
          <p:cNvSpPr txBox="1"/>
          <p:nvPr/>
        </p:nvSpPr>
        <p:spPr>
          <a:xfrm>
            <a:off x="8876" y="4314551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	1. </a:t>
            </a:r>
            <a:r>
              <a:rPr lang="ko-KR" altLang="en-US"/>
              <a:t>입력 이미지에 대해 관심영역</a:t>
            </a:r>
            <a:r>
              <a:rPr lang="en-US" altLang="ko-KR"/>
              <a:t>(Region Of Interest)</a:t>
            </a:r>
            <a:r>
              <a:rPr lang="ko-KR" altLang="en-US"/>
              <a:t>의 후보</a:t>
            </a:r>
            <a:r>
              <a:rPr lang="en-US" altLang="ko-KR"/>
              <a:t>(Region Proposal) </a:t>
            </a:r>
            <a:r>
              <a:rPr lang="ko-KR" altLang="en-US"/>
              <a:t>세트 생성</a:t>
            </a:r>
            <a:endParaRPr lang="en-US" altLang="ko-KR"/>
          </a:p>
          <a:p>
            <a:r>
              <a:rPr lang="en-US" altLang="ko-KR"/>
              <a:t>	    =&gt; </a:t>
            </a:r>
            <a:r>
              <a:rPr lang="ko-KR" altLang="en-US"/>
              <a:t>세트는 입력 이미지에서 주요한 객체가 있을것으로 예상되는 잠재적 영역</a:t>
            </a:r>
            <a:endParaRPr lang="en-US" altLang="ko-KR"/>
          </a:p>
          <a:p>
            <a:r>
              <a:rPr lang="en-US" altLang="ko-KR"/>
              <a:t>	2. </a:t>
            </a:r>
            <a:r>
              <a:rPr lang="ko-KR" altLang="en-US"/>
              <a:t>후보 영역에 대해 실제 객체의 경계 상자와 클래스 레이블 예측</a:t>
            </a:r>
            <a:endParaRPr lang="en-US" altLang="ko-KR"/>
          </a:p>
          <a:p>
            <a:r>
              <a:rPr lang="en-US" altLang="ko-KR"/>
              <a:t>	3. 1-Stage</a:t>
            </a:r>
            <a:r>
              <a:rPr lang="ko-KR" altLang="en-US"/>
              <a:t>보다는 정확한 객체 감지를 할 수 있지만 속도가 느림</a:t>
            </a:r>
            <a:endParaRPr lang="en-US" altLang="ko-KR"/>
          </a:p>
          <a:p>
            <a:r>
              <a:rPr lang="en-US" altLang="ko-KR"/>
              <a:t>	3. </a:t>
            </a:r>
            <a:r>
              <a:rPr lang="ko-KR" altLang="en-US"/>
              <a:t>대표적으로 </a:t>
            </a:r>
            <a:r>
              <a:rPr lang="en-US" altLang="ko-KR"/>
              <a:t>R-CNN(Region-based Convolutional Neural Network), Fast R-CNN</a:t>
            </a:r>
            <a:r>
              <a:rPr lang="ko-KR" altLang="en-US"/>
              <a:t>등이 있음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680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Sliding Window</a:t>
            </a:r>
            <a:endParaRPr lang="ko-KR" alt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0D560-D698-4BF3-B5B5-2F262286C371}"/>
              </a:ext>
            </a:extLst>
          </p:cNvPr>
          <p:cNvSpPr txBox="1"/>
          <p:nvPr/>
        </p:nvSpPr>
        <p:spPr>
          <a:xfrm>
            <a:off x="0" y="4806818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이미지에서 </a:t>
            </a:r>
            <a:r>
              <a:rPr lang="en-US" altLang="ko-KR"/>
              <a:t>object detection</a:t>
            </a:r>
            <a:r>
              <a:rPr lang="ko-KR" altLang="en-US"/>
              <a:t>을 위해 </a:t>
            </a:r>
            <a:r>
              <a:rPr lang="en-US" altLang="ko-KR"/>
              <a:t>sliding window</a:t>
            </a:r>
            <a:r>
              <a:rPr lang="ko-KR" altLang="en-US"/>
              <a:t>방식을 이용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Sliding Window</a:t>
            </a:r>
            <a:r>
              <a:rPr lang="ko-KR" altLang="en-US"/>
              <a:t>방식은 검출하고자 하는 입력이미지에 정해진 크기의</a:t>
            </a:r>
            <a:br>
              <a:rPr lang="en-US" altLang="ko-KR"/>
            </a:br>
            <a:r>
              <a:rPr lang="en-US" altLang="ko-KR"/>
              <a:t>Bounding Box</a:t>
            </a:r>
            <a:r>
              <a:rPr lang="ko-KR" altLang="en-US"/>
              <a:t>를 만들어 이동하면서 물체가 있을법한 </a:t>
            </a:r>
            <a:r>
              <a:rPr lang="en-US" altLang="ko-KR"/>
              <a:t>box</a:t>
            </a:r>
            <a:r>
              <a:rPr lang="ko-KR" altLang="en-US"/>
              <a:t>나 영역 검출</a:t>
            </a:r>
            <a:endParaRPr lang="en-US" altLang="ko-KR"/>
          </a:p>
          <a:p>
            <a:r>
              <a:rPr lang="en-US" altLang="ko-KR"/>
              <a:t>   =&gt; </a:t>
            </a:r>
            <a:r>
              <a:rPr lang="ko-KR" altLang="en-US"/>
              <a:t>모든 영역을 다 검출해야함으로 비효율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물체가 있을만한 영역을 빠르게 찾아내자 하는 </a:t>
            </a:r>
            <a:r>
              <a:rPr lang="en-US" altLang="ko-KR"/>
              <a:t>Region Proposal</a:t>
            </a:r>
            <a:r>
              <a:rPr lang="ko-KR" altLang="en-US"/>
              <a:t>방법이 나옴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대표적으로 </a:t>
            </a:r>
            <a:r>
              <a:rPr lang="en-US" altLang="ko-KR"/>
              <a:t>Selective Search</a:t>
            </a:r>
            <a:r>
              <a:rPr lang="ko-KR" altLang="en-US"/>
              <a:t>가 있음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71B6EA-97B5-4AEB-AF1F-7D6C4471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648" y="1358685"/>
            <a:ext cx="4662430" cy="31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9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Selective Search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93A03E-555F-4B82-90E5-177966EE5CF9}"/>
              </a:ext>
            </a:extLst>
          </p:cNvPr>
          <p:cNvSpPr txBox="1"/>
          <p:nvPr/>
        </p:nvSpPr>
        <p:spPr>
          <a:xfrm>
            <a:off x="-1" y="5376325"/>
            <a:ext cx="11487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영역의 질감</a:t>
            </a:r>
            <a:r>
              <a:rPr lang="en-US" altLang="ko-KR"/>
              <a:t>, </a:t>
            </a:r>
            <a:r>
              <a:rPr lang="ko-KR" altLang="en-US"/>
              <a:t>색</a:t>
            </a:r>
            <a:r>
              <a:rPr lang="en-US" altLang="ko-KR"/>
              <a:t>, </a:t>
            </a:r>
            <a:r>
              <a:rPr lang="ko-KR" altLang="en-US"/>
              <a:t>강도 등을 갖고 인접 픽셀을 찾아서 물체가 있을 법한 </a:t>
            </a:r>
            <a:r>
              <a:rPr lang="en-US" altLang="ko-KR"/>
              <a:t>box</a:t>
            </a:r>
            <a:r>
              <a:rPr lang="ko-KR" altLang="en-US"/>
              <a:t>나 영역을 찾는것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입력이미지에 대해 </a:t>
            </a:r>
            <a:r>
              <a:rPr lang="en-US" altLang="ko-KR"/>
              <a:t>segmentation</a:t>
            </a:r>
            <a:r>
              <a:rPr lang="ko-KR" altLang="en-US"/>
              <a:t>을 실시하여 후보영역을 찾음</a:t>
            </a:r>
            <a:r>
              <a:rPr lang="en-US" altLang="ko-KR"/>
              <a:t>(</a:t>
            </a:r>
            <a:r>
              <a:rPr lang="ko-KR" altLang="en-US"/>
              <a:t>엄청많음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반복횟수가 많아질 수록 유사도가 높은 영역들이 합쳐지면서 최종 후보 영역 생성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cnn</a:t>
            </a:r>
            <a:r>
              <a:rPr lang="ko-KR" altLang="en-US"/>
              <a:t>과 별도로 이루어지기 때문에 실시간 적용 못함</a:t>
            </a:r>
            <a:endParaRPr lang="en-US" altLang="ko-K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B5725DE-1971-484C-90DE-68D9153F4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981200"/>
            <a:ext cx="62865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93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 vs 2-stage detector</a:t>
            </a:r>
            <a:endParaRPr lang="ko-KR" altLang="en-US" b="1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0AB8DC5-FB88-43B4-A93E-4A9F5DCB5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954118"/>
              </p:ext>
            </p:extLst>
          </p:nvPr>
        </p:nvGraphicFramePr>
        <p:xfrm>
          <a:off x="846868" y="2467993"/>
          <a:ext cx="10498263" cy="2839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542">
                  <a:extLst>
                    <a:ext uri="{9D8B030D-6E8A-4147-A177-3AD203B41FA5}">
                      <a16:colId xmlns:a16="http://schemas.microsoft.com/office/drawing/2014/main" val="4004424676"/>
                    </a:ext>
                  </a:extLst>
                </a:gridCol>
                <a:gridCol w="4432018">
                  <a:extLst>
                    <a:ext uri="{9D8B030D-6E8A-4147-A177-3AD203B41FA5}">
                      <a16:colId xmlns:a16="http://schemas.microsoft.com/office/drawing/2014/main" val="1386172096"/>
                    </a:ext>
                  </a:extLst>
                </a:gridCol>
                <a:gridCol w="5246703">
                  <a:extLst>
                    <a:ext uri="{9D8B030D-6E8A-4147-A177-3AD203B41FA5}">
                      <a16:colId xmlns:a16="http://schemas.microsoft.com/office/drawing/2014/main" val="2427765931"/>
                    </a:ext>
                  </a:extLst>
                </a:gridCol>
              </a:tblGrid>
              <a:tr h="35716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/>
                        <a:t>1-stage detector</a:t>
                      </a:r>
                      <a:endParaRPr lang="ko-KR" altLang="en-US" b="1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/>
                        <a:t>2-stage detector</a:t>
                      </a:r>
                      <a:endParaRPr lang="ko-KR" altLang="en-US" b="1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7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b="1"/>
                        <a:t>정의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영역 추출에 대한 좌표와 이미지 피처를 </a:t>
                      </a:r>
                      <a:r>
                        <a:rPr lang="en-US" altLang="ko-KR"/>
                        <a:t>CNN</a:t>
                      </a:r>
                      <a:r>
                        <a:rPr lang="ko-KR" altLang="en-US"/>
                        <a:t>을 통해 한번에 학습하여 결과도출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Regional Proposal</a:t>
                      </a:r>
                      <a:r>
                        <a:rPr lang="ko-KR" altLang="en-US"/>
                        <a:t>과 </a:t>
                      </a:r>
                      <a:r>
                        <a:rPr lang="en-US" altLang="ko-KR"/>
                        <a:t>Classfication</a:t>
                      </a:r>
                      <a:r>
                        <a:rPr lang="ko-KR" altLang="en-US"/>
                        <a:t>을 순차적으로 진행하여 객체 검출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26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모델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YOLO, SDD</a:t>
                      </a:r>
                      <a:r>
                        <a:rPr lang="ko-KR" altLang="en-US"/>
                        <a:t>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R-CNN</a:t>
                      </a:r>
                      <a:r>
                        <a:rPr lang="ko-KR" altLang="en-US"/>
                        <a:t>계열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903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ko-KR" altLang="en-US" b="1"/>
                        <a:t>특징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2-stage</a:t>
                      </a:r>
                      <a:r>
                        <a:rPr lang="ko-KR" altLang="en-US"/>
                        <a:t>에 비해 낮은 검출 성능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2-stage</a:t>
                      </a:r>
                      <a:r>
                        <a:rPr lang="ko-KR" altLang="en-US"/>
                        <a:t>에 비해 속도가 빠름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=&gt; </a:t>
                      </a:r>
                      <a:r>
                        <a:rPr lang="ko-KR" altLang="en-US"/>
                        <a:t>실시간 객체 탐지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1-stage</a:t>
                      </a:r>
                      <a:r>
                        <a:rPr lang="ko-KR" altLang="en-US"/>
                        <a:t>에 비해 높은 검출 성능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1-stage</a:t>
                      </a:r>
                      <a:r>
                        <a:rPr lang="ko-KR" altLang="en-US"/>
                        <a:t>에 비해 속도가 느림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=&gt; </a:t>
                      </a:r>
                      <a:r>
                        <a:rPr lang="ko-KR" altLang="en-US"/>
                        <a:t>정확성은 높으나 속도로 인해 실시간 객체탐지가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004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84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2413BC3-0374-4EFB-B8D2-A5D92E7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Class Imbalance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49E46-8FD3-4E48-8868-4604EEEBEBE8}"/>
              </a:ext>
            </a:extLst>
          </p:cNvPr>
          <p:cNvSpPr txBox="1"/>
          <p:nvPr/>
        </p:nvSpPr>
        <p:spPr>
          <a:xfrm>
            <a:off x="-1" y="5376325"/>
            <a:ext cx="11487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Class Imbalance</a:t>
            </a:r>
            <a:r>
              <a:rPr lang="ko-KR" altLang="en-US"/>
              <a:t>란</a:t>
            </a:r>
            <a:r>
              <a:rPr lang="en-US" altLang="ko-KR"/>
              <a:t>, </a:t>
            </a:r>
            <a:r>
              <a:rPr lang="ko-KR" altLang="en-US"/>
              <a:t>클래스의 개수가 특정한 클래스에 치우쳐있는 문제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성능이 좋은 </a:t>
            </a:r>
            <a:r>
              <a:rPr lang="en-US" altLang="ko-KR"/>
              <a:t>detection</a:t>
            </a:r>
            <a:r>
              <a:rPr lang="ko-KR" altLang="en-US"/>
              <a:t>결과라고 할 수 있지만 픽셀단위로 생각한다면 현재 </a:t>
            </a:r>
            <a:r>
              <a:rPr lang="en-US" altLang="ko-KR"/>
              <a:t>detection</a:t>
            </a:r>
            <a:r>
              <a:rPr lang="ko-KR" altLang="en-US"/>
              <a:t>된 작은 객체들을</a:t>
            </a:r>
            <a:br>
              <a:rPr lang="en-US" altLang="ko-KR"/>
            </a:br>
            <a:r>
              <a:rPr lang="ko-KR" altLang="en-US"/>
              <a:t>나타내는 픽셀 개수에 비해 구름</a:t>
            </a:r>
            <a:r>
              <a:rPr lang="en-US" altLang="ko-KR"/>
              <a:t>,</a:t>
            </a:r>
            <a:r>
              <a:rPr lang="ko-KR" altLang="en-US"/>
              <a:t>나무</a:t>
            </a:r>
            <a:r>
              <a:rPr lang="en-US" altLang="ko-KR"/>
              <a:t>,</a:t>
            </a:r>
            <a:r>
              <a:rPr lang="ko-KR" altLang="en-US"/>
              <a:t>모래와 같은 배경을 나타내는 픽셀 개수가 압도적으로 많다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9C8D9D-FEDE-4E61-8908-230A9C28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310" y="1122226"/>
            <a:ext cx="5443379" cy="36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0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2413BC3-0374-4EFB-B8D2-A5D92E7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Class Imbalance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49E46-8FD3-4E48-8868-4604EEEBEBE8}"/>
              </a:ext>
            </a:extLst>
          </p:cNvPr>
          <p:cNvSpPr txBox="1"/>
          <p:nvPr/>
        </p:nvSpPr>
        <p:spPr>
          <a:xfrm>
            <a:off x="-1" y="4825912"/>
            <a:ext cx="114877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배경은 이미지에 대부분임으로 </a:t>
            </a:r>
            <a:r>
              <a:rPr lang="en-US" altLang="ko-KR"/>
              <a:t>Easy Example</a:t>
            </a:r>
            <a:r>
              <a:rPr lang="ko-KR" altLang="en-US"/>
              <a:t>이고 배경임으로 </a:t>
            </a:r>
            <a:r>
              <a:rPr lang="en-US" altLang="ko-KR"/>
              <a:t>Negative Example</a:t>
            </a:r>
            <a:r>
              <a:rPr lang="ko-KR" altLang="en-US"/>
              <a:t>이라고 불림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/>
              <a:t>객체는 이미지에 일부분이고 작기 때문에 </a:t>
            </a:r>
            <a:r>
              <a:rPr lang="en-US" altLang="ko-KR"/>
              <a:t>Hard Example</a:t>
            </a:r>
            <a:r>
              <a:rPr lang="ko-KR" altLang="en-US"/>
              <a:t>이고 </a:t>
            </a:r>
            <a:r>
              <a:rPr lang="en-US" altLang="ko-KR"/>
              <a:t>Object</a:t>
            </a:r>
            <a:r>
              <a:rPr lang="ko-KR" altLang="en-US"/>
              <a:t>영역임으로 </a:t>
            </a:r>
            <a:r>
              <a:rPr lang="en-US" altLang="ko-KR"/>
              <a:t>Postive Example</a:t>
            </a:r>
            <a:r>
              <a:rPr lang="ko-KR" altLang="en-US"/>
              <a:t>이라 불림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/>
              <a:t>대부분 이미지 데이터들이 배경 픽셀들이 주를 이루고</a:t>
            </a:r>
            <a:r>
              <a:rPr lang="en-US" altLang="ko-KR"/>
              <a:t>,</a:t>
            </a:r>
            <a:r>
              <a:rPr lang="ko-KR" altLang="en-US"/>
              <a:t> 객체들을 나타내는 픽셀이 상대적으로 개수가 적음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Background Example</a:t>
            </a:r>
            <a:r>
              <a:rPr lang="ko-KR" altLang="en-US"/>
              <a:t>이 </a:t>
            </a:r>
            <a:r>
              <a:rPr lang="en-US" altLang="ko-KR"/>
              <a:t>Foreground Example</a:t>
            </a:r>
            <a:r>
              <a:rPr lang="ko-KR" altLang="en-US"/>
              <a:t>보다 개수가 훨씬 더 많아지며 </a:t>
            </a:r>
            <a:r>
              <a:rPr lang="en-US" altLang="ko-KR"/>
              <a:t>Negative</a:t>
            </a:r>
            <a:r>
              <a:rPr lang="ko-KR" altLang="en-US"/>
              <a:t>가 </a:t>
            </a:r>
            <a:r>
              <a:rPr lang="en-US" altLang="ko-KR"/>
              <a:t>Positive</a:t>
            </a:r>
            <a:r>
              <a:rPr lang="ko-KR" altLang="en-US"/>
              <a:t>보다 많은 </a:t>
            </a:r>
            <a:r>
              <a:rPr lang="en-US" altLang="ko-KR">
                <a:solidFill>
                  <a:srgbClr val="FF0000"/>
                </a:solidFill>
              </a:rPr>
              <a:t>class imbalance</a:t>
            </a:r>
            <a:r>
              <a:rPr lang="ko-KR" altLang="en-US">
                <a:solidFill>
                  <a:srgbClr val="FF0000"/>
                </a:solidFill>
              </a:rPr>
              <a:t>문제</a:t>
            </a:r>
            <a:r>
              <a:rPr lang="ko-KR" altLang="en-US"/>
              <a:t>가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ko-KR" altLang="en-US"/>
              <a:t>발생 </a:t>
            </a:r>
            <a:r>
              <a:rPr lang="en-US" altLang="ko-KR"/>
              <a:t>-&gt; </a:t>
            </a:r>
            <a:r>
              <a:rPr lang="en-US" altLang="ko-KR" b="1">
                <a:solidFill>
                  <a:srgbClr val="FF0000"/>
                </a:solidFill>
              </a:rPr>
              <a:t>Focal loss</a:t>
            </a:r>
            <a:r>
              <a:rPr lang="ko-KR" altLang="en-US"/>
              <a:t>로 해결</a:t>
            </a:r>
            <a:endParaRPr lang="en-US" altLang="ko-KR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31ECFB2-32F4-47BD-A0D8-85A635DDF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243" y="989354"/>
            <a:ext cx="9613301" cy="383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29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2413BC3-0374-4EFB-B8D2-A5D92E7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ko-KR" altLang="en-US" b="1"/>
              <a:t>정리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49E46-8FD3-4E48-8868-4604EEEBEBE8}"/>
              </a:ext>
            </a:extLst>
          </p:cNvPr>
          <p:cNvSpPr txBox="1"/>
          <p:nvPr/>
        </p:nvSpPr>
        <p:spPr>
          <a:xfrm>
            <a:off x="0" y="4623788"/>
            <a:ext cx="11487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대부분의 </a:t>
            </a:r>
            <a:r>
              <a:rPr lang="en-US" altLang="ko-KR"/>
              <a:t>Class Imbalance</a:t>
            </a:r>
            <a:r>
              <a:rPr lang="ko-KR" altLang="en-US"/>
              <a:t>문제는 </a:t>
            </a:r>
            <a:r>
              <a:rPr lang="en-US" altLang="ko-KR"/>
              <a:t>2</a:t>
            </a:r>
            <a:r>
              <a:rPr lang="ko-KR" altLang="en-US"/>
              <a:t>가지의 문제의 원인</a:t>
            </a:r>
            <a:endParaRPr lang="en-US" altLang="ko-KR"/>
          </a:p>
          <a:p>
            <a:r>
              <a:rPr lang="en-US" altLang="ko-KR"/>
              <a:t>	1. </a:t>
            </a:r>
            <a:r>
              <a:rPr lang="ko-KR" altLang="en-US"/>
              <a:t>대부분의 </a:t>
            </a:r>
            <a:r>
              <a:rPr lang="en-US" altLang="ko-KR"/>
              <a:t>Location</a:t>
            </a:r>
            <a:r>
              <a:rPr lang="ko-KR" altLang="en-US"/>
              <a:t>은 학습에 기여하지 않는 </a:t>
            </a:r>
            <a:r>
              <a:rPr lang="en-US" altLang="ko-KR"/>
              <a:t>easy negative(background)</a:t>
            </a:r>
            <a:r>
              <a:rPr lang="ko-KR" altLang="en-US"/>
              <a:t>이므로</a:t>
            </a:r>
            <a:r>
              <a:rPr lang="en-US" altLang="ko-KR"/>
              <a:t> </a:t>
            </a:r>
            <a:r>
              <a:rPr lang="ko-KR" altLang="en-US"/>
              <a:t>학습에 비효율</a:t>
            </a:r>
            <a:endParaRPr lang="en-US" altLang="ko-KR"/>
          </a:p>
          <a:p>
            <a:r>
              <a:rPr lang="en-US" altLang="ko-KR"/>
              <a:t>	2. easy negative </a:t>
            </a:r>
            <a:r>
              <a:rPr lang="ko-KR" altLang="en-US"/>
              <a:t>각각은 높은 확률로 객체가 아님을 구분함</a:t>
            </a:r>
            <a:endParaRPr lang="en-US" altLang="ko-KR"/>
          </a:p>
          <a:p>
            <a:r>
              <a:rPr lang="en-US" altLang="ko-KR"/>
              <a:t>	   =&gt; </a:t>
            </a:r>
            <a:r>
              <a:rPr lang="ko-KR" altLang="en-US"/>
              <a:t>각각의 </a:t>
            </a:r>
            <a:r>
              <a:rPr lang="en-US" altLang="ko-KR"/>
              <a:t>loss</a:t>
            </a:r>
            <a:r>
              <a:rPr lang="ko-KR" altLang="en-US"/>
              <a:t>값은 작다</a:t>
            </a:r>
            <a:endParaRPr lang="en-US" altLang="ko-KR"/>
          </a:p>
          <a:p>
            <a:r>
              <a:rPr lang="en-US" altLang="ko-KR"/>
              <a:t>	   =&gt; </a:t>
            </a:r>
            <a:r>
              <a:rPr lang="ko-KR" altLang="en-US"/>
              <a:t>배경의 비율이 큼으로 전체 </a:t>
            </a:r>
            <a:r>
              <a:rPr lang="en-US" altLang="ko-KR"/>
              <a:t>loss </a:t>
            </a:r>
            <a:r>
              <a:rPr lang="ko-KR" altLang="en-US"/>
              <a:t>및 </a:t>
            </a:r>
            <a:r>
              <a:rPr lang="en-US" altLang="ko-KR"/>
              <a:t>gradient</a:t>
            </a:r>
            <a:r>
              <a:rPr lang="ko-KR" altLang="en-US"/>
              <a:t>를 계산 할 때 </a:t>
            </a:r>
            <a:r>
              <a:rPr lang="en-US" altLang="ko-KR"/>
              <a:t>easy negative</a:t>
            </a:r>
            <a:r>
              <a:rPr lang="ko-KR" altLang="en-US"/>
              <a:t>의 영향이 큼</a:t>
            </a:r>
            <a:endParaRPr lang="en-US" altLang="ko-KR"/>
          </a:p>
        </p:txBody>
      </p:sp>
      <p:pic>
        <p:nvPicPr>
          <p:cNvPr id="1026" name="Picture 2" descr="Why Accuracy Is Not A Good Metric For Imbalanced Data – Towards AI">
            <a:extLst>
              <a:ext uri="{FF2B5EF4-FFF2-40B4-BE49-F238E27FC236}">
                <a16:creationId xmlns:a16="http://schemas.microsoft.com/office/drawing/2014/main" id="{A28AEF47-3FFF-47A4-B869-804A0B948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196" y="756884"/>
            <a:ext cx="6622181" cy="33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025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81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Cross Entropy Loss </a:t>
            </a:r>
            <a:r>
              <a:rPr lang="ko-KR" altLang="en-US" b="1"/>
              <a:t>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9CEA3-90D2-403A-91C7-792347593336}"/>
              </a:ext>
            </a:extLst>
          </p:cNvPr>
          <p:cNvSpPr txBox="1"/>
          <p:nvPr/>
        </p:nvSpPr>
        <p:spPr>
          <a:xfrm>
            <a:off x="328240" y="862242"/>
            <a:ext cx="9761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모든 </a:t>
            </a:r>
            <a:r>
              <a:rPr lang="en-US" altLang="ko-KR"/>
              <a:t>sample</a:t>
            </a:r>
            <a:r>
              <a:rPr lang="ko-KR" altLang="en-US"/>
              <a:t>에 대한 예측 결과를 동등하게 가중치를 둠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많은 수의 </a:t>
            </a:r>
            <a:r>
              <a:rPr lang="en-US" altLang="ko-KR"/>
              <a:t>easy sample</a:t>
            </a:r>
            <a:r>
              <a:rPr lang="ko-KR" altLang="en-US"/>
              <a:t>의 </a:t>
            </a:r>
            <a:r>
              <a:rPr lang="en-US" altLang="ko-KR"/>
              <a:t>loss</a:t>
            </a:r>
            <a:r>
              <a:rPr lang="ko-KR" altLang="en-US"/>
              <a:t>가 더해지면 보기 드문 </a:t>
            </a:r>
            <a:r>
              <a:rPr lang="en-US" altLang="ko-KR"/>
              <a:t>class</a:t>
            </a:r>
            <a:r>
              <a:rPr lang="ko-KR" altLang="en-US"/>
              <a:t>를 압도해서 학습이 제대로 안됨</a:t>
            </a:r>
            <a:endParaRPr lang="en-US" altLang="ko-K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015314"/>
                  </p:ext>
                </p:extLst>
              </p:nvPr>
            </p:nvGraphicFramePr>
            <p:xfrm>
              <a:off x="-1358479" y="1629623"/>
              <a:ext cx="9585694" cy="22296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𝑩𝒊𝒏𝒂𝒓𝒚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𝑪𝒓𝒐𝒔𝒔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𝑬𝒏𝒕𝒓𝒐𝒑𝒚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𝑳𝒐𝒔𝒔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en-US" altLang="ko-KR" b="1" i="1">
                            <a:latin typeface="+mj-lt"/>
                          </a:endParaRPr>
                        </a:p>
                        <a:p>
                          <a:pPr latinLnBrk="1"/>
                          <a:endParaRPr lang="en-US" altLang="ko-KR" b="1" i="1">
                            <a:latin typeface="+mj-lt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𝑩𝑪𝑬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altLang="ko-KR" b="1" i="0" smtClean="0">
                                                <a:latin typeface="Cambria Math" panose="02040503050406030204" pitchFamily="18" charset="0"/>
                                              </a:rPr>
                                              <m:t>𝐥𝐨𝐠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𝒑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𝒊𝒇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altLang="ko-KR" b="1" i="0" smtClean="0">
                                                <a:latin typeface="Cambria Math" panose="02040503050406030204" pitchFamily="18" charset="0"/>
                                              </a:rPr>
                                              <m:t>𝐥𝐨𝐠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  <m: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altLang="ko-KR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𝒑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𝒐𝒕𝒉𝒆𝒓𝒘𝒊𝒔𝒆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b="1" i="1">
                            <a:latin typeface="+mj-lt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𝒊𝒇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𝒐𝒕𝒉𝒆𝒓𝒘𝒊𝒔𝒆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ko-KR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015314"/>
                  </p:ext>
                </p:extLst>
              </p:nvPr>
            </p:nvGraphicFramePr>
            <p:xfrm>
              <a:off x="-1358479" y="1629623"/>
              <a:ext cx="9585694" cy="222961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125196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r="-99873" b="-781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l="-100127" b="-781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977646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l="-100127" t="-1279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D5D7AEB-3D52-4A56-AA95-06821D5BAFD3}"/>
              </a:ext>
            </a:extLst>
          </p:cNvPr>
          <p:cNvSpPr txBox="1"/>
          <p:nvPr/>
        </p:nvSpPr>
        <p:spPr>
          <a:xfrm>
            <a:off x="328240" y="405932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Example </a:t>
            </a:r>
            <a:endParaRPr lang="ko-KR" alt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192ED-C778-4E0A-B1AD-1465E3E5D9DF}"/>
              </a:ext>
            </a:extLst>
          </p:cNvPr>
          <p:cNvSpPr txBox="1"/>
          <p:nvPr/>
        </p:nvSpPr>
        <p:spPr>
          <a:xfrm>
            <a:off x="674750" y="4529467"/>
            <a:ext cx="4111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Foreground case,</a:t>
            </a:r>
            <a:r>
              <a:rPr lang="ko-KR" altLang="en-US"/>
              <a:t> </a:t>
            </a:r>
            <a:r>
              <a:rPr lang="en-US" altLang="ko-KR"/>
              <a:t>y=1</a:t>
            </a:r>
            <a:r>
              <a:rPr lang="ko-KR" altLang="en-US"/>
              <a:t>이고 </a:t>
            </a:r>
            <a:r>
              <a:rPr lang="en-US" altLang="ko-KR"/>
              <a:t>p=0.95</a:t>
            </a:r>
          </a:p>
          <a:p>
            <a:pPr marL="342900" indent="-342900">
              <a:buAutoNum type="arabicPeriod"/>
            </a:pPr>
            <a:r>
              <a:rPr lang="en-US" altLang="ko-KR"/>
              <a:t>Background case, y=0</a:t>
            </a:r>
            <a:r>
              <a:rPr lang="ko-KR" altLang="en-US"/>
              <a:t>이고 </a:t>
            </a:r>
            <a:r>
              <a:rPr lang="en-US" altLang="ko-KR"/>
              <a:t>p=0.05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B7A96E46-EFAA-4065-AADF-108E50C33F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1857085"/>
                  </p:ext>
                </p:extLst>
              </p:nvPr>
            </p:nvGraphicFramePr>
            <p:xfrm>
              <a:off x="2176379" y="5276611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456264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𝑪𝑬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𝑭𝒐𝒓𝒆𝒈𝒓𝒐𝒖𝒏𝒅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𝟗𝟓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𝟎𝟓</m:t>
                                </m:r>
                              </m:oMath>
                            </m:oMathPara>
                          </a14:m>
                          <a:endParaRPr lang="ko-KR" altLang="en-US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9065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𝑩𝑪𝑬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𝑩𝒂𝒄𝒌𝒈𝒓𝒐𝒖𝒏𝒅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b="1" i="0" smtClean="0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𝟎𝟓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𝟎𝟓</m:t>
                                </m:r>
                              </m:oMath>
                            </m:oMathPara>
                          </a14:m>
                          <a:endParaRPr lang="ko-KR" altLang="en-US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627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B7A96E46-EFAA-4065-AADF-108E50C33F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1857085"/>
                  </p:ext>
                </p:extLst>
              </p:nvPr>
            </p:nvGraphicFramePr>
            <p:xfrm>
              <a:off x="2176379" y="5276611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456264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9065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1639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6277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67BAFA-4D0F-4FCC-8FA9-E369E28732AE}"/>
              </a:ext>
            </a:extLst>
          </p:cNvPr>
          <p:cNvSpPr txBox="1"/>
          <p:nvPr/>
        </p:nvSpPr>
        <p:spPr>
          <a:xfrm>
            <a:off x="0" y="5990409"/>
            <a:ext cx="11913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/>
              <a:t>Foreground </a:t>
            </a:r>
            <a:r>
              <a:rPr lang="ko-KR" altLang="en-US"/>
              <a:t>케이스와 </a:t>
            </a:r>
            <a:r>
              <a:rPr lang="en-US" altLang="ko-KR"/>
              <a:t>Background </a:t>
            </a:r>
            <a:r>
              <a:rPr lang="ko-KR" altLang="en-US"/>
              <a:t>케이스 모두 같은 </a:t>
            </a:r>
            <a:r>
              <a:rPr lang="en-US" altLang="ko-KR"/>
              <a:t>loss</a:t>
            </a:r>
            <a:r>
              <a:rPr lang="ko-KR" altLang="en-US"/>
              <a:t>값을 가짐</a:t>
            </a:r>
            <a:endParaRPr lang="en-US" altLang="ko-K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/>
              <a:t>대부분의 입력데이터에 객체보다 배경이 많기 때문에 같은 비율로 </a:t>
            </a:r>
            <a:r>
              <a:rPr lang="en-US" altLang="ko-KR"/>
              <a:t>loss</a:t>
            </a:r>
            <a:r>
              <a:rPr lang="ko-KR" altLang="en-US"/>
              <a:t>값이 업데이트 되면 </a:t>
            </a:r>
            <a:r>
              <a:rPr lang="en-US" altLang="ko-KR"/>
              <a:t>background</a:t>
            </a:r>
            <a:r>
              <a:rPr lang="ko-KR" altLang="en-US"/>
              <a:t>에 대한</a:t>
            </a:r>
            <a:br>
              <a:rPr lang="en-US" altLang="ko-KR"/>
            </a:br>
            <a:r>
              <a:rPr lang="ko-KR" altLang="en-US"/>
              <a:t>학습이 많고 </a:t>
            </a:r>
            <a:r>
              <a:rPr lang="en-US" altLang="ko-KR"/>
              <a:t>Foreground</a:t>
            </a:r>
            <a:r>
              <a:rPr lang="ko-KR" altLang="en-US"/>
              <a:t>에 대한 학습이 줆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043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78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Balanced Cross Entropy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1087797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Foreground</a:t>
                </a:r>
                <a:r>
                  <a:rPr lang="ko-KR" altLang="en-US"/>
                  <a:t>와 </a:t>
                </a:r>
                <a:r>
                  <a:rPr lang="en-US" altLang="ko-KR"/>
                  <a:t>Background</a:t>
                </a:r>
                <a:r>
                  <a:rPr lang="ko-KR" altLang="en-US"/>
                  <a:t>의 비율을 개선하기위해 </a:t>
                </a:r>
                <a:r>
                  <a:rPr lang="en-US" altLang="ko-KR"/>
                  <a:t>BCE</a:t>
                </a:r>
                <a:r>
                  <a:rPr lang="ko-KR" altLang="en-US"/>
                  <a:t>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/>
                  <a:t>를 곱해줌으로 </a:t>
                </a:r>
                <a:r>
                  <a:rPr lang="en-US" altLang="ko-KR"/>
                  <a:t>Balanced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/>
                  <a:t>는 </a:t>
                </a:r>
                <a:r>
                  <a:rPr lang="en-US" altLang="ko-KR"/>
                  <a:t>0~1</a:t>
                </a:r>
                <a:r>
                  <a:rPr lang="ko-KR" altLang="en-US"/>
                  <a:t>사이의 값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Foreground</a:t>
                </a:r>
                <a:r>
                  <a:rPr lang="ko-KR" altLang="en-US"/>
                  <a:t>와 </a:t>
                </a:r>
                <a:r>
                  <a:rPr lang="en-US" altLang="ko-KR"/>
                  <a:t>Background </a:t>
                </a:r>
                <a:r>
                  <a:rPr lang="ko-KR" altLang="en-US"/>
                  <a:t>객체의 클래스 수 각각의 역수의 개수를 각 </a:t>
                </a:r>
                <a:r>
                  <a:rPr lang="en-US" altLang="ko-KR"/>
                  <a:t>loss</a:t>
                </a:r>
                <a:r>
                  <a:rPr lang="ko-KR" altLang="en-US"/>
                  <a:t>에 곱함</a:t>
                </a:r>
                <a:endParaRPr lang="en-US" altLang="ko-KR"/>
              </a:p>
              <a:p>
                <a:r>
                  <a:rPr lang="en-US" altLang="ko-KR"/>
                  <a:t>    =&gt; </a:t>
                </a:r>
                <a:r>
                  <a:rPr lang="ko-KR" altLang="en-US"/>
                  <a:t>클래스가 많은 </a:t>
                </a:r>
                <a:r>
                  <a:rPr lang="en-US" altLang="ko-KR"/>
                  <a:t>Background</a:t>
                </a:r>
                <a:r>
                  <a:rPr lang="ko-KR" altLang="en-US"/>
                  <a:t>의 경우 </a:t>
                </a:r>
                <a:r>
                  <a:rPr lang="en-US" altLang="ko-KR"/>
                  <a:t>loss</a:t>
                </a:r>
                <a:r>
                  <a:rPr lang="ko-KR" altLang="en-US"/>
                  <a:t>작게 반영</a:t>
                </a:r>
                <a:r>
                  <a:rPr lang="en-US" altLang="ko-KR"/>
                  <a:t>, </a:t>
                </a:r>
                <a:r>
                  <a:rPr lang="ko-KR" altLang="en-US"/>
                  <a:t>클래스 수가 적은 </a:t>
                </a:r>
                <a:r>
                  <a:rPr lang="en-US" altLang="ko-KR"/>
                  <a:t>Foreground</a:t>
                </a:r>
                <a:r>
                  <a:rPr lang="ko-KR" altLang="en-US"/>
                  <a:t>는 </a:t>
                </a:r>
                <a:r>
                  <a:rPr lang="en-US" altLang="ko-KR"/>
                  <a:t>loss </a:t>
                </a:r>
                <a:r>
                  <a:rPr lang="ko-KR" altLang="en-US"/>
                  <a:t>크게반영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하지만</a:t>
                </a:r>
                <a:r>
                  <a:rPr lang="en-US" altLang="ko-KR"/>
                  <a:t>, </a:t>
                </a:r>
                <a:r>
                  <a:rPr lang="ko-KR" altLang="en-US"/>
                  <a:t>개수에 따라 </a:t>
                </a:r>
                <a:r>
                  <a:rPr lang="en-US" altLang="ko-KR"/>
                  <a:t>Easy/Hard example</a:t>
                </a:r>
                <a:r>
                  <a:rPr lang="ko-KR" altLang="en-US"/>
                  <a:t>을 구분하지 못함</a:t>
                </a:r>
                <a:endParaRPr lang="en-US" altLang="ko-KR"/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10877978" cy="1754326"/>
              </a:xfrm>
              <a:prstGeom prst="rect">
                <a:avLst/>
              </a:prstGeom>
              <a:blipFill>
                <a:blip r:embed="rId12"/>
                <a:stretch>
                  <a:fillRect l="-392" t="-17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36349"/>
                  </p:ext>
                </p:extLst>
              </p:nvPr>
            </p:nvGraphicFramePr>
            <p:xfrm>
              <a:off x="1907500" y="2477280"/>
              <a:ext cx="8128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αlog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36349"/>
                  </p:ext>
                </p:extLst>
              </p:nvPr>
            </p:nvGraphicFramePr>
            <p:xfrm>
              <a:off x="1907500" y="2477280"/>
              <a:ext cx="8128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3"/>
                          <a:stretch>
                            <a:fillRect b="-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EC718CE-ABBA-486E-BCF9-5BFADEAA41F0}"/>
              </a:ext>
            </a:extLst>
          </p:cNvPr>
          <p:cNvSpPr txBox="1"/>
          <p:nvPr/>
        </p:nvSpPr>
        <p:spPr>
          <a:xfrm>
            <a:off x="328240" y="321229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Example 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4BC4AF-0852-4DC7-BACD-C86D31E6B618}"/>
                  </a:ext>
                </a:extLst>
              </p:cNvPr>
              <p:cNvSpPr txBox="1"/>
              <p:nvPr/>
            </p:nvSpPr>
            <p:spPr>
              <a:xfrm>
                <a:off x="674750" y="3682441"/>
                <a:ext cx="50320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/>
                  <a:t>Foreground case,</a:t>
                </a:r>
                <a:r>
                  <a:rPr lang="ko-KR" altLang="en-US"/>
                  <a:t> </a:t>
                </a:r>
                <a:r>
                  <a:rPr lang="en-US" altLang="ko-KR"/>
                  <a:t>y=1</a:t>
                </a:r>
                <a:r>
                  <a:rPr lang="ko-KR" altLang="en-US"/>
                  <a:t>이고 </a:t>
                </a:r>
                <a:r>
                  <a:rPr lang="en-US" altLang="ko-KR"/>
                  <a:t>p=0.95,</a:t>
                </a:r>
                <a:r>
                  <a:rPr lang="en-US" altLang="ko-KR" b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/>
                  <a:t>=0.75 </a:t>
                </a:r>
              </a:p>
              <a:p>
                <a:pPr marL="342900" indent="-342900">
                  <a:buAutoNum type="arabicPeriod"/>
                </a:pPr>
                <a:r>
                  <a:rPr lang="en-US" altLang="ko-KR"/>
                  <a:t>Background case, y=0</a:t>
                </a:r>
                <a:r>
                  <a:rPr lang="ko-KR" altLang="en-US"/>
                  <a:t>이고 </a:t>
                </a:r>
                <a:r>
                  <a:rPr lang="en-US" altLang="ko-KR"/>
                  <a:t>p=0.05,</a:t>
                </a:r>
                <a:r>
                  <a:rPr lang="en-US" altLang="ko-KR" b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/>
                  <a:t>=0.25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4BC4AF-0852-4DC7-BACD-C86D31E6B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50" y="3682441"/>
                <a:ext cx="5032019" cy="646331"/>
              </a:xfrm>
              <a:prstGeom prst="rect">
                <a:avLst/>
              </a:prstGeom>
              <a:blipFill>
                <a:blip r:embed="rId14"/>
                <a:stretch>
                  <a:fillRect l="-1333" t="-8491" r="-121" b="-169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4">
                <a:extLst>
                  <a:ext uri="{FF2B5EF4-FFF2-40B4-BE49-F238E27FC236}">
                    <a16:creationId xmlns:a16="http://schemas.microsoft.com/office/drawing/2014/main" id="{0C5670F7-C1A8-437D-8201-0AD38B864E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204163"/>
                  </p:ext>
                </p:extLst>
              </p:nvPr>
            </p:nvGraphicFramePr>
            <p:xfrm>
              <a:off x="2176379" y="4429585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456264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𝑪𝑬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𝑭𝒐𝒓𝒆𝒈𝒓𝒐𝒖𝒏𝒅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b="1" i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1" i="0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𝟗𝟓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𝟎𝟑𝟖</m:t>
                                </m:r>
                              </m:oMath>
                            </m:oMathPara>
                          </a14:m>
                          <a:endParaRPr lang="ko-KR" altLang="en-US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9065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𝑩𝑪𝑬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𝑩𝒂𝒄𝒌𝒈𝒓𝒐𝒖𝒏𝒅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1" i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ko-KR" b="1" i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b="1" i="0" smtClean="0">
                                        <a:latin typeface="Cambria Math" panose="02040503050406030204" pitchFamily="18" charset="0"/>
                                      </a:rPr>
                                      <m:t>𝟕𝟓</m:t>
                                    </m:r>
                                  </m:e>
                                </m:d>
                                <m:r>
                                  <a:rPr lang="en-US" altLang="ko-KR" b="1" i="0" smtClean="0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𝟎𝟓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𝟎𝟏𝟐𝟖</m:t>
                                </m:r>
                              </m:oMath>
                            </m:oMathPara>
                          </a14:m>
                          <a:endParaRPr lang="ko-KR" altLang="en-US" b="1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627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4">
                <a:extLst>
                  <a:ext uri="{FF2B5EF4-FFF2-40B4-BE49-F238E27FC236}">
                    <a16:creationId xmlns:a16="http://schemas.microsoft.com/office/drawing/2014/main" id="{0C5670F7-C1A8-437D-8201-0AD38B864E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204163"/>
                  </p:ext>
                </p:extLst>
              </p:nvPr>
            </p:nvGraphicFramePr>
            <p:xfrm>
              <a:off x="2176379" y="4429585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456264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5"/>
                          <a:stretch>
                            <a:fillRect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9065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5"/>
                          <a:stretch>
                            <a:fillRect t="-101639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6277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533E0A4-18FF-4535-AEBB-C520DB1427CF}"/>
              </a:ext>
            </a:extLst>
          </p:cNvPr>
          <p:cNvSpPr txBox="1"/>
          <p:nvPr/>
        </p:nvSpPr>
        <p:spPr>
          <a:xfrm>
            <a:off x="0" y="5143383"/>
            <a:ext cx="11080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/>
              <a:t>통상적으로 </a:t>
            </a:r>
            <a:r>
              <a:rPr lang="en-US" altLang="ko-KR"/>
              <a:t>Background</a:t>
            </a:r>
            <a:r>
              <a:rPr lang="ko-KR" altLang="en-US"/>
              <a:t>의 객체수가 더 많음으로 더 낮은 </a:t>
            </a:r>
            <a:r>
              <a:rPr lang="en-US" altLang="ko-KR"/>
              <a:t>loss</a:t>
            </a:r>
            <a:r>
              <a:rPr lang="ko-KR" altLang="en-US"/>
              <a:t>를 반영하기 위해 더 작은 </a:t>
            </a:r>
            <a:r>
              <a:rPr lang="en-US" altLang="ko-KR"/>
              <a:t>weight</a:t>
            </a:r>
            <a:r>
              <a:rPr lang="ko-KR" altLang="en-US"/>
              <a:t>를 반영</a:t>
            </a:r>
            <a:endParaRPr lang="en-US" altLang="ko-KR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/>
              <a:t>Easy/Hard</a:t>
            </a:r>
            <a:r>
              <a:rPr lang="ko-KR" altLang="en-US"/>
              <a:t>에 대한 반영은 없음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8223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1F1E4EB-BFF1-4A9C-941D-8CFA19982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66" b="98187" l="48" r="99189">
                        <a14:foregroundMark x1="6441" y1="6647" x2="3340" y2="52870"/>
                        <a14:foregroundMark x1="3340" y1="52870" x2="8635" y2="77341"/>
                        <a14:foregroundMark x1="8635" y1="77341" x2="20897" y2="79758"/>
                        <a14:foregroundMark x1="20897" y1="79758" x2="17796" y2="61329"/>
                        <a14:foregroundMark x1="17796" y1="61329" x2="2719" y2="45166"/>
                        <a14:foregroundMark x1="21040" y1="54985" x2="18559" y2="65408"/>
                        <a14:foregroundMark x1="18559" y1="65408" x2="20324" y2="89728"/>
                        <a14:foregroundMark x1="20324" y1="89728" x2="41651" y2="96526"/>
                        <a14:foregroundMark x1="41651" y1="96526" x2="49618" y2="82628"/>
                        <a14:foregroundMark x1="49618" y1="82628" x2="44036" y2="59819"/>
                        <a14:foregroundMark x1="44036" y1="59819" x2="34828" y2="53021"/>
                        <a14:foregroundMark x1="34828" y1="53021" x2="25906" y2="69789"/>
                        <a14:foregroundMark x1="31918" y1="62538" x2="17032" y2="76586"/>
                        <a14:foregroundMark x1="25048" y1="59668" x2="4532" y2="82175"/>
                        <a14:foregroundMark x1="4532" y1="82175" x2="4485" y2="82175"/>
                        <a14:foregroundMark x1="5725" y1="6949" x2="2529" y2="17069"/>
                        <a14:foregroundMark x1="2529" y1="17069" x2="143" y2="43202"/>
                        <a14:foregroundMark x1="143" y1="43202" x2="239" y2="91843"/>
                        <a14:foregroundMark x1="52052" y1="55136" x2="58063" y2="73565"/>
                        <a14:foregroundMark x1="67939" y1="9366" x2="80916" y2="32931"/>
                        <a14:foregroundMark x1="80916" y1="32931" x2="71517" y2="69033"/>
                        <a14:foregroundMark x1="71517" y1="69033" x2="69895" y2="28248"/>
                        <a14:foregroundMark x1="90363" y1="24773" x2="86784" y2="64804"/>
                        <a14:foregroundMark x1="86784" y1="64804" x2="75143" y2="60121"/>
                        <a14:foregroundMark x1="75143" y1="60121" x2="77529" y2="29456"/>
                        <a14:foregroundMark x1="89456" y1="3625" x2="98950" y2="4683"/>
                        <a14:foregroundMark x1="83826" y1="8761" x2="85687" y2="42447"/>
                        <a14:foregroundMark x1="85687" y1="42447" x2="62739" y2="74018"/>
                        <a14:foregroundMark x1="62739" y1="74018" x2="10782" y2="34743"/>
                        <a14:foregroundMark x1="10782" y1="34743" x2="6250" y2="20544"/>
                        <a14:foregroundMark x1="32414" y1="29705" x2="67939" y2="42145"/>
                        <a14:foregroundMark x1="6250" y1="20544" x2="10060" y2="21878"/>
                        <a14:foregroundMark x1="29617" y1="32034" x2="25573" y2="30967"/>
                        <a14:foregroundMark x1="67939" y1="42145" x2="30697" y2="32319"/>
                        <a14:foregroundMark x1="25573" y1="30967" x2="36450" y2="60423"/>
                        <a14:foregroundMark x1="36450" y1="60423" x2="56775" y2="45770"/>
                        <a14:foregroundMark x1="56775" y1="45770" x2="74189" y2="50000"/>
                        <a14:foregroundMark x1="74189" y1="50000" x2="91698" y2="83535"/>
                        <a14:foregroundMark x1="91698" y1="83535" x2="92605" y2="84290"/>
                        <a14:foregroundMark x1="92844" y1="28248" x2="95992" y2="96073"/>
                        <a14:foregroundMark x1="90172" y1="14804" x2="34590" y2="15559"/>
                        <a14:foregroundMark x1="34590" y1="15559" x2="34590" y2="15559"/>
                        <a14:foregroundMark x1="13502" y1="2266" x2="1670" y2="10423"/>
                        <a14:foregroundMark x1="23597" y1="11447" x2="34924" y2="13293"/>
                        <a14:foregroundMark x1="19474" y1="10775" x2="23419" y2="11418"/>
                        <a14:foregroundMark x1="11628" y1="9497" x2="17734" y2="10492"/>
                        <a14:foregroundMark x1="2481" y1="8006" x2="10055" y2="9240"/>
                        <a14:foregroundMark x1="69275" y1="26133" x2="52529" y2="41843"/>
                        <a14:foregroundMark x1="60305" y1="28248" x2="60305" y2="28248"/>
                        <a14:foregroundMark x1="61546" y1="52266" x2="61546" y2="52266"/>
                        <a14:foregroundMark x1="64027" y1="74018" x2="70849" y2="74622"/>
                        <a14:foregroundMark x1="83635" y1="80060" x2="84494" y2="80060"/>
                        <a14:foregroundMark x1="98807" y1="53927" x2="98807" y2="53927"/>
                        <a14:foregroundMark x1="99189" y1="18731" x2="96374" y2="77190"/>
                        <a14:foregroundMark x1="96374" y1="77190" x2="96374" y2="77190"/>
                        <a14:foregroundMark x1="98473" y1="48036" x2="97471" y2="87915"/>
                        <a14:foregroundMark x1="96469" y1="95468" x2="72710" y2="95468"/>
                        <a14:foregroundMark x1="75716" y1="93958" x2="36307" y2="89426"/>
                        <a14:foregroundMark x1="80677" y1="81873" x2="85544" y2="79607"/>
                        <a14:foregroundMark x1="49714" y1="70695" x2="29389" y2="69789"/>
                        <a14:foregroundMark x1="38120" y1="98187" x2="2958" y2="96073"/>
                        <a14:backgroundMark x1="13216" y1="17523" x2="13216" y2="17523"/>
                        <a14:backgroundMark x1="11594" y1="11934" x2="13168" y2="28097"/>
                        <a14:backgroundMark x1="13168" y1="28097" x2="12786" y2="13595"/>
                        <a14:backgroundMark x1="12786" y1="13595" x2="12309" y2="12689"/>
                        <a14:backgroundMark x1="19609" y1="11631" x2="17796" y2="29003"/>
                        <a14:backgroundMark x1="17796" y1="29003" x2="24714" y2="20544"/>
                        <a14:backgroundMark x1="24714" y1="20544" x2="17605" y2="9668"/>
                        <a14:backgroundMark x1="31298" y1="19335" x2="30439" y2="23263"/>
                        <a14:backgroundMark x1="32538" y1="24773" x2="29628" y2="27946"/>
                        <a14:backgroundMark x1="31011" y1="20544" x2="24905" y2="28399"/>
                        <a14:backgroundMark x1="28865" y1="20846" x2="21040" y2="30816"/>
                        <a14:backgroundMark x1="24141" y1="12689" x2="19609" y2="29003"/>
                        <a14:backgroundMark x1="24571" y1="17976" x2="17891" y2="32175"/>
                        <a14:backgroundMark x1="22328" y1="26435" x2="21326" y2="27946"/>
                        <a14:backgroundMark x1="22519" y1="26133" x2="22090" y2="27644"/>
                        <a14:backgroundMark x1="22758" y1="26435" x2="22758" y2="26435"/>
                        <a14:backgroundMark x1="21994" y1="22961" x2="19370" y2="26586"/>
                        <a14:backgroundMark x1="19370" y1="24320" x2="18798" y2="25831"/>
                        <a14:backgroundMark x1="10115" y1="9063" x2="18702" y2="29456"/>
                        <a14:backgroundMark x1="18702" y1="29456" x2="20181" y2="29456"/>
                        <a14:backgroundMark x1="14981" y1="18278" x2="14981" y2="19033"/>
                        <a14:backgroundMark x1="15458" y1="25378" x2="15458" y2="25378"/>
                        <a14:backgroundMark x1="13740" y1="23263" x2="13740" y2="23263"/>
                        <a14:backgroundMark x1="15124" y1="27190" x2="15792" y2="30514"/>
                        <a14:backgroundMark x1="11069" y1="12689" x2="10735" y2="28399"/>
                        <a14:backgroundMark x1="12071" y1="22961" x2="12071" y2="23716"/>
                        <a14:backgroundMark x1="11737" y1="21450" x2="11737" y2="24018"/>
                        <a14:backgroundMark x1="28197" y1="22659" x2="28197" y2="28399"/>
                        <a14:backgroundMark x1="30868" y1="26888" x2="21756" y2="29758"/>
                        <a14:backgroundMark x1="31011" y1="27644" x2="32013" y2="23263"/>
                        <a14:backgroundMark x1="32204" y1="23263" x2="29103" y2="30514"/>
                        <a14:backgroundMark x1="33158" y1="25831" x2="29389" y2="31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58221"/>
            <a:ext cx="11883169" cy="37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Focal Loss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10544233" cy="20417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Easy Example</a:t>
                </a:r>
                <a:r>
                  <a:rPr lang="ko-KR" altLang="en-US"/>
                  <a:t>의 </a:t>
                </a:r>
                <a:r>
                  <a:rPr lang="en-US" altLang="ko-KR"/>
                  <a:t>weight </a:t>
                </a:r>
                <a:r>
                  <a:rPr lang="ko-KR" altLang="en-US"/>
                  <a:t>줄이고</a:t>
                </a:r>
                <a:r>
                  <a:rPr lang="en-US" altLang="ko-KR"/>
                  <a:t>, Hard Example</a:t>
                </a:r>
                <a:r>
                  <a:rPr lang="ko-KR" altLang="en-US"/>
                  <a:t>에 대한 학습에 초점을 두는 </a:t>
                </a:r>
                <a:r>
                  <a:rPr lang="en-US" altLang="ko-KR"/>
                  <a:t>Focal loss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Easy</a:t>
                </a:r>
                <a:r>
                  <a:rPr lang="ko-KR" altLang="en-US"/>
                  <a:t> </a:t>
                </a:r>
                <a:r>
                  <a:rPr lang="en-US" altLang="ko-KR"/>
                  <a:t>Example</a:t>
                </a:r>
                <a:r>
                  <a:rPr lang="ko-KR" altLang="en-US"/>
                  <a:t>에 대해 모델 출력 확률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/>
                  <a:t>가 높게 나올테니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r>
                  <a:rPr lang="ko-KR" altLang="en-US"/>
                  <a:t>를 </a:t>
                </a:r>
                <a:r>
                  <a:rPr lang="en-US" altLang="ko-KR"/>
                  <a:t>BCE</a:t>
                </a:r>
                <a:r>
                  <a:rPr lang="ko-KR" altLang="en-US"/>
                  <a:t>에 추가해줌으로</a:t>
                </a:r>
                <a:br>
                  <a:rPr lang="en-US" altLang="ko-KR"/>
                </a:br>
                <a:r>
                  <a:rPr lang="ko-KR" altLang="en-US"/>
                  <a:t>높은 확신에 대해 패널티를 주는 방법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/>
                  <a:t> Focusing paramete</a:t>
                </a:r>
                <a:r>
                  <a:rPr lang="ko-KR" altLang="en-US"/>
                  <a:t>라 하며 </a:t>
                </a:r>
                <a:r>
                  <a:rPr lang="en-US" altLang="ko-KR"/>
                  <a:t>Easy Example</a:t>
                </a:r>
                <a:r>
                  <a:rPr lang="ko-KR" altLang="en-US"/>
                  <a:t>에 대한 </a:t>
                </a:r>
                <a:r>
                  <a:rPr lang="en-US" altLang="ko-KR"/>
                  <a:t>loss</a:t>
                </a:r>
                <a:r>
                  <a:rPr lang="ko-KR" altLang="en-US"/>
                  <a:t>의 비중을 낮추는 역할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Hard Example</a:t>
                </a:r>
                <a:r>
                  <a:rPr lang="ko-KR" altLang="en-US"/>
                  <a:t>에 대해서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낮게 나옴으로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상대적으로 높게 나옴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즉</a:t>
                </a:r>
                <a:r>
                  <a:rPr lang="en-US" altLang="ko-KR"/>
                  <a:t>,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/>
                  <a:t>가 높을 수록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작을수록 </a:t>
                </a:r>
                <a:r>
                  <a:rPr lang="en-US" altLang="ko-KR"/>
                  <a:t>loss</a:t>
                </a:r>
                <a:r>
                  <a:rPr lang="ko-KR" altLang="en-US"/>
                  <a:t>는 더 작아짐</a:t>
                </a:r>
                <a:r>
                  <a:rPr lang="en-US" altLang="ko-KR"/>
                  <a:t>(</a:t>
                </a:r>
                <a:r>
                  <a:rPr lang="ko-KR" altLang="en-US"/>
                  <a:t>확신이 높은 </a:t>
                </a:r>
                <a:r>
                  <a:rPr lang="en-US" altLang="ko-KR"/>
                  <a:t>Example</a:t>
                </a:r>
                <a:r>
                  <a:rPr lang="ko-KR" altLang="en-US"/>
                  <a:t>은 패널티를 더 받음</a:t>
                </a:r>
                <a:r>
                  <a:rPr lang="en-US" altLang="ko-KR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10544233" cy="2041713"/>
              </a:xfrm>
              <a:prstGeom prst="rect">
                <a:avLst/>
              </a:prstGeom>
              <a:blipFill>
                <a:blip r:embed="rId12"/>
                <a:stretch>
                  <a:fillRect l="-405" t="-1493" r="-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351556"/>
                  </p:ext>
                </p:extLst>
              </p:nvPr>
            </p:nvGraphicFramePr>
            <p:xfrm>
              <a:off x="-1130876" y="3583206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b="0" i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351556"/>
                  </p:ext>
                </p:extLst>
              </p:nvPr>
            </p:nvGraphicFramePr>
            <p:xfrm>
              <a:off x="-1130876" y="3583206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3"/>
                          <a:stretch>
                            <a:fillRect b="-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568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1F1E4EB-BFF1-4A9C-941D-8CFA19982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66" b="98187" l="48" r="99189">
                        <a14:foregroundMark x1="6441" y1="6647" x2="3340" y2="52870"/>
                        <a14:foregroundMark x1="3340" y1="52870" x2="8635" y2="77341"/>
                        <a14:foregroundMark x1="8635" y1="77341" x2="20897" y2="79758"/>
                        <a14:foregroundMark x1="20897" y1="79758" x2="17796" y2="61329"/>
                        <a14:foregroundMark x1="17796" y1="61329" x2="2719" y2="45166"/>
                        <a14:foregroundMark x1="21040" y1="54985" x2="18559" y2="65408"/>
                        <a14:foregroundMark x1="18559" y1="65408" x2="20324" y2="89728"/>
                        <a14:foregroundMark x1="20324" y1="89728" x2="41651" y2="96526"/>
                        <a14:foregroundMark x1="41651" y1="96526" x2="49618" y2="82628"/>
                        <a14:foregroundMark x1="49618" y1="82628" x2="44036" y2="59819"/>
                        <a14:foregroundMark x1="44036" y1="59819" x2="34828" y2="53021"/>
                        <a14:foregroundMark x1="34828" y1="53021" x2="25906" y2="69789"/>
                        <a14:foregroundMark x1="31918" y1="62538" x2="17032" y2="76586"/>
                        <a14:foregroundMark x1="25048" y1="59668" x2="4532" y2="82175"/>
                        <a14:foregroundMark x1="4532" y1="82175" x2="4485" y2="82175"/>
                        <a14:foregroundMark x1="5725" y1="6949" x2="2529" y2="17069"/>
                        <a14:foregroundMark x1="2529" y1="17069" x2="143" y2="43202"/>
                        <a14:foregroundMark x1="143" y1="43202" x2="239" y2="91843"/>
                        <a14:foregroundMark x1="52052" y1="55136" x2="58063" y2="73565"/>
                        <a14:foregroundMark x1="67939" y1="9366" x2="80916" y2="32931"/>
                        <a14:foregroundMark x1="80916" y1="32931" x2="71517" y2="69033"/>
                        <a14:foregroundMark x1="71517" y1="69033" x2="69895" y2="28248"/>
                        <a14:foregroundMark x1="90363" y1="24773" x2="86784" y2="64804"/>
                        <a14:foregroundMark x1="86784" y1="64804" x2="75143" y2="60121"/>
                        <a14:foregroundMark x1="75143" y1="60121" x2="77529" y2="29456"/>
                        <a14:foregroundMark x1="89456" y1="3625" x2="98950" y2="4683"/>
                        <a14:foregroundMark x1="83826" y1="8761" x2="85687" y2="42447"/>
                        <a14:foregroundMark x1="85687" y1="42447" x2="62739" y2="74018"/>
                        <a14:foregroundMark x1="62739" y1="74018" x2="10782" y2="34743"/>
                        <a14:foregroundMark x1="10782" y1="34743" x2="6250" y2="20544"/>
                        <a14:foregroundMark x1="32414" y1="29705" x2="67939" y2="42145"/>
                        <a14:foregroundMark x1="6250" y1="20544" x2="10060" y2="21878"/>
                        <a14:foregroundMark x1="29617" y1="32034" x2="25573" y2="30967"/>
                        <a14:foregroundMark x1="67939" y1="42145" x2="30697" y2="32319"/>
                        <a14:foregroundMark x1="25573" y1="30967" x2="36450" y2="60423"/>
                        <a14:foregroundMark x1="36450" y1="60423" x2="56775" y2="45770"/>
                        <a14:foregroundMark x1="56775" y1="45770" x2="74189" y2="50000"/>
                        <a14:foregroundMark x1="74189" y1="50000" x2="91698" y2="83535"/>
                        <a14:foregroundMark x1="91698" y1="83535" x2="92605" y2="84290"/>
                        <a14:foregroundMark x1="92844" y1="28248" x2="95992" y2="96073"/>
                        <a14:foregroundMark x1="90172" y1="14804" x2="34590" y2="15559"/>
                        <a14:foregroundMark x1="34590" y1="15559" x2="34590" y2="15559"/>
                        <a14:foregroundMark x1="13502" y1="2266" x2="1670" y2="10423"/>
                        <a14:foregroundMark x1="23597" y1="11447" x2="34924" y2="13293"/>
                        <a14:foregroundMark x1="19474" y1="10775" x2="23419" y2="11418"/>
                        <a14:foregroundMark x1="11628" y1="9497" x2="17734" y2="10492"/>
                        <a14:foregroundMark x1="2481" y1="8006" x2="10055" y2="9240"/>
                        <a14:foregroundMark x1="69275" y1="26133" x2="52529" y2="41843"/>
                        <a14:foregroundMark x1="60305" y1="28248" x2="60305" y2="28248"/>
                        <a14:foregroundMark x1="61546" y1="52266" x2="61546" y2="52266"/>
                        <a14:foregroundMark x1="64027" y1="74018" x2="70849" y2="74622"/>
                        <a14:foregroundMark x1="83635" y1="80060" x2="84494" y2="80060"/>
                        <a14:foregroundMark x1="98807" y1="53927" x2="98807" y2="53927"/>
                        <a14:foregroundMark x1="99189" y1="18731" x2="96374" y2="77190"/>
                        <a14:foregroundMark x1="96374" y1="77190" x2="96374" y2="77190"/>
                        <a14:foregroundMark x1="98473" y1="48036" x2="97471" y2="87915"/>
                        <a14:foregroundMark x1="96469" y1="95468" x2="72710" y2="95468"/>
                        <a14:foregroundMark x1="75716" y1="93958" x2="36307" y2="89426"/>
                        <a14:foregroundMark x1="80677" y1="81873" x2="85544" y2="79607"/>
                        <a14:foregroundMark x1="49714" y1="70695" x2="29389" y2="69789"/>
                        <a14:foregroundMark x1="38120" y1="98187" x2="2958" y2="96073"/>
                        <a14:backgroundMark x1="13216" y1="17523" x2="13216" y2="17523"/>
                        <a14:backgroundMark x1="11594" y1="11934" x2="13168" y2="28097"/>
                        <a14:backgroundMark x1="13168" y1="28097" x2="12786" y2="13595"/>
                        <a14:backgroundMark x1="12786" y1="13595" x2="12309" y2="12689"/>
                        <a14:backgroundMark x1="19609" y1="11631" x2="17796" y2="29003"/>
                        <a14:backgroundMark x1="17796" y1="29003" x2="24714" y2="20544"/>
                        <a14:backgroundMark x1="24714" y1="20544" x2="17605" y2="9668"/>
                        <a14:backgroundMark x1="31298" y1="19335" x2="30439" y2="23263"/>
                        <a14:backgroundMark x1="32538" y1="24773" x2="29628" y2="27946"/>
                        <a14:backgroundMark x1="31011" y1="20544" x2="24905" y2="28399"/>
                        <a14:backgroundMark x1="28865" y1="20846" x2="21040" y2="30816"/>
                        <a14:backgroundMark x1="24141" y1="12689" x2="19609" y2="29003"/>
                        <a14:backgroundMark x1="24571" y1="17976" x2="17891" y2="32175"/>
                        <a14:backgroundMark x1="22328" y1="26435" x2="21326" y2="27946"/>
                        <a14:backgroundMark x1="22519" y1="26133" x2="22090" y2="27644"/>
                        <a14:backgroundMark x1="22758" y1="26435" x2="22758" y2="26435"/>
                        <a14:backgroundMark x1="21994" y1="22961" x2="19370" y2="26586"/>
                        <a14:backgroundMark x1="19370" y1="24320" x2="18798" y2="25831"/>
                        <a14:backgroundMark x1="10115" y1="9063" x2="18702" y2="29456"/>
                        <a14:backgroundMark x1="18702" y1="29456" x2="20181" y2="29456"/>
                        <a14:backgroundMark x1="14981" y1="18278" x2="14981" y2="19033"/>
                        <a14:backgroundMark x1="15458" y1="25378" x2="15458" y2="25378"/>
                        <a14:backgroundMark x1="13740" y1="23263" x2="13740" y2="23263"/>
                        <a14:backgroundMark x1="15124" y1="27190" x2="15792" y2="30514"/>
                        <a14:backgroundMark x1="11069" y1="12689" x2="10735" y2="28399"/>
                        <a14:backgroundMark x1="12071" y1="22961" x2="12071" y2="23716"/>
                        <a14:backgroundMark x1="11737" y1="21450" x2="11737" y2="24018"/>
                        <a14:backgroundMark x1="28197" y1="22659" x2="28197" y2="28399"/>
                        <a14:backgroundMark x1="30868" y1="26888" x2="21756" y2="29758"/>
                        <a14:backgroundMark x1="31011" y1="27644" x2="32013" y2="23263"/>
                        <a14:backgroundMark x1="32204" y1="23263" x2="29103" y2="30514"/>
                        <a14:backgroundMark x1="33158" y1="25831" x2="29389" y2="31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564"/>
            <a:ext cx="11883169" cy="37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Focal Loss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595384"/>
                  </p:ext>
                </p:extLst>
              </p:nvPr>
            </p:nvGraphicFramePr>
            <p:xfrm>
              <a:off x="-1130876" y="1590549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b="0" i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595384"/>
                  </p:ext>
                </p:extLst>
              </p:nvPr>
            </p:nvGraphicFramePr>
            <p:xfrm>
              <a:off x="-1130876" y="1590549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b="-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D74E3-CE28-40B5-A404-18C1E6BF4BF3}"/>
                  </a:ext>
                </a:extLst>
              </p:cNvPr>
              <p:cNvSpPr txBox="1"/>
              <p:nvPr/>
            </p:nvSpPr>
            <p:spPr>
              <a:xfrm>
                <a:off x="328240" y="4625731"/>
                <a:ext cx="11331948" cy="17595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BCE</a:t>
                </a:r>
                <a:r>
                  <a:rPr lang="ko-KR" altLang="en-US"/>
                  <a:t>와 같고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/>
                  <a:t>가 커질수록 </a:t>
                </a:r>
                <a:r>
                  <a:rPr lang="en-US" altLang="ko-KR"/>
                  <a:t>Easy Example</a:t>
                </a:r>
                <a:r>
                  <a:rPr lang="ko-KR" altLang="en-US"/>
                  <a:t>에 대한 </a:t>
                </a:r>
                <a:r>
                  <a:rPr lang="en-US" altLang="ko-KR"/>
                  <a:t>loss</a:t>
                </a:r>
                <a:r>
                  <a:rPr lang="ko-KR" altLang="en-US"/>
                  <a:t>가 줄며 범위도 커짐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BCE</a:t>
                </a:r>
                <a:r>
                  <a:rPr lang="ko-KR" altLang="en-US"/>
                  <a:t> 그래프를 보면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/>
                  <a:t>가 높고 낮음에 따라 차이가 크지않음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/>
                  <a:t>에 따른 </a:t>
                </a:r>
                <a:r>
                  <a:rPr lang="en-US" altLang="ko-KR"/>
                  <a:t>Focal Loss</a:t>
                </a:r>
                <a:r>
                  <a:rPr lang="ko-KR" altLang="en-US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/>
                  <a:t> 높고 낮음에 따라 차이가 상대적으로 크다는것을 확인 할 수 있다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즉</a:t>
                </a:r>
                <a:r>
                  <a:rPr lang="en-US" altLang="ko-KR"/>
                  <a:t>, y=1(</a:t>
                </a:r>
                <a:r>
                  <a:rPr lang="ko-KR" altLang="en-US"/>
                  <a:t>객체</a:t>
                </a:r>
                <a:r>
                  <a:rPr lang="en-US" altLang="ko-KR"/>
                  <a:t>)</a:t>
                </a:r>
                <a:r>
                  <a:rPr lang="ko-KR" altLang="en-US"/>
                  <a:t>인 </a:t>
                </a:r>
                <a:r>
                  <a:rPr lang="en-US" altLang="ko-KR"/>
                  <a:t>class</a:t>
                </a:r>
                <a:r>
                  <a:rPr lang="ko-KR" altLang="en-US"/>
                  <a:t>임에도 </a:t>
                </a:r>
                <a:r>
                  <a:rPr lang="en-US" altLang="ko-KR"/>
                  <a:t>pt</a:t>
                </a:r>
                <a:r>
                  <a:rPr lang="ko-KR" altLang="en-US"/>
                  <a:t>가 낮은경우와</a:t>
                </a:r>
                <a:r>
                  <a:rPr lang="en-US" altLang="ko-KR"/>
                  <a:t>, y=-1</a:t>
                </a:r>
                <a:r>
                  <a:rPr lang="ko-KR" altLang="en-US"/>
                  <a:t>임에도 </a:t>
                </a:r>
                <a:r>
                  <a:rPr lang="en-US" altLang="ko-KR"/>
                  <a:t>pt</a:t>
                </a:r>
                <a:r>
                  <a:rPr lang="ko-KR" altLang="en-US"/>
                  <a:t>가 높은경우에 </a:t>
                </a:r>
                <a:r>
                  <a:rPr lang="en-US" altLang="ko-KR"/>
                  <a:t>focal loss</a:t>
                </a:r>
                <a:r>
                  <a:rPr lang="ko-KR" altLang="en-US"/>
                  <a:t>가 높고 반대의 경우</a:t>
                </a:r>
                <a:br>
                  <a:rPr lang="en-US" altLang="ko-KR"/>
                </a:br>
                <a:r>
                  <a:rPr lang="en-US" altLang="ko-KR"/>
                  <a:t>Down-weight</a:t>
                </a:r>
                <a:r>
                  <a:rPr lang="ko-KR" altLang="en-US"/>
                  <a:t>되어 </a:t>
                </a:r>
                <a:r>
                  <a:rPr lang="en-US" altLang="ko-KR"/>
                  <a:t>loss</a:t>
                </a:r>
                <a:r>
                  <a:rPr lang="ko-KR" altLang="en-US"/>
                  <a:t>값이 낮게 나타난다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D74E3-CE28-40B5-A404-18C1E6BF4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4625731"/>
                <a:ext cx="11331948" cy="1759521"/>
              </a:xfrm>
              <a:prstGeom prst="rect">
                <a:avLst/>
              </a:prstGeom>
              <a:blipFill>
                <a:blip r:embed="rId8"/>
                <a:stretch>
                  <a:fillRect l="-377" t="-2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439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AAA72BEC-0AB5-431E-AC0F-D3A9309B3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86" b="96022" l="10000" r="90000">
                        <a14:foregroundMark x1="22556" y1="31828" x2="27444" y2="43333"/>
                        <a14:foregroundMark x1="23667" y1="19570" x2="23000" y2="68710"/>
                        <a14:foregroundMark x1="23833" y1="17527" x2="18167" y2="53978"/>
                        <a14:foregroundMark x1="18167" y1="53978" x2="18167" y2="54301"/>
                        <a14:foregroundMark x1="22944" y1="53656" x2="22778" y2="83763"/>
                        <a14:foregroundMark x1="22778" y1="83763" x2="22833" y2="83871"/>
                        <a14:foregroundMark x1="24167" y1="79355" x2="34000" y2="89677"/>
                        <a14:foregroundMark x1="34000" y1="89677" x2="39333" y2="88172"/>
                        <a14:foregroundMark x1="30722" y1="89140" x2="19222" y2="85699"/>
                        <a14:foregroundMark x1="22667" y1="85914" x2="36444" y2="92581"/>
                        <a14:foregroundMark x1="38111" y1="89570" x2="55889" y2="89032"/>
                        <a14:foregroundMark x1="75000" y1="86129" x2="53889" y2="91075"/>
                        <a14:foregroundMark x1="82167" y1="65054" x2="68833" y2="91505"/>
                        <a14:foregroundMark x1="46278" y1="95376" x2="17278" y2="89892"/>
                        <a14:foregroundMark x1="77944" y1="84516" x2="69222" y2="96022"/>
                        <a14:foregroundMark x1="84222" y1="53441" x2="58944" y2="51183"/>
                        <a14:foregroundMark x1="82556" y1="4086" x2="73471" y2="12846"/>
                        <a14:foregroundMark x1="78556" y1="10430" x2="81500" y2="45806"/>
                        <a14:foregroundMark x1="60167" y1="11613" x2="65056" y2="11720"/>
                        <a14:foregroundMark x1="65056" y1="11505" x2="73556" y2="11828"/>
                        <a14:foregroundMark x1="75667" y1="11828" x2="77611" y2="12043"/>
                        <a14:foregroundMark x1="74444" y1="11828" x2="73722" y2="11828"/>
                        <a14:foregroundMark x1="74611" y1="11828" x2="77778" y2="13118"/>
                        <a14:foregroundMark x1="77056" y1="12796" x2="76111" y2="21290"/>
                        <a14:foregroundMark x1="76167" y1="13656" x2="76278" y2="20430"/>
                        <a14:foregroundMark x1="59944" y1="11935" x2="65667" y2="11935"/>
                        <a14:foregroundMark x1="65444" y1="12043" x2="71667" y2="12043"/>
                        <a14:backgroundMark x1="62944" y1="22151" x2="62056" y2="22688"/>
                        <a14:backgroundMark x1="60278" y1="15054" x2="60333" y2="18602"/>
                        <a14:backgroundMark x1="60611" y1="22473" x2="61722" y2="22473"/>
                        <a14:backgroundMark x1="64833" y1="25054" x2="65556" y2="15914"/>
                        <a14:backgroundMark x1="60440" y1="13478" x2="63333" y2="23226"/>
                        <a14:backgroundMark x1="63333" y1="23226" x2="66333" y2="24731"/>
                        <a14:backgroundMark x1="73111" y1="13548" x2="62889" y2="24516"/>
                        <a14:backgroundMark x1="75390" y1="13704" x2="66833" y2="21720"/>
                        <a14:backgroundMark x1="66833" y1="21720" x2="66500" y2="22473"/>
                        <a14:backgroundMark x1="70944" y1="21613" x2="73500" y2="22366"/>
                        <a14:backgroundMark x1="65389" y1="22151" x2="70944" y2="22366"/>
                        <a14:backgroundMark x1="72278" y1="21613" x2="66056" y2="23333"/>
                        <a14:backgroundMark x1="73667" y1="13441" x2="71667" y2="13441"/>
                        <a14:backgroundMark x1="75722" y1="20538" x2="74833" y2="22688"/>
                        <a14:backgroundMark x1="75833" y1="21505" x2="74778" y2="231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686" y="154273"/>
            <a:ext cx="8226392" cy="425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6">
                <a:extLst>
                  <a:ext uri="{FF2B5EF4-FFF2-40B4-BE49-F238E27FC236}">
                    <a16:creationId xmlns:a16="http://schemas.microsoft.com/office/drawing/2014/main" id="{B4AD284D-39FC-4973-8C99-D8C206E40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4531111"/>
                  </p:ext>
                </p:extLst>
              </p:nvPr>
            </p:nvGraphicFramePr>
            <p:xfrm>
              <a:off x="2621958" y="1605055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b="0" i="0">
                            <a:latin typeface="Cambria Math" panose="02040503050406030204" pitchFamily="18" charset="0"/>
                          </a:endParaRPr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6">
                <a:extLst>
                  <a:ext uri="{FF2B5EF4-FFF2-40B4-BE49-F238E27FC236}">
                    <a16:creationId xmlns:a16="http://schemas.microsoft.com/office/drawing/2014/main" id="{B4AD284D-39FC-4973-8C99-D8C206E40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4531111"/>
                  </p:ext>
                </p:extLst>
              </p:nvPr>
            </p:nvGraphicFramePr>
            <p:xfrm>
              <a:off x="2621958" y="1605055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b="-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Focal Loss(example)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D74E3-CE28-40B5-A404-18C1E6BF4BF3}"/>
              </a:ext>
            </a:extLst>
          </p:cNvPr>
          <p:cNvSpPr txBox="1"/>
          <p:nvPr/>
        </p:nvSpPr>
        <p:spPr>
          <a:xfrm>
            <a:off x="328240" y="4335996"/>
            <a:ext cx="1250739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Background Example</a:t>
            </a:r>
            <a:r>
              <a:rPr lang="ko-KR" altLang="en-US"/>
              <a:t>일때</a:t>
            </a:r>
            <a:r>
              <a:rPr lang="en-US" altLang="ko-KR"/>
              <a:t>, BCE</a:t>
            </a:r>
            <a:r>
              <a:rPr lang="ko-KR" altLang="en-US"/>
              <a:t>에서</a:t>
            </a:r>
            <a:r>
              <a:rPr lang="en-US" altLang="ko-KR"/>
              <a:t> FL</a:t>
            </a:r>
            <a:r>
              <a:rPr lang="ko-KR" altLang="en-US"/>
              <a:t>로 </a:t>
            </a:r>
            <a:r>
              <a:rPr lang="en-US" altLang="ko-KR"/>
              <a:t>loss </a:t>
            </a:r>
            <a:r>
              <a:rPr lang="ko-KR" altLang="en-US"/>
              <a:t>변화를 보면 </a:t>
            </a:r>
            <a:r>
              <a:rPr lang="en-US" altLang="ko-KR"/>
              <a:t>0.1-&gt;0.01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Foreground Example</a:t>
            </a:r>
            <a:r>
              <a:rPr lang="ko-KR" altLang="en-US"/>
              <a:t>일때</a:t>
            </a:r>
            <a:r>
              <a:rPr lang="en-US" altLang="ko-KR"/>
              <a:t>, BCE</a:t>
            </a:r>
            <a:r>
              <a:rPr lang="ko-KR" altLang="en-US"/>
              <a:t>에서</a:t>
            </a:r>
            <a:r>
              <a:rPr lang="en-US" altLang="ko-KR"/>
              <a:t> FL</a:t>
            </a:r>
            <a:r>
              <a:rPr lang="ko-KR" altLang="en-US"/>
              <a:t>로 </a:t>
            </a:r>
            <a:r>
              <a:rPr lang="en-US" altLang="ko-KR"/>
              <a:t>loss </a:t>
            </a:r>
            <a:r>
              <a:rPr lang="ko-KR" altLang="en-US"/>
              <a:t>변화를 보면 </a:t>
            </a:r>
            <a:r>
              <a:rPr lang="en-US" altLang="ko-KR"/>
              <a:t>2.3-&gt;2.1</a:t>
            </a:r>
            <a:endParaRPr lang="ko-KR" altLang="en-US"/>
          </a:p>
          <a:p>
            <a:r>
              <a:rPr lang="en-US" altLang="ko-KR"/>
              <a:t>    =&gt; loss</a:t>
            </a:r>
            <a:r>
              <a:rPr lang="ko-KR" altLang="en-US"/>
              <a:t>값으로 볼때 </a:t>
            </a:r>
            <a:r>
              <a:rPr lang="en-US" altLang="ko-KR"/>
              <a:t>BE</a:t>
            </a:r>
            <a:r>
              <a:rPr lang="ko-KR" altLang="en-US"/>
              <a:t>보다 </a:t>
            </a:r>
            <a:r>
              <a:rPr lang="en-US" altLang="ko-KR"/>
              <a:t>FE</a:t>
            </a:r>
            <a:r>
              <a:rPr lang="ko-KR" altLang="en-US"/>
              <a:t>의 차이가 더 크지만 </a:t>
            </a:r>
            <a:r>
              <a:rPr lang="en-US" altLang="ko-KR"/>
              <a:t>loss</a:t>
            </a:r>
            <a:r>
              <a:rPr lang="ko-KR" altLang="en-US"/>
              <a:t>값이 의미하는 바를 본다면 </a:t>
            </a:r>
            <a:r>
              <a:rPr lang="en-US" altLang="ko-KR"/>
              <a:t>BE</a:t>
            </a:r>
            <a:r>
              <a:rPr lang="ko-KR" altLang="en-US"/>
              <a:t>가 훨씬 많이 감소됨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예를들어</a:t>
            </a:r>
            <a:r>
              <a:rPr lang="en-US" altLang="ko-KR"/>
              <a:t>, BE</a:t>
            </a:r>
            <a:r>
              <a:rPr lang="ko-KR" altLang="en-US"/>
              <a:t>가 </a:t>
            </a:r>
            <a:r>
              <a:rPr lang="en-US" altLang="ko-KR"/>
              <a:t>90% </a:t>
            </a:r>
            <a:r>
              <a:rPr lang="ko-KR" altLang="en-US"/>
              <a:t>확률로 예측했다 가정하면 </a:t>
            </a:r>
            <a:r>
              <a:rPr lang="en-US" altLang="ko-KR"/>
              <a:t>FL</a:t>
            </a:r>
            <a:r>
              <a:rPr lang="ko-KR" altLang="en-US"/>
              <a:t>을 사용함으로 </a:t>
            </a:r>
            <a:r>
              <a:rPr lang="en-US" altLang="ko-KR"/>
              <a:t>99%</a:t>
            </a:r>
            <a:r>
              <a:rPr lang="ko-KR" altLang="en-US"/>
              <a:t>의 확률로 예측한것임으로 학습을</a:t>
            </a:r>
            <a:br>
              <a:rPr lang="en-US" altLang="ko-KR"/>
            </a:br>
            <a:r>
              <a:rPr lang="ko-KR" altLang="en-US"/>
              <a:t>더 하지 않아도 잘 맞출 것이라고 모델이 인지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반면에</a:t>
            </a:r>
            <a:r>
              <a:rPr lang="en-US" altLang="ko-KR"/>
              <a:t>, FE</a:t>
            </a:r>
            <a:r>
              <a:rPr lang="ko-KR" altLang="en-US"/>
              <a:t>는 </a:t>
            </a:r>
            <a:r>
              <a:rPr lang="en-US" altLang="ko-KR"/>
              <a:t>2.3</a:t>
            </a:r>
            <a:r>
              <a:rPr lang="ko-KR" altLang="en-US"/>
              <a:t>에서 </a:t>
            </a:r>
            <a:r>
              <a:rPr lang="en-US" altLang="ko-KR"/>
              <a:t>2.1</a:t>
            </a:r>
            <a:r>
              <a:rPr lang="ko-KR" altLang="en-US"/>
              <a:t>로 낮아지지 않았음으로 데이터에 대해 아직 </a:t>
            </a:r>
            <a:r>
              <a:rPr lang="en-US" altLang="ko-KR"/>
              <a:t>loss</a:t>
            </a:r>
            <a:r>
              <a:rPr lang="ko-KR" altLang="en-US"/>
              <a:t>값이 여전히 높다라고 판단하여 </a:t>
            </a:r>
            <a:br>
              <a:rPr lang="en-US" altLang="ko-KR"/>
            </a:br>
            <a:r>
              <a:rPr lang="en-US" altLang="ko-KR"/>
              <a:t>FE</a:t>
            </a:r>
            <a:r>
              <a:rPr lang="ko-KR" altLang="en-US"/>
              <a:t>에 대해 학습을 더할것이라고 모델이 인지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Hard </a:t>
            </a:r>
            <a:r>
              <a:rPr lang="ko-KR" altLang="en-US"/>
              <a:t>케이스 보다 </a:t>
            </a:r>
            <a:r>
              <a:rPr lang="en-US" altLang="ko-KR"/>
              <a:t>Easy </a:t>
            </a:r>
            <a:r>
              <a:rPr lang="ko-KR" altLang="en-US"/>
              <a:t>케이스의 경우 </a:t>
            </a:r>
            <a:r>
              <a:rPr lang="en-US" altLang="ko-KR"/>
              <a:t>weigh</a:t>
            </a:r>
            <a:r>
              <a:rPr lang="ko-KR" altLang="en-US"/>
              <a:t>가 상대적으로 더 많이 떨어짐을 통해 기존에 문제되었다 </a:t>
            </a:r>
            <a:r>
              <a:rPr lang="en-US" altLang="ko-KR"/>
              <a:t>Easy Negative</a:t>
            </a:r>
            <a:br>
              <a:rPr lang="en-US" altLang="ko-KR"/>
            </a:br>
            <a:r>
              <a:rPr lang="ko-KR" altLang="en-US"/>
              <a:t>케이스에 의한 </a:t>
            </a:r>
            <a:r>
              <a:rPr lang="en-US" altLang="ko-KR"/>
              <a:t>loss</a:t>
            </a:r>
            <a:r>
              <a:rPr lang="ko-KR" altLang="en-US"/>
              <a:t>가 누적되는 것을 개선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FL</a:t>
            </a:r>
            <a:r>
              <a:rPr lang="ko-KR" altLang="en-US"/>
              <a:t>은 모델이 학습할때 오분류하는 데이터에 더 집중해서 학습할수 있도록 도와줌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1E428E3-09BF-41A0-9D41-56B1D7C443EC}"/>
              </a:ext>
            </a:extLst>
          </p:cNvPr>
          <p:cNvGrpSpPr/>
          <p:nvPr/>
        </p:nvGrpSpPr>
        <p:grpSpPr>
          <a:xfrm>
            <a:off x="4304040" y="695717"/>
            <a:ext cx="4938298" cy="2277970"/>
            <a:chOff x="4304040" y="695717"/>
            <a:chExt cx="4938298" cy="227797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12446E6-9D8A-4E22-9783-3B8C09BBD206}"/>
                </a:ext>
              </a:extLst>
            </p:cNvPr>
            <p:cNvSpPr/>
            <p:nvPr/>
          </p:nvSpPr>
          <p:spPr>
            <a:xfrm>
              <a:off x="4304040" y="1044144"/>
              <a:ext cx="1684421" cy="279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chemeClr val="tx1"/>
                  </a:solidFill>
                </a:rPr>
                <a:t>Foreground Example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AB2C13B-EF10-41C9-B15F-3EA0A4C7C08B}"/>
                </a:ext>
              </a:extLst>
            </p:cNvPr>
            <p:cNvSpPr/>
            <p:nvPr/>
          </p:nvSpPr>
          <p:spPr>
            <a:xfrm>
              <a:off x="7557917" y="2694554"/>
              <a:ext cx="1684421" cy="279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chemeClr val="tx1"/>
                  </a:solidFill>
                </a:rPr>
                <a:t>Backound Example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623B5AB-8634-4BE3-B239-21D1E9A13259}"/>
                </a:ext>
              </a:extLst>
            </p:cNvPr>
            <p:cNvGrpSpPr/>
            <p:nvPr/>
          </p:nvGrpSpPr>
          <p:grpSpPr>
            <a:xfrm>
              <a:off x="6853684" y="695717"/>
              <a:ext cx="1546444" cy="687622"/>
              <a:chOff x="5013547" y="224857"/>
              <a:chExt cx="1546444" cy="6876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CFBE26DF-45BD-440A-9622-F8DC0DE91879}"/>
                      </a:ext>
                    </a:extLst>
                  </p:cNvPr>
                  <p:cNvSpPr/>
                  <p:nvPr/>
                </p:nvSpPr>
                <p:spPr>
                  <a:xfrm>
                    <a:off x="5037743" y="613105"/>
                    <a:ext cx="1203158" cy="2791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𝛄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ko-KR" altLang="en-US" sz="2000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CFBE26DF-45BD-440A-9622-F8DC0DE918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7743" y="613105"/>
                    <a:ext cx="1203158" cy="27913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C7CFDAB2-2FED-4335-9D14-9CDF8BFBE5B1}"/>
                  </a:ext>
                </a:extLst>
              </p:cNvPr>
              <p:cNvSpPr/>
              <p:nvPr/>
            </p:nvSpPr>
            <p:spPr>
              <a:xfrm>
                <a:off x="5013547" y="272399"/>
                <a:ext cx="1400175" cy="640080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1C19B07A-72AC-47B3-9319-6BCB5814E47E}"/>
                  </a:ext>
                </a:extLst>
              </p:cNvPr>
              <p:cNvCxnSpPr/>
              <p:nvPr/>
            </p:nvCxnSpPr>
            <p:spPr>
              <a:xfrm>
                <a:off x="5089430" y="374748"/>
                <a:ext cx="333693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F7257916-4E87-4FA8-98DE-8089ACFAD184}"/>
                  </a:ext>
                </a:extLst>
              </p:cNvPr>
              <p:cNvCxnSpPr/>
              <p:nvPr/>
            </p:nvCxnSpPr>
            <p:spPr>
              <a:xfrm>
                <a:off x="5089430" y="592439"/>
                <a:ext cx="333693" cy="0"/>
              </a:xfrm>
              <a:prstGeom prst="line">
                <a:avLst/>
              </a:prstGeom>
              <a:ln w="19050">
                <a:solidFill>
                  <a:srgbClr val="FF872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F99F67E3-5861-482C-9070-9E3A06563126}"/>
                      </a:ext>
                    </a:extLst>
                  </p:cNvPr>
                  <p:cNvSpPr/>
                  <p:nvPr/>
                </p:nvSpPr>
                <p:spPr>
                  <a:xfrm>
                    <a:off x="5356833" y="224857"/>
                    <a:ext cx="1203158" cy="2791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𝐂𝐫𝐨𝐬𝐬</m:t>
                          </m:r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𝐄𝐧𝐭𝐫𝐨𝐩𝐲</m:t>
                          </m:r>
                        </m:oMath>
                      </m:oMathPara>
                    </a14:m>
                    <a:endParaRPr lang="ko-KR" altLang="en-US" sz="1600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F99F67E3-5861-482C-9070-9E3A065631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6833" y="224857"/>
                    <a:ext cx="1203158" cy="27913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019FC057-5D6B-4CDB-A419-C454917EFC91}"/>
                      </a:ext>
                    </a:extLst>
                  </p:cNvPr>
                  <p:cNvSpPr/>
                  <p:nvPr/>
                </p:nvSpPr>
                <p:spPr>
                  <a:xfrm>
                    <a:off x="5356833" y="433718"/>
                    <a:ext cx="1203158" cy="2791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𝐅𝐨𝐜𝐚𝐥</m:t>
                          </m:r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5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𝐋𝐨𝐬𝐬</m:t>
                          </m:r>
                        </m:oMath>
                      </m:oMathPara>
                    </a14:m>
                    <a:endParaRPr lang="ko-KR" altLang="en-US" sz="1600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019FC057-5D6B-4CDB-A419-C454917EFC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6833" y="433718"/>
                    <a:ext cx="1203158" cy="27913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65667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8DF6C4-C776-4BC8-B191-D029A32D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38898" y="1606381"/>
            <a:ext cx="15576082" cy="4251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AB04A-5306-4818-B3E5-34E322766429}"/>
              </a:ext>
            </a:extLst>
          </p:cNvPr>
          <p:cNvSpPr txBox="1"/>
          <p:nvPr/>
        </p:nvSpPr>
        <p:spPr>
          <a:xfrm>
            <a:off x="221942" y="239697"/>
            <a:ext cx="230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RetinaNet Detector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06439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tinanet architecture 2">
            <a:extLst>
              <a:ext uri="{FF2B5EF4-FFF2-40B4-BE49-F238E27FC236}">
                <a16:creationId xmlns:a16="http://schemas.microsoft.com/office/drawing/2014/main" id="{A56FFBA5-017C-4838-AA62-F15C11AAA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850"/>
            <a:ext cx="12192000" cy="671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17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A88C96-6106-415A-8413-BCAC722A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371048"/>
            <a:ext cx="11498280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gure 9. RetinaNet Architecture ( C의 헤드 이미지 출처 : Focal loss for Dense obeject Detection [1])">
            <a:extLst>
              <a:ext uri="{FF2B5EF4-FFF2-40B4-BE49-F238E27FC236}">
                <a16:creationId xmlns:a16="http://schemas.microsoft.com/office/drawing/2014/main" id="{1387321B-59B0-44D9-B871-92735E7CC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86" y="341100"/>
            <a:ext cx="11848952" cy="406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942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30E5B9B1-7F1C-486B-A195-8B6C0286F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88" y="949910"/>
            <a:ext cx="8236493" cy="42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835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81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Cross Entropy Loss </a:t>
            </a:r>
            <a:r>
              <a:rPr lang="ko-KR" altLang="en-US" b="1"/>
              <a:t>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11668451" cy="667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Cross Entropy Loss</a:t>
                </a:r>
                <a:r>
                  <a:rPr lang="ko-KR" altLang="en-US"/>
                  <a:t>의 경우 잘 분류한 경우 보다 잘못 예측한 경우에 대해 페널티를 부여하는 것에 초점을 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/>
                  <a:t>으로 표기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11668451" cy="667747"/>
              </a:xfrm>
              <a:prstGeom prst="rect">
                <a:avLst/>
              </a:prstGeom>
              <a:blipFill>
                <a:blip r:embed="rId3"/>
                <a:stretch>
                  <a:fillRect l="-366" t="-4545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F5D44A0-5FDB-401D-B191-7572421033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98465" y="3973026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703341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+0=−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4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p=1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67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p=0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576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F5D44A0-5FDB-401D-B191-7572421033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1364483"/>
                  </p:ext>
                </p:extLst>
              </p:nvPr>
            </p:nvGraphicFramePr>
            <p:xfrm>
              <a:off x="2098465" y="3973026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703341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0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694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p=1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98387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9967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p=0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163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8576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05B67-40C2-445F-9343-F9C110C1C242}"/>
                  </a:ext>
                </a:extLst>
              </p:cNvPr>
              <p:cNvSpPr txBox="1"/>
              <p:nvPr/>
            </p:nvSpPr>
            <p:spPr>
              <a:xfrm>
                <a:off x="328240" y="3008719"/>
                <a:ext cx="588783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Y=1</a:t>
                </a:r>
                <a:r>
                  <a:rPr lang="ko-KR" altLang="en-US"/>
                  <a:t>인 케이스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</a:t>
                </a:r>
                <a:r>
                  <a:rPr lang="ko-KR" altLang="en-US"/>
                  <a:t>의 값이 </a:t>
                </a:r>
                <a:r>
                  <a:rPr lang="en-US" altLang="ko-KR"/>
                  <a:t>1</a:t>
                </a:r>
                <a:r>
                  <a:rPr lang="ko-KR" altLang="en-US"/>
                  <a:t>이면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𝐵𝐶𝐸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0</a:t>
                </a:r>
                <a:r>
                  <a:rPr lang="ko-KR" altLang="en-US"/>
                  <a:t>이면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𝐵𝐶𝐸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</a:t>
                </a:r>
                <a:r>
                  <a:rPr lang="ko-KR" altLang="en-US"/>
                  <a:t>의 값이 </a:t>
                </a:r>
                <a:r>
                  <a:rPr lang="en-US" altLang="ko-KR"/>
                  <a:t>0</a:t>
                </a:r>
                <a:r>
                  <a:rPr lang="ko-KR" altLang="en-US"/>
                  <a:t>이면 패널티가 엄청 커짐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05B67-40C2-445F-9343-F9C110C1C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3008719"/>
                <a:ext cx="5887830" cy="923330"/>
              </a:xfrm>
              <a:prstGeom prst="rect">
                <a:avLst/>
              </a:prstGeom>
              <a:blipFill>
                <a:blip r:embed="rId5"/>
                <a:stretch>
                  <a:fillRect l="-725"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B30BD4A-9544-4786-8E79-EE2E428FED42}"/>
              </a:ext>
            </a:extLst>
          </p:cNvPr>
          <p:cNvSpPr txBox="1"/>
          <p:nvPr/>
        </p:nvSpPr>
        <p:spPr>
          <a:xfrm>
            <a:off x="337118" y="5342950"/>
            <a:ext cx="9703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F0000"/>
                </a:solidFill>
              </a:rPr>
              <a:t>BCE</a:t>
            </a:r>
            <a:r>
              <a:rPr lang="ko-KR" altLang="en-US">
                <a:solidFill>
                  <a:srgbClr val="FF0000"/>
                </a:solidFill>
              </a:rPr>
              <a:t>는 모든 </a:t>
            </a:r>
            <a:r>
              <a:rPr lang="en-US" altLang="ko-KR">
                <a:solidFill>
                  <a:srgbClr val="FF0000"/>
                </a:solidFill>
              </a:rPr>
              <a:t>sample</a:t>
            </a:r>
            <a:r>
              <a:rPr lang="ko-KR" altLang="en-US">
                <a:solidFill>
                  <a:srgbClr val="FF0000"/>
                </a:solidFill>
              </a:rPr>
              <a:t>에 대한 예측 결과를 모두 동등하게 가중치를 부여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FF0000"/>
                </a:solidFill>
              </a:rPr>
              <a:t>많은 수의 </a:t>
            </a:r>
            <a:r>
              <a:rPr lang="en-US" altLang="ko-KR">
                <a:solidFill>
                  <a:srgbClr val="FF0000"/>
                </a:solidFill>
              </a:rPr>
              <a:t>easy example(</a:t>
            </a:r>
            <a:r>
              <a:rPr lang="ko-KR" altLang="en-US">
                <a:solidFill>
                  <a:srgbClr val="FF0000"/>
                </a:solidFill>
              </a:rPr>
              <a:t>배경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이 더해지면 </a:t>
            </a:r>
            <a:r>
              <a:rPr lang="en-US" altLang="ko-KR">
                <a:solidFill>
                  <a:srgbClr val="FF0000"/>
                </a:solidFill>
              </a:rPr>
              <a:t>hard example(</a:t>
            </a:r>
            <a:r>
              <a:rPr lang="ko-KR" altLang="en-US">
                <a:solidFill>
                  <a:srgbClr val="FF0000"/>
                </a:solidFill>
              </a:rPr>
              <a:t>객체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를 압도해버리는 문제 발생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69618" y="1677047"/>
              <a:ext cx="9585694" cy="7807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𝑩𝒊𝒏𝒂𝒓𝒚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𝑪𝒓𝒐𝒔𝒔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𝑬𝒏𝒕𝒓𝒐𝒑𝒚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𝑳𝒐𝒔𝒔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𝒂𝒄𝒕</m:t>
                                    </m:r>
                                  </m:sub>
                                </m:sSub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𝒑𝒓𝒆𝒅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𝒂𝒄𝒕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𝒑𝒓𝒆𝒅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𝒀𝒍𝒐𝒈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358671"/>
                  </p:ext>
                </p:extLst>
              </p:nvPr>
            </p:nvGraphicFramePr>
            <p:xfrm>
              <a:off x="1369618" y="1677047"/>
              <a:ext cx="9585694" cy="7807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4099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r="-100000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000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11475" r="-100000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11475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503C69D-91E0-4396-B2FA-05E9C01B5D8A}"/>
              </a:ext>
            </a:extLst>
          </p:cNvPr>
          <p:cNvSpPr txBox="1"/>
          <p:nvPr/>
        </p:nvSpPr>
        <p:spPr>
          <a:xfrm>
            <a:off x="221942" y="2539341"/>
            <a:ext cx="451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잘못 예측한 경우 페널티를 부여하는 예시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1664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10186</TotalTime>
  <Words>1794</Words>
  <Application>Microsoft Office PowerPoint</Application>
  <PresentationFormat>와이드스크린</PresentationFormat>
  <Paragraphs>190</Paragraphs>
  <Slides>23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Noto Sans KR</vt:lpstr>
      <vt:lpstr>Noto Serif KR</vt:lpstr>
      <vt:lpstr>맑은 고딕</vt:lpstr>
      <vt:lpstr>Arial</vt:lpstr>
      <vt:lpstr>Cambria Math</vt:lpstr>
      <vt:lpstr>Noto Sans</vt:lpstr>
      <vt:lpstr>Office 테마</vt:lpstr>
      <vt:lpstr>RetinaNet (Focal Loss  + FPN(Feature Pyramid Network) </vt:lpstr>
      <vt:lpstr>RetinaNet</vt:lpstr>
      <vt:lpstr>1-stage detector vs 2-stage detector</vt:lpstr>
      <vt:lpstr>1-stage detector</vt:lpstr>
      <vt:lpstr>Anchor</vt:lpstr>
      <vt:lpstr>2-stage detector</vt:lpstr>
      <vt:lpstr>Sliding Window</vt:lpstr>
      <vt:lpstr>Selective Search</vt:lpstr>
      <vt:lpstr>1-stage detector vs 2-stage detector</vt:lpstr>
      <vt:lpstr>Class Imbalance</vt:lpstr>
      <vt:lpstr>Class Imbalance</vt:lpstr>
      <vt:lpstr>정리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RetinaNet</dc:title>
  <dc:creator>지훈 김</dc:creator>
  <cp:lastModifiedBy>지훈 김</cp:lastModifiedBy>
  <cp:revision>54</cp:revision>
  <dcterms:created xsi:type="dcterms:W3CDTF">2024-01-12T05:22:21Z</dcterms:created>
  <dcterms:modified xsi:type="dcterms:W3CDTF">2024-01-22T00:59:53Z</dcterms:modified>
</cp:coreProperties>
</file>