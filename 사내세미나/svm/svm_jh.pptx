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21"/>
  </p:notesMasterIdLst>
  <p:handoutMasterIdLst>
    <p:handoutMasterId r:id="rId22"/>
  </p:handoutMasterIdLst>
  <p:sldIdLst>
    <p:sldId id="256" r:id="rId2"/>
    <p:sldId id="408" r:id="rId3"/>
    <p:sldId id="433" r:id="rId4"/>
    <p:sldId id="434" r:id="rId5"/>
    <p:sldId id="415" r:id="rId6"/>
    <p:sldId id="420" r:id="rId7"/>
    <p:sldId id="422" r:id="rId8"/>
    <p:sldId id="449" r:id="rId9"/>
    <p:sldId id="418" r:id="rId10"/>
    <p:sldId id="423" r:id="rId11"/>
    <p:sldId id="446" r:id="rId12"/>
    <p:sldId id="447" r:id="rId13"/>
    <p:sldId id="428" r:id="rId14"/>
    <p:sldId id="424" r:id="rId15"/>
    <p:sldId id="427" r:id="rId16"/>
    <p:sldId id="429" r:id="rId17"/>
    <p:sldId id="430" r:id="rId18"/>
    <p:sldId id="413" r:id="rId19"/>
    <p:sldId id="306" r:id="rId20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  <p15:guide id="3" orient="horz" pos="2156">
          <p15:clr>
            <a:srgbClr val="A4A3A4"/>
          </p15:clr>
        </p15:guide>
        <p15:guide id="4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BBD5ED"/>
    <a:srgbClr val="FFD03B"/>
    <a:srgbClr val="2C6FAD"/>
    <a:srgbClr val="FFABA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857" autoAdjust="0"/>
  </p:normalViewPr>
  <p:slideViewPr>
    <p:cSldViewPr snapToGrid="0" snapToObjects="1">
      <p:cViewPr varScale="1">
        <p:scale>
          <a:sx n="114" d="100"/>
          <a:sy n="114" d="100"/>
        </p:scale>
        <p:origin x="1506" y="96"/>
      </p:cViewPr>
      <p:guideLst>
        <p:guide orient="horz" pos="2156"/>
        <p:guide pos="2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7"/>
        <p:guide pos="2877"/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6:36.217" idx="7">
    <p:pos x="4858" y="1334"/>
    <p:text>x말고 다 상수여서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24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3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36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29" r:id="rId7"/>
    <p:sldLayoutId id="2147483735" r:id="rId8"/>
    <p:sldLayoutId id="2147483736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0.png"/><Relationship Id="rId7" Type="http://schemas.openxmlformats.org/officeDocument/2006/relationships/image" Target="../media/image29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10" Type="http://schemas.openxmlformats.org/officeDocument/2006/relationships/image" Target="../media/image32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42.png"/><Relationship Id="rId4" Type="http://schemas.openxmlformats.org/officeDocument/2006/relationships/image" Target="../media/image340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6.png"/><Relationship Id="rId7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5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580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6000">
                <a:solidFill>
                  <a:schemeClr val="tx1"/>
                </a:solidFill>
              </a:rPr>
              <a:t>Linear </a:t>
            </a:r>
            <a:r>
              <a:rPr lang="en-US" altLang="ko-KR" sz="6000" b="0">
                <a:solidFill>
                  <a:schemeClr val="tx1"/>
                </a:solidFill>
              </a:rPr>
              <a:t>SVM</a:t>
            </a:r>
            <a:endParaRPr lang="ko-KR" altLang="en-US" sz="6000" b="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r>
              <a:rPr lang="en-US" altLang="ko-KR" sz="6000" b="0">
                <a:solidFill>
                  <a:schemeClr val="tx1"/>
                </a:solidFill>
              </a:rPr>
              <a:t>(Support Vector Machine)</a:t>
            </a: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 sz="2400"/>
              <a:t>SVM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5" y="299434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Hard Margin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Soft Margin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4DE98-FD2E-476C-A225-9B48EC87A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/>
              <a:t>알맞은 형태는 무엇일까</a:t>
            </a:r>
          </a:p>
          <a:p>
            <a:pPr>
              <a:buNone/>
            </a:pPr>
            <a:endParaRPr lang="ko-KR" altLang="en-US" sz="1600" b="0">
              <a:solidFill>
                <a:schemeClr val="tx1"/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A434A32-0FF1-4ECA-A89F-98C52F4C75B8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87731B53-F884-4525-8073-747DA700CB58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BC06C463-AAED-4A57-9B81-51C3FCAD1539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34B7FF45-CD18-4D9F-851C-7C8C4C6706F3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26ADA9B8-FE9E-4ABC-B84F-866C1948B1D5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99E81962-B8E9-4542-A57E-E73E95EB9AAA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AA306E-7F04-4793-94F7-2ECDD9BB9E5F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4177FD04-22DD-4377-AA15-F02601BD2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1A46220E-6F57-4E50-A227-F79FDFFA42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7F17DD7-8B13-4F6D-B175-F556EF887EFB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046A54-D1CF-47EA-9607-FDC44E84B152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ED39B9-121C-49A8-93AB-712767B2EDD9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E5257A1-C33B-4FA0-8A92-17CE7653F871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705084-25D6-4BDD-8CF4-E990B92D8129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4C84DE-E1A0-4224-8687-68E9946CA69F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313A19F-6A8B-40A6-A726-9C6C08EBD566}"/>
                </a:ext>
              </a:extLst>
            </p:cNvPr>
            <p:cNvCxnSpPr>
              <a:cxnSpLocks/>
            </p:cNvCxnSpPr>
            <p:nvPr/>
          </p:nvCxnSpPr>
          <p:spPr>
            <a:xfrm>
              <a:off x="4267312" y="2113337"/>
              <a:ext cx="880068" cy="3187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9C036D1-7006-4DCF-BE49-69BA818C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61" y="3057019"/>
              <a:ext cx="3674177" cy="12762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8DE1EF-BA01-4C5A-A3D6-C0CF61FDC907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53F3F-8EEE-4C7B-B1E2-2E1B8B7531F8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E0EAB8-48CF-4BE4-A6EE-5EA0777BE309}"/>
                </a:ext>
              </a:extLst>
            </p:cNvPr>
            <p:cNvSpPr txBox="1"/>
            <p:nvPr/>
          </p:nvSpPr>
          <p:spPr>
            <a:xfrm>
              <a:off x="4112548" y="1827829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3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9883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D2724B42-A1F3-4C8E-BCE6-F09EFDEFB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알맞은 형태는 무엇일까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8647E0-25B4-42A2-89C9-37BFA1EC8A2A}"/>
              </a:ext>
            </a:extLst>
          </p:cNvPr>
          <p:cNvCxnSpPr>
            <a:cxnSpLocks/>
          </p:cNvCxnSpPr>
          <p:nvPr/>
        </p:nvCxnSpPr>
        <p:spPr>
          <a:xfrm flipV="1">
            <a:off x="4151790" y="3356748"/>
            <a:ext cx="296795" cy="3109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F70127-E4EE-4516-BF90-76D6A48948D4}"/>
              </a:ext>
            </a:extLst>
          </p:cNvPr>
          <p:cNvCxnSpPr>
            <a:cxnSpLocks/>
          </p:cNvCxnSpPr>
          <p:nvPr/>
        </p:nvCxnSpPr>
        <p:spPr>
          <a:xfrm flipV="1">
            <a:off x="4772545" y="3403023"/>
            <a:ext cx="292751" cy="2870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2E010-F5E0-4D66-B76D-8DEBF5D273B8}"/>
              </a:ext>
            </a:extLst>
          </p:cNvPr>
          <p:cNvSpPr txBox="1"/>
          <p:nvPr/>
        </p:nvSpPr>
        <p:spPr>
          <a:xfrm>
            <a:off x="3782683" y="3314818"/>
            <a:ext cx="63472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E0FE65-E7D0-4C54-9571-5E9543618DCE}"/>
              </a:ext>
            </a:extLst>
          </p:cNvPr>
          <p:cNvSpPr txBox="1"/>
          <p:nvPr/>
        </p:nvSpPr>
        <p:spPr>
          <a:xfrm>
            <a:off x="4900554" y="3529891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10FB32-2146-4E40-A872-8175AE73E8B0}"/>
              </a:ext>
            </a:extLst>
          </p:cNvPr>
          <p:cNvSpPr txBox="1"/>
          <p:nvPr/>
        </p:nvSpPr>
        <p:spPr>
          <a:xfrm>
            <a:off x="6065182" y="4959357"/>
            <a:ext cx="21843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Decision Boundary</a:t>
            </a:r>
            <a:endParaRPr lang="ko-KR" altLang="en-US" sz="110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A96FAF3-DDED-48B3-AB22-CC137846C11E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C85816C9-A897-445B-92EB-02807C90260A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8F7AACFF-1D71-440A-A93D-9E28E6A69847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0C07A915-7C38-46CC-A2BE-09AC5C300488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80">
              <a:extLst>
                <a:ext uri="{FF2B5EF4-FFF2-40B4-BE49-F238E27FC236}">
                  <a16:creationId xmlns:a16="http://schemas.microsoft.com/office/drawing/2014/main" id="{29BA9577-8BA8-470B-8F98-4BA38EB542BB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71DA4510-C2AE-4288-9471-31C4F5F6F6F0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8B930E4-F79F-4886-8052-0B16192A7A80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95" name="직선 화살표 연결선 94">
                <a:extLst>
                  <a:ext uri="{FF2B5EF4-FFF2-40B4-BE49-F238E27FC236}">
                    <a16:creationId xmlns:a16="http://schemas.microsoft.com/office/drawing/2014/main" id="{620FF4E5-8C3E-4EC0-A2C4-BF8C8326D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228BF0C2-871F-4F6B-A5A6-62264FDAEE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9F832DA1-9F31-4797-AEE1-194A6E196808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973B8A5-AB53-493B-A706-8E4A2A807B38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76EFB97-8BE8-480C-A2AE-C3E3E18BB315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ADAECC9-8C0E-4AF2-9648-722BF24C129F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24D67F2-9780-447A-BB70-EC9EEC8C7FFD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CCB078B-8328-4ADA-B65A-E3AAE13900D2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7573C32-7FF5-473E-B460-B949E9532305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ko-KR" altLang="en-US" sz="11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A28060-AEB0-4436-AC7B-3DC6BA0F0A91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523C9D-562A-403A-AAF2-CC64C30BE4FC}"/>
              </a:ext>
            </a:extLst>
          </p:cNvPr>
          <p:cNvSpPr txBox="1"/>
          <p:nvPr/>
        </p:nvSpPr>
        <p:spPr>
          <a:xfrm>
            <a:off x="1781671" y="1318515"/>
            <a:ext cx="6467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SVM </a:t>
            </a:r>
            <a:r>
              <a:rPr lang="ko-KR" altLang="en-US" sz="1600" b="1" dirty="0"/>
              <a:t>목표 </a:t>
            </a:r>
            <a:r>
              <a:rPr lang="en-US" altLang="ko-KR" sz="1600" b="1" dirty="0"/>
              <a:t>: Margin</a:t>
            </a:r>
            <a:r>
              <a:rPr lang="ko-KR" altLang="en-US" sz="1600" b="1" dirty="0"/>
              <a:t>을 최대화 하는 </a:t>
            </a:r>
            <a:r>
              <a:rPr lang="en-US" altLang="ko-KR" sz="1600" b="1" dirty="0"/>
              <a:t>Decision Boundary </a:t>
            </a:r>
            <a:r>
              <a:rPr lang="ko-KR" altLang="en-US" sz="1600" b="1" dirty="0"/>
              <a:t>찾기</a:t>
            </a:r>
          </a:p>
        </p:txBody>
      </p:sp>
    </p:spTree>
    <p:extLst>
      <p:ext uri="{BB962C8B-B14F-4D97-AF65-F5344CB8AC3E}">
        <p14:creationId xmlns:p14="http://schemas.microsoft.com/office/powerpoint/2010/main" val="353091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r>
              <a:rPr lang="ko-KR" altLang="en-US" sz="1600" b="0">
                <a:solidFill>
                  <a:schemeClr val="tx1"/>
                </a:solidFill>
              </a:rPr>
              <a:t>이란</a:t>
            </a: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273380" y="3422970"/>
            <a:ext cx="8215770" cy="285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두 클래스로부터 최대한 멀리 떨어져 있는</a:t>
            </a:r>
            <a:r>
              <a:rPr lang="en-US" altLang="ko-KR" sz="1100">
                <a:latin typeface="+mn-ea"/>
              </a:rPr>
              <a:t>(Margin)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찾는 것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특정 조건을 만족하는 동시에 클래스를 분류하는것을 목표 </a:t>
            </a:r>
            <a:r>
              <a:rPr lang="en-US" altLang="ko-KR" sz="1100">
                <a:latin typeface="+mn-ea"/>
              </a:rPr>
              <a:t>(ex) </a:t>
            </a:r>
            <a:r>
              <a:rPr lang="ko-KR" altLang="en-US" sz="1100">
                <a:latin typeface="+mn-ea"/>
              </a:rPr>
              <a:t>짜장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짬뽕 </a:t>
            </a:r>
            <a:r>
              <a:rPr lang="en-US" altLang="ko-KR" sz="1100">
                <a:latin typeface="+mn-ea"/>
              </a:rPr>
              <a:t>- &gt; </a:t>
            </a:r>
            <a:r>
              <a:rPr lang="ko-KR" altLang="en-US" sz="1100">
                <a:latin typeface="+mn-ea"/>
              </a:rPr>
              <a:t>고춧가루양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국물의양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Hyperplane</a:t>
            </a:r>
            <a:r>
              <a:rPr lang="ko-KR" altLang="en-US" sz="1100">
                <a:latin typeface="+mn-ea"/>
              </a:rPr>
              <a:t>이란 어떤 </a:t>
            </a:r>
            <a:r>
              <a:rPr lang="en-US" altLang="ko-KR" sz="1100">
                <a:latin typeface="+mn-ea"/>
              </a:rPr>
              <a:t>N</a:t>
            </a:r>
            <a:r>
              <a:rPr lang="ko-KR" altLang="en-US" sz="1100">
                <a:latin typeface="+mn-ea"/>
              </a:rPr>
              <a:t>차원 공간에서 한 차원이 낮은 </a:t>
            </a:r>
            <a:r>
              <a:rPr lang="en-US" altLang="ko-KR" sz="1100">
                <a:latin typeface="+mn-ea"/>
              </a:rPr>
              <a:t>N-1</a:t>
            </a:r>
            <a:r>
              <a:rPr lang="ko-KR" altLang="en-US" sz="1100">
                <a:latin typeface="+mn-ea"/>
              </a:rPr>
              <a:t>차원의 </a:t>
            </a:r>
            <a:r>
              <a:rPr lang="en-US" altLang="ko-KR" sz="1100">
                <a:latin typeface="+mn-ea"/>
              </a:rPr>
              <a:t>subspace</a:t>
            </a:r>
            <a:r>
              <a:rPr lang="ko-KR" altLang="en-US" sz="1100">
                <a:latin typeface="+mn-ea"/>
              </a:rPr>
              <a:t>를 말함</a:t>
            </a:r>
            <a:r>
              <a:rPr lang="en-US" altLang="ko-KR" sz="1100">
                <a:latin typeface="+mn-ea"/>
              </a:rPr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  (ex. 2</a:t>
            </a:r>
            <a:r>
              <a:rPr lang="ko-KR" altLang="en-US" sz="1100">
                <a:latin typeface="+mn-ea"/>
              </a:rPr>
              <a:t>차원인 경우 선</a:t>
            </a:r>
            <a:r>
              <a:rPr lang="en-US" altLang="ko-KR" sz="1100">
                <a:latin typeface="+mn-ea"/>
              </a:rPr>
              <a:t>,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3</a:t>
            </a:r>
            <a:r>
              <a:rPr lang="ko-KR" altLang="en-US" sz="1100">
                <a:latin typeface="+mn-ea"/>
              </a:rPr>
              <a:t>차원의 경우 면을 뜻함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통해 데이터가 어느 쪽에 속하는지 판단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선형이나 비선형 분류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회귀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이상치 탐색에서도 사용가능한 지도 학습 모델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와 가장 가까이 있는 데이터의 거리인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결정하고 그 데이터를 </a:t>
            </a:r>
            <a:r>
              <a:rPr lang="en-US" altLang="ko-KR" sz="1100">
                <a:latin typeface="+mn-ea"/>
              </a:rPr>
              <a:t>Support Vector</a:t>
            </a:r>
            <a:r>
              <a:rPr lang="ko-KR" altLang="en-US" sz="1100">
                <a:latin typeface="+mn-ea"/>
              </a:rPr>
              <a:t>라고 함</a:t>
            </a:r>
            <a:endParaRPr lang="en-US" altLang="ko-KR" sz="110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Maximum margin</a:t>
            </a:r>
            <a:r>
              <a:rPr lang="ko-KR" altLang="en-US" sz="1100">
                <a:latin typeface="+mn-ea"/>
              </a:rPr>
              <a:t>밖에 데이터가 추가되면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에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영향을 미치지 않지만 데이터가 </a:t>
            </a:r>
            <a:r>
              <a:rPr lang="en-US" altLang="ko-KR" sz="1100"/>
              <a:t>maximum</a:t>
            </a:r>
            <a:r>
              <a:rPr lang="en-US" altLang="ko-KR" sz="1100">
                <a:latin typeface="+mn-ea"/>
              </a:rPr>
              <a:t> margin</a:t>
            </a:r>
            <a:r>
              <a:rPr lang="ko-KR" altLang="en-US" sz="1100">
                <a:latin typeface="+mn-ea"/>
              </a:rPr>
              <a:t>범위 안에 들어온다면 영향을 미치게 되어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이 달라질 수 있음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0E266D9-791D-41DA-8AE5-6CD9BBBF2D65}"/>
              </a:ext>
            </a:extLst>
          </p:cNvPr>
          <p:cNvGrpSpPr/>
          <p:nvPr/>
        </p:nvGrpSpPr>
        <p:grpSpPr>
          <a:xfrm>
            <a:off x="4783264" y="1609000"/>
            <a:ext cx="3828983" cy="1823050"/>
            <a:chOff x="4783264" y="1609000"/>
            <a:chExt cx="3828983" cy="1823050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4CAF8C00-DCC2-4F59-921A-F0F03069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264" y="1609000"/>
              <a:ext cx="3828983" cy="144165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5F4690-2C95-4D62-8057-A982FE2EAA59}"/>
                </a:ext>
              </a:extLst>
            </p:cNvPr>
            <p:cNvSpPr txBox="1"/>
            <p:nvPr/>
          </p:nvSpPr>
          <p:spPr>
            <a:xfrm>
              <a:off x="5660005" y="3170440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Hyperplane </a:t>
              </a:r>
              <a:r>
                <a:rPr lang="ko-KR" altLang="en-US" sz="1100"/>
                <a:t>예시</a:t>
              </a:r>
              <a:r>
                <a:rPr lang="en-US" altLang="ko-KR" sz="1100" b="0">
                  <a:solidFill>
                    <a:schemeClr val="tx1"/>
                  </a:solidFill>
                </a:rPr>
                <a:t>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970DAA0-EF69-4C5A-92F1-9A02D81F1F94}"/>
              </a:ext>
            </a:extLst>
          </p:cNvPr>
          <p:cNvGrpSpPr/>
          <p:nvPr/>
        </p:nvGrpSpPr>
        <p:grpSpPr>
          <a:xfrm>
            <a:off x="916416" y="1247437"/>
            <a:ext cx="3016070" cy="2183580"/>
            <a:chOff x="916416" y="1247437"/>
            <a:chExt cx="3016070" cy="21835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9FEE90-43AD-4044-BB3C-2398977C4800}"/>
                </a:ext>
              </a:extLst>
            </p:cNvPr>
            <p:cNvSpPr txBox="1"/>
            <p:nvPr/>
          </p:nvSpPr>
          <p:spPr>
            <a:xfrm>
              <a:off x="1508245" y="3169407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SVM</a:t>
              </a:r>
              <a:r>
                <a:rPr lang="en-US" altLang="ko-KR" sz="1100" b="0">
                  <a:solidFill>
                    <a:schemeClr val="tx1"/>
                  </a:solidFill>
                </a:rPr>
                <a:t>(Support Vector Machine)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C5148B2-010A-4B81-A7F7-F0F5EC687FE8}"/>
                </a:ext>
              </a:extLst>
            </p:cNvPr>
            <p:cNvGrpSpPr/>
            <p:nvPr/>
          </p:nvGrpSpPr>
          <p:grpSpPr>
            <a:xfrm>
              <a:off x="916416" y="1247437"/>
              <a:ext cx="3016070" cy="1892523"/>
              <a:chOff x="4478164" y="1126960"/>
              <a:chExt cx="3564603" cy="2317762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03958524-AA06-4917-A650-2FCD297F4715}"/>
                  </a:ext>
                </a:extLst>
              </p:cNvPr>
              <p:cNvGrpSpPr/>
              <p:nvPr/>
            </p:nvGrpSpPr>
            <p:grpSpPr>
              <a:xfrm>
                <a:off x="6600696" y="1552199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66" name="이등변 삼각형 65">
                  <a:extLst>
                    <a:ext uri="{FF2B5EF4-FFF2-40B4-BE49-F238E27FC236}">
                      <a16:creationId xmlns:a16="http://schemas.microsoft.com/office/drawing/2014/main" id="{47583E2B-1031-49BB-9B53-48E3706871D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이등변 삼각형 66">
                  <a:extLst>
                    <a:ext uri="{FF2B5EF4-FFF2-40B4-BE49-F238E27FC236}">
                      <a16:creationId xmlns:a16="http://schemas.microsoft.com/office/drawing/2014/main" id="{741C89BA-3AEF-408F-8DA2-BB2713B418C7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이등변 삼각형 67">
                  <a:extLst>
                    <a:ext uri="{FF2B5EF4-FFF2-40B4-BE49-F238E27FC236}">
                      <a16:creationId xmlns:a16="http://schemas.microsoft.com/office/drawing/2014/main" id="{173719F8-3BF9-4C98-BBA0-2AE37B371BBA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이등변 삼각형 68">
                  <a:extLst>
                    <a:ext uri="{FF2B5EF4-FFF2-40B4-BE49-F238E27FC236}">
                      <a16:creationId xmlns:a16="http://schemas.microsoft.com/office/drawing/2014/main" id="{CF2F0991-BC7E-4837-9D82-86463D43FB01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이등변 삼각형 69">
                  <a:extLst>
                    <a:ext uri="{FF2B5EF4-FFF2-40B4-BE49-F238E27FC236}">
                      <a16:creationId xmlns:a16="http://schemas.microsoft.com/office/drawing/2014/main" id="{90411FB3-8684-4E1E-A15D-EF1138ECA1F2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2E1718-1DD8-4850-AF1B-1DF23A4CCAB0}"/>
                  </a:ext>
                </a:extLst>
              </p:cNvPr>
              <p:cNvGrpSpPr/>
              <p:nvPr/>
            </p:nvGrpSpPr>
            <p:grpSpPr>
              <a:xfrm>
                <a:off x="5248902" y="1126960"/>
                <a:ext cx="2660658" cy="2280033"/>
                <a:chOff x="3431097" y="1987172"/>
                <a:chExt cx="3482605" cy="2766868"/>
              </a:xfrm>
            </p:grpSpPr>
            <p:cxnSp>
              <p:nvCxnSpPr>
                <p:cNvPr id="64" name="직선 화살표 연결선 63">
                  <a:extLst>
                    <a:ext uri="{FF2B5EF4-FFF2-40B4-BE49-F238E27FC236}">
                      <a16:creationId xmlns:a16="http://schemas.microsoft.com/office/drawing/2014/main" id="{9C5014CB-D43E-4E49-9F53-2B73709BD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54040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4">
                  <a:extLst>
                    <a:ext uri="{FF2B5EF4-FFF2-40B4-BE49-F238E27FC236}">
                      <a16:creationId xmlns:a16="http://schemas.microsoft.com/office/drawing/2014/main" id="{4053977E-A5AE-4D7E-BF83-EC3AEAD8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6AA6252D-D78A-4012-B8D3-B41E9E9E9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435" y="1552199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D61243B-CEC7-4FB1-8650-6D7447D50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5208" y="1366856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1C0ED11-B5F5-4AA3-ABAA-45BCB5A7EA2B}"/>
                  </a:ext>
                </a:extLst>
              </p:cNvPr>
              <p:cNvGrpSpPr/>
              <p:nvPr/>
            </p:nvGrpSpPr>
            <p:grpSpPr>
              <a:xfrm>
                <a:off x="5416754" y="2400752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A1A1119-7731-4365-AB7F-A8D369D220E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18799D7-0A3B-46C8-94F5-B74EAE1E426C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B5AC2BD-C538-43E1-A348-3031D498437C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4896A143-F225-49C8-8DC7-B90DE5115F5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4F8B009-6E0F-4601-9ACC-D55246101F2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11619681-E8A6-4CF9-85AF-57B170C0C0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4142" y="305577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B55FA048-9400-4690-B9D2-7AA49D726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98383" y="2076079"/>
                <a:ext cx="822041" cy="22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E710E-2AE5-44B2-999B-A92913810DF8}"/>
                  </a:ext>
                </a:extLst>
              </p:cNvPr>
              <p:cNvSpPr txBox="1"/>
              <p:nvPr/>
            </p:nvSpPr>
            <p:spPr>
              <a:xfrm>
                <a:off x="4572468" y="1838763"/>
                <a:ext cx="923017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maximum</a:t>
                </a:r>
              </a:p>
              <a:p>
                <a:pPr algn="l"/>
                <a:r>
                  <a:rPr lang="en-US" altLang="ko-KR" sz="800"/>
                  <a:t>margin</a:t>
                </a:r>
                <a:endParaRPr lang="ko-KR" altLang="en-US" sz="8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8ECF55F6-3064-4962-BB69-CE8BE110A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911" y="1725463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81380374-697E-47F2-97CB-6F1EE89B2A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7154" y="183350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4C71CB3-0980-4EA9-9DCF-9CBB62093A8A}"/>
                  </a:ext>
                </a:extLst>
              </p:cNvPr>
              <p:cNvSpPr txBox="1"/>
              <p:nvPr/>
            </p:nvSpPr>
            <p:spPr>
              <a:xfrm>
                <a:off x="4478164" y="1285473"/>
                <a:ext cx="2128515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Optimal Hyperplane</a:t>
                </a:r>
              </a:p>
              <a:p>
                <a:pPr algn="l"/>
                <a:r>
                  <a:rPr lang="en-US" altLang="ko-KR" sz="800"/>
                  <a:t>/Decision Boundary</a:t>
                </a:r>
                <a:endParaRPr lang="ko-KR" altLang="en-US" sz="800"/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C8A81E8D-360F-459D-BB9A-49E766E3E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9538" y="2187352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C4689A4C-C87E-4FF3-961E-8FAC3783A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526" y="2452558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2F1E5E4-1243-4AC7-9E17-9E160BA72F1D}"/>
                  </a:ext>
                </a:extLst>
              </p:cNvPr>
              <p:cNvSpPr txBox="1"/>
              <p:nvPr/>
            </p:nvSpPr>
            <p:spPr>
              <a:xfrm>
                <a:off x="7171567" y="2256819"/>
                <a:ext cx="871200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320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SVM</a:t>
            </a:r>
            <a:r>
              <a:rPr lang="ko-KR" altLang="en-US"/>
              <a:t>의 수식화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50552" y="3300151"/>
                <a:ext cx="8224303" cy="3228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+mn-ea"/>
                  </a:rPr>
                  <a:t>Decision Boundary</a:t>
                </a:r>
                <a:r>
                  <a:rPr lang="ko-KR" altLang="en-US" sz="1100" dirty="0">
                    <a:latin typeface="+mn-ea"/>
                  </a:rPr>
                  <a:t>에 수직인 임의의 </a:t>
                </a:r>
                <a:r>
                  <a:rPr lang="ko-KR" altLang="en-US" sz="1100" dirty="0" err="1">
                    <a:latin typeface="+mn-ea"/>
                  </a:rPr>
                  <a:t>벡타</a:t>
                </a:r>
                <a:r>
                  <a:rPr lang="ko-KR" altLang="en-US" sz="1100" dirty="0">
                    <a:latin typeface="+mn-ea"/>
                  </a:rPr>
                  <a:t> </a:t>
                </a:r>
                <a:r>
                  <a:rPr lang="en-US" altLang="ko-KR" sz="1100" dirty="0">
                    <a:latin typeface="+mn-ea"/>
                  </a:rPr>
                  <a:t>w </a:t>
                </a:r>
                <a:r>
                  <a:rPr lang="ko-KR" altLang="en-US" sz="1100" dirty="0">
                    <a:latin typeface="+mn-ea"/>
                  </a:rPr>
                  <a:t>와 임의의 점</a:t>
                </a:r>
                <a:r>
                  <a:rPr lang="en-US" altLang="ko-KR" sz="1100" dirty="0">
                    <a:latin typeface="+mn-ea"/>
                  </a:rPr>
                  <a:t>(</a:t>
                </a:r>
                <a:r>
                  <a:rPr lang="ko-KR" altLang="en-US" sz="1100" dirty="0">
                    <a:latin typeface="+mn-ea"/>
                  </a:rPr>
                  <a:t>데이터</a:t>
                </a:r>
                <a:r>
                  <a:rPr lang="en-US" altLang="ko-KR" sz="1100" dirty="0">
                    <a:latin typeface="+mn-ea"/>
                  </a:rPr>
                  <a:t>)</a:t>
                </a:r>
                <a:r>
                  <a:rPr lang="ko-KR" altLang="en-US" sz="1100" dirty="0">
                    <a:latin typeface="+mn-ea"/>
                  </a:rPr>
                  <a:t>을 향해가는 임의의 </a:t>
                </a:r>
                <a:r>
                  <a:rPr lang="ko-KR" altLang="en-US" sz="1100" dirty="0" err="1">
                    <a:latin typeface="+mn-ea"/>
                  </a:rPr>
                  <a:t>벡타</a:t>
                </a:r>
                <a:r>
                  <a:rPr lang="ko-KR" altLang="en-US" sz="1100" dirty="0">
                    <a:latin typeface="+mn-ea"/>
                  </a:rPr>
                  <a:t> </a:t>
                </a:r>
                <a:r>
                  <a:rPr lang="en-US" altLang="ko-KR" sz="1100" dirty="0">
                    <a:latin typeface="+mn-ea"/>
                  </a:rPr>
                  <a:t>u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하여 일정한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constant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값보다 크면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영역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)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으로 설정 </a:t>
                </a:r>
                <a:r>
                  <a:rPr lang="en-US" altLang="ko-KR" sz="1100" dirty="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작으면 </a:t>
                </a:r>
                <a:r>
                  <a:rPr lang="en-US" altLang="ko-KR" sz="1100" dirty="0">
                    <a:latin typeface="+mn-ea"/>
                  </a:rPr>
                  <a:t>–</a:t>
                </a:r>
                <a:r>
                  <a:rPr lang="ko-KR" altLang="en-US" sz="1100" dirty="0">
                    <a:latin typeface="+mn-ea"/>
                  </a:rPr>
                  <a:t>영역</a:t>
                </a:r>
                <a:r>
                  <a:rPr lang="en-US" altLang="ko-KR" sz="11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 dirty="0">
                    <a:latin typeface="+mn-ea"/>
                  </a:rPr>
                  <a:t>)</a:t>
                </a:r>
                <a:r>
                  <a:rPr lang="ko-KR" altLang="en-US" sz="1100" dirty="0">
                    <a:latin typeface="+mn-ea"/>
                  </a:rPr>
                  <a:t>으로 설정 </a:t>
                </a:r>
                <a:r>
                  <a:rPr lang="en-US" altLang="ko-KR" sz="1100" dirty="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100" b="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c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를 보통 </a:t>
                </a:r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b(bias)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로  표기하는데 계산하기 편하기 위해 </a:t>
                </a:r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c = -b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로 표시</a:t>
                </a:r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,</a:t>
                </a:r>
                <a:r>
                  <a:rPr lang="ko-KR" altLang="en-US" sz="1100" b="0" dirty="0" err="1">
                    <a:solidFill>
                      <a:schemeClr val="tx1"/>
                    </a:solidFill>
                    <a:latin typeface="+mn-ea"/>
                  </a:rPr>
                  <a:t>일반화시켜서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 표현하면</a:t>
                </a:r>
                <a:endParaRPr lang="en-US" altLang="ko-KR" sz="1100" b="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𝐷𝑒𝑐𝑖𝑠𝑖𝑜𝑛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𝑏𝑜𝑢𝑛𝑑𝑎𝑟𝑦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 .. +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=0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위의 식을 </a:t>
                </a:r>
                <a:r>
                  <a:rPr lang="en-US" altLang="ko-KR" sz="1100" b="0" dirty="0">
                    <a:solidFill>
                      <a:schemeClr val="tx1"/>
                    </a:solidFill>
                    <a:latin typeface="+mn-ea"/>
                  </a:rPr>
                  <a:t>Decision Rule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이며 </a:t>
                </a:r>
                <a:r>
                  <a:rPr lang="en-US" altLang="ko-KR" sz="1100" dirty="0">
                    <a:latin typeface="+mn-ea"/>
                  </a:rPr>
                  <a:t>Decision Boundary</a:t>
                </a:r>
                <a:r>
                  <a:rPr lang="ko-KR" altLang="en-US" sz="1100" dirty="0">
                    <a:latin typeface="+mn-ea"/>
                  </a:rPr>
                  <a:t>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 b="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boundar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와 </a:t>
                </a:r>
                <a:r>
                  <a:rPr lang="ko-KR" altLang="en-US" sz="1100" b="0" dirty="0">
                    <a:solidFill>
                      <a:schemeClr val="tx1"/>
                    </a:solidFill>
                    <a:latin typeface="+mn-ea"/>
                  </a:rPr>
                  <a:t>각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Support Vector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사이의 거리를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이라 가정</a:t>
                </a:r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≥1,</m:t>
                    </m:r>
                  </m:oMath>
                </a14:m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&gt;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설정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 err="1">
                    <a:solidFill>
                      <a:schemeClr val="tx1"/>
                    </a:solidFill>
                    <a:latin typeface="+mn-ea"/>
                  </a:rPr>
                  <a:t>의값이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 err="1">
                    <a:solidFill>
                      <a:schemeClr val="tx1"/>
                    </a:solidFill>
                    <a:latin typeface="+mn-ea"/>
                  </a:rPr>
                  <a:t>의값이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-1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1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altLang="ko-KR" sz="11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즉</a:t>
                </a:r>
                <a:r>
                  <a:rPr lang="en-US" altLang="ko-KR" sz="11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 dirty="0">
                    <a:latin typeface="+mn-ea"/>
                  </a:rPr>
                  <a:t> </a:t>
                </a:r>
                <a:r>
                  <a:rPr lang="ko-KR" altLang="en-US" sz="1100" dirty="0">
                    <a:latin typeface="+mn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 ≥1</m:t>
                    </m:r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로 </a:t>
                </a:r>
                <a:r>
                  <a:rPr lang="ko-KR" altLang="en-US" sz="1100" dirty="0" err="1">
                    <a:solidFill>
                      <a:schemeClr val="tx1"/>
                    </a:solidFill>
                    <a:latin typeface="+mn-ea"/>
                  </a:rPr>
                  <a:t>나타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냄</a:t>
                </a:r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또한 </a:t>
                </a:r>
                <a:r>
                  <a:rPr lang="en-US" altLang="ko-KR" sz="1100" dirty="0">
                    <a:latin typeface="+mn-ea"/>
                  </a:rPr>
                  <a:t>Support Vector</a:t>
                </a:r>
                <a:r>
                  <a:rPr lang="ko-KR" altLang="en-US" sz="1100" dirty="0">
                    <a:latin typeface="+mn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으로 냄</a:t>
                </a:r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2" y="3300151"/>
                <a:ext cx="8224303" cy="3228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6180669" y="3103707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52A7DF-85A2-4860-A6B9-D4AA55AB2B47}"/>
              </a:ext>
            </a:extLst>
          </p:cNvPr>
          <p:cNvGrpSpPr/>
          <p:nvPr/>
        </p:nvGrpSpPr>
        <p:grpSpPr>
          <a:xfrm>
            <a:off x="5267571" y="1195429"/>
            <a:ext cx="3159333" cy="1918393"/>
            <a:chOff x="5267571" y="1088749"/>
            <a:chExt cx="3159333" cy="1918393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267571" y="1088749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569707" y="1444645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99813" y="128952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081" y="1376514"/>
              <a:ext cx="13067" cy="1859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16" y="158965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2074" y="1339050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32" y="2641491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blipFill>
                  <a:blip r:embed="rId4"/>
                  <a:stretch>
                    <a:fillRect l="-2778" t="-5000" r="-3704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913824" y="2402389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800" dirty="0"/>
                    <a:t> 1</a:t>
                  </a:r>
                  <a:endParaRPr lang="ko-KR" altLang="en-US" sz="800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blipFill>
                  <a:blip r:embed="rId5"/>
                  <a:stretch>
                    <a:fillRect l="-4902" t="-23810" r="-10784" b="-476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126" y="2875111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800" i="1" dirty="0"/>
                    <a:t> 1</a:t>
                  </a:r>
                  <a:endParaRPr lang="ko-KR" altLang="en-US" sz="800" i="1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blipFill>
                  <a:blip r:embed="rId6"/>
                  <a:stretch>
                    <a:fillRect l="-3876" t="-19048" b="-5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823674" y="1777141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847499" y="1796814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69159"/>
                <a:ext cx="483475" cy="22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69159"/>
                <a:ext cx="1107887" cy="2848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97565" y="1259539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4AFE48-FA93-4576-B839-68367371E450}"/>
              </a:ext>
            </a:extLst>
          </p:cNvPr>
          <p:cNvGrpSpPr/>
          <p:nvPr/>
        </p:nvGrpSpPr>
        <p:grpSpPr>
          <a:xfrm>
            <a:off x="898231" y="1212429"/>
            <a:ext cx="3424279" cy="2116650"/>
            <a:chOff x="505755" y="1061793"/>
            <a:chExt cx="3424279" cy="211665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F16966E-DBF8-4237-A50B-792DAE18D672}"/>
                </a:ext>
              </a:extLst>
            </p:cNvPr>
            <p:cNvGrpSpPr/>
            <p:nvPr/>
          </p:nvGrpSpPr>
          <p:grpSpPr>
            <a:xfrm>
              <a:off x="505755" y="1061793"/>
              <a:ext cx="3424279" cy="2116650"/>
              <a:chOff x="505755" y="1061793"/>
              <a:chExt cx="3424279" cy="211665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E0F467-4510-4764-BB0E-F49485A0969F}"/>
                  </a:ext>
                </a:extLst>
              </p:cNvPr>
              <p:cNvSpPr txBox="1"/>
              <p:nvPr/>
            </p:nvSpPr>
            <p:spPr>
              <a:xfrm>
                <a:off x="1769078" y="2959493"/>
                <a:ext cx="1468585" cy="21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 SVM&gt;</a:t>
                </a:r>
                <a:endParaRPr lang="ko-KR" altLang="en-US" sz="1100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85772E36-85A5-468F-BBEA-9C74091A88E9}"/>
                  </a:ext>
                </a:extLst>
              </p:cNvPr>
              <p:cNvGrpSpPr/>
              <p:nvPr/>
            </p:nvGrpSpPr>
            <p:grpSpPr>
              <a:xfrm>
                <a:off x="505755" y="1061793"/>
                <a:ext cx="3424279" cy="1939810"/>
                <a:chOff x="505755" y="1061793"/>
                <a:chExt cx="3424279" cy="19398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DC491E-B2EB-4176-AF03-54DF6027DEC3}"/>
                    </a:ext>
                  </a:extLst>
                </p:cNvPr>
                <p:cNvSpPr txBox="1"/>
                <p:nvPr/>
              </p:nvSpPr>
              <p:spPr>
                <a:xfrm>
                  <a:off x="505755" y="1187993"/>
                  <a:ext cx="180883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Optimal Hyperplane</a:t>
                  </a:r>
                </a:p>
                <a:p>
                  <a:pPr algn="l"/>
                  <a:r>
                    <a:rPr lang="en-US" altLang="ko-KR" sz="800"/>
                    <a:t>/Decision Boundary</a:t>
                  </a:r>
                  <a:endParaRPr lang="ko-KR" altLang="en-US" sz="800"/>
                </a:p>
              </p:txBody>
            </p:sp>
            <p:sp>
              <p:nvSpPr>
                <p:cNvPr id="27" name="이등변 삼각형 26">
                  <a:extLst>
                    <a:ext uri="{FF2B5EF4-FFF2-40B4-BE49-F238E27FC236}">
                      <a16:creationId xmlns:a16="http://schemas.microsoft.com/office/drawing/2014/main" id="{0514C41C-99A5-4BF0-B7D0-8CF3FCAB6258}"/>
                    </a:ext>
                  </a:extLst>
                </p:cNvPr>
                <p:cNvSpPr/>
                <p:nvPr/>
              </p:nvSpPr>
              <p:spPr>
                <a:xfrm>
                  <a:off x="2320427" y="1859963"/>
                  <a:ext cx="95855" cy="98349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EB8814C6-2B40-40AF-9D2F-8E9A0661493C}"/>
                    </a:ext>
                  </a:extLst>
                </p:cNvPr>
                <p:cNvGrpSpPr/>
                <p:nvPr/>
              </p:nvGrpSpPr>
              <p:grpSpPr>
                <a:xfrm>
                  <a:off x="1171658" y="1061793"/>
                  <a:ext cx="2261055" cy="1892614"/>
                  <a:chOff x="3431097" y="1987172"/>
                  <a:chExt cx="3482605" cy="2744220"/>
                </a:xfrm>
              </p:grpSpPr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E19BA2E3-5493-4004-9929-BF8B8C81E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31097" y="4731391"/>
                    <a:ext cx="3482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250F95FF-3226-4337-B885-D1963A463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36689" y="1987172"/>
                    <a:ext cx="0" cy="274422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63C6221A-D106-4CB7-9179-AAC8E9AEBE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3794" y="1417689"/>
                  <a:ext cx="1331616" cy="141748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76FAB278-2C37-4AE0-97E9-A2928663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3900" y="126257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E8564090-029A-4FB6-84FD-6BEF5D1051A3}"/>
                    </a:ext>
                  </a:extLst>
                </p:cNvPr>
                <p:cNvSpPr/>
                <p:nvPr/>
              </p:nvSpPr>
              <p:spPr>
                <a:xfrm>
                  <a:off x="1728231" y="2127871"/>
                  <a:ext cx="81695" cy="88225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6" name="직선 화살표 연결선 15">
                  <a:extLst>
                    <a:ext uri="{FF2B5EF4-FFF2-40B4-BE49-F238E27FC236}">
                      <a16:creationId xmlns:a16="http://schemas.microsoft.com/office/drawing/2014/main" id="{D8FC73B5-0772-475F-8DBA-9BB00EB50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5295" y="2676082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12229F0A-0D66-45E7-BE2E-3C73DBF21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746" y="1856141"/>
                  <a:ext cx="698579" cy="189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C73A29AF-8985-4AC1-805D-79DD8F7F5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303" y="156270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화살표 연결선 115">
                  <a:extLst>
                    <a:ext uri="{FF2B5EF4-FFF2-40B4-BE49-F238E27FC236}">
                      <a16:creationId xmlns:a16="http://schemas.microsoft.com/office/drawing/2014/main" id="{1F9DDF25-86DD-43C0-8483-F52245EF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46067" y="1653124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B9B6AF5A-E462-4C9B-A1F7-7A45368F0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0432" y="1949269"/>
                  <a:ext cx="489991" cy="16416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7832C2E1-9D4C-4565-8E20-AFE1A72A9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7906" y="2171229"/>
                  <a:ext cx="1077179" cy="421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0676D4-FDB4-4CC0-BE5F-2180CB09D180}"/>
                    </a:ext>
                  </a:extLst>
                </p:cNvPr>
                <p:cNvSpPr txBox="1"/>
                <p:nvPr/>
              </p:nvSpPr>
              <p:spPr>
                <a:xfrm>
                  <a:off x="2877647" y="2022890"/>
                  <a:ext cx="7403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Support</a:t>
                  </a:r>
                </a:p>
                <a:p>
                  <a:pPr algn="l"/>
                  <a:r>
                    <a:rPr lang="en-US" altLang="ko-KR" sz="800"/>
                    <a:t>Vector</a:t>
                  </a:r>
                  <a:endParaRPr lang="ko-KR" altLang="en-US" sz="800"/>
                </a:p>
              </p:txBody>
            </p: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868C5CFB-6594-46A5-8F2A-B0450FFF4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3794" y="2632173"/>
                  <a:ext cx="273139" cy="2030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60F8564D-6287-4B4F-A43D-925A184C734D}"/>
                    </a:ext>
                  </a:extLst>
                </p:cNvPr>
                <p:cNvCxnSpPr>
                  <a:endCxn id="23" idx="2"/>
                </p:cNvCxnSpPr>
                <p:nvPr/>
              </p:nvCxnSpPr>
              <p:spPr>
                <a:xfrm flipV="1">
                  <a:off x="1473794" y="2216096"/>
                  <a:ext cx="295284" cy="619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53E60B2F-F7F8-4ACE-BD3C-20B2D43C3555}"/>
                    </a:ext>
                  </a:extLst>
                </p:cNvPr>
                <p:cNvCxnSpPr/>
                <p:nvPr/>
              </p:nvCxnSpPr>
              <p:spPr>
                <a:xfrm>
                  <a:off x="2561919" y="2525635"/>
                  <a:ext cx="674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ko-KR" altLang="en-US" sz="800" i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835" r="-2752" b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CAAF969-50A4-482C-B302-E2D3C2BDE6F0}"/>
                    </a:ext>
                  </a:extLst>
                </p:cNvPr>
                <p:cNvGrpSpPr/>
                <p:nvPr/>
              </p:nvGrpSpPr>
              <p:grpSpPr>
                <a:xfrm>
                  <a:off x="3018936" y="1290969"/>
                  <a:ext cx="633878" cy="491364"/>
                  <a:chOff x="5215256" y="1171736"/>
                  <a:chExt cx="633878" cy="491364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EFFCF7D6-32AA-47B2-9386-D34DD1016067}"/>
                      </a:ext>
                    </a:extLst>
                  </p:cNvPr>
                  <p:cNvSpPr/>
                  <p:nvPr/>
                </p:nvSpPr>
                <p:spPr>
                  <a:xfrm>
                    <a:off x="5386273" y="1302680"/>
                    <a:ext cx="67516" cy="72914"/>
                  </a:xfrm>
                  <a:prstGeom prst="rect">
                    <a:avLst/>
                  </a:prstGeom>
                  <a:solidFill>
                    <a:srgbClr val="2C6FA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8" name="이등변 삼각형 107">
                    <a:extLst>
                      <a:ext uri="{FF2B5EF4-FFF2-40B4-BE49-F238E27FC236}">
                        <a16:creationId xmlns:a16="http://schemas.microsoft.com/office/drawing/2014/main" id="{8F5AB225-DABB-4EEE-8BB1-ABFA803285FB}"/>
                      </a:ext>
                    </a:extLst>
                  </p:cNvPr>
                  <p:cNvSpPr/>
                  <p:nvPr/>
                </p:nvSpPr>
                <p:spPr>
                  <a:xfrm>
                    <a:off x="5379758" y="1473476"/>
                    <a:ext cx="79219" cy="81280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0BEDB2C-BF15-4330-8B7B-0165AFEDA312}"/>
                      </a:ext>
                    </a:extLst>
                  </p:cNvPr>
                  <p:cNvSpPr txBox="1"/>
                  <p:nvPr/>
                </p:nvSpPr>
                <p:spPr>
                  <a:xfrm>
                    <a:off x="5507551" y="117651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-</a:t>
                    </a:r>
                    <a:endParaRPr lang="ko-KR" altLang="en-US" sz="140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9B272F5-482A-4515-83F6-CFE7B6AAFC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96753" y="135532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+</a:t>
                    </a:r>
                    <a:endParaRPr lang="ko-KR" altLang="en-US" sz="1400"/>
                  </a:p>
                </p:txBody>
              </p:sp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6541DED-702D-4B1F-BDED-57908D10D2E2}"/>
                      </a:ext>
                    </a:extLst>
                  </p:cNvPr>
                  <p:cNvSpPr/>
                  <p:nvPr/>
                </p:nvSpPr>
                <p:spPr>
                  <a:xfrm>
                    <a:off x="5215256" y="1171736"/>
                    <a:ext cx="633878" cy="49136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noFill/>
                    </a:endParaRPr>
                  </a:p>
                </p:txBody>
              </p:sp>
            </p:grpSp>
          </p:grpSp>
        </p:grp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15A8F63A-5E26-48F2-A12A-A6485603F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374" y="2413867"/>
              <a:ext cx="571768" cy="41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4A6B7FB0-AA87-444B-B6A7-D98072827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552" y="2094036"/>
              <a:ext cx="1012684" cy="742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/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blipFill>
                  <a:blip r:embed="rId11"/>
                  <a:stretch>
                    <a:fillRect l="-1363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/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blipFill>
                  <a:blip r:embed="rId12"/>
                  <a:stretch>
                    <a:fillRect l="-13636" r="-9091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AAB8671-2AC8-4639-9ABB-633CDC3FF2B2}"/>
              </a:ext>
            </a:extLst>
          </p:cNvPr>
          <p:cNvSpPr txBox="1"/>
          <p:nvPr/>
        </p:nvSpPr>
        <p:spPr>
          <a:xfrm>
            <a:off x="996208" y="1828646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maximum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36DF17-1797-4A9C-8114-0516F594C001}"/>
              </a:ext>
            </a:extLst>
          </p:cNvPr>
          <p:cNvSpPr txBox="1"/>
          <p:nvPr/>
        </p:nvSpPr>
        <p:spPr>
          <a:xfrm>
            <a:off x="5343174" y="1135212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maximal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1934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Maximum Margin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91220" y="3438117"/>
                <a:ext cx="8191245" cy="2992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+mn-ea"/>
                  </a:rPr>
                  <a:t>Maximum</a:t>
                </a:r>
                <a:r>
                  <a:rPr lang="ko-KR" altLang="en-US" sz="1100" dirty="0">
                    <a:latin typeface="+mn-ea"/>
                  </a:rPr>
                  <a:t> </a:t>
                </a:r>
                <a:r>
                  <a:rPr lang="en-US" altLang="ko-KR" sz="1100" dirty="0">
                    <a:latin typeface="+mn-ea"/>
                  </a:rPr>
                  <a:t>Margin </a:t>
                </a:r>
                <a:r>
                  <a:rPr lang="ko-KR" altLang="en-US" sz="1100" dirty="0">
                    <a:latin typeface="+mn-ea"/>
                  </a:rPr>
                  <a:t>구하기</a:t>
                </a:r>
                <a:endParaRPr lang="en-US" altLang="ko-KR" sz="1100" dirty="0"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Max Margin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= 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영역일 경우</a:t>
                </a:r>
                <a:r>
                  <a:rPr lang="en-US" altLang="ko-KR" sz="11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이고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 -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영역일 경우</a:t>
                </a:r>
                <a:r>
                  <a:rPr lang="en-US" altLang="ko-KR" sz="11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100" b="0" dirty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−(−1−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, Max </a:t>
                </a:r>
                <a:r>
                  <a:rPr lang="en-US" altLang="ko-KR" sz="1100" dirty="0" err="1">
                    <a:solidFill>
                      <a:schemeClr val="tx1"/>
                    </a:solidFill>
                    <a:latin typeface="+mn-ea"/>
                  </a:rPr>
                  <a:t>Margrin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 = 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100" dirty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dirty="0">
                    <a:latin typeface="+mn-ea"/>
                  </a:rPr>
                  <a:t>Margin</a:t>
                </a:r>
                <a:r>
                  <a:rPr lang="ko-KR" altLang="en-US" sz="1100" dirty="0">
                    <a:latin typeface="+mn-ea"/>
                  </a:rPr>
                  <a:t>이 넓으면 </a:t>
                </a:r>
                <a:r>
                  <a:rPr lang="ko-KR" altLang="en-US" sz="1100" dirty="0" err="1">
                    <a:latin typeface="+mn-ea"/>
                  </a:rPr>
                  <a:t>좋은점</a:t>
                </a:r>
                <a:endParaRPr lang="en-US" altLang="ko-KR" sz="11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latin typeface="+mn-ea"/>
                  </a:rPr>
                  <a:t>	</a:t>
                </a:r>
                <a:r>
                  <a:rPr lang="en-US" altLang="ko-KR" sz="1100">
                    <a:latin typeface="+mn-ea"/>
                  </a:rPr>
                  <a:t>-  Noise</a:t>
                </a:r>
                <a:r>
                  <a:rPr lang="ko-KR" altLang="en-US" sz="1100" dirty="0">
                    <a:latin typeface="+mn-ea"/>
                  </a:rPr>
                  <a:t>가 </a:t>
                </a:r>
                <a:r>
                  <a:rPr lang="ko-KR" altLang="en-US" sz="1100" dirty="0" err="1">
                    <a:latin typeface="+mn-ea"/>
                  </a:rPr>
                  <a:t>있는경우</a:t>
                </a:r>
                <a:r>
                  <a:rPr lang="ko-KR" altLang="en-US" sz="1100" dirty="0">
                    <a:latin typeface="+mn-ea"/>
                  </a:rPr>
                  <a:t> </a:t>
                </a:r>
                <a:r>
                  <a:rPr lang="en-US" altLang="ko-KR" sz="1100" dirty="0">
                    <a:latin typeface="+mn-ea"/>
                  </a:rPr>
                  <a:t>error</a:t>
                </a:r>
                <a:r>
                  <a:rPr lang="ko-KR" altLang="en-US" sz="1100" dirty="0">
                    <a:latin typeface="+mn-ea"/>
                  </a:rPr>
                  <a:t>를 일으킬 확률이 </a:t>
                </a:r>
                <a:r>
                  <a:rPr lang="ko-KR" altLang="en-US" sz="1100" dirty="0" err="1">
                    <a:latin typeface="+mn-ea"/>
                  </a:rPr>
                  <a:t>줄어듬</a:t>
                </a:r>
                <a:endParaRPr lang="en-US" altLang="ko-KR" sz="11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latin typeface="+mn-ea"/>
                  </a:rPr>
                  <a:t>	-  </a:t>
                </a:r>
                <a:r>
                  <a:rPr lang="ko-KR" altLang="en-US" sz="1100" dirty="0">
                    <a:latin typeface="+mn-ea"/>
                  </a:rPr>
                  <a:t>새로운 데이터에 대해 예측 성능이 좋음</a:t>
                </a:r>
                <a:endParaRPr lang="en-US" altLang="ko-KR" sz="11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latin typeface="+mn-ea"/>
                  </a:rPr>
                  <a:t>	-  </a:t>
                </a:r>
                <a:r>
                  <a:rPr lang="ko-KR" altLang="en-US" sz="1100" dirty="0" err="1">
                    <a:latin typeface="+mn-ea"/>
                  </a:rPr>
                  <a:t>영역군이</a:t>
                </a:r>
                <a:r>
                  <a:rPr lang="ko-KR" altLang="en-US" sz="1100" dirty="0">
                    <a:latin typeface="+mn-ea"/>
                  </a:rPr>
                  <a:t> 확실함</a:t>
                </a:r>
                <a:endParaRPr lang="en-US" altLang="ko-KR" sz="1100" dirty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dirty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따라서 모든샘플을 옳게 분류한다는 조건하에 </a:t>
                </a:r>
                <a:r>
                  <a:rPr lang="en-US" altLang="ko-KR" sz="1100">
                    <a:latin typeface="+mn-ea"/>
                  </a:rPr>
                  <a:t>Maxmize Margin</a:t>
                </a:r>
                <a:r>
                  <a:rPr lang="ko-KR" altLang="en-US" sz="1100">
                    <a:latin typeface="+mn-ea"/>
                  </a:rPr>
                  <a:t>을 갖는 </a:t>
                </a:r>
                <a:r>
                  <a:rPr lang="en-US" altLang="ko-KR" sz="1100">
                    <a:latin typeface="+mn-ea"/>
                  </a:rPr>
                  <a:t>hyperplane</a:t>
                </a:r>
                <a:r>
                  <a:rPr lang="ko-KR" altLang="en-US" sz="1100">
                    <a:latin typeface="+mn-ea"/>
                  </a:rPr>
                  <a:t>을 찾음</a:t>
                </a:r>
                <a:r>
                  <a:rPr lang="en-US" altLang="ko-KR" sz="1100">
                    <a:latin typeface="+mn-ea"/>
                  </a:rPr>
                  <a:t>(=</a:t>
                </a:r>
                <a:r>
                  <a:rPr lang="ko-KR" altLang="en-US" sz="1100">
                    <a:latin typeface="+mn-ea"/>
                  </a:rPr>
                  <a:t>조건부 최적화 문제</a:t>
                </a:r>
                <a:r>
                  <a:rPr lang="en-US" altLang="ko-KR" sz="1100">
                    <a:latin typeface="+mn-ea"/>
                  </a:rPr>
                  <a:t>)</a:t>
                </a:r>
                <a:endParaRPr lang="en-US" altLang="ko-KR" sz="1100" dirty="0">
                  <a:latin typeface="+mn-ea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20" y="3438117"/>
                <a:ext cx="8191245" cy="2992294"/>
              </a:xfrm>
              <a:prstGeom prst="rect">
                <a:avLst/>
              </a:prstGeom>
              <a:blipFill>
                <a:blip r:embed="rId2"/>
                <a:stretch>
                  <a:fillRect b="-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4545227" y="2999415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E73CED-B888-423F-8BC6-1B56686CE79D}"/>
              </a:ext>
            </a:extLst>
          </p:cNvPr>
          <p:cNvCxnSpPr>
            <a:cxnSpLocks/>
          </p:cNvCxnSpPr>
          <p:nvPr/>
        </p:nvCxnSpPr>
        <p:spPr>
          <a:xfrm>
            <a:off x="4093059" y="1473484"/>
            <a:ext cx="1331616" cy="1417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2F5AE5-AFBC-4F7C-80A9-55C3104D1FEE}"/>
              </a:ext>
            </a:extLst>
          </p:cNvPr>
          <p:cNvCxnSpPr>
            <a:cxnSpLocks/>
          </p:cNvCxnSpPr>
          <p:nvPr/>
        </p:nvCxnSpPr>
        <p:spPr>
          <a:xfrm>
            <a:off x="4323165" y="131836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807ED95-5448-4D96-BCB6-BD1FEC533A7F}"/>
              </a:ext>
            </a:extLst>
          </p:cNvPr>
          <p:cNvCxnSpPr>
            <a:cxnSpLocks/>
          </p:cNvCxnSpPr>
          <p:nvPr/>
        </p:nvCxnSpPr>
        <p:spPr>
          <a:xfrm flipH="1" flipV="1">
            <a:off x="3317450" y="1582121"/>
            <a:ext cx="716049" cy="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3DFDB76-A7EC-4D3F-9577-C4F4B3718EC4}"/>
              </a:ext>
            </a:extLst>
          </p:cNvPr>
          <p:cNvCxnSpPr>
            <a:cxnSpLocks/>
          </p:cNvCxnSpPr>
          <p:nvPr/>
        </p:nvCxnSpPr>
        <p:spPr>
          <a:xfrm>
            <a:off x="3849568" y="161849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E0499E2-CAFC-4A24-8541-8C8CCD47B5E5}"/>
              </a:ext>
            </a:extLst>
          </p:cNvPr>
          <p:cNvCxnSpPr>
            <a:cxnSpLocks/>
          </p:cNvCxnSpPr>
          <p:nvPr/>
        </p:nvCxnSpPr>
        <p:spPr>
          <a:xfrm flipV="1">
            <a:off x="3955426" y="1367889"/>
            <a:ext cx="423641" cy="32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758BFBF-5ECF-4FE1-9AD0-30FCB94408A9}"/>
              </a:ext>
            </a:extLst>
          </p:cNvPr>
          <p:cNvCxnSpPr>
            <a:cxnSpLocks/>
          </p:cNvCxnSpPr>
          <p:nvPr/>
        </p:nvCxnSpPr>
        <p:spPr>
          <a:xfrm flipV="1">
            <a:off x="4028382" y="2065203"/>
            <a:ext cx="1004256" cy="74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E838B0E8-CE9D-4D90-924D-530408F90245}"/>
              </a:ext>
            </a:extLst>
          </p:cNvPr>
          <p:cNvCxnSpPr>
            <a:cxnSpLocks/>
          </p:cNvCxnSpPr>
          <p:nvPr/>
        </p:nvCxnSpPr>
        <p:spPr>
          <a:xfrm flipV="1">
            <a:off x="4028382" y="2085536"/>
            <a:ext cx="249942" cy="72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B58CD8A-4432-4CB0-8C94-3CC7443A52A8}"/>
              </a:ext>
            </a:extLst>
          </p:cNvPr>
          <p:cNvCxnSpPr>
            <a:cxnSpLocks/>
          </p:cNvCxnSpPr>
          <p:nvPr/>
        </p:nvCxnSpPr>
        <p:spPr>
          <a:xfrm flipV="1">
            <a:off x="4278715" y="2065203"/>
            <a:ext cx="726562" cy="157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/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/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/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B6E71C-5D17-4EAA-920E-C25A4F1F91F8}"/>
              </a:ext>
            </a:extLst>
          </p:cNvPr>
          <p:cNvCxnSpPr>
            <a:cxnSpLocks/>
          </p:cNvCxnSpPr>
          <p:nvPr/>
        </p:nvCxnSpPr>
        <p:spPr>
          <a:xfrm flipV="1">
            <a:off x="4292703" y="1966404"/>
            <a:ext cx="152659" cy="1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F2F9A-F2AA-46B0-80D0-3480A4F3BB8D}"/>
              </a:ext>
            </a:extLst>
          </p:cNvPr>
          <p:cNvCxnSpPr>
            <a:cxnSpLocks/>
          </p:cNvCxnSpPr>
          <p:nvPr/>
        </p:nvCxnSpPr>
        <p:spPr>
          <a:xfrm flipV="1">
            <a:off x="4279355" y="1744928"/>
            <a:ext cx="442664" cy="34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/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blipFill>
                <a:blip r:embed="rId9"/>
                <a:stretch>
                  <a:fillRect l="-4762" r="-42857" b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/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maximum</a:t>
                </a:r>
              </a:p>
              <a:p>
                <a:pPr algn="l"/>
                <a:r>
                  <a:rPr lang="en-US" altLang="ko-KR" sz="800"/>
                  <a:t>Margin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8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9EFEFE29-8AF2-4700-BBD4-46BC3B8099AF}"/>
              </a:ext>
            </a:extLst>
          </p:cNvPr>
          <p:cNvGrpSpPr/>
          <p:nvPr/>
        </p:nvGrpSpPr>
        <p:grpSpPr>
          <a:xfrm>
            <a:off x="3790923" y="1117588"/>
            <a:ext cx="2261055" cy="1892614"/>
            <a:chOff x="3790923" y="1117588"/>
            <a:chExt cx="2261055" cy="1892614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3790923" y="1117588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147F03-7E25-4FAD-A951-5C8DE26C0EFE}"/>
                </a:ext>
              </a:extLst>
            </p:cNvPr>
            <p:cNvSpPr txBox="1"/>
            <p:nvPr/>
          </p:nvSpPr>
          <p:spPr>
            <a:xfrm>
              <a:off x="4452729" y="1301651"/>
              <a:ext cx="2775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100"/>
                <a:t>①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F053D-5D36-46D9-8CE0-080F27DD4450}"/>
                </a:ext>
              </a:extLst>
            </p:cNvPr>
            <p:cNvSpPr txBox="1"/>
            <p:nvPr/>
          </p:nvSpPr>
          <p:spPr>
            <a:xfrm>
              <a:off x="3828291" y="1749252"/>
              <a:ext cx="1194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100"/>
                <a:t>②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961B60-5848-4D8A-B1B4-5DA8BB49BFEF}"/>
                  </a:ext>
                </a:extLst>
              </p:cNvPr>
              <p:cNvSpPr txBox="1"/>
              <p:nvPr/>
            </p:nvSpPr>
            <p:spPr>
              <a:xfrm>
                <a:off x="5994319" y="2647325"/>
                <a:ext cx="660052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961B60-5848-4D8A-B1B4-5DA8BB49B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319" y="2647325"/>
                <a:ext cx="660052" cy="123111"/>
              </a:xfrm>
              <a:prstGeom prst="rect">
                <a:avLst/>
              </a:prstGeom>
              <a:blipFill>
                <a:blip r:embed="rId12"/>
                <a:stretch>
                  <a:fillRect l="-1835" r="-275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1E292-3FC7-4D84-8C8E-80A37AF4D785}"/>
                  </a:ext>
                </a:extLst>
              </p:cNvPr>
              <p:cNvSpPr txBox="1"/>
              <p:nvPr/>
            </p:nvSpPr>
            <p:spPr>
              <a:xfrm>
                <a:off x="6013812" y="2476612"/>
                <a:ext cx="679738" cy="125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800" i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800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800" i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8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80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800" dirty="0"/>
                  <a:t> 1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1E292-3FC7-4D84-8C8E-80A37AF4D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812" y="2476612"/>
                <a:ext cx="679738" cy="125227"/>
              </a:xfrm>
              <a:prstGeom prst="rect">
                <a:avLst/>
              </a:prstGeom>
              <a:blipFill>
                <a:blip r:embed="rId13"/>
                <a:stretch>
                  <a:fillRect l="-4505" t="-19048" r="-9009" b="-5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/>
          <p:cNvCxnSpPr/>
          <p:nvPr/>
        </p:nvCxnSpPr>
        <p:spPr>
          <a:xfrm flipV="1">
            <a:off x="5528136" y="2539226"/>
            <a:ext cx="469050" cy="26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B1E292-3FC7-4D84-8C8E-80A37AF4D785}"/>
                  </a:ext>
                </a:extLst>
              </p:cNvPr>
              <p:cNvSpPr txBox="1"/>
              <p:nvPr/>
            </p:nvSpPr>
            <p:spPr>
              <a:xfrm>
                <a:off x="5997185" y="2802833"/>
                <a:ext cx="733825" cy="1252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800" i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800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800" i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8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8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80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800" b="0" i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800" dirty="0"/>
                  <a:t> 1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B1E292-3FC7-4D84-8C8E-80A37AF4D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185" y="2802833"/>
                <a:ext cx="733825" cy="125227"/>
              </a:xfrm>
              <a:prstGeom prst="rect">
                <a:avLst/>
              </a:prstGeom>
              <a:blipFill>
                <a:blip r:embed="rId14"/>
                <a:stretch>
                  <a:fillRect l="-4167" t="-25000" r="-833" b="-5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/>
          <p:cNvCxnSpPr>
            <a:endCxn id="33" idx="1"/>
          </p:cNvCxnSpPr>
          <p:nvPr/>
        </p:nvCxnSpPr>
        <p:spPr>
          <a:xfrm flipV="1">
            <a:off x="5151268" y="2865447"/>
            <a:ext cx="845917" cy="46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endCxn id="31" idx="1"/>
          </p:cNvCxnSpPr>
          <p:nvPr/>
        </p:nvCxnSpPr>
        <p:spPr>
          <a:xfrm flipV="1">
            <a:off x="5326723" y="2708881"/>
            <a:ext cx="667596" cy="324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10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258634" y="3439751"/>
            <a:ext cx="7887076" cy="260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Margin </a:t>
            </a:r>
            <a:r>
              <a:rPr lang="ko-KR" altLang="en-US" sz="1100">
                <a:latin typeface="+mn-ea"/>
              </a:rPr>
              <a:t>분류에는 </a:t>
            </a:r>
            <a:r>
              <a:rPr lang="en-US" altLang="ko-KR" sz="1100">
                <a:latin typeface="+mn-ea"/>
              </a:rPr>
              <a:t>Hard Margin</a:t>
            </a:r>
            <a:r>
              <a:rPr lang="ko-KR" altLang="en-US" sz="1100">
                <a:latin typeface="+mn-ea"/>
              </a:rPr>
              <a:t>과 </a:t>
            </a:r>
            <a:r>
              <a:rPr lang="en-US" altLang="ko-KR" sz="1100">
                <a:latin typeface="+mn-ea"/>
              </a:rPr>
              <a:t>Soft Margin</a:t>
            </a:r>
            <a:r>
              <a:rPr lang="ko-KR" altLang="en-US" sz="1100">
                <a:latin typeface="+mn-ea"/>
              </a:rPr>
              <a:t>으로 나뉨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Hard Margin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100">
                <a:latin typeface="+mn-ea"/>
              </a:rPr>
              <a:t>Maximum Margin</a:t>
            </a:r>
            <a:r>
              <a:rPr lang="ko-KR" altLang="en-US" sz="1100">
                <a:latin typeface="+mn-ea"/>
              </a:rPr>
              <a:t>범위 안에 데이터들이 존재하지않도록 두개의 클래스를 분리하는 방법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몇 개의 노이즈로 인해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잘 못 구할 수도 있으며 찾지 못하는 문제도 발생</a:t>
            </a:r>
            <a:endParaRPr lang="en-US" altLang="ko-KR" sz="110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(ex. </a:t>
            </a:r>
            <a:r>
              <a:rPr lang="ko-KR" altLang="en-US" sz="1100">
                <a:latin typeface="+mn-ea"/>
              </a:rPr>
              <a:t>빨간 클래스에 파란색데이터가 섞여있는 경우</a:t>
            </a:r>
            <a:r>
              <a:rPr lang="en-US" altLang="ko-KR" sz="1100">
                <a:latin typeface="+mn-ea"/>
              </a:rPr>
              <a:t>)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이상치에 매우 민감함 특성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Soft Margin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100">
                <a:latin typeface="+mn-ea"/>
              </a:rPr>
              <a:t>Hard Margin</a:t>
            </a:r>
            <a:r>
              <a:rPr lang="ko-KR" altLang="en-US" sz="1100">
                <a:latin typeface="+mn-ea"/>
              </a:rPr>
              <a:t>의 문제점 보완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가능한 넓게 유지하되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오류를 발생시키지 않음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어느정도의 </a:t>
            </a:r>
            <a:r>
              <a:rPr lang="en-US" altLang="ko-KR" sz="1100">
                <a:latin typeface="+mn-ea"/>
              </a:rPr>
              <a:t>error</a:t>
            </a:r>
            <a:r>
              <a:rPr lang="ko-KR" altLang="en-US" sz="1100">
                <a:latin typeface="+mn-ea"/>
              </a:rPr>
              <a:t>를 허용하여 이상치에 민감한 특성 보완</a:t>
            </a:r>
            <a:r>
              <a:rPr lang="en-US" altLang="ko-KR" sz="110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20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Lagrangian Multiplier Method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3877540"/>
                  </p:ext>
                </p:extLst>
              </p:nvPr>
            </p:nvGraphicFramePr>
            <p:xfrm>
              <a:off x="3131820" y="2715895"/>
              <a:ext cx="217932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ar-AE" sz="1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ar-AE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 sz="11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ar-AE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ar-AE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ar-AE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ar-AE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ar-AE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ar-AE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3877540"/>
                  </p:ext>
                </p:extLst>
              </p:nvPr>
            </p:nvGraphicFramePr>
            <p:xfrm>
              <a:off x="3131820" y="2715895"/>
              <a:ext cx="217932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/>
              <p:cNvGraphicFramePr>
                <a:graphicFrameLocks noGrp="1"/>
              </p:cNvGraphicFramePr>
              <p:nvPr/>
            </p:nvGraphicFramePr>
            <p:xfrm>
              <a:off x="3123565" y="4131310"/>
              <a:ext cx="4549140" cy="13411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4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(1)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(2)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𝜕𝛼</m:t>
                                    </m:r>
                                  </m:den>
                                </m:f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(3)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/>
              <p:cNvGraphicFramePr>
                <a:graphicFrameLocks noGrp="1"/>
              </p:cNvGraphicFramePr>
              <p:nvPr/>
            </p:nvGraphicFramePr>
            <p:xfrm>
              <a:off x="3123565" y="4131310"/>
              <a:ext cx="4549140" cy="13411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4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160279" b="-19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(1)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01370" r="-160279" b="-1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(2)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8649" r="-160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rgbClr val="000000"/>
                              </a:solidFill>
                            </a:rPr>
                            <a:t>(3)</a:t>
                          </a:r>
                          <a:endParaRPr lang="ko-KR" altLang="en-US" sz="1100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/>
              <p:cNvGraphicFramePr>
                <a:graphicFrameLocks noGrp="1"/>
              </p:cNvGraphicFramePr>
              <p:nvPr/>
            </p:nvGraphicFramePr>
            <p:xfrm>
              <a:off x="3131820" y="3793490"/>
              <a:ext cx="278892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/>
              <p:cNvGraphicFramePr>
                <a:graphicFrameLocks noGrp="1"/>
              </p:cNvGraphicFramePr>
              <p:nvPr/>
            </p:nvGraphicFramePr>
            <p:xfrm>
              <a:off x="3131820" y="3793490"/>
              <a:ext cx="278892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>
                <a:spLocks/>
              </p:cNvSpPr>
              <p:nvPr/>
            </p:nvSpPr>
            <p:spPr>
              <a:xfrm>
                <a:off x="259080" y="3076575"/>
                <a:ext cx="7903845" cy="77025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맑은 고딕" charset="0"/>
                  </a:rPr>
                  <a:t>은 목적함수 이며</a:t>
                </a:r>
                <a:r>
                  <a:rPr lang="en-US" altLang="ko-KR" sz="1100" b="0">
                    <a:latin typeface="맑은 고딕" charset="0"/>
                  </a:rPr>
                  <a:t>,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맑은 고딕" charset="0"/>
                  </a:rPr>
                  <a:t>은 제약조건임</a:t>
                </a:r>
              </a:p>
              <a:p>
                <a:pPr marL="171450" indent="-171450" latinLnBrk="0">
                  <a:buFont typeface="Arial"/>
                  <a:buChar char="•"/>
                </a:pPr>
                <a:endParaRPr lang="ko-KR" altLang="en-US" sz="1100" b="0">
                  <a:latin typeface="맑은 고딕" charset="0"/>
                </a:endParaRPr>
              </a:p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>
                    <a:latin typeface="맑은 고딕" charset="0"/>
                  </a:rPr>
                  <a:t>예를 들어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100">
                    <a:latin typeface="맑은 고딕" charset="0"/>
                  </a:rPr>
                  <a:t>이며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 b="0">
                    <a:latin typeface="맑은 고딕" charset="0"/>
                  </a:rPr>
                  <a:t>을 계산할 때 수식은 다음과 같음</a:t>
                </a:r>
              </a:p>
              <a:p>
                <a:pPr marL="0" indent="0" algn="l" latinLnBrk="0">
                  <a:buFontTx/>
                  <a:buNone/>
                </a:pPr>
                <a:endParaRPr lang="ko-KR" altLang="en-US" sz="1100">
                  <a:latin typeface="맑은 고딕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3076575"/>
                <a:ext cx="7903845" cy="770255"/>
              </a:xfrm>
              <a:prstGeom prst="rect">
                <a:avLst/>
              </a:prstGeom>
              <a:blipFill>
                <a:blip r:embed="rId5"/>
                <a:stretch>
                  <a:fillRect t="-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>
                <a:spLocks/>
              </p:cNvSpPr>
              <p:nvPr/>
            </p:nvSpPr>
            <p:spPr>
              <a:xfrm>
                <a:off x="259080" y="5620385"/>
                <a:ext cx="4313555" cy="33655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>
                    <a:latin typeface="맑은 고딕" charset="0"/>
                  </a:rPr>
                  <a:t>위의 </a:t>
                </a:r>
                <a:r>
                  <a:rPr lang="en-US" altLang="ko-KR" sz="1100">
                    <a:latin typeface="맑은 고딕" charset="0"/>
                  </a:rPr>
                  <a:t>3</a:t>
                </a:r>
                <a:r>
                  <a:rPr lang="ko-KR" altLang="en-US" sz="1100">
                    <a:latin typeface="맑은 고딕" charset="0"/>
                  </a:rPr>
                  <a:t>가지 식을 연립하면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lang="ko-KR" altLang="en-US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5620385"/>
                <a:ext cx="4313555" cy="336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22AB86-2AD7-41C0-8D62-C94091336398}"/>
                  </a:ext>
                </a:extLst>
              </p:cNvPr>
              <p:cNvSpPr txBox="1"/>
              <p:nvPr/>
            </p:nvSpPr>
            <p:spPr>
              <a:xfrm>
                <a:off x="259080" y="1291678"/>
                <a:ext cx="8884920" cy="132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목적은 </a:t>
                </a: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을 최대화 하는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를 찾는 것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승수법이란 제약이 있는 최적화 문제를 푸는 방법 중 하나로</a:t>
                </a:r>
                <a:r>
                  <a:rPr lang="en-US" altLang="ko-KR" sz="1100">
                    <a:latin typeface="+mn-ea"/>
                  </a:rPr>
                  <a:t>, </a:t>
                </a:r>
                <a:r>
                  <a:rPr lang="ko-KR" altLang="en-US" sz="1100">
                    <a:latin typeface="+mn-ea"/>
                  </a:rPr>
                  <a:t>모든 제약식에 라그랑주 승수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를 곱하고 등식 제약이 있는 문제를 제약 없는 문제로 바꾸어 해결하는 방법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만약 부등식의 제약이 있는 문제면 </a:t>
                </a:r>
                <a:r>
                  <a:rPr lang="en-US" altLang="ko-KR" sz="1100">
                    <a:latin typeface="+mn-ea"/>
                  </a:rPr>
                  <a:t>KKT(Karush-Kuhn-Tucker)</a:t>
                </a:r>
                <a:r>
                  <a:rPr lang="ko-KR" altLang="en-US" sz="1100">
                    <a:latin typeface="+mn-ea"/>
                  </a:rPr>
                  <a:t>조건을 만족하는 문제일 때 라그랑주 승수법으로 문제를 해결 할 수 있음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함수 식은 다음과 같음</a:t>
                </a:r>
                <a:endParaRPr lang="en-US" altLang="ko-KR" sz="1100" i="1">
                  <a:latin typeface="+mn-ea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22AB86-2AD7-41C0-8D62-C94091336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1291678"/>
                <a:ext cx="8884920" cy="1329210"/>
              </a:xfrm>
              <a:prstGeom prst="rect">
                <a:avLst/>
              </a:prstGeom>
              <a:blipFill>
                <a:blip r:embed="rId7"/>
                <a:stretch>
                  <a:fillRect b="-2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73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 sz="1600">
                <a:latin typeface="+mn-ea"/>
              </a:rPr>
              <a:t>KKT(Karush-Kuhn-Tucker)</a:t>
            </a:r>
            <a:r>
              <a:rPr lang="ko-KR" altLang="en-US" sz="1600">
                <a:latin typeface="+mn-ea"/>
              </a:rPr>
              <a:t>조건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>
                <a:spLocks/>
              </p:cNvSpPr>
              <p:nvPr/>
            </p:nvSpPr>
            <p:spPr>
              <a:xfrm>
                <a:off x="268605" y="1280160"/>
                <a:ext cx="8876030" cy="60016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라그랑주 승수법의 식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1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sz="11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sz="11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Primal variable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1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Lagrangian variable)</a:t>
                </a:r>
              </a:p>
              <a:p>
                <a:pPr marL="171450" indent="-171450">
                  <a:buFont typeface="Arial"/>
                  <a:buChar char="•"/>
                </a:pPr>
                <a:r>
                  <a:rPr lang="en-US" altLang="ko-KR" sz="1100">
                    <a:latin typeface="+mn-ea"/>
                  </a:rPr>
                  <a:t>Max Margin</a:t>
                </a:r>
                <a:r>
                  <a:rPr lang="ko-KR" altLang="en-US" sz="1100">
                    <a:latin typeface="+mn-ea"/>
                  </a:rPr>
                  <a:t>을</a:t>
                </a:r>
                <a:r>
                  <a:rPr lang="en-US" altLang="ko-KR" sz="1100">
                    <a:latin typeface="+mn-ea"/>
                  </a:rPr>
                  <a:t> </a:t>
                </a:r>
                <a:r>
                  <a:rPr lang="ko-KR" altLang="en-US" sz="1100">
                    <a:latin typeface="+mn-ea"/>
                  </a:rPr>
                  <a:t>계산상의 편의를 위해 역수를 취하여 </a:t>
                </a:r>
                <a:r>
                  <a:rPr lang="en-US" altLang="ko-KR" sz="1100">
                    <a:latin typeface="+mn-ea"/>
                  </a:rPr>
                  <a:t>Min Margin</a:t>
                </a:r>
                <a:r>
                  <a:rPr lang="ko-KR" altLang="en-US" sz="1100">
                    <a:latin typeface="+mn-ea"/>
                  </a:rPr>
                  <a:t>으로 바꿔 목적함수를 변경</a:t>
                </a:r>
                <a:r>
                  <a:rPr lang="en-US" altLang="ko-KR" sz="1100">
                    <a:latin typeface="+mn-ea"/>
                  </a:rPr>
                  <a:t>(</a:t>
                </a:r>
                <a:r>
                  <a:rPr lang="ko-KR" altLang="en-US" sz="1100">
                    <a:latin typeface="+mn-ea"/>
                  </a:rPr>
                  <a:t>문제의 본질 변하지않음</a:t>
                </a:r>
                <a:r>
                  <a:rPr lang="en-US" altLang="ko-KR" sz="1100">
                    <a:latin typeface="+mn-ea"/>
                  </a:rPr>
                  <a:t>)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endParaRPr lang="ko-KR" altLang="en-US" sz="110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280160"/>
                <a:ext cx="8876030" cy="600164"/>
              </a:xfrm>
              <a:prstGeom prst="rect">
                <a:avLst/>
              </a:prstGeom>
              <a:blipFill>
                <a:blip r:embed="rId2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250634"/>
                  </p:ext>
                </p:extLst>
              </p:nvPr>
            </p:nvGraphicFramePr>
            <p:xfrm>
              <a:off x="3139440" y="1701975"/>
              <a:ext cx="3649980" cy="5060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06095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</m:rP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250634"/>
                  </p:ext>
                </p:extLst>
              </p:nvPr>
            </p:nvGraphicFramePr>
            <p:xfrm>
              <a:off x="3139440" y="1701975"/>
              <a:ext cx="3649980" cy="5060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0609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13095" b="-15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413371"/>
                  </p:ext>
                </p:extLst>
              </p:nvPr>
            </p:nvGraphicFramePr>
            <p:xfrm>
              <a:off x="3122930" y="3504105"/>
              <a:ext cx="1311910" cy="447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413371"/>
                  </p:ext>
                </p:extLst>
              </p:nvPr>
            </p:nvGraphicFramePr>
            <p:xfrm>
              <a:off x="3122930" y="3504105"/>
              <a:ext cx="1311910" cy="447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990684"/>
                  </p:ext>
                </p:extLst>
              </p:nvPr>
            </p:nvGraphicFramePr>
            <p:xfrm>
              <a:off x="3122930" y="4231815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≥1  , 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990684"/>
                  </p:ext>
                </p:extLst>
              </p:nvPr>
            </p:nvGraphicFramePr>
            <p:xfrm>
              <a:off x="3122930" y="4231815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17423"/>
                  </p:ext>
                </p:extLst>
              </p:nvPr>
            </p:nvGraphicFramePr>
            <p:xfrm>
              <a:off x="3122930" y="4723940"/>
              <a:ext cx="146304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17423"/>
                  </p:ext>
                </p:extLst>
              </p:nvPr>
            </p:nvGraphicFramePr>
            <p:xfrm>
              <a:off x="3122930" y="4723940"/>
              <a:ext cx="146304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312508"/>
                  </p:ext>
                </p:extLst>
              </p:nvPr>
            </p:nvGraphicFramePr>
            <p:xfrm>
              <a:off x="3122930" y="5249720"/>
              <a:ext cx="173228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312508"/>
                  </p:ext>
                </p:extLst>
              </p:nvPr>
            </p:nvGraphicFramePr>
            <p:xfrm>
              <a:off x="3122930" y="5249720"/>
              <a:ext cx="173228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>
                <a:spLocks/>
              </p:cNvSpPr>
              <p:nvPr/>
            </p:nvSpPr>
            <p:spPr>
              <a:xfrm>
                <a:off x="268605" y="2862755"/>
                <a:ext cx="8607425" cy="77025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latinLnBrk="0">
                  <a:buFont typeface="Arial"/>
                  <a:buChar char="•"/>
                </a:pPr>
                <a:r>
                  <a:rPr lang="en-US" altLang="ko-KR" sz="1100">
                    <a:latin typeface="맑은 고딕" charset="0"/>
                  </a:rPr>
                  <a:t>KKT</a:t>
                </a:r>
                <a:r>
                  <a:rPr lang="ko-KR" altLang="en-US" sz="1100">
                    <a:latin typeface="맑은 고딕" charset="0"/>
                  </a:rPr>
                  <a:t>조건 </a:t>
                </a:r>
                <a:r>
                  <a:rPr lang="en-US" altLang="ko-KR" sz="1100">
                    <a:latin typeface="맑은 고딕" charset="0"/>
                  </a:rPr>
                  <a:t>4</a:t>
                </a:r>
                <a:r>
                  <a:rPr lang="ko-KR" altLang="en-US" sz="1100">
                    <a:latin typeface="맑은 고딕" charset="0"/>
                  </a:rPr>
                  <a:t>가지</a:t>
                </a:r>
              </a:p>
              <a:p>
                <a:pPr marL="0" indent="0" latinLnBrk="0">
                  <a:buFontTx/>
                  <a:buNone/>
                </a:pPr>
                <a:endParaRPr lang="ko-KR" altLang="en-US" sz="1100">
                  <a:latin typeface="맑은 고딕" charset="0"/>
                </a:endParaRPr>
              </a:p>
              <a:p>
                <a:pPr marL="0" indent="0" algn="l" latinLnBrk="0">
                  <a:buFontTx/>
                  <a:buNone/>
                </a:pPr>
                <a:r>
                  <a:rPr lang="en-US" altLang="ko-KR" sz="1100">
                    <a:latin typeface="맑은 고딕" charset="0"/>
                  </a:rPr>
                  <a:t>	1. </a:t>
                </a:r>
                <a:r>
                  <a:rPr lang="ko-KR" altLang="en-US" sz="1100">
                    <a:latin typeface="맑은 고딕" charset="0"/>
                  </a:rPr>
                  <a:t>라그랑제 함수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>
                    <a:latin typeface="맑은 고딕" charset="0"/>
                  </a:rPr>
                  <a:t>에서 라그랑제 승수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맑은 고딕" charset="0"/>
                  </a:rPr>
                  <a:t>를 제외한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맑은 고딕" charset="0"/>
                  </a:rPr>
                  <a:t>로 편미분한 식이 </a:t>
                </a:r>
                <a:r>
                  <a:rPr lang="en-US" altLang="ko-KR" sz="1100">
                    <a:latin typeface="맑은 고딕" charset="0"/>
                  </a:rPr>
                  <a:t>0</a:t>
                </a:r>
                <a:r>
                  <a:rPr lang="ko-KR" altLang="en-US" sz="1100">
                    <a:latin typeface="맑은 고딕" charset="0"/>
                  </a:rPr>
                  <a:t>이 되어야한다</a:t>
                </a:r>
                <a:r>
                  <a:rPr lang="en-US" altLang="ko-KR" sz="1100">
                    <a:latin typeface="맑은 고딕" charset="0"/>
                  </a:rPr>
                  <a:t>.(stationarity)</a:t>
                </a:r>
                <a:endParaRPr lang="ko-KR" altLang="en-US" sz="1100">
                  <a:latin typeface="맑은 고딕" charset="0"/>
                </a:endParaRPr>
              </a:p>
              <a:p>
                <a:pPr marL="0" indent="0" latinLnBrk="0">
                  <a:buFontTx/>
                  <a:buNone/>
                </a:pPr>
                <a:endParaRPr lang="ko-KR" altLang="en-US" sz="1100">
                  <a:latin typeface="맑은 고딕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2862755"/>
                <a:ext cx="8607425" cy="7702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4A4E6E-C309-41B5-A190-6F40ED48E79B}"/>
              </a:ext>
            </a:extLst>
          </p:cNvPr>
          <p:cNvSpPr txBox="1"/>
          <p:nvPr/>
        </p:nvSpPr>
        <p:spPr>
          <a:xfrm>
            <a:off x="268605" y="3920665"/>
            <a:ext cx="8606790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2.  </a:t>
            </a:r>
            <a:r>
              <a:rPr lang="ko-KR" altLang="en-US" sz="1100">
                <a:latin typeface="+mn-ea"/>
              </a:rPr>
              <a:t>제약조건을 만족해야 한다</a:t>
            </a:r>
            <a:r>
              <a:rPr lang="en-US" altLang="ko-KR" sz="1100">
                <a:latin typeface="+mn-ea"/>
              </a:rPr>
              <a:t>.(Primal feasibility)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>
                <a:spLocks/>
              </p:cNvSpPr>
              <p:nvPr/>
            </p:nvSpPr>
            <p:spPr>
              <a:xfrm>
                <a:off x="268605" y="4454700"/>
                <a:ext cx="8607425" cy="26225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l" latinLnBrk="0">
                  <a:buFontTx/>
                  <a:buNone/>
                </a:pPr>
                <a:r>
                  <a:rPr lang="en-US" altLang="ko-KR" sz="1100">
                    <a:latin typeface="맑은 고딕" charset="0"/>
                  </a:rPr>
                  <a:t>	3. </a:t>
                </a:r>
                <a:r>
                  <a:rPr lang="ko-KR" altLang="en-US" sz="1100">
                    <a:latin typeface="맑은 고딕" charset="0"/>
                  </a:rPr>
                  <a:t>모든 라그랑제 승수</a:t>
                </a:r>
                <a:r>
                  <a:rPr lang="en-US" altLang="ko-KR" sz="1100">
                    <a:latin typeface="맑은 고딕" charset="0"/>
                  </a:rPr>
                  <a:t>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,…,…,</m:t>
                        </m:r>
                        <m:sSub>
                          <m:sSub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100">
                    <a:latin typeface="맑은 고딕" charset="0"/>
                  </a:rPr>
                  <a:t>은 </a:t>
                </a:r>
                <a:r>
                  <a:rPr lang="en-US" altLang="ko-KR" sz="1100">
                    <a:latin typeface="맑은 고딕" charset="0"/>
                  </a:rPr>
                  <a:t>0</a:t>
                </a:r>
                <a:r>
                  <a:rPr lang="ko-KR" altLang="en-US" sz="1100">
                    <a:latin typeface="맑은 고딕" charset="0"/>
                  </a:rPr>
                  <a:t>보다 크거나 같아야 한다</a:t>
                </a:r>
                <a:r>
                  <a:rPr lang="en-US" altLang="ko-KR" sz="1100">
                    <a:latin typeface="맑은 고딕" charset="0"/>
                  </a:rPr>
                  <a:t>.(dual feasibility)</a:t>
                </a:r>
                <a:endParaRPr lang="ko-KR" altLang="en-US" sz="1100">
                  <a:latin typeface="맑은 고딕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4454700"/>
                <a:ext cx="8607425" cy="262255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A47BFA-6914-4132-9655-5D602ECE8213}"/>
              </a:ext>
            </a:extLst>
          </p:cNvPr>
          <p:cNvSpPr txBox="1"/>
          <p:nvPr/>
        </p:nvSpPr>
        <p:spPr>
          <a:xfrm>
            <a:off x="268605" y="4983020"/>
            <a:ext cx="870775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4. Primal feasibility</a:t>
            </a:r>
            <a:r>
              <a:rPr lang="ko-KR" altLang="en-US" sz="1100">
                <a:latin typeface="+mn-ea"/>
              </a:rPr>
              <a:t>와 </a:t>
            </a:r>
            <a:r>
              <a:rPr lang="en-US" altLang="ko-KR" sz="1100">
                <a:latin typeface="+mn-ea"/>
              </a:rPr>
              <a:t>dual feasibility</a:t>
            </a:r>
            <a:r>
              <a:rPr lang="ko-KR" altLang="en-US" sz="1100">
                <a:latin typeface="+mn-ea"/>
              </a:rPr>
              <a:t>의 곱을 만족 시켜야 한다</a:t>
            </a:r>
            <a:r>
              <a:rPr lang="en-US" altLang="ko-KR" sz="1100">
                <a:latin typeface="+mn-ea"/>
              </a:rPr>
              <a:t>.	(complementary slackness)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409C5-B2B2-4FDD-B56A-CD138A8D7EDE}"/>
              </a:ext>
            </a:extLst>
          </p:cNvPr>
          <p:cNvSpPr txBox="1"/>
          <p:nvPr/>
        </p:nvSpPr>
        <p:spPr>
          <a:xfrm>
            <a:off x="260350" y="5586905"/>
            <a:ext cx="8707755" cy="26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</a:t>
            </a:r>
            <a:r>
              <a:rPr lang="en-US" altLang="ko-KR" sz="1100">
                <a:latin typeface="+mn-ea"/>
              </a:rPr>
              <a:t>4</a:t>
            </a:r>
            <a:r>
              <a:rPr lang="ko-KR" altLang="en-US" sz="1100">
                <a:latin typeface="+mn-ea"/>
              </a:rPr>
              <a:t>가지 조건을 모두 만족해야 </a:t>
            </a: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의 최적화 문제를 해결</a:t>
            </a:r>
            <a:endParaRPr lang="en-US" altLang="ko-KR" sz="11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2811916"/>
                  </p:ext>
                </p:extLst>
              </p:nvPr>
            </p:nvGraphicFramePr>
            <p:xfrm>
              <a:off x="3351530" y="2172510"/>
              <a:ext cx="2587625" cy="817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824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pPr marL="0" lvl="1" indent="0" algn="ctr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ar-AE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ar-AE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ar-AE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ar-AE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f>
                                  <m:fPr>
                                    <m:ctrlPr>
                                      <a:rPr lang="ar-AE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ar-AE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ar-AE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lvl="1" indent="0" algn="ctr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제약조건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2811916"/>
                  </p:ext>
                </p:extLst>
              </p:nvPr>
            </p:nvGraphicFramePr>
            <p:xfrm>
              <a:off x="3351530" y="2172510"/>
              <a:ext cx="2587625" cy="817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824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51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0"/>
                          <a:stretch>
                            <a:fillRect r="-45392" b="-8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0"/>
                          <a:stretch>
                            <a:fillRect t="-121311" r="-45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150000"/>
                            </a:lnSpc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제약조건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6806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94F5BA-2F01-4E47-B5C2-44EA45313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3810" y="194945"/>
            <a:ext cx="4899025" cy="320675"/>
          </a:xfrm>
        </p:spPr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F2BF-A2AD-439A-8835-73858AD4459B}"/>
              </a:ext>
            </a:extLst>
          </p:cNvPr>
          <p:cNvSpPr txBox="1"/>
          <p:nvPr/>
        </p:nvSpPr>
        <p:spPr>
          <a:xfrm>
            <a:off x="259080" y="1280160"/>
            <a:ext cx="7886700" cy="43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/>
              <p:cNvGraphicFramePr>
                <a:graphicFrameLocks noGrp="1"/>
              </p:cNvGraphicFramePr>
              <p:nvPr/>
            </p:nvGraphicFramePr>
            <p:xfrm>
              <a:off x="1272540" y="1480185"/>
              <a:ext cx="6096000" cy="14541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845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𝜆𝛻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𝜇𝛻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ko-KR" altLang="en-US" sz="1100" b="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40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 b="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 b="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40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≥0  </m:t>
                              </m:r>
                            </m:oMath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845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20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845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sz="1100" i="1">
                                      <a:solidFill>
                                        <a:srgbClr val="0E0E0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11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sz="700" i="1">
                                          <a:solidFill>
                                            <a:srgbClr val="0E0E0E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sz="1100" i="1">
                                  <a:solidFill>
                                    <a:srgbClr val="0E0E0E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ko-KR" altLang="en-US" kern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/>
              <p:cNvGraphicFramePr>
                <a:graphicFrameLocks noGrp="1"/>
              </p:cNvGraphicFramePr>
              <p:nvPr/>
            </p:nvGraphicFramePr>
            <p:xfrm>
              <a:off x="1272540" y="1480185"/>
              <a:ext cx="6096000" cy="14541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845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3897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ko-KR" altLang="en-US" sz="1100" b="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4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6522" r="-157326" b="-3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buFontTx/>
                            <a:buNone/>
                          </a:pPr>
                          <a:r>
                            <a:rPr lang="en-US" altLang="ko-KR" sz="1100" b="0" kern="120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 b="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4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6522" r="-157326" b="-2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845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82000" r="-157326" b="-98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200000"/>
                            </a:lnSpc>
                            <a:buFontTx/>
                            <a:buNone/>
                          </a:pPr>
                          <a:r>
                            <a:rPr lang="en-US" altLang="ko-KR" sz="1100" kern="12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 kern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845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89796" r="-15732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ko-KR" altLang="en-US" kern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>
                <a:spLocks/>
              </p:cNvSpPr>
              <p:nvPr/>
            </p:nvSpPr>
            <p:spPr>
              <a:xfrm>
                <a:off x="261620" y="2841625"/>
                <a:ext cx="6485255" cy="100841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:r>
                  <a:rPr lang="en-US" altLang="ko-KR" sz="1100"/>
                  <a:t>KKT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3~5</a:t>
                </a:r>
                <a:r>
                  <a:rPr lang="ko-KR" altLang="en-US" sz="1100"/>
                  <a:t>번식은 제약조건임으로 참고</a:t>
                </a:r>
                <a:r>
                  <a:rPr lang="en-US" altLang="ko-KR" sz="1100"/>
                  <a:t>,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번과</a:t>
                </a:r>
                <a:r>
                  <a:rPr lang="en-US" altLang="ko-KR" sz="1100"/>
                  <a:t>2</a:t>
                </a:r>
                <a:r>
                  <a:rPr lang="ko-KR" altLang="en-US" sz="1100"/>
                  <a:t>번식을 증명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/>
                  <a:t>우리가 구하고자 하는 </a:t>
                </a:r>
                <a:r>
                  <a:rPr lang="en-US" altLang="ko-KR" sz="1100"/>
                  <a:t>svm</a:t>
                </a:r>
                <a:r>
                  <a:rPr lang="ko-KR" altLang="en-US" sz="1100"/>
                  <a:t>문제의 목적함수가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sz="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임</m:t>
                    </m:r>
                  </m:oMath>
                </a14:m>
                <a:r>
                  <a:rPr lang="ko-KR" altLang="en-US" sz="1100"/>
                  <a:t>으로 </a:t>
                </a:r>
                <a:r>
                  <a:rPr lang="en-US" altLang="ko-KR" sz="1100"/>
                  <a:t>convex</a:t>
                </a:r>
                <a:r>
                  <a:rPr lang="ko-KR" altLang="en-US" sz="1100"/>
                  <a:t>문제임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r>
                  <a:rPr lang="en-US" altLang="ko-KR" sz="1100"/>
                  <a:t>Convex</a:t>
                </a:r>
                <a:r>
                  <a:rPr lang="ko-KR" altLang="en-US" sz="1100"/>
                  <a:t>함수는 </a:t>
                </a:r>
                <a:r>
                  <a:rPr lang="en-US" altLang="ko-KR" sz="1100"/>
                  <a:t>local minimum</a:t>
                </a:r>
                <a:r>
                  <a:rPr lang="ko-KR" altLang="en-US" sz="1100"/>
                  <a:t>이 항상 </a:t>
                </a:r>
                <a:r>
                  <a:rPr lang="en-US" altLang="ko-KR" sz="1100"/>
                  <a:t>global minimum</a:t>
                </a:r>
                <a:r>
                  <a:rPr lang="ko-KR" altLang="en-US" sz="1100"/>
                  <a:t> 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/>
                  <a:t>Local minimum에 대한 kkt조건이 대우명제가 성립됨</a:t>
                </a:r>
              </a:p>
              <a:p>
                <a:pPr marL="0" indent="0" algn="ctr" latinLnBrk="0">
                  <a:buFontTx/>
                  <a:buNone/>
                </a:pPr>
                <a:r>
                  <a:rPr lang="en-US" altLang="ko-KR" sz="1100"/>
                  <a:t>Local minimum=&gt;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KKT,  ~KKT=&gt;~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local minimum</a:t>
                </a:r>
                <a:endParaRPr lang="ko-KR" altLang="en-US" sz="110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0" y="2841625"/>
                <a:ext cx="6485255" cy="1008418"/>
              </a:xfrm>
              <a:prstGeom prst="rect">
                <a:avLst/>
              </a:prstGeom>
              <a:blipFill>
                <a:blip r:embed="rId3"/>
                <a:stretch>
                  <a:fillRect t="-602" b="-30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>
                <a:spLocks/>
              </p:cNvSpPr>
              <p:nvPr/>
            </p:nvSpPr>
            <p:spPr>
              <a:xfrm>
                <a:off x="275590" y="3990975"/>
                <a:ext cx="7887335" cy="93916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:r>
                  <a:rPr lang="en-US" altLang="ko-KR" sz="1100"/>
                  <a:t>KKT 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번식을 변형하면 다음과 같음</a:t>
                </a:r>
              </a:p>
              <a:p>
                <a:pPr marL="0" indent="0" algn="ctr" latinLnBrk="0">
                  <a:buFontTx/>
                  <a:buNone/>
                </a:pPr>
                <a14:m>
                  <m:oMath xmlns:m="http://schemas.openxmlformats.org/officeDocument/2006/math"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1100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𝜆𝛻</m:t>
                    </m:r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sz="1100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𝜇𝛻</m:t>
                    </m:r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1100" i="1">
                            <a:solidFill>
                              <a:srgbClr val="0E0E0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E0E0E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sz="1100" i="1">
                        <a:solidFill>
                          <a:srgbClr val="0E0E0E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100"/>
                  <a:t> =&gt;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𝜇𝛻</m:t>
                    </m:r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ko-KR" altLang="en-US"/>
              </a:p>
              <a:p>
                <a:pPr marL="171450" indent="-171450" latinLnBrk="0">
                  <a:buFont typeface="Arial"/>
                  <a:buChar char="•"/>
                </a:pPr>
                <a:r>
                  <a:rPr lang="ko-KR" altLang="en-US" sz="1100"/>
                  <a:t>노란색 영역이 존재 </a:t>
                </a:r>
                <a:r>
                  <a:rPr lang="en-US" altLang="ko-KR" sz="1100"/>
                  <a:t>=&gt; local minimum </a:t>
                </a:r>
                <a:r>
                  <a:rPr lang="ko-KR" altLang="en-US" sz="1100"/>
                  <a:t>위배</a:t>
                </a:r>
              </a:p>
              <a:p>
                <a:pPr marL="171450" indent="-171450" latinLnBrk="0">
                  <a:buFont typeface="Arial"/>
                  <a:buChar char="•"/>
                </a:pPr>
                <a:r>
                  <a:rPr lang="ko-KR" altLang="en-US" sz="1100"/>
                  <a:t>원점에서 제일 적절한 </a:t>
                </a:r>
                <a:r>
                  <a:rPr lang="en-US" altLang="ko-KR" sz="1100"/>
                  <a:t>minimum</a:t>
                </a:r>
                <a:r>
                  <a:rPr lang="ko-KR" altLang="en-US" sz="1100"/>
                  <a:t>임으로 노란색 영역을 없애야함</a:t>
                </a:r>
              </a:p>
              <a:p>
                <a:pPr marL="0" indent="0" algn="ctr" latinLnBrk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𝜇𝛻</m:t>
                      </m:r>
                      <m:r>
                        <a:rPr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90" y="3990975"/>
                <a:ext cx="7887335" cy="939165"/>
              </a:xfrm>
              <a:prstGeom prst="rect">
                <a:avLst/>
              </a:prstGeom>
              <a:blipFill>
                <a:blip r:embed="rId4"/>
                <a:stretch>
                  <a:fillRect t="-649" b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>
            <a:extLst>
              <a:ext uri="{FF2B5EF4-FFF2-40B4-BE49-F238E27FC236}">
                <a16:creationId xmlns:a16="http://schemas.microsoft.com/office/drawing/2014/main" id="{33C07507-AFAF-433D-84CB-6E87C2905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140" y="1859280"/>
            <a:ext cx="2936240" cy="158432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8FAA4D6-C551-4D1B-9DB1-BA5CB99477C3}"/>
              </a:ext>
            </a:extLst>
          </p:cNvPr>
          <p:cNvGrpSpPr/>
          <p:nvPr/>
        </p:nvGrpSpPr>
        <p:grpSpPr>
          <a:xfrm>
            <a:off x="1385932" y="5071072"/>
            <a:ext cx="7035078" cy="1070616"/>
            <a:chOff x="1385932" y="5071072"/>
            <a:chExt cx="7035078" cy="1070616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5BCF4B5-EDE7-45F5-8457-DA2D6705EAF3}"/>
                </a:ext>
              </a:extLst>
            </p:cNvPr>
            <p:cNvGrpSpPr/>
            <p:nvPr/>
          </p:nvGrpSpPr>
          <p:grpSpPr>
            <a:xfrm>
              <a:off x="1385932" y="5071072"/>
              <a:ext cx="7035078" cy="1070616"/>
              <a:chOff x="589914" y="3856713"/>
              <a:chExt cx="7035078" cy="10706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86D1C46B-7BCF-4822-B2D3-8D6955DD4C91}"/>
                      </a:ext>
                    </a:extLst>
                  </p:cNvPr>
                  <p:cNvSpPr txBox="1"/>
                  <p:nvPr/>
                </p:nvSpPr>
                <p:spPr>
                  <a:xfrm>
                    <a:off x="5231660" y="4402057"/>
                    <a:ext cx="2393332" cy="52527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7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a14:m>
                    <a:r>
                      <a:rPr lang="ko-KR" altLang="en-US" sz="700"/>
                      <a:t>방향으로 기울기</a:t>
                    </a:r>
                    <a:endParaRPr lang="en-US" altLang="ko-KR" sz="700"/>
                  </a:p>
                  <a:p>
                    <a:pPr algn="l"/>
                    <a:r>
                      <a:rPr lang="ko-KR" altLang="en-US" sz="700"/>
                      <a:t>빨간색 영역 </a:t>
                    </a:r>
                    <a:r>
                      <a:rPr lang="en-US" altLang="ko-KR" sz="700"/>
                      <a:t>=&gt; </a:t>
                    </a:r>
                    <a14:m>
                      <m:oMath xmlns:m="http://schemas.openxmlformats.org/officeDocument/2006/math"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a14:m>
                    <a:r>
                      <a:rPr lang="ko-KR" altLang="en-US" sz="700" b="0"/>
                      <a:t>를 줄이는 영역</a:t>
                    </a:r>
                    <a:endParaRPr lang="en-US" altLang="ko-KR" sz="700" b="0"/>
                  </a:p>
                  <a:p>
                    <a:pPr algn="l"/>
                    <a:r>
                      <a:rPr lang="ko-KR" altLang="en-US" sz="700"/>
                      <a:t>파란색 영역 </a:t>
                    </a:r>
                    <a:r>
                      <a:rPr lang="en-US" altLang="ko-KR" sz="700"/>
                      <a:t>=&gt; </a:t>
                    </a:r>
                    <a14:m>
                      <m:oMath xmlns:m="http://schemas.openxmlformats.org/officeDocument/2006/math"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a14:m>
                    <a:r>
                      <a:rPr lang="ko-KR" altLang="en-US" sz="700" b="0"/>
                      <a:t>를 줄이는 영역</a:t>
                    </a:r>
                    <a:endParaRPr lang="en-US" altLang="ko-KR" sz="700" b="0"/>
                  </a:p>
                  <a:p>
                    <a:r>
                      <a:rPr lang="ko-KR" altLang="en-US" sz="700"/>
                      <a:t>노란색 영역 </a:t>
                    </a:r>
                    <a:r>
                      <a:rPr lang="en-US" altLang="ko-KR" sz="700"/>
                      <a:t>=&gt;</a:t>
                    </a:r>
                    <a14:m>
                      <m:oMath xmlns:m="http://schemas.openxmlformats.org/officeDocument/2006/math">
                        <m:r>
                          <a:rPr lang="en-US" altLang="ko-KR" sz="7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7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ko-KR" altLang="en-US" sz="700" i="1" smtClean="0">
                            <a:latin typeface="Cambria Math" panose="02040503050406030204" pitchFamily="18" charset="0"/>
                          </a:rPr>
                          <m:t>와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7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oMath>
                    </a14:m>
                    <a:r>
                      <a:rPr lang="ko-KR" altLang="en-US" sz="700"/>
                      <a:t>영역이 겹치는 영역</a:t>
                    </a: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EDAD6608-0747-43B6-8396-A681BAB91A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1660" y="4402057"/>
                    <a:ext cx="2393332" cy="5252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490E4818-320D-4E7B-B9AB-FC92D7DCA8FA}"/>
                  </a:ext>
                </a:extLst>
              </p:cNvPr>
              <p:cNvGrpSpPr/>
              <p:nvPr/>
            </p:nvGrpSpPr>
            <p:grpSpPr>
              <a:xfrm>
                <a:off x="3048000" y="3856713"/>
                <a:ext cx="1935480" cy="1066929"/>
                <a:chOff x="7005954" y="4075082"/>
                <a:chExt cx="1935480" cy="1066929"/>
              </a:xfrm>
            </p:grpSpPr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BD9D526-4AEB-4FE5-8831-8DB04C525F14}"/>
                    </a:ext>
                  </a:extLst>
                </p:cNvPr>
                <p:cNvSpPr/>
                <p:nvPr/>
              </p:nvSpPr>
              <p:spPr>
                <a:xfrm>
                  <a:off x="7005954" y="4627585"/>
                  <a:ext cx="1855471" cy="4808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77" name="직선 화살표 연결선 76">
                  <a:extLst>
                    <a:ext uri="{FF2B5EF4-FFF2-40B4-BE49-F238E27FC236}">
                      <a16:creationId xmlns:a16="http://schemas.microsoft.com/office/drawing/2014/main" id="{0B3F5CBC-287D-4B46-B020-884615C31843}"/>
                    </a:ext>
                  </a:extLst>
                </p:cNvPr>
                <p:cNvCxnSpPr/>
                <p:nvPr/>
              </p:nvCxnSpPr>
              <p:spPr>
                <a:xfrm>
                  <a:off x="7005954" y="4627585"/>
                  <a:ext cx="1935480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화살표 연결선 77">
                  <a:extLst>
                    <a:ext uri="{FF2B5EF4-FFF2-40B4-BE49-F238E27FC236}">
                      <a16:creationId xmlns:a16="http://schemas.microsoft.com/office/drawing/2014/main" id="{D17CC1D8-EFB0-4F43-818E-75563B735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61312" y="4627585"/>
                  <a:ext cx="3334" cy="51442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78E597B4-38A6-4B5A-BEAE-45428BA410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99333" y="4766926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78E597B4-38A6-4B5A-BEAE-45428BA410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99333" y="4766926"/>
                      <a:ext cx="319088" cy="2616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86538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C4F5A8B3-6EEC-4992-A995-571DAD43B34D}"/>
                    </a:ext>
                  </a:extLst>
                </p:cNvPr>
                <p:cNvSpPr/>
                <p:nvPr/>
              </p:nvSpPr>
              <p:spPr>
                <a:xfrm>
                  <a:off x="7005954" y="4137356"/>
                  <a:ext cx="1855471" cy="48082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82" name="직선 화살표 연결선 81">
                  <a:extLst>
                    <a:ext uri="{FF2B5EF4-FFF2-40B4-BE49-F238E27FC236}">
                      <a16:creationId xmlns:a16="http://schemas.microsoft.com/office/drawing/2014/main" id="{9F31D59E-0718-440D-8231-82FDCAB52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57801" y="4075082"/>
                  <a:ext cx="6686" cy="55459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D115E16E-4209-4EE7-8317-9CC4F59EFD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6064" y="4280609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D115E16E-4209-4EE7-8317-9CC4F59EFD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6064" y="4280609"/>
                      <a:ext cx="319088" cy="2616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84615" b="-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9C4526F8-23DF-4BD0-B947-88D8D04531AD}"/>
                  </a:ext>
                </a:extLst>
              </p:cNvPr>
              <p:cNvGrpSpPr/>
              <p:nvPr/>
            </p:nvGrpSpPr>
            <p:grpSpPr>
              <a:xfrm>
                <a:off x="589914" y="3886130"/>
                <a:ext cx="1935480" cy="1021083"/>
                <a:chOff x="589914" y="3886130"/>
                <a:chExt cx="1935480" cy="1021083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A2BF7D76-509E-4EA7-8FE7-5F09D69821A4}"/>
                    </a:ext>
                  </a:extLst>
                </p:cNvPr>
                <p:cNvSpPr/>
                <p:nvPr/>
              </p:nvSpPr>
              <p:spPr>
                <a:xfrm>
                  <a:off x="589914" y="4426386"/>
                  <a:ext cx="1855471" cy="4808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58" name="직선 화살표 연결선 57">
                  <a:extLst>
                    <a:ext uri="{FF2B5EF4-FFF2-40B4-BE49-F238E27FC236}">
                      <a16:creationId xmlns:a16="http://schemas.microsoft.com/office/drawing/2014/main" id="{1A12EC99-4BBE-42B2-B99A-E87FB7857903}"/>
                    </a:ext>
                  </a:extLst>
                </p:cNvPr>
                <p:cNvCxnSpPr>
                  <a:cxnSpLocks/>
                  <a:stCxn id="60" idx="0"/>
                </p:cNvCxnSpPr>
                <p:nvPr/>
              </p:nvCxnSpPr>
              <p:spPr>
                <a:xfrm>
                  <a:off x="1538922" y="4423702"/>
                  <a:ext cx="251061" cy="22629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383E7ABD-9CB3-4F85-BFC5-2A905B31EDDB}"/>
                    </a:ext>
                  </a:extLst>
                </p:cNvPr>
                <p:cNvSpPr/>
                <p:nvPr/>
              </p:nvSpPr>
              <p:spPr>
                <a:xfrm>
                  <a:off x="1538922" y="4426208"/>
                  <a:ext cx="901700" cy="479425"/>
                </a:xfrm>
                <a:custGeom>
                  <a:avLst/>
                  <a:gdLst>
                    <a:gd name="connsiteX0" fmla="*/ 0 w 901700"/>
                    <a:gd name="connsiteY0" fmla="*/ 0 h 479425"/>
                    <a:gd name="connsiteX1" fmla="*/ 898525 w 901700"/>
                    <a:gd name="connsiteY1" fmla="*/ 479425 h 479425"/>
                    <a:gd name="connsiteX2" fmla="*/ 901700 w 901700"/>
                    <a:gd name="connsiteY2" fmla="*/ 0 h 479425"/>
                    <a:gd name="connsiteX3" fmla="*/ 0 w 901700"/>
                    <a:gd name="connsiteY3" fmla="*/ 0 h 479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1700" h="479425">
                      <a:moveTo>
                        <a:pt x="0" y="0"/>
                      </a:moveTo>
                      <a:lnTo>
                        <a:pt x="898525" y="479425"/>
                      </a:lnTo>
                      <a:cubicBezTo>
                        <a:pt x="899583" y="319617"/>
                        <a:pt x="900642" y="159808"/>
                        <a:pt x="9017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372B162F-1304-475E-B997-A7DB4EDC6CF0}"/>
                    </a:ext>
                  </a:extLst>
                </p:cNvPr>
                <p:cNvSpPr/>
                <p:nvPr/>
              </p:nvSpPr>
              <p:spPr>
                <a:xfrm>
                  <a:off x="614997" y="3928435"/>
                  <a:ext cx="1838325" cy="507298"/>
                </a:xfrm>
                <a:custGeom>
                  <a:avLst/>
                  <a:gdLst>
                    <a:gd name="connsiteX0" fmla="*/ 923925 w 1838325"/>
                    <a:gd name="connsiteY0" fmla="*/ 784225 h 803275"/>
                    <a:gd name="connsiteX1" fmla="*/ 0 w 1838325"/>
                    <a:gd name="connsiteY1" fmla="*/ 0 h 803275"/>
                    <a:gd name="connsiteX2" fmla="*/ 1838325 w 1838325"/>
                    <a:gd name="connsiteY2" fmla="*/ 0 h 803275"/>
                    <a:gd name="connsiteX3" fmla="*/ 1825625 w 1838325"/>
                    <a:gd name="connsiteY3" fmla="*/ 803275 h 803275"/>
                    <a:gd name="connsiteX4" fmla="*/ 923925 w 1838325"/>
                    <a:gd name="connsiteY4" fmla="*/ 784225 h 80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38325" h="803275">
                      <a:moveTo>
                        <a:pt x="923925" y="784225"/>
                      </a:moveTo>
                      <a:lnTo>
                        <a:pt x="0" y="0"/>
                      </a:lnTo>
                      <a:lnTo>
                        <a:pt x="1838325" y="0"/>
                      </a:lnTo>
                      <a:lnTo>
                        <a:pt x="1825625" y="803275"/>
                      </a:lnTo>
                      <a:lnTo>
                        <a:pt x="923925" y="784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61" name="직선 화살표 연결선 60">
                  <a:extLst>
                    <a:ext uri="{FF2B5EF4-FFF2-40B4-BE49-F238E27FC236}">
                      <a16:creationId xmlns:a16="http://schemas.microsoft.com/office/drawing/2014/main" id="{6A3E77C5-3A03-45FD-96A1-03A898BCBDCB}"/>
                    </a:ext>
                  </a:extLst>
                </p:cNvPr>
                <p:cNvCxnSpPr/>
                <p:nvPr/>
              </p:nvCxnSpPr>
              <p:spPr>
                <a:xfrm>
                  <a:off x="589914" y="4426386"/>
                  <a:ext cx="1935480" cy="0"/>
                </a:xfrm>
                <a:prstGeom prst="straightConnector1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화살표 연결선 61">
                  <a:extLst>
                    <a:ext uri="{FF2B5EF4-FFF2-40B4-BE49-F238E27FC236}">
                      <a16:creationId xmlns:a16="http://schemas.microsoft.com/office/drawing/2014/main" id="{1D8386C4-1B4B-407A-A705-0BBEC8F4B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19008" y="3886130"/>
                  <a:ext cx="16017" cy="54025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4">
                  <a:extLst>
                    <a:ext uri="{FF2B5EF4-FFF2-40B4-BE49-F238E27FC236}">
                      <a16:creationId xmlns:a16="http://schemas.microsoft.com/office/drawing/2014/main" id="{EAC20ED6-C999-4604-B0E5-F187154A8DB9}"/>
                    </a:ext>
                  </a:extLst>
                </p:cNvPr>
                <p:cNvCxnSpPr/>
                <p:nvPr/>
              </p:nvCxnSpPr>
              <p:spPr>
                <a:xfrm flipH="1">
                  <a:off x="1049972" y="4426386"/>
                  <a:ext cx="495300" cy="48082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4B524D47-7417-4E05-BDEB-DCAB36D82A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4851" y="4480865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4B524D47-7417-4E05-BDEB-DCAB36D82A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4851" y="4480865"/>
                      <a:ext cx="319088" cy="2616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86538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직선 화살표 연결선 66">
                  <a:extLst>
                    <a:ext uri="{FF2B5EF4-FFF2-40B4-BE49-F238E27FC236}">
                      <a16:creationId xmlns:a16="http://schemas.microsoft.com/office/drawing/2014/main" id="{FDB39402-90E0-4701-A71A-0AEFC996F1B4}"/>
                    </a:ext>
                  </a:extLst>
                </p:cNvPr>
                <p:cNvCxnSpPr/>
                <p:nvPr/>
              </p:nvCxnSpPr>
              <p:spPr>
                <a:xfrm>
                  <a:off x="589914" y="4432558"/>
                  <a:ext cx="1935480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7672FF50-3825-4104-A2A1-4CB55B8E87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8910" y="4047557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7672FF50-3825-4104-A2A1-4CB55B8E87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38910" y="4047557"/>
                      <a:ext cx="319088" cy="2616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84615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4B080677-6024-48CB-AE31-AF18ADBCA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62906" y="4408437"/>
                      <a:ext cx="257175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2E0BBCD0-0D9A-4936-944E-DB3AE5FFE5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62906" y="4408437"/>
                      <a:ext cx="257175" cy="2616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02B4F86-0694-49C7-960D-D919B2D688C4}"/>
                </a:ext>
              </a:extLst>
            </p:cNvPr>
            <p:cNvGrpSpPr/>
            <p:nvPr/>
          </p:nvGrpSpPr>
          <p:grpSpPr>
            <a:xfrm>
              <a:off x="2274205" y="5418316"/>
              <a:ext cx="2827655" cy="286385"/>
              <a:chOff x="8054340" y="4084320"/>
              <a:chExt cx="2827655" cy="286385"/>
            </a:xfrm>
          </p:grpSpPr>
          <p:sp>
            <p:nvSpPr>
              <p:cNvPr id="6" name="타원 5"/>
              <p:cNvSpPr/>
              <p:nvPr/>
            </p:nvSpPr>
            <p:spPr>
              <a:xfrm>
                <a:off x="8089900" y="4281170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직사각형 6"/>
                  <p:cNvSpPr>
                    <a:spLocks/>
                  </p:cNvSpPr>
                  <p:nvPr/>
                </p:nvSpPr>
                <p:spPr>
                  <a:xfrm>
                    <a:off x="8054340" y="4108450"/>
                    <a:ext cx="356235" cy="262255"/>
                  </a:xfrm>
                  <a:prstGeom prst="rect">
                    <a:avLst/>
                  </a:prstGeom>
                </p:spPr>
                <p:txBody>
                  <a:bodyPr vert="horz" wrap="none" lIns="91440" tIns="45720" rIns="91440" bIns="45720" numCol="1" anchor="t">
                    <a:spAutoFit/>
                  </a:bodyPr>
                  <a:lstStyle/>
                  <a:p>
                    <a:pPr marL="0" indent="0" algn="ctr" latinLnBrk="0">
                      <a:buFontTx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/>
                  </a:p>
                </p:txBody>
              </p:sp>
            </mc:Choice>
            <mc:Fallback xmlns="">
              <p:sp>
                <p:nvSpPr>
                  <p:cNvPr id="7" name="직사각형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4340" y="4108450"/>
                    <a:ext cx="356235" cy="26225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타원 62"/>
              <p:cNvSpPr/>
              <p:nvPr/>
            </p:nvSpPr>
            <p:spPr>
              <a:xfrm>
                <a:off x="10552430" y="4252595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직사각형 63"/>
                  <p:cNvSpPr>
                    <a:spLocks/>
                  </p:cNvSpPr>
                  <p:nvPr/>
                </p:nvSpPr>
                <p:spPr>
                  <a:xfrm>
                    <a:off x="10525760" y="4084320"/>
                    <a:ext cx="356235" cy="262255"/>
                  </a:xfrm>
                  <a:prstGeom prst="rect">
                    <a:avLst/>
                  </a:prstGeom>
                </p:spPr>
                <p:txBody>
                  <a:bodyPr vert="horz" wrap="none" lIns="91440" tIns="45720" rIns="91440" bIns="45720" numCol="1" anchor="t">
                    <a:spAutoFit/>
                  </a:bodyPr>
                  <a:lstStyle/>
                  <a:p>
                    <a:pPr marL="0" indent="0" algn="ctr" latinLnBrk="0">
                      <a:buFontTx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/>
                  </a:p>
                </p:txBody>
              </p:sp>
            </mc:Choice>
            <mc:Fallback xmlns="">
              <p:sp>
                <p:nvSpPr>
                  <p:cNvPr id="64" name="직사각형 6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25760" y="4084320"/>
                    <a:ext cx="356235" cy="26225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9200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0DFC6-8019-4CC9-9ED6-DFDCC39B8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65BF-A9D2-4C8A-BB50-6CEF7A9E5A24}"/>
              </a:ext>
            </a:extLst>
          </p:cNvPr>
          <p:cNvSpPr txBox="1"/>
          <p:nvPr/>
        </p:nvSpPr>
        <p:spPr>
          <a:xfrm>
            <a:off x="262925" y="2816985"/>
            <a:ext cx="798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ㆍ</a:t>
            </a:r>
            <a:r>
              <a:rPr lang="en-US" altLang="ko-KR" sz="1100"/>
              <a:t>KKT 2</a:t>
            </a:r>
            <a:r>
              <a:rPr lang="ko-KR" altLang="en-US" sz="1100"/>
              <a:t>번째조건 증명</a:t>
            </a:r>
            <a:endParaRPr lang="en-US" altLang="ko-KR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799CA-8F10-4E70-A5F6-E70F0F505DF4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82839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𝜆𝛻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𝜇𝛻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US" altLang="ko-KR" sz="110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82839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2FFE51A5-4F68-4C3E-B9CA-582EC6A648B2}"/>
              </a:ext>
            </a:extLst>
          </p:cNvPr>
          <p:cNvGrpSpPr/>
          <p:nvPr/>
        </p:nvGrpSpPr>
        <p:grpSpPr>
          <a:xfrm>
            <a:off x="2918523" y="3230044"/>
            <a:ext cx="2233679" cy="1183314"/>
            <a:chOff x="419554" y="3305803"/>
            <a:chExt cx="2233679" cy="1183314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2D7A3E2-75CB-4432-A980-CE6A9BD53079}"/>
                </a:ext>
              </a:extLst>
            </p:cNvPr>
            <p:cNvGrpSpPr/>
            <p:nvPr/>
          </p:nvGrpSpPr>
          <p:grpSpPr>
            <a:xfrm>
              <a:off x="419554" y="3305803"/>
              <a:ext cx="2169882" cy="1183314"/>
              <a:chOff x="1504495" y="3755705"/>
              <a:chExt cx="2169882" cy="1183314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B308EAC-73B6-4470-AB98-534A2E647FBE}"/>
                  </a:ext>
                </a:extLst>
              </p:cNvPr>
              <p:cNvGrpSpPr/>
              <p:nvPr/>
            </p:nvGrpSpPr>
            <p:grpSpPr>
              <a:xfrm>
                <a:off x="1504495" y="3755705"/>
                <a:ext cx="2169882" cy="1183314"/>
                <a:chOff x="220980" y="2245686"/>
                <a:chExt cx="2169882" cy="1183314"/>
              </a:xfrm>
            </p:grpSpPr>
            <p:cxnSp>
              <p:nvCxnSpPr>
                <p:cNvPr id="6" name="직선 화살표 연결선 5">
                  <a:extLst>
                    <a:ext uri="{FF2B5EF4-FFF2-40B4-BE49-F238E27FC236}">
                      <a16:creationId xmlns:a16="http://schemas.microsoft.com/office/drawing/2014/main" id="{B3F06D4A-6532-4352-993C-3C33D9BE33EB}"/>
                    </a:ext>
                  </a:extLst>
                </p:cNvPr>
                <p:cNvCxnSpPr/>
                <p:nvPr/>
              </p:nvCxnSpPr>
              <p:spPr>
                <a:xfrm>
                  <a:off x="220980" y="3429000"/>
                  <a:ext cx="216988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자유형: 도형 12">
                  <a:extLst>
                    <a:ext uri="{FF2B5EF4-FFF2-40B4-BE49-F238E27FC236}">
                      <a16:creationId xmlns:a16="http://schemas.microsoft.com/office/drawing/2014/main" id="{124FAB57-E726-4A4C-AD88-337FA8AF66C0}"/>
                    </a:ext>
                  </a:extLst>
                </p:cNvPr>
                <p:cNvSpPr/>
                <p:nvPr/>
              </p:nvSpPr>
              <p:spPr>
                <a:xfrm>
                  <a:off x="453005" y="2245686"/>
                  <a:ext cx="1525372" cy="1183314"/>
                </a:xfrm>
                <a:custGeom>
                  <a:avLst/>
                  <a:gdLst>
                    <a:gd name="connsiteX0" fmla="*/ 0 w 1525372"/>
                    <a:gd name="connsiteY0" fmla="*/ 25167 h 1183314"/>
                    <a:gd name="connsiteX1" fmla="*/ 125835 w 1525372"/>
                    <a:gd name="connsiteY1" fmla="*/ 830510 h 1183314"/>
                    <a:gd name="connsiteX2" fmla="*/ 444616 w 1525372"/>
                    <a:gd name="connsiteY2" fmla="*/ 1107347 h 1183314"/>
                    <a:gd name="connsiteX3" fmla="*/ 998290 w 1525372"/>
                    <a:gd name="connsiteY3" fmla="*/ 1174459 h 1183314"/>
                    <a:gd name="connsiteX4" fmla="*/ 1325460 w 1525372"/>
                    <a:gd name="connsiteY4" fmla="*/ 947956 h 1183314"/>
                    <a:gd name="connsiteX5" fmla="*/ 1484851 w 1525372"/>
                    <a:gd name="connsiteY5" fmla="*/ 436227 h 1183314"/>
                    <a:gd name="connsiteX6" fmla="*/ 1518407 w 1525372"/>
                    <a:gd name="connsiteY6" fmla="*/ 0 h 1183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25372" h="1183314">
                      <a:moveTo>
                        <a:pt x="0" y="25167"/>
                      </a:moveTo>
                      <a:cubicBezTo>
                        <a:pt x="25866" y="337657"/>
                        <a:pt x="51732" y="650147"/>
                        <a:pt x="125835" y="830510"/>
                      </a:cubicBezTo>
                      <a:cubicBezTo>
                        <a:pt x="199938" y="1010873"/>
                        <a:pt x="299207" y="1050022"/>
                        <a:pt x="444616" y="1107347"/>
                      </a:cubicBezTo>
                      <a:cubicBezTo>
                        <a:pt x="590025" y="1164672"/>
                        <a:pt x="851483" y="1201024"/>
                        <a:pt x="998290" y="1174459"/>
                      </a:cubicBezTo>
                      <a:cubicBezTo>
                        <a:pt x="1145097" y="1147894"/>
                        <a:pt x="1244367" y="1070995"/>
                        <a:pt x="1325460" y="947956"/>
                      </a:cubicBezTo>
                      <a:cubicBezTo>
                        <a:pt x="1406553" y="824917"/>
                        <a:pt x="1452693" y="594220"/>
                        <a:pt x="1484851" y="436227"/>
                      </a:cubicBezTo>
                      <a:cubicBezTo>
                        <a:pt x="1517009" y="278234"/>
                        <a:pt x="1536583" y="55927"/>
                        <a:pt x="1518407" y="0"/>
                      </a:cubicBezTo>
                    </a:path>
                  </a:pathLst>
                </a:cu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10177FEE-52A3-432A-A501-6309D280BE8A}"/>
                  </a:ext>
                </a:extLst>
              </p:cNvPr>
              <p:cNvSpPr/>
              <p:nvPr/>
            </p:nvSpPr>
            <p:spPr>
              <a:xfrm>
                <a:off x="3132259" y="4405227"/>
                <a:ext cx="87688" cy="8389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6784F19-4315-4439-8570-90D1A981A02A}"/>
                  </a:ext>
                </a:extLst>
              </p:cNvPr>
              <p:cNvSpPr/>
              <p:nvPr/>
            </p:nvSpPr>
            <p:spPr>
              <a:xfrm>
                <a:off x="2754754" y="4271603"/>
                <a:ext cx="87688" cy="8389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3871A1-5130-4AC6-A0C7-DC0AB026F849}"/>
                    </a:ext>
                  </a:extLst>
                </p:cNvPr>
                <p:cNvSpPr txBox="1"/>
                <p:nvPr/>
              </p:nvSpPr>
              <p:spPr>
                <a:xfrm>
                  <a:off x="2054449" y="3491673"/>
                  <a:ext cx="5987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3871A1-5130-4AC6-A0C7-DC0AB026F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4449" y="3491673"/>
                  <a:ext cx="598784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84F89-72F1-4CDB-A807-DC430E891C5F}"/>
                  </a:ext>
                </a:extLst>
              </p:cNvPr>
              <p:cNvSpPr txBox="1"/>
              <p:nvPr/>
            </p:nvSpPr>
            <p:spPr>
              <a:xfrm>
                <a:off x="262925" y="4546982"/>
                <a:ext cx="7882855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en-US" altLang="ko-KR" sz="1100" dirty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 dirty="0"/>
                  <a:t>Convex</a:t>
                </a:r>
                <a:r>
                  <a:rPr lang="ko-KR" altLang="en-US" sz="1100" dirty="0"/>
                  <a:t>한 </a:t>
                </a:r>
                <a:r>
                  <a:rPr lang="en-US" altLang="ko-KR" sz="1100" dirty="0"/>
                  <a:t>g(x)</a:t>
                </a:r>
                <a:r>
                  <a:rPr lang="ko-KR" altLang="en-US" sz="1100" dirty="0"/>
                  <a:t>가 존재하면 경계선 안쪽에 </a:t>
                </a:r>
                <a:r>
                  <a:rPr lang="en-US" altLang="ko-KR" sz="1100" dirty="0"/>
                  <a:t>minimum</a:t>
                </a:r>
                <a:r>
                  <a:rPr lang="ko-KR" altLang="en-US" sz="1100"/>
                  <a:t>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ko-KR" altLang="en-US" sz="1100" dirty="0"/>
                  <a:t>존재</a:t>
                </a:r>
                <a:endParaRPr lang="en-US" altLang="ko-KR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ko-KR" altLang="en-US" sz="1100" dirty="0"/>
                  <a:t>경계선에 있으면 </a:t>
                </a:r>
                <a14:m>
                  <m:oMath xmlns:m="http://schemas.openxmlformats.org/officeDocument/2006/math"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 )=</m:t>
                    </m:r>
                    <m:r>
                      <a:rPr lang="en-US" altLang="ko-KR" sz="11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 dirty="0"/>
                  <a:t>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 dirty="0"/>
                  <a:t>가 음수가 될 수 있음으로 제외</a:t>
                </a:r>
                <a:endParaRPr lang="en-US" altLang="ko-KR" sz="1100" dirty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 dirty="0"/>
                  <a:t>안쪽의 적절한 값이 있으면 </a:t>
                </a:r>
                <a14:m>
                  <m:oMath xmlns:m="http://schemas.openxmlformats.org/officeDocument/2006/math"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 dirty="0"/>
                  <a:t>를 만족하고 </a:t>
                </a:r>
                <a:r>
                  <a:rPr lang="en-US" altLang="ko-KR" sz="1100" dirty="0"/>
                  <a:t>KKT</a:t>
                </a:r>
                <a:r>
                  <a:rPr lang="ko-KR" altLang="en-US" sz="1100" dirty="0"/>
                  <a:t>조</a:t>
                </a:r>
                <a14:m>
                  <m:oMath xmlns:m="http://schemas.openxmlformats.org/officeDocument/2006/math">
                    <m:r>
                      <a:rPr lang="ko-KR" altLang="en-US" sz="1100" b="0" i="1" dirty="0">
                        <a:latin typeface="Cambria Math" panose="02040503050406030204" pitchFamily="18" charset="0"/>
                      </a:rPr>
                      <m:t>건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ko-KR" altLang="en-US" sz="1100" i="1" dirty="0">
                        <a:latin typeface="Cambria Math" panose="02040503050406030204" pitchFamily="18" charset="0"/>
                      </a:rPr>
                      <m:t>번</m:t>
                    </m:r>
                    <m:r>
                      <a:rPr lang="ko-KR" altLang="en-US" sz="1100" i="1" dirty="0" smtClean="0">
                        <a:latin typeface="Cambria Math" panose="02040503050406030204" pitchFamily="18" charset="0"/>
                      </a:rPr>
                      <m:t>인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 dirty="0"/>
                  <a:t>를 만족시키려면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 dirty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 dirty="0"/>
                  <a:t>따라서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 dirty="0"/>
                  <a:t>이 됨으로 </a:t>
                </a:r>
                <a:r>
                  <a:rPr lang="en-US" altLang="ko-KR" sz="1100" dirty="0"/>
                  <a:t>1</a:t>
                </a:r>
                <a:r>
                  <a:rPr lang="ko-KR" altLang="en-US" sz="1100" dirty="0"/>
                  <a:t>번째 조건을 증명할 때의 식이 변형됨</a:t>
                </a:r>
                <a:endParaRPr lang="en-US" altLang="ko-KR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ko-KR" sz="110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𝜇𝛻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dirty="0"/>
              </a:p>
              <a:p>
                <a:pPr algn="l"/>
                <a:endParaRPr lang="en-US" altLang="ko-KR" sz="11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84F89-72F1-4CDB-A807-DC430E891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5" y="4546982"/>
                <a:ext cx="7882855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연결선 8"/>
          <p:cNvCxnSpPr/>
          <p:nvPr/>
        </p:nvCxnSpPr>
        <p:spPr>
          <a:xfrm flipH="1">
            <a:off x="3272322" y="3230258"/>
            <a:ext cx="289560" cy="3166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3320512" y="3144115"/>
            <a:ext cx="527996" cy="6441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3373657" y="3163233"/>
            <a:ext cx="800610" cy="9472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3556102" y="3254619"/>
            <a:ext cx="800610" cy="9472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3744037" y="3329908"/>
            <a:ext cx="760306" cy="8963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3953718" y="3436728"/>
            <a:ext cx="663452" cy="816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4216809" y="3923349"/>
            <a:ext cx="289560" cy="3166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54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B62F8-22C7-4A84-A4F6-0F9069ACE90E}"/>
              </a:ext>
            </a:extLst>
          </p:cNvPr>
          <p:cNvSpPr txBox="1"/>
          <p:nvPr/>
        </p:nvSpPr>
        <p:spPr>
          <a:xfrm>
            <a:off x="251460" y="1295400"/>
            <a:ext cx="88239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최적화 이론에서 쌍대성</a:t>
            </a:r>
            <a:r>
              <a:rPr lang="en-US" altLang="ko-KR" sz="1100"/>
              <a:t>(duality)</a:t>
            </a:r>
            <a:r>
              <a:rPr lang="ko-KR" altLang="en-US" sz="1100"/>
              <a:t>이란 최적화 문제가 원초문제</a:t>
            </a:r>
            <a:r>
              <a:rPr lang="en-US" altLang="ko-KR" sz="1100"/>
              <a:t>(primal problem)</a:t>
            </a:r>
            <a:r>
              <a:rPr lang="ko-KR" altLang="en-US" sz="1100"/>
              <a:t>와 쌍대문제</a:t>
            </a:r>
            <a:r>
              <a:rPr lang="en-US" altLang="ko-KR" sz="1100"/>
              <a:t>(dual problem)</a:t>
            </a:r>
            <a:r>
              <a:rPr lang="ko-KR" altLang="en-US" sz="1100"/>
              <a:t>의 두가지 관점에서 볼 수 있다는게 원칙임</a:t>
            </a:r>
            <a:endParaRPr lang="en-US" altLang="ko-KR" sz="1100" b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>
                <a:latin typeface="+mn-ea"/>
              </a:rPr>
              <a:t>SVM</a:t>
            </a:r>
            <a:r>
              <a:rPr lang="ko-KR" altLang="en-US" sz="1100" b="0">
                <a:latin typeface="+mn-ea"/>
              </a:rPr>
              <a:t>에서의 목적함수와</a:t>
            </a:r>
            <a:r>
              <a:rPr lang="en-US" altLang="ko-KR" sz="1100" b="0">
                <a:latin typeface="+mn-ea"/>
              </a:rPr>
              <a:t>  </a:t>
            </a:r>
            <a:r>
              <a:rPr lang="ko-KR" altLang="en-US" sz="1100" b="0">
                <a:latin typeface="+mn-ea"/>
              </a:rPr>
              <a:t>제약조건은 다음과 같음</a:t>
            </a:r>
            <a:endParaRPr lang="en-US" altLang="ko-KR" sz="1100" b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969954"/>
                  </p:ext>
                </p:extLst>
              </p:nvPr>
            </p:nvGraphicFramePr>
            <p:xfrm>
              <a:off x="3131820" y="17822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=1,2, ……,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969954"/>
                  </p:ext>
                </p:extLst>
              </p:nvPr>
            </p:nvGraphicFramePr>
            <p:xfrm>
              <a:off x="3131820" y="17822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288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61499" b="-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16393" r="-61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923759"/>
                  </p:ext>
                </p:extLst>
              </p:nvPr>
            </p:nvGraphicFramePr>
            <p:xfrm>
              <a:off x="3124200" y="27184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923759"/>
                  </p:ext>
                </p:extLst>
              </p:nvPr>
            </p:nvGraphicFramePr>
            <p:xfrm>
              <a:off x="3124200" y="27184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36621"/>
                  </p:ext>
                </p:extLst>
              </p:nvPr>
            </p:nvGraphicFramePr>
            <p:xfrm>
              <a:off x="3124200" y="353447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func>
                                  <m:func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36621"/>
                  </p:ext>
                </p:extLst>
              </p:nvPr>
            </p:nvGraphicFramePr>
            <p:xfrm>
              <a:off x="3124200" y="353447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7044534"/>
                  </p:ext>
                </p:extLst>
              </p:nvPr>
            </p:nvGraphicFramePr>
            <p:xfrm>
              <a:off x="3131820" y="408146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7044534"/>
                  </p:ext>
                </p:extLst>
              </p:nvPr>
            </p:nvGraphicFramePr>
            <p:xfrm>
              <a:off x="3131820" y="408146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3407" r="-99740" b="-2450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260" t="-93407" b="-2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49153" r="-99740" b="-8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260" t="-149153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9617317"/>
                  </p:ext>
                </p:extLst>
              </p:nvPr>
            </p:nvGraphicFramePr>
            <p:xfrm>
              <a:off x="3124200" y="548763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9617317"/>
                  </p:ext>
                </p:extLst>
              </p:nvPr>
            </p:nvGraphicFramePr>
            <p:xfrm>
              <a:off x="3124200" y="548763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2C96451-D0B7-45C3-BAB0-DB08AD618155}"/>
              </a:ext>
            </a:extLst>
          </p:cNvPr>
          <p:cNvSpPr txBox="1"/>
          <p:nvPr/>
        </p:nvSpPr>
        <p:spPr>
          <a:xfrm>
            <a:off x="251460" y="2498172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을 라그랑주 승수법의 식에 대입을 하면 다음과 같음</a:t>
            </a:r>
            <a:endParaRPr lang="en-US" altLang="ko-KR" sz="11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/>
              <p:nvPr/>
            </p:nvSpPr>
            <p:spPr>
              <a:xfrm>
                <a:off x="259849" y="3160901"/>
                <a:ext cx="79171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latin typeface="+mn-ea"/>
                  </a:rPr>
                  <a:t>위의 식을 바탕으로 </a:t>
                </a: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을 구할 수 있으며 </a:t>
                </a: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1</a:t>
                </a:r>
                <a:r>
                  <a:rPr lang="ko-KR" altLang="en-US" sz="1100">
                    <a:latin typeface="+mn-ea"/>
                  </a:rPr>
                  <a:t>번조건을 적용하여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를 구함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의 식은 다음과 같음</a:t>
                </a:r>
                <a:endParaRPr lang="en-US" altLang="ko-KR" sz="1100" b="0">
                  <a:latin typeface="+mn-e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49" y="3160901"/>
                <a:ext cx="7917180" cy="430887"/>
              </a:xfrm>
              <a:prstGeom prst="rect">
                <a:avLst/>
              </a:prstGeom>
              <a:blipFill>
                <a:blip r:embed="rId7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/>
              <p:nvPr/>
            </p:nvSpPr>
            <p:spPr>
              <a:xfrm>
                <a:off x="251460" y="3920384"/>
                <a:ext cx="8649259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 </a:t>
                </a:r>
                <a:r>
                  <a:rPr lang="ko-KR" altLang="en-US" sz="1100">
                    <a:latin typeface="+mn-ea"/>
                  </a:rPr>
                  <a:t>첫번째 조건인 </a:t>
                </a:r>
                <a:r>
                  <a:rPr lang="en-US" altLang="ko-KR" sz="1100">
                    <a:latin typeface="+mn-ea"/>
                  </a:rPr>
                  <a:t>stationarity</a:t>
                </a:r>
                <a:r>
                  <a:rPr lang="ko-KR" altLang="en-US" sz="1100">
                    <a:latin typeface="+mn-ea"/>
                  </a:rPr>
                  <a:t>을 적용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편미분</a:t>
                </a:r>
                <a:r>
                  <a:rPr lang="en-US" altLang="ko-KR" sz="110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920384"/>
                <a:ext cx="8649259" cy="264816"/>
              </a:xfrm>
              <a:prstGeom prst="rect">
                <a:avLst/>
              </a:prstGeom>
              <a:blipFill>
                <a:blip r:embed="rId8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9904C4E-B1B5-411E-8119-4717E1D4B6E7}"/>
              </a:ext>
            </a:extLst>
          </p:cNvPr>
          <p:cNvSpPr txBox="1"/>
          <p:nvPr/>
        </p:nvSpPr>
        <p:spPr>
          <a:xfrm>
            <a:off x="251460" y="5262623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식을 아래 식에 대입을 하여 정리</a:t>
            </a:r>
            <a:endParaRPr lang="en-US" altLang="ko-KR" sz="1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031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09F87-FBC7-49B7-A838-9D6CE7CA1958}"/>
              </a:ext>
            </a:extLst>
          </p:cNvPr>
          <p:cNvSpPr txBox="1"/>
          <p:nvPr/>
        </p:nvSpPr>
        <p:spPr>
          <a:xfrm>
            <a:off x="260216" y="1276574"/>
            <a:ext cx="8502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승수법을 나눠서 계산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A9305E-28C7-4C65-A641-C4F5D18A2C61}"/>
              </a:ext>
            </a:extLst>
          </p:cNvPr>
          <p:cNvGrpSpPr/>
          <p:nvPr/>
        </p:nvGrpSpPr>
        <p:grpSpPr>
          <a:xfrm>
            <a:off x="3944678" y="2111066"/>
            <a:ext cx="2031912" cy="315417"/>
            <a:chOff x="4147850" y="4011859"/>
            <a:chExt cx="2039560" cy="315417"/>
          </a:xfrm>
        </p:grpSpPr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BF9DDCCE-2687-4634-B7E6-EE91EA7E93B3}"/>
                </a:ext>
              </a:extLst>
            </p:cNvPr>
            <p:cNvSpPr/>
            <p:nvPr/>
          </p:nvSpPr>
          <p:spPr>
            <a:xfrm rot="16200000">
              <a:off x="4290261" y="3869449"/>
              <a:ext cx="131675" cy="41649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304654CD-3C4B-471D-B0B0-9BAB3708DE08}"/>
                </a:ext>
              </a:extLst>
            </p:cNvPr>
            <p:cNvSpPr/>
            <p:nvPr/>
          </p:nvSpPr>
          <p:spPr>
            <a:xfrm rot="16200000">
              <a:off x="5427487" y="3383611"/>
              <a:ext cx="131675" cy="138817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279145-7375-4489-B290-B6FDE774C608}"/>
                </a:ext>
              </a:extLst>
            </p:cNvPr>
            <p:cNvSpPr/>
            <p:nvPr/>
          </p:nvSpPr>
          <p:spPr>
            <a:xfrm>
              <a:off x="4277356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1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CFF6A5E-624F-4051-BF8A-74AB8FDB0F86}"/>
                </a:ext>
              </a:extLst>
            </p:cNvPr>
            <p:cNvSpPr/>
            <p:nvPr/>
          </p:nvSpPr>
          <p:spPr>
            <a:xfrm>
              <a:off x="5433640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2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2120716"/>
                  </p:ext>
                </p:extLst>
              </p:nvPr>
            </p:nvGraphicFramePr>
            <p:xfrm>
              <a:off x="1308538" y="3243879"/>
              <a:ext cx="2110496" cy="22722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2120716"/>
                  </p:ext>
                </p:extLst>
              </p:nvPr>
            </p:nvGraphicFramePr>
            <p:xfrm>
              <a:off x="1308538" y="3243879"/>
              <a:ext cx="2110496" cy="22722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473" b="-440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0426" b="-3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93548" b="-2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393548" b="-1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6EC2A079-BB2D-4FEE-912F-17817D047FC1}"/>
              </a:ext>
            </a:extLst>
          </p:cNvPr>
          <p:cNvSpPr/>
          <p:nvPr/>
        </p:nvSpPr>
        <p:spPr>
          <a:xfrm>
            <a:off x="354992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09CD308-B65E-4E24-AEB0-7FDDF98DE83F}"/>
              </a:ext>
            </a:extLst>
          </p:cNvPr>
          <p:cNvSpPr/>
          <p:nvPr/>
        </p:nvSpPr>
        <p:spPr>
          <a:xfrm>
            <a:off x="3241959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5556" r="-123099" b="-37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95556" b="-37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149153" b="-1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312766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231587"/>
                  </p:ext>
                </p:extLst>
              </p:nvPr>
            </p:nvGraphicFramePr>
            <p:xfrm>
              <a:off x="3154680" y="5811802"/>
              <a:ext cx="2331720" cy="57010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i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231587"/>
                  </p:ext>
                </p:extLst>
              </p:nvPr>
            </p:nvGraphicFramePr>
            <p:xfrm>
              <a:off x="3154680" y="5811802"/>
              <a:ext cx="2331720" cy="57010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7010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1489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B0781BE-8C24-4BB9-9439-69B3EAEC2EFD}"/>
              </a:ext>
            </a:extLst>
          </p:cNvPr>
          <p:cNvSpPr txBox="1"/>
          <p:nvPr/>
        </p:nvSpPr>
        <p:spPr>
          <a:xfrm>
            <a:off x="260216" y="2469314"/>
            <a:ext cx="6937538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번식과 </a:t>
            </a:r>
            <a:r>
              <a:rPr lang="en-US" altLang="ko-KR" sz="1100"/>
              <a:t>2</a:t>
            </a:r>
            <a:r>
              <a:rPr lang="ko-KR" altLang="en-US" sz="1100"/>
              <a:t>번식을 정리하면 다음과 같음</a:t>
            </a:r>
            <a:endParaRPr lang="en-US" altLang="ko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F39EB-47D5-445D-ABAA-0DC19A8D88A9}"/>
              </a:ext>
            </a:extLst>
          </p:cNvPr>
          <p:cNvSpPr txBox="1"/>
          <p:nvPr/>
        </p:nvSpPr>
        <p:spPr>
          <a:xfrm>
            <a:off x="260216" y="5554026"/>
            <a:ext cx="8502015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승수법에 </a:t>
            </a:r>
            <a:r>
              <a:rPr lang="en-US" altLang="ko-KR" sz="1100"/>
              <a:t>KKT </a:t>
            </a:r>
            <a:r>
              <a:rPr lang="ko-KR" altLang="en-US" sz="1100"/>
              <a:t>첫번째 조건을 적용한 식은 다음과 같음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367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40525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1736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2507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algn="ctr"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94505" r="-976" b="-3439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196667" r="-976" b="-24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226271" r="-976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582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3810" y="194945"/>
            <a:ext cx="4899025" cy="320675"/>
          </a:xfrm>
        </p:spPr>
        <p:txBody>
          <a:bodyPr/>
          <a:lstStyle/>
          <a:p>
            <a:pPr>
              <a:buNone/>
            </a:pPr>
            <a:r>
              <a:rPr lang="en-US" altLang="ko-KR"/>
              <a:t>Lagrangian Dual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>
                <a:spLocks/>
              </p:cNvSpPr>
              <p:nvPr/>
            </p:nvSpPr>
            <p:spPr>
              <a:xfrm>
                <a:off x="251460" y="1250950"/>
                <a:ext cx="8893175" cy="36893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만 구하는 문제인  </a:t>
                </a:r>
                <a:r>
                  <a:rPr lang="en-US" altLang="ko-KR" sz="1100"/>
                  <a:t>Lagrangian Dual</a:t>
                </a:r>
                <a:r>
                  <a:rPr lang="ko-KR" altLang="en-US" sz="1100"/>
                  <a:t>문제로 변경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50950"/>
                <a:ext cx="8893175" cy="368935"/>
              </a:xfrm>
              <a:prstGeom prst="rect">
                <a:avLst/>
              </a:prstGeom>
              <a:blipFill>
                <a:blip r:embed="rId2"/>
                <a:stretch>
                  <a:fillRect t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표 14"/>
              <p:cNvGraphicFramePr>
                <a:graphicFrameLocks noGrp="1"/>
              </p:cNvGraphicFramePr>
              <p:nvPr/>
            </p:nvGraphicFramePr>
            <p:xfrm>
              <a:off x="3116580" y="1451610"/>
              <a:ext cx="6096000" cy="11315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66420">
                    <a:tc>
                      <a:txBody>
                        <a:bodyPr/>
                        <a:lstStyle/>
                        <a:p>
                          <a:pPr marL="0" lvl="1" indent="0" algn="l" latinLnBrk="1"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sz="1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/>
                                      </m:rPr>
                                      <a:rPr sz="7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sz="7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sz="1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sz="7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  <m:brk/>
                                          </m:rPr>
                                          <a:rPr sz="7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sz="7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sz="11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sz="110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sz="70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7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200000"/>
                            </a:lnSpc>
                            <a:buFontTx/>
                            <a:buNone/>
                          </a:pPr>
                          <a:r>
                            <a:rPr lang="ko-KR" altLang="en-US" sz="1100" b="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515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sz="7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sz="7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sz="1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sz="7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sz="1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sz="7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     </m:t>
                                </m:r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sz="7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m:rPr>
                                    <m:sty m:val="p"/>
                                  </m:rPr>
                                  <a:rPr sz="1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m:rPr>
                                    <m:sty m:val="p"/>
                                  </m:rPr>
                                  <a:rPr sz="1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ko-KR" altLang="en-US" sz="1100" b="0" kern="1200">
                              <a:solidFill>
                                <a:srgbClr val="000000"/>
                              </a:solidFill>
                            </a:rPr>
                            <a:t>제약조건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표 14"/>
              <p:cNvGraphicFramePr>
                <a:graphicFrameLocks noGrp="1"/>
              </p:cNvGraphicFramePr>
              <p:nvPr/>
            </p:nvGraphicFramePr>
            <p:xfrm>
              <a:off x="3116580" y="1451610"/>
              <a:ext cx="6096000" cy="11315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664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5699" r="-99800" b="-236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latinLnBrk="1">
                            <a:lnSpc>
                              <a:spcPct val="200000"/>
                            </a:lnSpc>
                            <a:buFontTx/>
                            <a:buNone/>
                          </a:pPr>
                          <a:r>
                            <a:rPr lang="ko-KR" altLang="en-US" sz="1100" b="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515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5699" r="-99800" b="-136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ko-KR" altLang="en-US" sz="1100" b="0" kern="1200">
                              <a:solidFill>
                                <a:srgbClr val="000000"/>
                              </a:solidFill>
                            </a:rPr>
                            <a:t>제약조건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표 16"/>
              <p:cNvGraphicFramePr>
                <a:graphicFrameLocks noGrp="1"/>
              </p:cNvGraphicFramePr>
              <p:nvPr/>
            </p:nvGraphicFramePr>
            <p:xfrm>
              <a:off x="3116580" y="3834765"/>
              <a:ext cx="190500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sz="7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sz="7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표 16"/>
              <p:cNvGraphicFramePr>
                <a:graphicFrameLocks noGrp="1"/>
              </p:cNvGraphicFramePr>
              <p:nvPr/>
            </p:nvGraphicFramePr>
            <p:xfrm>
              <a:off x="3116580" y="3834765"/>
              <a:ext cx="1905000" cy="3683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>
                <a:spLocks/>
              </p:cNvSpPr>
              <p:nvPr/>
            </p:nvSpPr>
            <p:spPr>
              <a:xfrm>
                <a:off x="251460" y="2547620"/>
                <a:ext cx="8642350" cy="32246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값을 구하게 되면 w,b의 값을 구할 수 있음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2547620"/>
                <a:ext cx="8642350" cy="322461"/>
              </a:xfrm>
              <a:prstGeom prst="rect">
                <a:avLst/>
              </a:prstGeom>
              <a:blipFill>
                <a:blip r:embed="rId5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>
                <a:spLocks/>
              </p:cNvSpPr>
              <p:nvPr/>
            </p:nvSpPr>
            <p:spPr>
              <a:xfrm>
                <a:off x="251460" y="3350895"/>
                <a:ext cx="8642350" cy="4298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/>
                  <a:t>이를 통해 모든 변수</a:t>
                </a:r>
                <a:r>
                  <a:rPr lang="en-US" altLang="ko-KR" sz="1100"/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를 구하여 Decision boundary의 값도 구할 수 있음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r>
                  <a:rPr lang="ko-KR" altLang="en-US" sz="1100"/>
                  <a:t>Decision boundary는 support vector를 고려해야함으로 아래 조건을 만족해야함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350895"/>
                <a:ext cx="8642350" cy="429895"/>
              </a:xfrm>
              <a:prstGeom prst="rect">
                <a:avLst/>
              </a:prstGeom>
              <a:blipFill>
                <a:blip r:embed="rId6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>
                <a:spLocks/>
              </p:cNvSpPr>
              <p:nvPr/>
            </p:nvSpPr>
            <p:spPr>
              <a:xfrm>
                <a:off x="259080" y="4137025"/>
                <a:ext cx="5761355" cy="1604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latinLnBrk="0">
                  <a:buFont typeface="Arial"/>
                  <a:buChar char="•"/>
                </a:pPr>
                <a:r>
                  <a:rPr lang="ko-KR" altLang="en-US" sz="1100"/>
                  <a:t>위의 식을 두가지 경우로 나눠서 생각</a:t>
                </a:r>
              </a:p>
              <a:p>
                <a:pPr marL="457200" lvl="1" indent="0" algn="l" latinLnBrk="0">
                  <a:buFontTx/>
                  <a:buNone/>
                </a:pPr>
                <a:r>
                  <a:rPr lang="en-US" altLang="ko-KR" sz="1100"/>
                  <a:t> 1.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&gt;0 </a:t>
                </a:r>
                <a:r>
                  <a:rPr lang="ko-KR" altLang="en-US" sz="1100"/>
                  <a:t>일때</a:t>
                </a:r>
              </a:p>
              <a:p>
                <a:pPr marL="457200" lvl="1" indent="0" algn="l" latinLnBrk="0">
                  <a:buFontTx/>
                  <a:buNone/>
                </a:pPr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100"/>
                  <a:t>임으로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임</a:t>
                </a:r>
              </a:p>
              <a:p>
                <a:pPr marL="457200" lvl="1" indent="0" algn="l" latinLnBrk="0">
                  <a:lnSpc>
                    <a:spcPct val="150000"/>
                  </a:lnSpc>
                  <a:buFontTx/>
                  <a:buNone/>
                </a:pPr>
                <a:r>
                  <a:rPr lang="en-US" altLang="ko-KR" sz="1100"/>
                  <a:t>2. </a:t>
                </a:r>
                <a14:m>
                  <m:oMath xmlns:m="http://schemas.openxmlformats.org/officeDocument/2006/math"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=0</a:t>
                </a:r>
                <a:r>
                  <a:rPr lang="ko-KR" altLang="en-US" sz="1100"/>
                  <a:t>일때</a:t>
                </a:r>
              </a:p>
              <a:p>
                <a:pPr marL="457200" lvl="1" indent="0" algn="l" latinLnBrk="0">
                  <a:buFontTx/>
                  <a:buNone/>
                </a:pPr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≠1</m:t>
                    </m:r>
                  </m:oMath>
                </a14:m>
                <a:r>
                  <a:rPr lang="ko-KR" altLang="en-US" sz="1100"/>
                  <a:t>임으로 데이터가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와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평면위에 없음</a:t>
                </a:r>
              </a:p>
              <a:p>
                <a:pPr marL="457200" lvl="1" indent="0" latinLnBrk="0">
                  <a:buFontTx/>
                  <a:buNone/>
                </a:pPr>
                <a:r>
                  <a:rPr lang="en-US" altLang="ko-KR" sz="1100"/>
                  <a:t>	Decision Boundary</a:t>
                </a:r>
                <a:r>
                  <a:rPr lang="ko-KR" altLang="en-US" sz="1100"/>
                  <a:t>에 영향을 주지 않음</a:t>
                </a:r>
              </a:p>
              <a:p>
                <a:pPr marL="171450" indent="-171450" algn="l" latinLnBrk="0">
                  <a:buFont typeface="Arial"/>
                  <a:buChar char="•"/>
                </a:pPr>
                <a:endParaRPr lang="ko-KR" altLang="en-US" sz="1100"/>
              </a:p>
              <a:p>
                <a:pPr marL="457200" lvl="1" indent="0" latinLnBrk="0">
                  <a:buFontTx/>
                  <a:buNone/>
                </a:pPr>
                <a:endParaRPr lang="ko-KR" altLang="en-US" sz="110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4137025"/>
                <a:ext cx="5761355" cy="1604645"/>
              </a:xfrm>
              <a:prstGeom prst="rect">
                <a:avLst/>
              </a:prstGeom>
              <a:blipFill>
                <a:blip r:embed="rId7"/>
                <a:stretch>
                  <a:fillRect t="-3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78CCC76F-F7A3-4373-866C-03AFD2A0F77A}"/>
              </a:ext>
            </a:extLst>
          </p:cNvPr>
          <p:cNvGrpSpPr/>
          <p:nvPr/>
        </p:nvGrpSpPr>
        <p:grpSpPr>
          <a:xfrm>
            <a:off x="6076950" y="4305300"/>
            <a:ext cx="2127885" cy="1925955"/>
            <a:chOff x="6076950" y="4305300"/>
            <a:chExt cx="2127885" cy="192595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38C4730-507C-4FCC-8F3D-F232A9960A5B}"/>
                </a:ext>
              </a:extLst>
            </p:cNvPr>
            <p:cNvGrpSpPr/>
            <p:nvPr/>
          </p:nvGrpSpPr>
          <p:grpSpPr>
            <a:xfrm>
              <a:off x="6076950" y="4305300"/>
              <a:ext cx="2127885" cy="1696720"/>
              <a:chOff x="6076950" y="4305300"/>
              <a:chExt cx="2127885" cy="169672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5CBD0ED4-F698-4290-B19E-3559CE62E393}"/>
                  </a:ext>
                </a:extLst>
              </p:cNvPr>
              <p:cNvGrpSpPr/>
              <p:nvPr/>
            </p:nvGrpSpPr>
            <p:grpSpPr>
              <a:xfrm>
                <a:off x="7075805" y="4620260"/>
                <a:ext cx="645795" cy="478155"/>
                <a:chOff x="7075805" y="4620260"/>
                <a:chExt cx="645795" cy="478155"/>
              </a:xfrm>
              <a:solidFill>
                <a:srgbClr val="FF0000"/>
              </a:solidFill>
            </p:grpSpPr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ECDA0253-9902-4289-BF8B-E79403EE3A9D}"/>
                    </a:ext>
                  </a:extLst>
                </p:cNvPr>
                <p:cNvSpPr/>
                <p:nvPr/>
              </p:nvSpPr>
              <p:spPr>
                <a:xfrm>
                  <a:off x="7178675" y="4658995"/>
                  <a:ext cx="83185" cy="86995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532B4ED2-1EC9-4D6A-8977-79893315FE2B}"/>
                    </a:ext>
                  </a:extLst>
                </p:cNvPr>
                <p:cNvSpPr/>
                <p:nvPr/>
              </p:nvSpPr>
              <p:spPr>
                <a:xfrm>
                  <a:off x="7075805" y="5011420"/>
                  <a:ext cx="83185" cy="86995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30D6D877-E425-455B-A51D-6F165EE092DB}"/>
                    </a:ext>
                  </a:extLst>
                </p:cNvPr>
                <p:cNvSpPr/>
                <p:nvPr/>
              </p:nvSpPr>
              <p:spPr>
                <a:xfrm>
                  <a:off x="7392670" y="4813300"/>
                  <a:ext cx="83185" cy="86995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8A8705D1-2C00-46FF-A4FE-03106C31798F}"/>
                    </a:ext>
                  </a:extLst>
                </p:cNvPr>
                <p:cNvSpPr/>
                <p:nvPr/>
              </p:nvSpPr>
              <p:spPr>
                <a:xfrm>
                  <a:off x="7638415" y="4961890"/>
                  <a:ext cx="83185" cy="86995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이등변 삼각형 60">
                  <a:extLst>
                    <a:ext uri="{FF2B5EF4-FFF2-40B4-BE49-F238E27FC236}">
                      <a16:creationId xmlns:a16="http://schemas.microsoft.com/office/drawing/2014/main" id="{3C285D94-816B-497E-9963-68E45462C8F4}"/>
                    </a:ext>
                  </a:extLst>
                </p:cNvPr>
                <p:cNvSpPr/>
                <p:nvPr/>
              </p:nvSpPr>
              <p:spPr>
                <a:xfrm>
                  <a:off x="7638415" y="4620260"/>
                  <a:ext cx="83185" cy="86995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56C1048-2848-46C6-9C98-E05F279E688A}"/>
                  </a:ext>
                </a:extLst>
              </p:cNvPr>
              <p:cNvGrpSpPr/>
              <p:nvPr/>
            </p:nvGrpSpPr>
            <p:grpSpPr>
              <a:xfrm>
                <a:off x="6076950" y="4305300"/>
                <a:ext cx="1966595" cy="1673860"/>
                <a:chOff x="6076950" y="4305300"/>
                <a:chExt cx="1966595" cy="1673860"/>
              </a:xfrm>
            </p:grpSpPr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0E65A28-58EB-47D7-B7A4-E17F25929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76950" y="5979160"/>
                  <a:ext cx="196659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6776A11E-6C03-4CD6-87D9-21E83AADD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0125" y="4305300"/>
                  <a:ext cx="0" cy="167386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136855FB-94B1-45FF-84BE-1B07AC7AF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9840" y="4620260"/>
                <a:ext cx="1158240" cy="12534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96E7CAB8-3EA3-43B8-BE2D-F860CA4F2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9865" y="4483100"/>
                <a:ext cx="1158240" cy="125349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998F3FD-1F64-4C9D-97FE-D5D5CA73E99E}"/>
                  </a:ext>
                </a:extLst>
              </p:cNvPr>
              <p:cNvGrpSpPr/>
              <p:nvPr/>
            </p:nvGrpSpPr>
            <p:grpSpPr>
              <a:xfrm>
                <a:off x="6200775" y="5248275"/>
                <a:ext cx="431165" cy="652145"/>
                <a:chOff x="6200775" y="5248275"/>
                <a:chExt cx="431165" cy="652145"/>
              </a:xfrm>
              <a:solidFill>
                <a:srgbClr val="2C6FAD"/>
              </a:solidFill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D4E7DA7-F2A6-45FF-A63F-55F33AA3B0C9}"/>
                    </a:ext>
                  </a:extLst>
                </p:cNvPr>
                <p:cNvSpPr/>
                <p:nvPr/>
              </p:nvSpPr>
              <p:spPr>
                <a:xfrm>
                  <a:off x="6252845" y="5466715"/>
                  <a:ext cx="71120" cy="781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DEE9617D-ABC2-41A3-8400-73FD7FFF43CD}"/>
                    </a:ext>
                  </a:extLst>
                </p:cNvPr>
                <p:cNvSpPr/>
                <p:nvPr/>
              </p:nvSpPr>
              <p:spPr>
                <a:xfrm>
                  <a:off x="6200775" y="5822315"/>
                  <a:ext cx="71120" cy="781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CE485C1D-9419-4CB3-A671-0ADD3B36F80F}"/>
                    </a:ext>
                  </a:extLst>
                </p:cNvPr>
                <p:cNvSpPr/>
                <p:nvPr/>
              </p:nvSpPr>
              <p:spPr>
                <a:xfrm>
                  <a:off x="6489700" y="5733415"/>
                  <a:ext cx="71120" cy="781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B84B2880-D6CB-4AE1-83EB-2B21362BFD2F}"/>
                    </a:ext>
                  </a:extLst>
                </p:cNvPr>
                <p:cNvSpPr/>
                <p:nvPr/>
              </p:nvSpPr>
              <p:spPr>
                <a:xfrm>
                  <a:off x="6508750" y="5512435"/>
                  <a:ext cx="71120" cy="781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5575EDA8-BD1D-4D48-9B2F-92C3FF22CD93}"/>
                    </a:ext>
                  </a:extLst>
                </p:cNvPr>
                <p:cNvSpPr/>
                <p:nvPr/>
              </p:nvSpPr>
              <p:spPr>
                <a:xfrm>
                  <a:off x="6560820" y="5248275"/>
                  <a:ext cx="71120" cy="781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6F263DC9-40D0-457E-A47E-132397C40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7750" y="4748530"/>
                <a:ext cx="1158240" cy="125349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50976CC9-89DE-44C7-8386-4FB177469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9620" y="5090160"/>
                <a:ext cx="426085" cy="1454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6096F062-9FCF-4811-9915-17C688AEDB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5110" y="5286375"/>
                <a:ext cx="936625" cy="374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31DB8C0-48C6-4D41-8F28-5DF2F31F4122}"/>
                  </a:ext>
                </a:extLst>
              </p:cNvPr>
              <p:cNvSpPr txBox="1"/>
              <p:nvPr/>
            </p:nvSpPr>
            <p:spPr>
              <a:xfrm>
                <a:off x="7560310" y="5154930"/>
                <a:ext cx="643890" cy="338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9847551-1CFE-468F-B194-6200B46B3301}"/>
                </a:ext>
              </a:extLst>
            </p:cNvPr>
            <p:cNvSpPr txBox="1"/>
            <p:nvPr/>
          </p:nvSpPr>
          <p:spPr>
            <a:xfrm>
              <a:off x="6404610" y="5985510"/>
              <a:ext cx="1565910" cy="246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/>
                <a:t>&lt; Support Vector </a:t>
              </a:r>
              <a:r>
                <a:rPr lang="ko-KR" altLang="en-US" sz="1000"/>
                <a:t>예시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15">
                <a:extLst>
                  <a:ext uri="{FF2B5EF4-FFF2-40B4-BE49-F238E27FC236}">
                    <a16:creationId xmlns:a16="http://schemas.microsoft.com/office/drawing/2014/main" id="{AC6B4333-A3BB-4875-A427-FF4FABBFA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63228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 b="0" i="1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15">
                <a:extLst>
                  <a:ext uri="{FF2B5EF4-FFF2-40B4-BE49-F238E27FC236}">
                    <a16:creationId xmlns:a16="http://schemas.microsoft.com/office/drawing/2014/main" id="{AC6B4333-A3BB-4875-A427-FF4FABBFA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63228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93407" b="-14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D1AF62-73DB-4BC3-B1AE-3DFF90C23107}"/>
                  </a:ext>
                </a:extLst>
              </p:cNvPr>
              <p:cNvSpPr txBox="1"/>
              <p:nvPr/>
            </p:nvSpPr>
            <p:spPr>
              <a:xfrm>
                <a:off x="7486015" y="5733415"/>
                <a:ext cx="660052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D1AF62-73DB-4BC3-B1AE-3DFF90C23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015" y="5733415"/>
                <a:ext cx="660052" cy="123111"/>
              </a:xfrm>
              <a:prstGeom prst="rect">
                <a:avLst/>
              </a:prstGeom>
              <a:blipFill>
                <a:blip r:embed="rId9"/>
                <a:stretch>
                  <a:fillRect l="-1852" t="-5000" r="-3704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192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새로운 데이터</a:t>
            </a:r>
            <a:r>
              <a:rPr lang="en-US" altLang="ko-KR"/>
              <a:t> </a:t>
            </a:r>
            <a:r>
              <a:rPr lang="ko-KR" altLang="en-US"/>
              <a:t>분류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/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1100" b="0"/>
                  <a:t>일경우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/>
                  <a:t>의 값 표현한 식은 다음과 같음</a:t>
                </a:r>
                <a:r>
                  <a:rPr lang="en-US" altLang="ko-KR" sz="1100" b="0"/>
                  <a:t>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𝑠𝑣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5466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/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값을 구할 때 모든 데이터들의 값을 영향받지 않고 </a:t>
                </a:r>
                <a:r>
                  <a:rPr lang="en-US" altLang="ko-KR" sz="1100"/>
                  <a:t>SV(Support Vector)</a:t>
                </a:r>
                <a:r>
                  <a:rPr lang="ko-KR" altLang="en-US" sz="1100"/>
                  <a:t>값들로만 영향을 받음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또한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임의의 </a:t>
                </a:r>
                <a:r>
                  <a:rPr lang="en-US" altLang="ko-KR" sz="1100"/>
                  <a:t>SV</a:t>
                </a:r>
                <a:r>
                  <a:rPr lang="ko-KR" altLang="en-US" sz="1100"/>
                  <a:t>를 이용하여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</a:t>
                </a:r>
                <a:r>
                  <a:rPr lang="ko-KR" altLang="en-US" sz="1100"/>
                  <a:t>에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넣으면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의값</a:t>
                </a:r>
                <a:r>
                  <a:rPr lang="en-US" altLang="ko-KR" sz="1100"/>
                  <a:t>(-1 OR 1)</a:t>
                </a:r>
                <a:r>
                  <a:rPr lang="ko-KR" altLang="en-US" sz="1100"/>
                  <a:t>을 알기때문에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알 수 있음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81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sv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𝑠𝑣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95556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/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데이터로 부터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계산 했다면 새로운 데이터에 대한 분류를 시행 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오른쪽 그림과 같이 </a:t>
                </a:r>
                <a:r>
                  <a:rPr lang="en-US" altLang="ko-KR" sz="1100"/>
                  <a:t>hyper plane</a:t>
                </a:r>
                <a:r>
                  <a:rPr lang="ko-KR" altLang="en-US" sz="1100"/>
                  <a:t>보다 아래있는 경우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영역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위에 있는경우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영역인걸 알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blipFill>
                <a:blip r:embed="rId7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0561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056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r="-181132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00000" r="-181132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6916F488-01FF-47A3-85DB-3E762ECA0872}"/>
              </a:ext>
            </a:extLst>
          </p:cNvPr>
          <p:cNvSpPr txBox="1"/>
          <p:nvPr/>
        </p:nvSpPr>
        <p:spPr>
          <a:xfrm>
            <a:off x="255521" y="5229651"/>
            <a:ext cx="593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오른쪽 그림처럼 </a:t>
            </a:r>
            <a:r>
              <a:rPr lang="en-US" altLang="ko-KR" sz="1100"/>
              <a:t>Hard Margin</a:t>
            </a:r>
            <a:r>
              <a:rPr lang="ko-KR" altLang="en-US" sz="1100"/>
              <a:t>이기 때문에 </a:t>
            </a:r>
            <a:r>
              <a:rPr lang="en-US" altLang="ko-KR" sz="1100"/>
              <a:t>hyperplane</a:t>
            </a:r>
            <a:r>
              <a:rPr lang="ko-KR" altLang="en-US" sz="1100"/>
              <a:t>안에 있는 점들은 분류할 수 없게 됨 </a:t>
            </a:r>
            <a:r>
              <a:rPr lang="en-US" altLang="ko-KR" sz="1100"/>
              <a:t>-&gt; soft margin </a:t>
            </a:r>
            <a:r>
              <a:rPr lang="ko-KR" altLang="en-US" sz="1100"/>
              <a:t>사용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35EA978-DCCD-42B9-9AFA-F3AC508984F9}"/>
              </a:ext>
            </a:extLst>
          </p:cNvPr>
          <p:cNvGrpSpPr/>
          <p:nvPr/>
        </p:nvGrpSpPr>
        <p:grpSpPr>
          <a:xfrm>
            <a:off x="6547727" y="2621142"/>
            <a:ext cx="2537965" cy="1763574"/>
            <a:chOff x="6332985" y="2631849"/>
            <a:chExt cx="2537965" cy="1763574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C4E5833-FA5F-4022-9894-B3C7021E851D}"/>
                </a:ext>
              </a:extLst>
            </p:cNvPr>
            <p:cNvGrpSpPr/>
            <p:nvPr/>
          </p:nvGrpSpPr>
          <p:grpSpPr>
            <a:xfrm>
              <a:off x="6332985" y="2698996"/>
              <a:ext cx="2127623" cy="1696427"/>
              <a:chOff x="3518675" y="2776495"/>
              <a:chExt cx="2878693" cy="2292172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618B61D8-D03D-442E-8826-6F1BF404BA4D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EE9071D0-2682-4B5A-B61F-96BD3E7EBBC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2F580893-97AF-4942-A9B4-18426B76AD1F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1B8AD66B-39D5-4199-ADFC-BD6F1C3AD3EF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B5BBA928-0D93-4BDB-A311-1CEA490373D9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211B9CE2-A660-4556-8B30-C5D33496027C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039D0E6-D2B4-4E1B-8986-FF148F8291B4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E5F0D79E-D4F3-4816-85D5-89682D47A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7E91C96-AE0B-4362-9ECA-7C1889722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511428B-2303-4F05-8E28-65BDB8FE2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76B24611-D7E4-47CA-85A5-C2B996DD2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4AB96D8A-0E23-4ABB-82A5-D734A79D3D7B}"/>
                  </a:ext>
                </a:extLst>
              </p:cNvPr>
              <p:cNvGrpSpPr/>
              <p:nvPr/>
            </p:nvGrpSpPr>
            <p:grpSpPr>
              <a:xfrm>
                <a:off x="3686528" y="4050287"/>
                <a:ext cx="1162476" cy="881414"/>
                <a:chOff x="3665996" y="2686332"/>
                <a:chExt cx="1521594" cy="1069614"/>
              </a:xfrm>
              <a:solidFill>
                <a:srgbClr val="2C6FAD"/>
              </a:solidFill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A9DF78E2-3CC4-4501-A92A-4A86B0F4A285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C92F556-72B9-4DCB-AA68-60D250EA7A62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9A0B821-42AE-430B-BA4F-0331F3C0532A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2DFB0050-D84A-4EAA-A1B8-3E4E41100B0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BF62920-C09D-4DCC-973A-605D82524DF8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DDD2EA72-2974-4C7F-8B5D-6EA57142ECE0}"/>
                    </a:ext>
                  </a:extLst>
                </p:cNvPr>
                <p:cNvSpPr/>
                <p:nvPr/>
              </p:nvSpPr>
              <p:spPr>
                <a:xfrm>
                  <a:off x="5061760" y="3112808"/>
                  <a:ext cx="125830" cy="12792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9F4E664-CF00-4438-816F-5E8B6B4FA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FC060D83-0A00-4573-9B1F-1C27A8BA1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2606E741-E7A7-4AAA-B839-346848FAF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B53528-7D8D-461E-9E3C-6E6BCEA2F9B9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05FDB980-E97F-4608-8494-8C62AAFA421D}"/>
                </a:ext>
              </a:extLst>
            </p:cNvPr>
            <p:cNvSpPr/>
            <p:nvPr/>
          </p:nvSpPr>
          <p:spPr>
            <a:xfrm>
              <a:off x="7004360" y="3222222"/>
              <a:ext cx="83367" cy="86969"/>
            </a:xfrm>
            <a:prstGeom prst="triangl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C520A8-BD17-45D1-99F8-7125663B717E}"/>
                </a:ext>
              </a:extLst>
            </p:cNvPr>
            <p:cNvSpPr txBox="1"/>
            <p:nvPr/>
          </p:nvSpPr>
          <p:spPr>
            <a:xfrm>
              <a:off x="7324467" y="2631849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2</a:t>
              </a:r>
              <a:endParaRPr lang="ko-KR" altLang="en-US" sz="8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55E9559-93C3-43D5-A4AB-0647A2A40182}"/>
                </a:ext>
              </a:extLst>
            </p:cNvPr>
            <p:cNvSpPr txBox="1"/>
            <p:nvPr/>
          </p:nvSpPr>
          <p:spPr>
            <a:xfrm>
              <a:off x="6787902" y="4177444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1</a:t>
              </a:r>
              <a:endParaRPr lang="ko-KR" altLang="en-US" sz="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/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/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28B3AD32-EFB7-455E-BC37-C6693DB2FD8C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7407834" y="4230384"/>
              <a:ext cx="618384" cy="76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AA72EE78-56F3-4556-979B-233AFA381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055" y="3943372"/>
              <a:ext cx="231874" cy="6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BAF915AD-B1C6-4FFA-BB6D-8C9C7BD88B48}"/>
                </a:ext>
              </a:extLst>
            </p:cNvPr>
            <p:cNvGrpSpPr/>
            <p:nvPr/>
          </p:nvGrpSpPr>
          <p:grpSpPr>
            <a:xfrm>
              <a:off x="7187506" y="3867855"/>
              <a:ext cx="171140" cy="157385"/>
              <a:chOff x="7081630" y="2105959"/>
              <a:chExt cx="171140" cy="157385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46EB32B4-0256-4AFA-8662-EB04EF710DE9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E17F20D0-F47B-417E-9D4F-D9E8F4FC13B7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4CA2873-939C-4C8A-AAB5-9C69BF205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5F163A1E-CA62-487C-BF14-BACB2FC1C6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A8339193-CBBF-44FC-9A89-1504D71C6FDC}"/>
                </a:ext>
              </a:extLst>
            </p:cNvPr>
            <p:cNvGrpSpPr/>
            <p:nvPr/>
          </p:nvGrpSpPr>
          <p:grpSpPr>
            <a:xfrm>
              <a:off x="6960473" y="3194446"/>
              <a:ext cx="171140" cy="157385"/>
              <a:chOff x="7081630" y="2105959"/>
              <a:chExt cx="171140" cy="157385"/>
            </a:xfrm>
          </p:grpSpPr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D8A3F407-47C5-44D4-BA7A-88A3AC01205D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5BBB0868-D2C8-40AF-92EC-973EE24D5C6E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1C6AE002-49E2-4C22-B8C7-3985AC7E9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8C0908D7-6ADC-4DA2-BA25-5189A0CA93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5E373521-0891-43E5-88E7-0959E002E4A4}"/>
              </a:ext>
            </a:extLst>
          </p:cNvPr>
          <p:cNvSpPr txBox="1"/>
          <p:nvPr/>
        </p:nvSpPr>
        <p:spPr>
          <a:xfrm>
            <a:off x="6671786" y="4361919"/>
            <a:ext cx="20779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새로운 데이터 오분류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70134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텍스트 개체 틀 66">
            <a:extLst>
              <a:ext uri="{FF2B5EF4-FFF2-40B4-BE49-F238E27FC236}">
                <a16:creationId xmlns:a16="http://schemas.microsoft.com/office/drawing/2014/main" id="{175B5880-CE09-4886-A8AF-60476EF867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3810" y="194945"/>
            <a:ext cx="4899025" cy="320675"/>
          </a:xfrm>
        </p:spPr>
        <p:txBody>
          <a:bodyPr/>
          <a:lstStyle/>
          <a:p>
            <a:pPr>
              <a:buNone/>
            </a:pPr>
            <a:r>
              <a:rPr lang="en-US" altLang="ko-KR"/>
              <a:t>Soft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>
                <a:spLocks/>
              </p:cNvSpPr>
              <p:nvPr/>
            </p:nvSpPr>
            <p:spPr>
              <a:xfrm>
                <a:off x="240030" y="3436620"/>
                <a:ext cx="8904605" cy="8528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latinLnBrk="0">
                  <a:buFont typeface="Arial"/>
                  <a:buChar char="•"/>
                </a:pPr>
                <a:r>
                  <a:rPr lang="en-US" altLang="ko-KR" sz="1100"/>
                  <a:t>Soft 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Hard Margin</a:t>
                </a:r>
                <a:r>
                  <a:rPr lang="ko-KR" altLang="en-US" sz="1100"/>
                  <a:t>의 차이점은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를 어느정도 허용하는 것</a:t>
                </a:r>
              </a:p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en-US" altLang="ko-KR" sz="1100"/>
                  <a:t>error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slack variable</a:t>
                </a:r>
                <a:r>
                  <a:rPr lang="ko-KR" altLang="en-US" sz="11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sz="1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sz="1100"/>
                  <a:t>로 나타냄</a:t>
                </a:r>
              </a:p>
              <a:p>
                <a:pPr marL="171450" indent="-171450" latinLnBrk="0">
                  <a:buFont typeface="Arial"/>
                  <a:buChar char="•"/>
                </a:pPr>
                <a:r>
                  <a:rPr lang="en-US" altLang="ko-KR" sz="1100"/>
                  <a:t>Slack variable</a:t>
                </a:r>
                <a:r>
                  <a:rPr lang="ko-KR" altLang="en-US" sz="1100"/>
                  <a:t>은 선형적으로 분류할 수 없는 경우 어느정도 오차를 허용하여 분류하며 반대방향에 잘못 존재하는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를 다루기 위해 존재함</a:t>
                </a:r>
              </a:p>
              <a:p>
                <a:pPr marL="171450" indent="-171450" latinLnBrk="0">
                  <a:buFont typeface="Arial"/>
                  <a:buChar char="•"/>
                </a:pPr>
                <a:r>
                  <a:rPr lang="en-US" altLang="ko-KR" sz="1100"/>
                  <a:t>Slack</a:t>
                </a:r>
                <a:r>
                  <a:rPr lang="ko-KR" altLang="en-US" sz="1100"/>
                  <a:t>변수를 추가하게 되면 목적함수의 식은 다음과 같음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" y="3436620"/>
                <a:ext cx="8904605" cy="852805"/>
              </a:xfrm>
              <a:prstGeom prst="rect">
                <a:avLst/>
              </a:prstGeom>
              <a:blipFill>
                <a:blip r:embed="rId3"/>
                <a:stretch>
                  <a:fillRect t="-714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4"/>
              <p:cNvGraphicFramePr>
                <a:graphicFrameLocks noGrp="1"/>
              </p:cNvGraphicFramePr>
              <p:nvPr/>
            </p:nvGraphicFramePr>
            <p:xfrm>
              <a:off x="3133090" y="4233545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9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4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7040"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f>
                                  <m:fPr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sz="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kern="120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4"/>
              <p:cNvGraphicFramePr>
                <a:graphicFrameLocks noGrp="1"/>
              </p:cNvGraphicFramePr>
              <p:nvPr/>
            </p:nvGraphicFramePr>
            <p:xfrm>
              <a:off x="3133090" y="4233545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9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4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73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4458" r="-159336" b="-157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1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FontTx/>
                            <a:buNone/>
                          </a:pPr>
                          <a:r>
                            <a:rPr lang="ko-KR" altLang="en-US" sz="1100" kern="1200">
                              <a:solidFill>
                                <a:srgbClr val="000000"/>
                              </a:solidFill>
                            </a:rPr>
                            <a:t>목적함수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7A1334-F26C-4CD0-B2A2-01AA6BC33DE5}"/>
                  </a:ext>
                </a:extLst>
              </p:cNvPr>
              <p:cNvSpPr txBox="1"/>
              <p:nvPr/>
            </p:nvSpPr>
            <p:spPr>
              <a:xfrm>
                <a:off x="260985" y="4567555"/>
                <a:ext cx="6829425" cy="161607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ko-KR" altLang="en-US" sz="1100"/>
                  <a:t>대부분의 </a:t>
                </a:r>
                <a:r>
                  <a:rPr lang="en-US" altLang="ko-KR" sz="1100"/>
                  <a:t>SVM</a:t>
                </a:r>
                <a:r>
                  <a:rPr lang="ko-KR" altLang="en-US" sz="1100"/>
                  <a:t>은 분류할때 </a:t>
                </a:r>
                <a:r>
                  <a:rPr lang="en-US" altLang="ko-KR" sz="1100"/>
                  <a:t>Margin</a:t>
                </a:r>
                <a:r>
                  <a:rPr lang="ko-KR" altLang="en-US" sz="1100"/>
                  <a:t>이 작은 분류기보다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가 있어도 </a:t>
                </a:r>
                <a:r>
                  <a:rPr lang="en-US" altLang="ko-KR" sz="1100"/>
                  <a:t>Margin</a:t>
                </a:r>
                <a:r>
                  <a:rPr lang="ko-KR" altLang="en-US" sz="1100"/>
                  <a:t>이 큰 분류기를 선호함</a:t>
                </a:r>
              </a:p>
              <a:p>
                <a:pPr algn="l" latinLnBrk="0">
                  <a:lnSpc>
                    <a:spcPct val="150000"/>
                  </a:lnSpc>
                </a:pPr>
                <a:r>
                  <a:rPr lang="en-US" altLang="ko-KR" sz="1100"/>
                  <a:t>	=&gt;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Margin</a:t>
                </a:r>
                <a:r>
                  <a:rPr lang="ko-KR" altLang="en-US" sz="1100"/>
                  <a:t>이 큰 분류기가 새로운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에 대한 예측의 정확도가 높기 때문이다</a:t>
                </a:r>
                <a:r>
                  <a:rPr lang="en-US" altLang="ko-KR" sz="1100"/>
                  <a:t>.</a:t>
                </a:r>
                <a:endParaRPr lang="ko-KR" altLang="en-US" sz="1100"/>
              </a:p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en-US" altLang="ko-KR" sz="1100"/>
                  <a:t>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에 대한 판단은 위의 식에 </a:t>
                </a:r>
                <a:r>
                  <a:rPr lang="en-US" altLang="ko-KR" sz="1100"/>
                  <a:t>parameter c</a:t>
                </a:r>
                <a:r>
                  <a:rPr lang="ko-KR" altLang="en-US" sz="1100"/>
                  <a:t> 조절</a:t>
                </a:r>
              </a:p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en-US" altLang="ko-KR" sz="1100"/>
                  <a:t>c</a:t>
                </a:r>
                <a:r>
                  <a:rPr lang="ko-KR" altLang="en-US" sz="1100"/>
                  <a:t>는 </a:t>
                </a:r>
                <a:r>
                  <a:rPr lang="en-US" altLang="ko-KR" sz="1100"/>
                  <a:t>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ko-KR" altLang="en-US" sz="1100" b="0" i="1">
                        <a:latin typeface="Cambria Math" panose="02040503050406030204" pitchFamily="18" charset="0"/>
                      </a:rPr>
                      <m:t>총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ko-KR" altLang="en-US" sz="1100"/>
                  <a:t> 사이의 반비례</a:t>
                </a:r>
                <a:r>
                  <a:rPr lang="en-US" altLang="ko-KR" sz="1100"/>
                  <a:t>(trade-off)</a:t>
                </a:r>
                <a:r>
                  <a:rPr lang="ko-KR" altLang="en-US" sz="1100"/>
                  <a:t>를 나타내는 </a:t>
                </a:r>
                <a:r>
                  <a:rPr lang="en-US" altLang="ko-KR" sz="1100"/>
                  <a:t>parameter</a:t>
                </a:r>
                <a:endParaRPr lang="ko-KR" altLang="en-US" sz="1100"/>
              </a:p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en-US" altLang="ko-KR" sz="1100"/>
                  <a:t>c</a:t>
                </a:r>
                <a:r>
                  <a:rPr lang="ko-KR" altLang="en-US" sz="1100"/>
                  <a:t>가 크다는 것은 잘못된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에 대해 민감함 </a:t>
                </a:r>
                <a:r>
                  <a:rPr lang="en-US" altLang="ko-KR" sz="1100"/>
                  <a:t>=&gt; margin</a:t>
                </a:r>
                <a:r>
                  <a:rPr lang="ko-KR" altLang="en-US" sz="1100"/>
                  <a:t>좁아짐</a:t>
                </a:r>
              </a:p>
              <a:p>
                <a:pPr marL="171450" indent="-171450" algn="l" latinLnBrk="0">
                  <a:lnSpc>
                    <a:spcPct val="150000"/>
                  </a:lnSpc>
                  <a:buFont typeface="Arial"/>
                  <a:buChar char="•"/>
                </a:pPr>
                <a:r>
                  <a:rPr lang="en-US" altLang="ko-KR" sz="1100"/>
                  <a:t>c</a:t>
                </a:r>
                <a:r>
                  <a:rPr lang="ko-KR" altLang="en-US" sz="1100"/>
                  <a:t>가 작다는 것은  </a:t>
                </a:r>
                <a:r>
                  <a:rPr lang="en-US" altLang="ko-KR" sz="1100"/>
                  <a:t>margin</a:t>
                </a:r>
                <a:r>
                  <a:rPr lang="ko-KR" altLang="en-US" sz="1100"/>
                  <a:t>을 최대로 하여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의 허용이 많아짐</a:t>
                </a:r>
                <a:r>
                  <a:rPr lang="en-US" altLang="ko-KR" sz="1100"/>
                  <a:t> =&gt; margin</a:t>
                </a:r>
                <a:r>
                  <a:rPr lang="ko-KR" altLang="en-US" sz="1100"/>
                  <a:t> 넓어짐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7A1334-F26C-4CD0-B2A2-01AA6BC33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5" y="4567555"/>
                <a:ext cx="6829425" cy="1616075"/>
              </a:xfrm>
              <a:prstGeom prst="rect">
                <a:avLst/>
              </a:prstGeom>
              <a:blipFill>
                <a:blip r:embed="rId5"/>
                <a:stretch>
                  <a:fillRect b="-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6D648A6E-29FE-4629-9B2E-FD2D16F348A8}"/>
              </a:ext>
            </a:extLst>
          </p:cNvPr>
          <p:cNvGrpSpPr/>
          <p:nvPr/>
        </p:nvGrpSpPr>
        <p:grpSpPr>
          <a:xfrm>
            <a:off x="323215" y="1335405"/>
            <a:ext cx="2306955" cy="1687195"/>
            <a:chOff x="323215" y="1335405"/>
            <a:chExt cx="2306955" cy="1687195"/>
          </a:xfrm>
        </p:grpSpPr>
        <p:sp>
          <p:nvSpPr>
            <p:cNvPr id="91" name="이등변 삼각형 90">
              <a:extLst>
                <a:ext uri="{FF2B5EF4-FFF2-40B4-BE49-F238E27FC236}">
                  <a16:creationId xmlns:a16="http://schemas.microsoft.com/office/drawing/2014/main" id="{183D18EE-F0FD-45E7-B987-6F31F6340594}"/>
                </a:ext>
              </a:extLst>
            </p:cNvPr>
            <p:cNvSpPr/>
            <p:nvPr/>
          </p:nvSpPr>
          <p:spPr>
            <a:xfrm>
              <a:off x="1812925" y="202565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이등변 삼각형 91">
              <a:extLst>
                <a:ext uri="{FF2B5EF4-FFF2-40B4-BE49-F238E27FC236}">
                  <a16:creationId xmlns:a16="http://schemas.microsoft.com/office/drawing/2014/main" id="{AB125AE9-FF0C-4BD5-8E8E-13A3886556A1}"/>
                </a:ext>
              </a:extLst>
            </p:cNvPr>
            <p:cNvSpPr/>
            <p:nvPr/>
          </p:nvSpPr>
          <p:spPr>
            <a:xfrm>
              <a:off x="1710055" y="237744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24201EC4-451E-4A15-845F-08A230EFE4A2}"/>
                </a:ext>
              </a:extLst>
            </p:cNvPr>
            <p:cNvSpPr/>
            <p:nvPr/>
          </p:nvSpPr>
          <p:spPr>
            <a:xfrm>
              <a:off x="2026920" y="217995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B463CE7-2201-42AC-B7B5-1FDACE4C38C2}"/>
                </a:ext>
              </a:extLst>
            </p:cNvPr>
            <p:cNvSpPr/>
            <p:nvPr/>
          </p:nvSpPr>
          <p:spPr>
            <a:xfrm>
              <a:off x="2237105" y="241998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BF64B684-504D-4F6C-82EE-A738A6C09879}"/>
                </a:ext>
              </a:extLst>
            </p:cNvPr>
            <p:cNvSpPr/>
            <p:nvPr/>
          </p:nvSpPr>
          <p:spPr>
            <a:xfrm>
              <a:off x="2237105" y="20777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8BC97142-8B22-4EB2-A7A8-2C8A4B14614F}"/>
                </a:ext>
              </a:extLst>
            </p:cNvPr>
            <p:cNvSpPr/>
            <p:nvPr/>
          </p:nvSpPr>
          <p:spPr>
            <a:xfrm>
              <a:off x="1965960" y="259334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B43BC68D-A5FC-441A-960D-C28A12D12742}"/>
                </a:ext>
              </a:extLst>
            </p:cNvPr>
            <p:cNvSpPr/>
            <p:nvPr/>
          </p:nvSpPr>
          <p:spPr>
            <a:xfrm>
              <a:off x="1676400" y="209486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AB64F5AA-8736-48D2-9559-D4ADFF8E56BB}"/>
                </a:ext>
              </a:extLst>
            </p:cNvPr>
            <p:cNvCxnSpPr>
              <a:cxnSpLocks/>
            </p:cNvCxnSpPr>
            <p:nvPr/>
          </p:nvCxnSpPr>
          <p:spPr>
            <a:xfrm>
              <a:off x="323215" y="3009265"/>
              <a:ext cx="2306955" cy="13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30BC4D5C-E276-42BB-8522-0DA31988A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90" y="1335405"/>
              <a:ext cx="0" cy="167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E02F5A1-926B-4590-821E-3548FDA083A0}"/>
                </a:ext>
              </a:extLst>
            </p:cNvPr>
            <p:cNvCxnSpPr>
              <a:cxnSpLocks/>
            </p:cNvCxnSpPr>
            <p:nvPr/>
          </p:nvCxnSpPr>
          <p:spPr>
            <a:xfrm>
              <a:off x="556895" y="1583055"/>
              <a:ext cx="1650365" cy="137223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2E77355-0A73-4528-BEDE-4DCF7D4FCD65}"/>
                </a:ext>
              </a:extLst>
            </p:cNvPr>
            <p:cNvSpPr/>
            <p:nvPr/>
          </p:nvSpPr>
          <p:spPr>
            <a:xfrm>
              <a:off x="460375" y="220091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CB95C81-6CDF-4CC3-B783-D44AEA4F9E62}"/>
                </a:ext>
              </a:extLst>
            </p:cNvPr>
            <p:cNvSpPr/>
            <p:nvPr/>
          </p:nvSpPr>
          <p:spPr>
            <a:xfrm>
              <a:off x="408305" y="255651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367140B-011A-4000-A1E8-2EEB92097143}"/>
                </a:ext>
              </a:extLst>
            </p:cNvPr>
            <p:cNvSpPr/>
            <p:nvPr/>
          </p:nvSpPr>
          <p:spPr>
            <a:xfrm>
              <a:off x="697230" y="246761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D1C58F5-7DA5-4D4D-86A3-8AE39DD6060B}"/>
                </a:ext>
              </a:extLst>
            </p:cNvPr>
            <p:cNvSpPr/>
            <p:nvPr/>
          </p:nvSpPr>
          <p:spPr>
            <a:xfrm>
              <a:off x="716280" y="224599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DFD9CB9-162F-4200-9906-D24C51B134C9}"/>
                </a:ext>
              </a:extLst>
            </p:cNvPr>
            <p:cNvSpPr/>
            <p:nvPr/>
          </p:nvSpPr>
          <p:spPr>
            <a:xfrm>
              <a:off x="768350" y="19818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E37C835C-C6C8-4B0B-9638-7677DC418B97}"/>
                </a:ext>
              </a:extLst>
            </p:cNvPr>
            <p:cNvSpPr/>
            <p:nvPr/>
          </p:nvSpPr>
          <p:spPr>
            <a:xfrm>
              <a:off x="1965325" y="217805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2AF21AF3-4DB2-4A8F-95AB-65B8C814D215}"/>
                </a:ext>
              </a:extLst>
            </p:cNvPr>
            <p:cNvSpPr/>
            <p:nvPr/>
          </p:nvSpPr>
          <p:spPr>
            <a:xfrm>
              <a:off x="1932305" y="242125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75A394FE-9941-4BAE-ADF4-D820010EC9DB}"/>
                </a:ext>
              </a:extLst>
            </p:cNvPr>
            <p:cNvSpPr/>
            <p:nvPr/>
          </p:nvSpPr>
          <p:spPr>
            <a:xfrm>
              <a:off x="2143760" y="242379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C60937A2-E4F8-4AC5-B1AA-4663BDA197A2}"/>
                </a:ext>
              </a:extLst>
            </p:cNvPr>
            <p:cNvSpPr/>
            <p:nvPr/>
          </p:nvSpPr>
          <p:spPr>
            <a:xfrm>
              <a:off x="2389505" y="257238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BDE3923F-005B-4B23-9D2C-64A35693D227}"/>
                </a:ext>
              </a:extLst>
            </p:cNvPr>
            <p:cNvSpPr/>
            <p:nvPr/>
          </p:nvSpPr>
          <p:spPr>
            <a:xfrm>
              <a:off x="2389505" y="22301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1D3B22D0-AC98-4451-AC0D-AE727CC18797}"/>
                </a:ext>
              </a:extLst>
            </p:cNvPr>
            <p:cNvSpPr/>
            <p:nvPr/>
          </p:nvSpPr>
          <p:spPr>
            <a:xfrm>
              <a:off x="2117725" y="233045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1722B9E9-6C97-435B-94E3-57B821E954DF}"/>
                </a:ext>
              </a:extLst>
            </p:cNvPr>
            <p:cNvSpPr/>
            <p:nvPr/>
          </p:nvSpPr>
          <p:spPr>
            <a:xfrm>
              <a:off x="2224405" y="27127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이등변 삼각형 104">
              <a:extLst>
                <a:ext uri="{FF2B5EF4-FFF2-40B4-BE49-F238E27FC236}">
                  <a16:creationId xmlns:a16="http://schemas.microsoft.com/office/drawing/2014/main" id="{C59C59B7-8139-47CC-87E9-73388596A260}"/>
                </a:ext>
              </a:extLst>
            </p:cNvPr>
            <p:cNvSpPr/>
            <p:nvPr/>
          </p:nvSpPr>
          <p:spPr>
            <a:xfrm>
              <a:off x="2296160" y="257619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58B3027-1591-4B0E-8D99-5BFAEE01C985}"/>
                </a:ext>
              </a:extLst>
            </p:cNvPr>
            <p:cNvSpPr/>
            <p:nvPr/>
          </p:nvSpPr>
          <p:spPr>
            <a:xfrm>
              <a:off x="2541905" y="272478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이등변 삼각형 106">
              <a:extLst>
                <a:ext uri="{FF2B5EF4-FFF2-40B4-BE49-F238E27FC236}">
                  <a16:creationId xmlns:a16="http://schemas.microsoft.com/office/drawing/2014/main" id="{D46847DC-373D-4577-BEA5-A58C0F19FD02}"/>
                </a:ext>
              </a:extLst>
            </p:cNvPr>
            <p:cNvSpPr/>
            <p:nvPr/>
          </p:nvSpPr>
          <p:spPr>
            <a:xfrm>
              <a:off x="2541905" y="23825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5FFD0AD-878B-400F-9F17-29D91D8545C2}"/>
                </a:ext>
              </a:extLst>
            </p:cNvPr>
            <p:cNvSpPr/>
            <p:nvPr/>
          </p:nvSpPr>
          <p:spPr>
            <a:xfrm>
              <a:off x="382905" y="197358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67B2094-88CF-4B5D-B9AF-97CFEE72A8F1}"/>
                </a:ext>
              </a:extLst>
            </p:cNvPr>
            <p:cNvSpPr/>
            <p:nvPr/>
          </p:nvSpPr>
          <p:spPr>
            <a:xfrm>
              <a:off x="591820" y="260223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7E197BCF-B56F-4F17-84C7-5B0684CD951A}"/>
                </a:ext>
              </a:extLst>
            </p:cNvPr>
            <p:cNvSpPr/>
            <p:nvPr/>
          </p:nvSpPr>
          <p:spPr>
            <a:xfrm>
              <a:off x="619760" y="224028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FF4CAE6-B646-4876-957B-F4C6DB30C8D7}"/>
                </a:ext>
              </a:extLst>
            </p:cNvPr>
            <p:cNvSpPr/>
            <p:nvPr/>
          </p:nvSpPr>
          <p:spPr>
            <a:xfrm>
              <a:off x="638810" y="201866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597E56B3-B1C9-4653-B1E5-66319685401C}"/>
                </a:ext>
              </a:extLst>
            </p:cNvPr>
            <p:cNvSpPr/>
            <p:nvPr/>
          </p:nvSpPr>
          <p:spPr>
            <a:xfrm>
              <a:off x="1711325" y="274320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4DA8C520-227E-4CEF-95FC-CCA81B25D058}"/>
                </a:ext>
              </a:extLst>
            </p:cNvPr>
            <p:cNvSpPr/>
            <p:nvPr/>
          </p:nvSpPr>
          <p:spPr>
            <a:xfrm>
              <a:off x="612775" y="235331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09F17207-F223-4B2C-9CED-F30F5E42D87E}"/>
                </a:ext>
              </a:extLst>
            </p:cNvPr>
            <p:cNvSpPr/>
            <p:nvPr/>
          </p:nvSpPr>
          <p:spPr>
            <a:xfrm>
              <a:off x="1064895" y="227520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904E0B0-20E9-4009-AA80-98B0B50CA47D}"/>
                </a:ext>
              </a:extLst>
            </p:cNvPr>
            <p:cNvSpPr/>
            <p:nvPr/>
          </p:nvSpPr>
          <p:spPr>
            <a:xfrm>
              <a:off x="849630" y="262001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3834DC4-446E-495A-B7CC-6AEF54B107B4}"/>
                </a:ext>
              </a:extLst>
            </p:cNvPr>
            <p:cNvSpPr/>
            <p:nvPr/>
          </p:nvSpPr>
          <p:spPr>
            <a:xfrm>
              <a:off x="868680" y="239839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9B352169-5607-4491-850D-651712771078}"/>
                </a:ext>
              </a:extLst>
            </p:cNvPr>
            <p:cNvSpPr/>
            <p:nvPr/>
          </p:nvSpPr>
          <p:spPr>
            <a:xfrm>
              <a:off x="920750" y="21342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이등변 삼각형 119">
              <a:extLst>
                <a:ext uri="{FF2B5EF4-FFF2-40B4-BE49-F238E27FC236}">
                  <a16:creationId xmlns:a16="http://schemas.microsoft.com/office/drawing/2014/main" id="{3CBE16BD-42DC-49D5-88FD-2A84E6AEA474}"/>
                </a:ext>
              </a:extLst>
            </p:cNvPr>
            <p:cNvSpPr/>
            <p:nvPr/>
          </p:nvSpPr>
          <p:spPr>
            <a:xfrm>
              <a:off x="2019300" y="194437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이등변 삼각형 120">
              <a:extLst>
                <a:ext uri="{FF2B5EF4-FFF2-40B4-BE49-F238E27FC236}">
                  <a16:creationId xmlns:a16="http://schemas.microsoft.com/office/drawing/2014/main" id="{FCB89DE4-0FF3-41F7-9F5A-3183D16D6FE5}"/>
                </a:ext>
              </a:extLst>
            </p:cNvPr>
            <p:cNvSpPr/>
            <p:nvPr/>
          </p:nvSpPr>
          <p:spPr>
            <a:xfrm>
              <a:off x="2229485" y="218376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A6830640-2175-470B-89C1-5A8A07F77C8C}"/>
                </a:ext>
              </a:extLst>
            </p:cNvPr>
            <p:cNvSpPr/>
            <p:nvPr/>
          </p:nvSpPr>
          <p:spPr>
            <a:xfrm>
              <a:off x="2229485" y="184213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2AB33293-9459-4BAD-9B92-019F83232593}"/>
                </a:ext>
              </a:extLst>
            </p:cNvPr>
            <p:cNvSpPr/>
            <p:nvPr/>
          </p:nvSpPr>
          <p:spPr>
            <a:xfrm>
              <a:off x="1958340" y="194246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36AF3F2-CEA7-4AB5-A193-7CDE5A8C994F}"/>
                </a:ext>
              </a:extLst>
            </p:cNvPr>
            <p:cNvSpPr/>
            <p:nvPr/>
          </p:nvSpPr>
          <p:spPr>
            <a:xfrm>
              <a:off x="1925320" y="218567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이등변 삼각형 124">
              <a:extLst>
                <a:ext uri="{FF2B5EF4-FFF2-40B4-BE49-F238E27FC236}">
                  <a16:creationId xmlns:a16="http://schemas.microsoft.com/office/drawing/2014/main" id="{4DAC3648-E136-4272-8F52-19CB300AFE76}"/>
                </a:ext>
              </a:extLst>
            </p:cNvPr>
            <p:cNvSpPr/>
            <p:nvPr/>
          </p:nvSpPr>
          <p:spPr>
            <a:xfrm>
              <a:off x="2136775" y="218821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이등변 삼각형 125">
              <a:extLst>
                <a:ext uri="{FF2B5EF4-FFF2-40B4-BE49-F238E27FC236}">
                  <a16:creationId xmlns:a16="http://schemas.microsoft.com/office/drawing/2014/main" id="{E1A12595-8991-4BFE-B5F3-BD931B073F4D}"/>
                </a:ext>
              </a:extLst>
            </p:cNvPr>
            <p:cNvSpPr/>
            <p:nvPr/>
          </p:nvSpPr>
          <p:spPr>
            <a:xfrm>
              <a:off x="2381885" y="199453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이등변 삼각형 126">
              <a:extLst>
                <a:ext uri="{FF2B5EF4-FFF2-40B4-BE49-F238E27FC236}">
                  <a16:creationId xmlns:a16="http://schemas.microsoft.com/office/drawing/2014/main" id="{4AF4CE10-F93E-4A65-941A-EE7BCC6E4E66}"/>
                </a:ext>
              </a:extLst>
            </p:cNvPr>
            <p:cNvSpPr/>
            <p:nvPr/>
          </p:nvSpPr>
          <p:spPr>
            <a:xfrm>
              <a:off x="2110740" y="209486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이등변 삼각형 127">
              <a:extLst>
                <a:ext uri="{FF2B5EF4-FFF2-40B4-BE49-F238E27FC236}">
                  <a16:creationId xmlns:a16="http://schemas.microsoft.com/office/drawing/2014/main" id="{D49F0206-F58C-407C-AB88-EE1C0567BE26}"/>
                </a:ext>
              </a:extLst>
            </p:cNvPr>
            <p:cNvSpPr/>
            <p:nvPr/>
          </p:nvSpPr>
          <p:spPr>
            <a:xfrm>
              <a:off x="2534285" y="214693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605B3005-8381-453B-9B44-E4BFF8E22F9D}"/>
                </a:ext>
              </a:extLst>
            </p:cNvPr>
            <p:cNvSpPr/>
            <p:nvPr/>
          </p:nvSpPr>
          <p:spPr>
            <a:xfrm>
              <a:off x="619125" y="245935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C77A6E3-D5FB-4FE0-91CA-57137A6782E6}"/>
                </a:ext>
              </a:extLst>
            </p:cNvPr>
            <p:cNvSpPr/>
            <p:nvPr/>
          </p:nvSpPr>
          <p:spPr>
            <a:xfrm>
              <a:off x="567055" y="281432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F26B928-AB8B-447F-BF76-759F2868C5A3}"/>
                </a:ext>
              </a:extLst>
            </p:cNvPr>
            <p:cNvSpPr/>
            <p:nvPr/>
          </p:nvSpPr>
          <p:spPr>
            <a:xfrm>
              <a:off x="855980" y="272605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34124F2-3D81-4746-9120-8C5CA7AF4355}"/>
                </a:ext>
              </a:extLst>
            </p:cNvPr>
            <p:cNvSpPr/>
            <p:nvPr/>
          </p:nvSpPr>
          <p:spPr>
            <a:xfrm>
              <a:off x="875030" y="250444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D49BDB0E-D0BA-4ED0-B5A7-C0ED7E32B866}"/>
                </a:ext>
              </a:extLst>
            </p:cNvPr>
            <p:cNvSpPr/>
            <p:nvPr/>
          </p:nvSpPr>
          <p:spPr>
            <a:xfrm>
              <a:off x="750570" y="286004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6D9BF3B-CF74-43B5-961B-3FBB48412FD0}"/>
                </a:ext>
              </a:extLst>
            </p:cNvPr>
            <p:cNvSpPr/>
            <p:nvPr/>
          </p:nvSpPr>
          <p:spPr>
            <a:xfrm>
              <a:off x="778510" y="249809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0D3AE54-04CF-4B74-98F6-1B1F3C6EE9AF}"/>
                </a:ext>
              </a:extLst>
            </p:cNvPr>
            <p:cNvSpPr/>
            <p:nvPr/>
          </p:nvSpPr>
          <p:spPr>
            <a:xfrm>
              <a:off x="771525" y="261175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94D32E-72C7-4AEC-9813-59E85391C6BB}"/>
                </a:ext>
              </a:extLst>
            </p:cNvPr>
            <p:cNvSpPr/>
            <p:nvPr/>
          </p:nvSpPr>
          <p:spPr>
            <a:xfrm>
              <a:off x="1223645" y="253365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AC6DDDF5-5C1B-4913-AF21-BAB9F7917A42}"/>
                </a:ext>
              </a:extLst>
            </p:cNvPr>
            <p:cNvSpPr/>
            <p:nvPr/>
          </p:nvSpPr>
          <p:spPr>
            <a:xfrm>
              <a:off x="1008380" y="287845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89E3362-4D8C-420B-9524-8AA9747D9DE9}"/>
                </a:ext>
              </a:extLst>
            </p:cNvPr>
            <p:cNvSpPr/>
            <p:nvPr/>
          </p:nvSpPr>
          <p:spPr>
            <a:xfrm>
              <a:off x="1027430" y="265684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EE7D02E-5E6B-4495-AF77-DF652F96980B}"/>
                </a:ext>
              </a:extLst>
            </p:cNvPr>
            <p:cNvSpPr/>
            <p:nvPr/>
          </p:nvSpPr>
          <p:spPr>
            <a:xfrm>
              <a:off x="1079500" y="239268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B336EA2-9FEE-4BCA-B727-A6894B6B8A7F}"/>
              </a:ext>
            </a:extLst>
          </p:cNvPr>
          <p:cNvGrpSpPr/>
          <p:nvPr/>
        </p:nvGrpSpPr>
        <p:grpSpPr>
          <a:xfrm>
            <a:off x="3058795" y="1300480"/>
            <a:ext cx="2306955" cy="1744345"/>
            <a:chOff x="3058795" y="1300480"/>
            <a:chExt cx="2306955" cy="1744345"/>
          </a:xfrm>
        </p:grpSpPr>
        <p:sp>
          <p:nvSpPr>
            <p:cNvPr id="143" name="이등변 삼각형 142">
              <a:extLst>
                <a:ext uri="{FF2B5EF4-FFF2-40B4-BE49-F238E27FC236}">
                  <a16:creationId xmlns:a16="http://schemas.microsoft.com/office/drawing/2014/main" id="{DDA48DC9-92CD-4079-984D-2CE0CAA6C5F2}"/>
                </a:ext>
              </a:extLst>
            </p:cNvPr>
            <p:cNvSpPr/>
            <p:nvPr/>
          </p:nvSpPr>
          <p:spPr>
            <a:xfrm>
              <a:off x="4548505" y="20478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이등변 삼각형 143">
              <a:extLst>
                <a:ext uri="{FF2B5EF4-FFF2-40B4-BE49-F238E27FC236}">
                  <a16:creationId xmlns:a16="http://schemas.microsoft.com/office/drawing/2014/main" id="{4D4AF1BF-96BB-4BFC-A817-4A3F472BC7A8}"/>
                </a:ext>
              </a:extLst>
            </p:cNvPr>
            <p:cNvSpPr/>
            <p:nvPr/>
          </p:nvSpPr>
          <p:spPr>
            <a:xfrm>
              <a:off x="4445635" y="239966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이등변 삼각형 144">
              <a:extLst>
                <a:ext uri="{FF2B5EF4-FFF2-40B4-BE49-F238E27FC236}">
                  <a16:creationId xmlns:a16="http://schemas.microsoft.com/office/drawing/2014/main" id="{C0F20214-E1FE-4959-9F2F-B5AE23BA00DC}"/>
                </a:ext>
              </a:extLst>
            </p:cNvPr>
            <p:cNvSpPr/>
            <p:nvPr/>
          </p:nvSpPr>
          <p:spPr>
            <a:xfrm>
              <a:off x="4762500" y="220218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이등변 삼각형 145">
              <a:extLst>
                <a:ext uri="{FF2B5EF4-FFF2-40B4-BE49-F238E27FC236}">
                  <a16:creationId xmlns:a16="http://schemas.microsoft.com/office/drawing/2014/main" id="{F4C833E7-4B3A-4BF4-96B5-7E582F8C986F}"/>
                </a:ext>
              </a:extLst>
            </p:cNvPr>
            <p:cNvSpPr/>
            <p:nvPr/>
          </p:nvSpPr>
          <p:spPr>
            <a:xfrm>
              <a:off x="4972050" y="24415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1E7A04EC-2180-477D-A435-5EACBB167EB5}"/>
                </a:ext>
              </a:extLst>
            </p:cNvPr>
            <p:cNvSpPr/>
            <p:nvPr/>
          </p:nvSpPr>
          <p:spPr>
            <a:xfrm>
              <a:off x="4972050" y="209994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5965CAFE-FED1-49CE-8D2D-8B0190AF5E4C}"/>
                </a:ext>
              </a:extLst>
            </p:cNvPr>
            <p:cNvSpPr/>
            <p:nvPr/>
          </p:nvSpPr>
          <p:spPr>
            <a:xfrm>
              <a:off x="4701540" y="261493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이등변 삼각형 148">
              <a:extLst>
                <a:ext uri="{FF2B5EF4-FFF2-40B4-BE49-F238E27FC236}">
                  <a16:creationId xmlns:a16="http://schemas.microsoft.com/office/drawing/2014/main" id="{FAF5B4F3-D457-459C-9C0B-445A118A722E}"/>
                </a:ext>
              </a:extLst>
            </p:cNvPr>
            <p:cNvSpPr/>
            <p:nvPr/>
          </p:nvSpPr>
          <p:spPr>
            <a:xfrm>
              <a:off x="4411345" y="211709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EB4178EC-818A-42A4-BE37-2B74A1842AB5}"/>
                </a:ext>
              </a:extLst>
            </p:cNvPr>
            <p:cNvCxnSpPr>
              <a:cxnSpLocks/>
            </p:cNvCxnSpPr>
            <p:nvPr/>
          </p:nvCxnSpPr>
          <p:spPr>
            <a:xfrm>
              <a:off x="3058795" y="3031490"/>
              <a:ext cx="2306955" cy="13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9CDC0C3C-E6B2-40C0-8B7F-3792078DA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1970" y="1357630"/>
              <a:ext cx="0" cy="167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1B1BAFF-1E98-4BCE-869A-C1B4FA781C80}"/>
                </a:ext>
              </a:extLst>
            </p:cNvPr>
            <p:cNvCxnSpPr>
              <a:cxnSpLocks/>
            </p:cNvCxnSpPr>
            <p:nvPr/>
          </p:nvCxnSpPr>
          <p:spPr>
            <a:xfrm>
              <a:off x="4079240" y="1300480"/>
              <a:ext cx="208915" cy="173101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BFFF78F7-780E-450A-9457-43D82EC0151D}"/>
                </a:ext>
              </a:extLst>
            </p:cNvPr>
            <p:cNvSpPr/>
            <p:nvPr/>
          </p:nvSpPr>
          <p:spPr>
            <a:xfrm>
              <a:off x="3195955" y="22231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EEDF1774-C44A-4C11-B1DB-0B65EE1F2F4E}"/>
                </a:ext>
              </a:extLst>
            </p:cNvPr>
            <p:cNvSpPr/>
            <p:nvPr/>
          </p:nvSpPr>
          <p:spPr>
            <a:xfrm>
              <a:off x="3143885" y="25787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0065481-0A47-4DCA-8ABB-F00C331695E8}"/>
                </a:ext>
              </a:extLst>
            </p:cNvPr>
            <p:cNvSpPr/>
            <p:nvPr/>
          </p:nvSpPr>
          <p:spPr>
            <a:xfrm>
              <a:off x="3432810" y="24898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2D3DA8FA-EFC5-4B2B-AF2F-AADF94B92A94}"/>
                </a:ext>
              </a:extLst>
            </p:cNvPr>
            <p:cNvSpPr/>
            <p:nvPr/>
          </p:nvSpPr>
          <p:spPr>
            <a:xfrm>
              <a:off x="3451860" y="226822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9AE4989D-9F9C-400E-9DFD-72F5586EE1F3}"/>
                </a:ext>
              </a:extLst>
            </p:cNvPr>
            <p:cNvSpPr/>
            <p:nvPr/>
          </p:nvSpPr>
          <p:spPr>
            <a:xfrm>
              <a:off x="3503930" y="200406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이등변 삼각형 157">
              <a:extLst>
                <a:ext uri="{FF2B5EF4-FFF2-40B4-BE49-F238E27FC236}">
                  <a16:creationId xmlns:a16="http://schemas.microsoft.com/office/drawing/2014/main" id="{FFDF855F-55E5-4557-91E0-5E5831B1DED2}"/>
                </a:ext>
              </a:extLst>
            </p:cNvPr>
            <p:cNvSpPr/>
            <p:nvPr/>
          </p:nvSpPr>
          <p:spPr>
            <a:xfrm>
              <a:off x="4700905" y="22002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이등변 삼각형 158">
              <a:extLst>
                <a:ext uri="{FF2B5EF4-FFF2-40B4-BE49-F238E27FC236}">
                  <a16:creationId xmlns:a16="http://schemas.microsoft.com/office/drawing/2014/main" id="{1352867E-05E2-4FD6-B815-3250F81E12ED}"/>
                </a:ext>
              </a:extLst>
            </p:cNvPr>
            <p:cNvSpPr/>
            <p:nvPr/>
          </p:nvSpPr>
          <p:spPr>
            <a:xfrm>
              <a:off x="4667885" y="244348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이등변 삼각형 159">
              <a:extLst>
                <a:ext uri="{FF2B5EF4-FFF2-40B4-BE49-F238E27FC236}">
                  <a16:creationId xmlns:a16="http://schemas.microsoft.com/office/drawing/2014/main" id="{058C28DA-706C-4221-BE62-152E29D9F363}"/>
                </a:ext>
              </a:extLst>
            </p:cNvPr>
            <p:cNvSpPr/>
            <p:nvPr/>
          </p:nvSpPr>
          <p:spPr>
            <a:xfrm>
              <a:off x="4879340" y="24460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이등변 삼각형 160">
              <a:extLst>
                <a:ext uri="{FF2B5EF4-FFF2-40B4-BE49-F238E27FC236}">
                  <a16:creationId xmlns:a16="http://schemas.microsoft.com/office/drawing/2014/main" id="{145227E0-3529-4761-8E7B-2EA5AFDC8BFA}"/>
                </a:ext>
              </a:extLst>
            </p:cNvPr>
            <p:cNvSpPr/>
            <p:nvPr/>
          </p:nvSpPr>
          <p:spPr>
            <a:xfrm>
              <a:off x="5124450" y="25939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이등변 삼각형 161">
              <a:extLst>
                <a:ext uri="{FF2B5EF4-FFF2-40B4-BE49-F238E27FC236}">
                  <a16:creationId xmlns:a16="http://schemas.microsoft.com/office/drawing/2014/main" id="{3A7F64D1-57C7-40D0-A0D2-19CA913D7D27}"/>
                </a:ext>
              </a:extLst>
            </p:cNvPr>
            <p:cNvSpPr/>
            <p:nvPr/>
          </p:nvSpPr>
          <p:spPr>
            <a:xfrm>
              <a:off x="5124450" y="225234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이등변 삼각형 162">
              <a:extLst>
                <a:ext uri="{FF2B5EF4-FFF2-40B4-BE49-F238E27FC236}">
                  <a16:creationId xmlns:a16="http://schemas.microsoft.com/office/drawing/2014/main" id="{D2A24A0B-1C98-4721-943D-09B8D9182CC4}"/>
                </a:ext>
              </a:extLst>
            </p:cNvPr>
            <p:cNvSpPr/>
            <p:nvPr/>
          </p:nvSpPr>
          <p:spPr>
            <a:xfrm>
              <a:off x="4853305" y="23526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이등변 삼각형 163">
              <a:extLst>
                <a:ext uri="{FF2B5EF4-FFF2-40B4-BE49-F238E27FC236}">
                  <a16:creationId xmlns:a16="http://schemas.microsoft.com/office/drawing/2014/main" id="{A4D97B5C-4E27-4272-8871-6C5989580DE1}"/>
                </a:ext>
              </a:extLst>
            </p:cNvPr>
            <p:cNvSpPr/>
            <p:nvPr/>
          </p:nvSpPr>
          <p:spPr>
            <a:xfrm>
              <a:off x="4959985" y="273431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이등변 삼각형 164">
              <a:extLst>
                <a:ext uri="{FF2B5EF4-FFF2-40B4-BE49-F238E27FC236}">
                  <a16:creationId xmlns:a16="http://schemas.microsoft.com/office/drawing/2014/main" id="{C9F841CA-9FC9-45E3-8CE1-836F7B2CEDEB}"/>
                </a:ext>
              </a:extLst>
            </p:cNvPr>
            <p:cNvSpPr/>
            <p:nvPr/>
          </p:nvSpPr>
          <p:spPr>
            <a:xfrm>
              <a:off x="5031740" y="259842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9F8E56EC-50C8-41D1-9E74-389AFC684438}"/>
                </a:ext>
              </a:extLst>
            </p:cNvPr>
            <p:cNvSpPr/>
            <p:nvPr/>
          </p:nvSpPr>
          <p:spPr>
            <a:xfrm>
              <a:off x="5276850" y="274637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2784E7B5-2447-4E5E-BC9C-EDCEFC7F26B0}"/>
                </a:ext>
              </a:extLst>
            </p:cNvPr>
            <p:cNvSpPr/>
            <p:nvPr/>
          </p:nvSpPr>
          <p:spPr>
            <a:xfrm>
              <a:off x="5276850" y="240474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7409135D-E258-43AA-AD97-0856FFF8A2E6}"/>
                </a:ext>
              </a:extLst>
            </p:cNvPr>
            <p:cNvSpPr/>
            <p:nvPr/>
          </p:nvSpPr>
          <p:spPr>
            <a:xfrm>
              <a:off x="3118485" y="199517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2A53405D-075A-4E79-B4BD-E9B6445AAAA0}"/>
                </a:ext>
              </a:extLst>
            </p:cNvPr>
            <p:cNvSpPr/>
            <p:nvPr/>
          </p:nvSpPr>
          <p:spPr>
            <a:xfrm>
              <a:off x="3327400" y="262382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5B1B4CB-230D-4245-B7D3-F13AA19EA2D7}"/>
                </a:ext>
              </a:extLst>
            </p:cNvPr>
            <p:cNvSpPr/>
            <p:nvPr/>
          </p:nvSpPr>
          <p:spPr>
            <a:xfrm>
              <a:off x="3355340" y="226187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7B903E3-8965-4938-9D44-1BDE164389A7}"/>
                </a:ext>
              </a:extLst>
            </p:cNvPr>
            <p:cNvSpPr/>
            <p:nvPr/>
          </p:nvSpPr>
          <p:spPr>
            <a:xfrm>
              <a:off x="3374390" y="204089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3EB4190C-AE00-492C-B3F8-A2454C2ADFAE}"/>
                </a:ext>
              </a:extLst>
            </p:cNvPr>
            <p:cNvSpPr/>
            <p:nvPr/>
          </p:nvSpPr>
          <p:spPr>
            <a:xfrm>
              <a:off x="4446905" y="276542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1565F4E-F2E3-4C47-BDE3-ADE2DC6094CB}"/>
                </a:ext>
              </a:extLst>
            </p:cNvPr>
            <p:cNvSpPr/>
            <p:nvPr/>
          </p:nvSpPr>
          <p:spPr>
            <a:xfrm>
              <a:off x="3348355" y="23755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0931CFC2-E5A8-4BB8-BD30-BBFB53085873}"/>
                </a:ext>
              </a:extLst>
            </p:cNvPr>
            <p:cNvSpPr/>
            <p:nvPr/>
          </p:nvSpPr>
          <p:spPr>
            <a:xfrm>
              <a:off x="3800475" y="229743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22F90D7-0767-4F2B-B658-A4FCB80C1516}"/>
                </a:ext>
              </a:extLst>
            </p:cNvPr>
            <p:cNvSpPr/>
            <p:nvPr/>
          </p:nvSpPr>
          <p:spPr>
            <a:xfrm>
              <a:off x="3585210" y="264223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FCA20A77-86E5-4EBC-822F-5D1830729A38}"/>
                </a:ext>
              </a:extLst>
            </p:cNvPr>
            <p:cNvSpPr/>
            <p:nvPr/>
          </p:nvSpPr>
          <p:spPr>
            <a:xfrm>
              <a:off x="3604260" y="242062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69B84CBD-BB01-420E-985E-BA12501C1E03}"/>
                </a:ext>
              </a:extLst>
            </p:cNvPr>
            <p:cNvSpPr/>
            <p:nvPr/>
          </p:nvSpPr>
          <p:spPr>
            <a:xfrm>
              <a:off x="3656330" y="215646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이등변 삼각형 177">
              <a:extLst>
                <a:ext uri="{FF2B5EF4-FFF2-40B4-BE49-F238E27FC236}">
                  <a16:creationId xmlns:a16="http://schemas.microsoft.com/office/drawing/2014/main" id="{D0F83827-9211-46CB-B71C-B033FCFA625F}"/>
                </a:ext>
              </a:extLst>
            </p:cNvPr>
            <p:cNvSpPr/>
            <p:nvPr/>
          </p:nvSpPr>
          <p:spPr>
            <a:xfrm>
              <a:off x="4754880" y="196596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이등변 삼각형 178">
              <a:extLst>
                <a:ext uri="{FF2B5EF4-FFF2-40B4-BE49-F238E27FC236}">
                  <a16:creationId xmlns:a16="http://schemas.microsoft.com/office/drawing/2014/main" id="{1F55432A-B61D-4771-84EE-3D8516C69040}"/>
                </a:ext>
              </a:extLst>
            </p:cNvPr>
            <p:cNvSpPr/>
            <p:nvPr/>
          </p:nvSpPr>
          <p:spPr>
            <a:xfrm>
              <a:off x="4965065" y="220599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이등변 삼각형 179">
              <a:extLst>
                <a:ext uri="{FF2B5EF4-FFF2-40B4-BE49-F238E27FC236}">
                  <a16:creationId xmlns:a16="http://schemas.microsoft.com/office/drawing/2014/main" id="{D4E95E3E-0BC0-4698-A668-BD165C139A59}"/>
                </a:ext>
              </a:extLst>
            </p:cNvPr>
            <p:cNvSpPr/>
            <p:nvPr/>
          </p:nvSpPr>
          <p:spPr>
            <a:xfrm>
              <a:off x="4965065" y="186436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이등변 삼각형 180">
              <a:extLst>
                <a:ext uri="{FF2B5EF4-FFF2-40B4-BE49-F238E27FC236}">
                  <a16:creationId xmlns:a16="http://schemas.microsoft.com/office/drawing/2014/main" id="{6AAD24F3-BE4D-48CC-A209-563FC5A9899F}"/>
                </a:ext>
              </a:extLst>
            </p:cNvPr>
            <p:cNvSpPr/>
            <p:nvPr/>
          </p:nvSpPr>
          <p:spPr>
            <a:xfrm>
              <a:off x="4693920" y="196469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이등변 삼각형 181">
              <a:extLst>
                <a:ext uri="{FF2B5EF4-FFF2-40B4-BE49-F238E27FC236}">
                  <a16:creationId xmlns:a16="http://schemas.microsoft.com/office/drawing/2014/main" id="{3BA96BFB-1250-41DC-9706-9A89A0ED7F56}"/>
                </a:ext>
              </a:extLst>
            </p:cNvPr>
            <p:cNvSpPr/>
            <p:nvPr/>
          </p:nvSpPr>
          <p:spPr>
            <a:xfrm>
              <a:off x="4660900" y="2207895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0294EA6-2063-4AB8-B9AE-4E92F8E8E372}"/>
                </a:ext>
              </a:extLst>
            </p:cNvPr>
            <p:cNvSpPr/>
            <p:nvPr/>
          </p:nvSpPr>
          <p:spPr>
            <a:xfrm>
              <a:off x="4872355" y="220980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이등변 삼각형 183">
              <a:extLst>
                <a:ext uri="{FF2B5EF4-FFF2-40B4-BE49-F238E27FC236}">
                  <a16:creationId xmlns:a16="http://schemas.microsoft.com/office/drawing/2014/main" id="{EF460349-F000-4E6B-A521-CA180A0097E2}"/>
                </a:ext>
              </a:extLst>
            </p:cNvPr>
            <p:cNvSpPr/>
            <p:nvPr/>
          </p:nvSpPr>
          <p:spPr>
            <a:xfrm>
              <a:off x="5117465" y="201676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이등변 삼각형 184">
              <a:extLst>
                <a:ext uri="{FF2B5EF4-FFF2-40B4-BE49-F238E27FC236}">
                  <a16:creationId xmlns:a16="http://schemas.microsoft.com/office/drawing/2014/main" id="{2B690D1F-F8A7-4F62-8094-A28EA1BD146B}"/>
                </a:ext>
              </a:extLst>
            </p:cNvPr>
            <p:cNvSpPr/>
            <p:nvPr/>
          </p:nvSpPr>
          <p:spPr>
            <a:xfrm>
              <a:off x="4846320" y="211709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이등변 삼각형 185">
              <a:extLst>
                <a:ext uri="{FF2B5EF4-FFF2-40B4-BE49-F238E27FC236}">
                  <a16:creationId xmlns:a16="http://schemas.microsoft.com/office/drawing/2014/main" id="{BC1ACEC3-BE34-45BD-B0C9-28AA5E43F460}"/>
                </a:ext>
              </a:extLst>
            </p:cNvPr>
            <p:cNvSpPr/>
            <p:nvPr/>
          </p:nvSpPr>
          <p:spPr>
            <a:xfrm>
              <a:off x="5269865" y="2169160"/>
              <a:ext cx="83185" cy="8699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3C5F381B-805E-4150-99AC-B67F903C36FE}"/>
                </a:ext>
              </a:extLst>
            </p:cNvPr>
            <p:cNvSpPr/>
            <p:nvPr/>
          </p:nvSpPr>
          <p:spPr>
            <a:xfrm>
              <a:off x="3354705" y="248094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CCC50ED4-2FEE-45F8-A88F-9AA549283FB0}"/>
                </a:ext>
              </a:extLst>
            </p:cNvPr>
            <p:cNvSpPr/>
            <p:nvPr/>
          </p:nvSpPr>
          <p:spPr>
            <a:xfrm>
              <a:off x="3302635" y="283654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A08DDCBC-0AB0-4E3F-9D00-7422E79B4EF3}"/>
                </a:ext>
              </a:extLst>
            </p:cNvPr>
            <p:cNvSpPr/>
            <p:nvPr/>
          </p:nvSpPr>
          <p:spPr>
            <a:xfrm>
              <a:off x="3591560" y="274764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764EE02A-22F8-4405-83A4-CCD219EC0A76}"/>
                </a:ext>
              </a:extLst>
            </p:cNvPr>
            <p:cNvSpPr/>
            <p:nvPr/>
          </p:nvSpPr>
          <p:spPr>
            <a:xfrm>
              <a:off x="3610610" y="252603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935E0941-33EC-4D2D-80E2-D77EF540CCE1}"/>
                </a:ext>
              </a:extLst>
            </p:cNvPr>
            <p:cNvSpPr/>
            <p:nvPr/>
          </p:nvSpPr>
          <p:spPr>
            <a:xfrm>
              <a:off x="3486150" y="288226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61A16862-B296-445B-8E65-E3AC71223533}"/>
                </a:ext>
              </a:extLst>
            </p:cNvPr>
            <p:cNvSpPr/>
            <p:nvPr/>
          </p:nvSpPr>
          <p:spPr>
            <a:xfrm>
              <a:off x="3514090" y="252031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2EED28F8-F593-402D-96F4-206AAEAB1CE6}"/>
                </a:ext>
              </a:extLst>
            </p:cNvPr>
            <p:cNvSpPr/>
            <p:nvPr/>
          </p:nvSpPr>
          <p:spPr>
            <a:xfrm>
              <a:off x="3507105" y="263334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8FD18BD2-F09E-419F-83AF-2B88A0CEDA45}"/>
                </a:ext>
              </a:extLst>
            </p:cNvPr>
            <p:cNvSpPr/>
            <p:nvPr/>
          </p:nvSpPr>
          <p:spPr>
            <a:xfrm>
              <a:off x="3959225" y="255524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68C57555-F5E4-4D5F-9894-07E895EAD1EC}"/>
                </a:ext>
              </a:extLst>
            </p:cNvPr>
            <p:cNvSpPr/>
            <p:nvPr/>
          </p:nvSpPr>
          <p:spPr>
            <a:xfrm>
              <a:off x="3743960" y="2900045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7EFCDED-96BB-445D-BEAF-DF7CD4873DED}"/>
                </a:ext>
              </a:extLst>
            </p:cNvPr>
            <p:cNvSpPr/>
            <p:nvPr/>
          </p:nvSpPr>
          <p:spPr>
            <a:xfrm>
              <a:off x="3763010" y="267843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FDCE4B55-5AEF-4225-93BE-008472D254E0}"/>
                </a:ext>
              </a:extLst>
            </p:cNvPr>
            <p:cNvSpPr/>
            <p:nvPr/>
          </p:nvSpPr>
          <p:spPr>
            <a:xfrm>
              <a:off x="3815080" y="2414270"/>
              <a:ext cx="71120" cy="7810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DE0EF028-7461-404F-8D85-F784162DA8C7}"/>
              </a:ext>
            </a:extLst>
          </p:cNvPr>
          <p:cNvSpPr txBox="1"/>
          <p:nvPr/>
        </p:nvSpPr>
        <p:spPr>
          <a:xfrm>
            <a:off x="839470" y="3029585"/>
            <a:ext cx="1542415" cy="246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Margin </a:t>
            </a:r>
            <a:r>
              <a:rPr lang="ko-KR" altLang="en-US" sz="1000"/>
              <a:t>좁은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1" name="TextBox 200"/>
          <p:cNvSpPr txBox="1">
            <a:spLocks/>
          </p:cNvSpPr>
          <p:nvPr/>
        </p:nvSpPr>
        <p:spPr>
          <a:xfrm>
            <a:off x="3478530" y="3052445"/>
            <a:ext cx="2070100" cy="2457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latinLnBrk="0">
              <a:buFontTx/>
              <a:buNone/>
            </a:pPr>
            <a:r>
              <a:rPr lang="en-US" altLang="ko-KR" sz="1000"/>
              <a:t>&lt; Error허용 한Margin</a:t>
            </a:r>
            <a:r>
              <a:rPr lang="ko-KR" altLang="en-US" sz="1000"/>
              <a:t>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623BF4E-A9D6-4D2E-9022-2BA71E3C057E}"/>
              </a:ext>
            </a:extLst>
          </p:cNvPr>
          <p:cNvSpPr txBox="1"/>
          <p:nvPr/>
        </p:nvSpPr>
        <p:spPr>
          <a:xfrm>
            <a:off x="6601460" y="3039110"/>
            <a:ext cx="1542415" cy="246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slack variable </a:t>
            </a:r>
            <a:r>
              <a:rPr lang="ko-KR" altLang="en-US" sz="1000"/>
              <a:t>예시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983F07D1-2495-4DFC-8257-4BE3959F3A29}"/>
              </a:ext>
            </a:extLst>
          </p:cNvPr>
          <p:cNvGrpSpPr/>
          <p:nvPr/>
        </p:nvGrpSpPr>
        <p:grpSpPr>
          <a:xfrm>
            <a:off x="6177902" y="1355918"/>
            <a:ext cx="2226382" cy="1696427"/>
            <a:chOff x="5471410" y="2962838"/>
            <a:chExt cx="2226382" cy="1696427"/>
          </a:xfrm>
        </p:grpSpPr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B98B595-1139-45FD-9106-86714B23E33C}"/>
                </a:ext>
              </a:extLst>
            </p:cNvPr>
            <p:cNvGrpSpPr/>
            <p:nvPr/>
          </p:nvGrpSpPr>
          <p:grpSpPr>
            <a:xfrm>
              <a:off x="5570169" y="2962838"/>
              <a:ext cx="2127623" cy="1696427"/>
              <a:chOff x="3518675" y="2776495"/>
              <a:chExt cx="2878693" cy="2292172"/>
            </a:xfrm>
          </p:grpSpPr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E8795406-CF07-453C-B877-326B4BA9D339}"/>
                  </a:ext>
                </a:extLst>
              </p:cNvPr>
              <p:cNvGrpSpPr/>
              <p:nvPr/>
            </p:nvGrpSpPr>
            <p:grpSpPr>
              <a:xfrm>
                <a:off x="3646435" y="3201737"/>
                <a:ext cx="2097588" cy="1451343"/>
                <a:chOff x="3235480" y="3782504"/>
                <a:chExt cx="2745586" cy="1761233"/>
              </a:xfrm>
              <a:solidFill>
                <a:srgbClr val="FF0000"/>
              </a:solidFill>
            </p:grpSpPr>
            <p:sp>
              <p:nvSpPr>
                <p:cNvPr id="224" name="이등변 삼각형 223">
                  <a:extLst>
                    <a:ext uri="{FF2B5EF4-FFF2-40B4-BE49-F238E27FC236}">
                      <a16:creationId xmlns:a16="http://schemas.microsoft.com/office/drawing/2014/main" id="{C2D83158-87C9-4277-9EED-CB5CFA91C9F0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5" name="이등변 삼각형 224">
                  <a:extLst>
                    <a:ext uri="{FF2B5EF4-FFF2-40B4-BE49-F238E27FC236}">
                      <a16:creationId xmlns:a16="http://schemas.microsoft.com/office/drawing/2014/main" id="{EBD24332-F171-44CA-97E6-5789C0110A26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6" name="이등변 삼각형 225">
                  <a:extLst>
                    <a:ext uri="{FF2B5EF4-FFF2-40B4-BE49-F238E27FC236}">
                      <a16:creationId xmlns:a16="http://schemas.microsoft.com/office/drawing/2014/main" id="{109186B2-0B81-4511-916E-253885BD3B5A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7" name="이등변 삼각형 226">
                  <a:extLst>
                    <a:ext uri="{FF2B5EF4-FFF2-40B4-BE49-F238E27FC236}">
                      <a16:creationId xmlns:a16="http://schemas.microsoft.com/office/drawing/2014/main" id="{E3C83945-7A22-464B-B5CC-9FBBCA30482D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8" name="이등변 삼각형 227">
                  <a:extLst>
                    <a:ext uri="{FF2B5EF4-FFF2-40B4-BE49-F238E27FC236}">
                      <a16:creationId xmlns:a16="http://schemas.microsoft.com/office/drawing/2014/main" id="{F9955563-294E-4D1A-A907-0FB5AFB6EA50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9" name="이등변 삼각형 228">
                  <a:extLst>
                    <a:ext uri="{FF2B5EF4-FFF2-40B4-BE49-F238E27FC236}">
                      <a16:creationId xmlns:a16="http://schemas.microsoft.com/office/drawing/2014/main" id="{A6EF4EF0-EC85-48F0-975D-03ABCE540579}"/>
                    </a:ext>
                  </a:extLst>
                </p:cNvPr>
                <p:cNvSpPr/>
                <p:nvPr/>
              </p:nvSpPr>
              <p:spPr>
                <a:xfrm>
                  <a:off x="5367087" y="540113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0" name="이등변 삼각형 229">
                  <a:extLst>
                    <a:ext uri="{FF2B5EF4-FFF2-40B4-BE49-F238E27FC236}">
                      <a16:creationId xmlns:a16="http://schemas.microsoft.com/office/drawing/2014/main" id="{08C83907-5879-4E5A-8F7A-5449CB4C9362}"/>
                    </a:ext>
                  </a:extLst>
                </p:cNvPr>
                <p:cNvSpPr/>
                <p:nvPr/>
              </p:nvSpPr>
              <p:spPr>
                <a:xfrm>
                  <a:off x="3235480" y="453020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C3C43D0D-8EDE-4FB1-8F15-D043CB5D40CA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222" name="직선 화살표 연결선 221">
                  <a:extLst>
                    <a:ext uri="{FF2B5EF4-FFF2-40B4-BE49-F238E27FC236}">
                      <a16:creationId xmlns:a16="http://schemas.microsoft.com/office/drawing/2014/main" id="{C38CF511-FFBB-4611-B9E1-F43B68F334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직선 화살표 연결선 222">
                  <a:extLst>
                    <a:ext uri="{FF2B5EF4-FFF2-40B4-BE49-F238E27FC236}">
                      <a16:creationId xmlns:a16="http://schemas.microsoft.com/office/drawing/2014/main" id="{42EBF26B-86DF-4CE2-9477-6A7BC565A3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4D54DE8B-9779-4BDC-A6CA-AA1F27C0A4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7DA29DA5-D354-42FE-9F67-40381A638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AD29DE1D-83EF-4C2B-94C8-463C562942A9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217" name="직사각형 216">
                  <a:extLst>
                    <a:ext uri="{FF2B5EF4-FFF2-40B4-BE49-F238E27FC236}">
                      <a16:creationId xmlns:a16="http://schemas.microsoft.com/office/drawing/2014/main" id="{60B1F97A-71B9-430C-88C3-513844E0C7A0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8" name="직사각형 217">
                  <a:extLst>
                    <a:ext uri="{FF2B5EF4-FFF2-40B4-BE49-F238E27FC236}">
                      <a16:creationId xmlns:a16="http://schemas.microsoft.com/office/drawing/2014/main" id="{24B8774B-6030-445B-AC04-2753DC2457DA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9" name="직사각형 218">
                  <a:extLst>
                    <a:ext uri="{FF2B5EF4-FFF2-40B4-BE49-F238E27FC236}">
                      <a16:creationId xmlns:a16="http://schemas.microsoft.com/office/drawing/2014/main" id="{F665FE66-82FD-483C-9F47-1DDF5D0BE99E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0" name="직사각형 219">
                  <a:extLst>
                    <a:ext uri="{FF2B5EF4-FFF2-40B4-BE49-F238E27FC236}">
                      <a16:creationId xmlns:a16="http://schemas.microsoft.com/office/drawing/2014/main" id="{4CC87277-9270-4EF8-9E39-9FFA47D57A8C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1" name="직사각형 220">
                  <a:extLst>
                    <a:ext uri="{FF2B5EF4-FFF2-40B4-BE49-F238E27FC236}">
                      <a16:creationId xmlns:a16="http://schemas.microsoft.com/office/drawing/2014/main" id="{6C55C1B5-E27A-4AAC-8CB2-C5C548327770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589B6A68-B493-4348-9117-C470402D99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accent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4" name="직선 화살표 연결선 213">
                <a:extLst>
                  <a:ext uri="{FF2B5EF4-FFF2-40B4-BE49-F238E27FC236}">
                    <a16:creationId xmlns:a16="http://schemas.microsoft.com/office/drawing/2014/main" id="{7F58F532-2422-4EA9-88FC-F3160291B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화살표 연결선 214">
                <a:extLst>
                  <a:ext uri="{FF2B5EF4-FFF2-40B4-BE49-F238E27FC236}">
                    <a16:creationId xmlns:a16="http://schemas.microsoft.com/office/drawing/2014/main" id="{2C2D35ED-544B-4991-B047-8150F4FF3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BE0FA2EF-F416-43F8-85EF-54EF3C1CCB76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cxnSp>
          <p:nvCxnSpPr>
            <p:cNvPr id="203" name="직선 화살표 연결선 202">
              <a:extLst>
                <a:ext uri="{FF2B5EF4-FFF2-40B4-BE49-F238E27FC236}">
                  <a16:creationId xmlns:a16="http://schemas.microsoft.com/office/drawing/2014/main" id="{F71E2934-D39F-44AD-943A-0B678E050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9347" y="3403746"/>
              <a:ext cx="505114" cy="351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B91FC7C1-65E9-4B15-AB46-F50BCBEF7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936" y="4230310"/>
              <a:ext cx="91076" cy="676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5D4AF661-75CB-4D92-B0E9-F0B743C21AA3}"/>
                    </a:ext>
                  </a:extLst>
                </p:cNvPr>
                <p:cNvSpPr txBox="1"/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4A707DA0-FB34-419E-9E47-E4A9A3EF54B7}"/>
                    </a:ext>
                  </a:extLst>
                </p:cNvPr>
                <p:cNvSpPr txBox="1"/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9AE7CD9-43F8-4E82-9C7D-9BA833D99258}"/>
                    </a:ext>
                  </a:extLst>
                </p:cNvPr>
                <p:cNvSpPr txBox="1"/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267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E330-2653-4CB8-A580-CEB3FA9A347C}"/>
              </a:ext>
            </a:extLst>
          </p:cNvPr>
          <p:cNvSpPr txBox="1"/>
          <p:nvPr/>
        </p:nvSpPr>
        <p:spPr>
          <a:xfrm>
            <a:off x="262453" y="1276481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https://sanghyu.tistory.com/7</a:t>
            </a:r>
            <a:endParaRPr lang="en-US" altLang="ko-KR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1FCB-FE60-4A68-ADD5-B801124B5D3A}"/>
              </a:ext>
            </a:extLst>
          </p:cNvPr>
          <p:cNvSpPr txBox="1"/>
          <p:nvPr/>
        </p:nvSpPr>
        <p:spPr>
          <a:xfrm>
            <a:off x="270073" y="1515438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https://ittrue.tistory.com/44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DB084-69BE-4611-ABE1-F98668C1D81F}"/>
              </a:ext>
            </a:extLst>
          </p:cNvPr>
          <p:cNvSpPr txBox="1"/>
          <p:nvPr/>
        </p:nvSpPr>
        <p:spPr>
          <a:xfrm>
            <a:off x="262453" y="1730046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https://excelsior-cjh.tistory.com/66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8685-FDA8-4007-A69F-C9EFA8A52B3F}"/>
              </a:ext>
            </a:extLst>
          </p:cNvPr>
          <p:cNvSpPr txBox="1"/>
          <p:nvPr/>
        </p:nvSpPr>
        <p:spPr>
          <a:xfrm>
            <a:off x="247213" y="1994052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https://angeloyeo.github.io/2020/09/30/SVM.html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F826-7100-4C5E-B75B-EA7D6CA047F7}"/>
              </a:ext>
            </a:extLst>
          </p:cNvPr>
          <p:cNvSpPr txBox="1"/>
          <p:nvPr/>
        </p:nvSpPr>
        <p:spPr>
          <a:xfrm>
            <a:off x="262871" y="2233213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https://ratsgo.github.io/machine%20learning/2017/05/23/SVM/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38E6B-3E59-43F9-B333-8BD672F19FA6}"/>
              </a:ext>
            </a:extLst>
          </p:cNvPr>
          <p:cNvSpPr txBox="1"/>
          <p:nvPr/>
        </p:nvSpPr>
        <p:spPr>
          <a:xfrm>
            <a:off x="262453" y="2454159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https://dsbook.tistory.com/335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59BC2-B68A-45FC-9133-B14545B21245}"/>
              </a:ext>
            </a:extLst>
          </p:cNvPr>
          <p:cNvSpPr txBox="1"/>
          <p:nvPr/>
        </p:nvSpPr>
        <p:spPr>
          <a:xfrm>
            <a:off x="262871" y="2721508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https://www.youtube.com/watch?v=qFg8cDnqYCI&amp;t=721s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71E3-9B1D-4EA8-8204-D4F829B6DC31}"/>
              </a:ext>
            </a:extLst>
          </p:cNvPr>
          <p:cNvSpPr txBox="1"/>
          <p:nvPr/>
        </p:nvSpPr>
        <p:spPr>
          <a:xfrm>
            <a:off x="262871" y="3154075"/>
            <a:ext cx="4617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https://velog.io/@claude_ssim/%EA%B8%B0%EA%B3%84%ED%95%99%EC%8A%B5-Support-Vector-Machine-1-h6u783zd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C2231-3390-4B9B-877B-25AA74ED648A}"/>
              </a:ext>
            </a:extLst>
          </p:cNvPr>
          <p:cNvSpPr txBox="1"/>
          <p:nvPr/>
        </p:nvSpPr>
        <p:spPr>
          <a:xfrm>
            <a:off x="262453" y="3554482"/>
            <a:ext cx="4629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https://slidesplayer.org/slide/16739823/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4B36-EAD7-4C89-84E2-CE6DB63253B1}"/>
              </a:ext>
            </a:extLst>
          </p:cNvPr>
          <p:cNvSpPr txBox="1"/>
          <p:nvPr/>
        </p:nvSpPr>
        <p:spPr>
          <a:xfrm>
            <a:off x="262453" y="3834717"/>
            <a:ext cx="46181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https://velog.io/@shlee0125/%EB%A8%B8%EC%8B%A0%EB%9F%AC%EB%8B%9D-%EC%A0%95%EB%A6%AC-Support-Vector-Machine-05.-Why-does-SVM-maximize-margin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77EE38-9F16-4ECB-8EDC-2CAEBCC4E183}"/>
              </a:ext>
            </a:extLst>
          </p:cNvPr>
          <p:cNvSpPr txBox="1"/>
          <p:nvPr/>
        </p:nvSpPr>
        <p:spPr>
          <a:xfrm>
            <a:off x="262035" y="2918283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https://excelsior-c</a:t>
            </a:r>
            <a:r>
              <a:rPr lang="en-US" altLang="ko-KR" sz="1100" dirty="0"/>
              <a:t>a</a:t>
            </a:r>
            <a:r>
              <a:rPr lang="ko-KR" altLang="en-US" sz="1100" dirty="0" err="1"/>
              <a:t>jh.tistory.com</a:t>
            </a:r>
            <a:r>
              <a:rPr lang="ko-KR" altLang="en-US" sz="1100" dirty="0"/>
              <a:t>/165</a:t>
            </a:r>
          </a:p>
        </p:txBody>
      </p:sp>
    </p:spTree>
    <p:extLst>
      <p:ext uri="{BB962C8B-B14F-4D97-AF65-F5344CB8AC3E}">
        <p14:creationId xmlns:p14="http://schemas.microsoft.com/office/powerpoint/2010/main" val="49662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71450" indent="-171450" algn="l">
          <a:buFont typeface="Arial" panose="020B0604020202020204" pitchFamily="34" charset="0"/>
          <a:buChar char="•"/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Pages>19</Pages>
  <Words>2332</Words>
  <Characters>0</Characters>
  <Application>Microsoft Office PowerPoint</Application>
  <DocSecurity>0</DocSecurity>
  <PresentationFormat>화면 슬라이드 쇼(4:3)</PresentationFormat>
  <Lines>0</Lines>
  <Paragraphs>316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jh</cp:lastModifiedBy>
  <cp:revision>20</cp:revision>
  <dcterms:modified xsi:type="dcterms:W3CDTF">2023-02-08T04:30:21Z</dcterms:modified>
  <cp:version>9.104.131.47063</cp:version>
</cp:coreProperties>
</file>