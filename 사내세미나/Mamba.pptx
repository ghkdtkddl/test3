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9" r:id="rId3"/>
    <p:sldId id="260" r:id="rId4"/>
    <p:sldId id="280" r:id="rId5"/>
    <p:sldId id="261" r:id="rId6"/>
    <p:sldId id="262" r:id="rId7"/>
    <p:sldId id="263" r:id="rId8"/>
    <p:sldId id="264" r:id="rId9"/>
    <p:sldId id="265" r:id="rId10"/>
    <p:sldId id="267" r:id="rId11"/>
    <p:sldId id="266" r:id="rId12"/>
    <p:sldId id="268" r:id="rId13"/>
    <p:sldId id="271" r:id="rId14"/>
    <p:sldId id="272" r:id="rId15"/>
    <p:sldId id="273" r:id="rId16"/>
    <p:sldId id="275" r:id="rId17"/>
    <p:sldId id="257" r:id="rId18"/>
    <p:sldId id="258" r:id="rId19"/>
    <p:sldId id="269" r:id="rId20"/>
    <p:sldId id="274" r:id="rId21"/>
    <p:sldId id="276" r:id="rId22"/>
    <p:sldId id="270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B75C9AE-5FC4-4A87-B856-7E906347534A}">
          <p14:sldIdLst>
            <p14:sldId id="256"/>
          </p14:sldIdLst>
        </p14:section>
        <p14:section name="background" id="{83AD9261-DD2F-44E9-8DA5-0AFD360B97E9}">
          <p14:sldIdLst>
            <p14:sldId id="259"/>
            <p14:sldId id="260"/>
          </p14:sldIdLst>
        </p14:section>
        <p14:section name="mamba" id="{B7C70A79-5FFB-442C-B254-F3124CCCC95E}">
          <p14:sldIdLst>
            <p14:sldId id="280"/>
            <p14:sldId id="261"/>
            <p14:sldId id="262"/>
            <p14:sldId id="263"/>
            <p14:sldId id="264"/>
            <p14:sldId id="265"/>
            <p14:sldId id="267"/>
            <p14:sldId id="266"/>
            <p14:sldId id="268"/>
            <p14:sldId id="271"/>
            <p14:sldId id="272"/>
            <p14:sldId id="273"/>
            <p14:sldId id="275"/>
            <p14:sldId id="257"/>
            <p14:sldId id="258"/>
            <p14:sldId id="269"/>
            <p14:sldId id="274"/>
            <p14:sldId id="276"/>
          </p14:sldIdLst>
        </p14:section>
        <p14:section name="flas-attention" id="{548335D5-9C09-4CAB-AD7F-B5AF28464D12}">
          <p14:sldIdLst>
            <p14:sldId id="270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00" autoAdjust="0"/>
  </p:normalViewPr>
  <p:slideViewPr>
    <p:cSldViewPr snapToGrid="0">
      <p:cViewPr varScale="1">
        <p:scale>
          <a:sx n="105" d="100"/>
          <a:sy n="105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52019-E918-46F0-9059-158B0A30112D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793FC0-6E07-47E6-9000-6C188B1490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394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https://taewan2002.medium.com/sequence-modeling-with-state-space-models-a621249c9489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93FC0-6E07-47E6-9000-6C188B14906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48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https://taewan2002.medium.com/sequence-modeling-with-state-space-models-a621249c9489</a:t>
            </a:r>
            <a:endParaRPr lang="ko-KR" altLang="en-US"/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93FC0-6E07-47E6-9000-6C188B14906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900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https://newsletter.maartengrootendorst.com/p/a-visual-guide-to-mamba-and-state </a:t>
            </a:r>
            <a:r>
              <a:rPr lang="ko-KR" altLang="en-US"/>
              <a:t>이거 보고 수정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93FC0-6E07-47E6-9000-6C188B14906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515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https://taewan2002.medium.com/mamba-%EC%83%88%EB%A1%9C%EC%9A%B4-%EC%95%84%ED%82%A4%ED%85%8D%EC%B2%98%EC%9D%98-%EB%93%B1%EC%9E%A5-d315f764ea16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93FC0-6E07-47E6-9000-6C188B14906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52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https://taewan2002.medium.com/mamba-%EC%83%88%EB%A1%9C%EC%9A%B4-%EC%95%84%ED%82%A4%ED%85%8D%EC%B2%98%EC%9D%98-%EB%93%B1%EC%9E%A5-d315f764ea16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93FC0-6E07-47E6-9000-6C188B14906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0441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https://taewan2002.medium.com/mamba-%EC%83%88%EB%A1%9C%EC%9A%B4-%EC%95%84%ED%82%A4%ED%85%8D%EC%B2%98%EC%9D%98-%EB%93%B1%EC%9E%A5-d315f764ea16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93FC0-6E07-47E6-9000-6C188B14906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854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https://taewan2002.medium.com/mamba-%EC%83%88%EB%A1%9C%EC%9A%B4-%EC%95%84%ED%82%A4%ED%85%8D%EC%B2%98%EC%9D%98-%EB%93%B1%EC%9E%A5-d315f764ea16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93FC0-6E07-47E6-9000-6C188B14906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7422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https://taewan2002.medium.com/mamba-%EC%83%88%EB%A1%9C%EC%9A%B4-%EC%95%84%ED%82%A4%ED%85%8D%EC%B2%98%EC%9D%98-%EB%93%B1%EC%9E%A5-d315f764ea16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93FC0-6E07-47E6-9000-6C188B14906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6729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https://taewan2002.medium.com/mamba-%EC%83%88%EB%A1%9C%EC%9A%B4-%EC%95%84%ED%82%A4%ED%85%8D%EC%B2%98%EC%9D%98-%EB%93%B1%EC%9E%A5-d315f764ea16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93FC0-6E07-47E6-9000-6C188B14906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924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https://taewan2002.medium.com/mamba-%EC%83%88%EB%A1%9C%EC%9A%B4-%EC%95%84%ED%82%A4%ED%85%8D%EC%B2%98%EC%9D%98-%EB%93%B1%EC%9E%A5-d315f764ea16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93FC0-6E07-47E6-9000-6C188B14906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415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https://www.youtube.com/watch?v=N6Piou4oYx8&amp;t=10s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93FC0-6E07-47E6-9000-6C188B14906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3896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https://minyoungxi.tistory.com/120?category=1117064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93FC0-6E07-47E6-9000-6C188B14906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587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https://arxiv.org/abs/2205.14135?utm_source=chatgpt.com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793FC0-6E07-47E6-9000-6C188B149068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766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8D5D1B-C23E-40BB-A062-1BA096760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604FBD-BD72-4031-A0DF-E4558BBF86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23EA7E-ADE2-4A64-8CA4-58141E6D1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0BDB1-B46D-4F4F-B9A2-9C6FCE181319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33E162-BCDB-4A7B-8AF2-187DA168F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C444E6-7742-4D55-B1E9-285ADA352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76E0-0ECF-4861-BDCC-0567E60483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727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EF28E6-CBF8-4BC0-8DB4-692167D98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CD989C-F58F-42F7-8681-1E4608421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6FFE21-5876-44E9-A49A-6ED18799D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0BDB1-B46D-4F4F-B9A2-9C6FCE181319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CAB608-C54F-46C2-900E-E2F08844F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DE1D2C-22EE-4536-A286-7DF941AD1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76E0-0ECF-4861-BDCC-0567E60483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805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067F4-3839-476C-AF53-12196B887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C3115F-FD70-4CD7-9CCD-90B339895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C715B9-6E73-4AC1-9874-9307F6479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0BDB1-B46D-4F4F-B9A2-9C6FCE181319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0A61CF-9C5E-4494-BD60-73523B805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7DD2CA-8A5C-4AD6-ABC2-7BE3A3441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76E0-0ECF-4861-BDCC-0567E60483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3167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DB906B-A3AB-4D53-883B-EC56AB45F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C53F69-B7BA-4334-A5AB-A9AAE5676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2E8F39-894E-4181-B911-DA4221E4D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7BE90FB-1AD2-42D5-8BC3-0254F5466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0BDB1-B46D-4F4F-B9A2-9C6FCE181319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2EA92D-B698-4C91-BA07-894ACB39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04A3A76-1E60-49E7-A378-494C5039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76E0-0ECF-4861-BDCC-0567E60483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7331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0B8A9-9955-4F91-BC1C-2AA379E60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26CA40-011B-47B0-A1A7-CBAF0BEA0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C2C494-71D2-44CA-BAA9-1EFE58726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1968AF-E363-4A8B-B003-1A422B700B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7E83BB1-0EA9-4498-8C9F-3524DE7B82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8FF4B0-2152-42B7-A496-25752A11B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0BDB1-B46D-4F4F-B9A2-9C6FCE181319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0DCCAD-2A83-4E9A-8EBC-FEE244366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5CADD3-936C-45DC-8CFA-0497D1C56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76E0-0ECF-4861-BDCC-0567E60483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564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7670E2-C06B-4C75-BF08-C4D29A4FD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1611652-2612-4140-A59C-A7FCB4B35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0BDB1-B46D-4F4F-B9A2-9C6FCE181319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464A7E-4582-40E8-B37F-08F9110EA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B19157-8D88-4D12-A76F-46D810508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76E0-0ECF-4861-BDCC-0567E60483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791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2037DB-DE55-4E0A-B1EC-6FAEE1FC2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0BDB1-B46D-4F4F-B9A2-9C6FCE181319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30498C-08B0-4D58-A3B3-BD35E27BE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F4265C-9D3B-4C39-B949-EFBE13A00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76E0-0ECF-4861-BDCC-0567E60483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997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CFE923-CA56-412B-A266-0B997890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B89649-5241-4469-9E14-D2AB95919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1FFCE94-E29B-4CE7-9B87-41B64FAFD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A4C9C7-DBB8-453B-A3D5-44C363A4C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0BDB1-B46D-4F4F-B9A2-9C6FCE181319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98187D-6970-48DE-A61A-E4391636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98928C-F44A-41E7-A373-A8BFB530F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76E0-0ECF-4861-BDCC-0567E60483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127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7D31D7-837F-453D-9A7E-8245D4CBA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0EFA9D3-54C5-49EA-9921-6D234B206C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7D6C4E-3B56-4115-BCA5-2F0985DCC2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C10E65-8B7A-4A4C-8619-49907F283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0BDB1-B46D-4F4F-B9A2-9C6FCE181319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DDD7FA-89F5-4FBB-AD8B-B309B734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65FF05-894E-4C4F-8D2A-9227C940A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76E0-0ECF-4861-BDCC-0567E60483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80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E7308-5DC1-4F22-9643-103E3453C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386DCA-856D-43BD-B142-7640AE727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2EC002-6798-4822-B458-044A685F3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0BDB1-B46D-4F4F-B9A2-9C6FCE181319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F92632-E18C-422C-A8DA-B13BC185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314D5C-BDD8-4304-BA94-C00248BD2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76E0-0ECF-4861-BDCC-0567E60483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153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E9060E-900D-4191-86E7-E12DD230C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F38C6E-A7B8-454C-AE94-4BE13BF2F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9DDFCD-AD21-4E37-8618-D031DF487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0BDB1-B46D-4F4F-B9A2-9C6FCE181319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4A965D-03B7-4DFB-A946-E53E687D0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D210E3-A985-4CBA-8509-085049C6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76E0-0ECF-4861-BDCC-0567E60483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56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13BD91-3853-4674-8E0E-3AA815B27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9A1DF3-F9DF-459E-B176-A937E1F76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6D9661-53F8-4BAF-84D4-C198FBB528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E0BDB1-B46D-4F4F-B9A2-9C6FCE181319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66D6DD-275D-49A0-9B95-7001306933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EFB958-A6FF-4EDC-9507-FF3BEDEF1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676E0-0ECF-4861-BDCC-0567E60483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132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hyperlink" Target="https://newsletter.maartengrootendorst.com/p/a-visual-guide-to-mamba-and-state" TargetMode="External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hyperlink" Target="https://velog.io/@euisuk-chung/%ED%8A%B8%EB%A0%8C%EB%93%9C-%ED%8A%B8%EB%A0%8C%EC%8A%A4%ED%8F%AC%EB%A8%B8-%EC%9D%B4%ED%9B%84%EC%9D%98-%EC%B0%A8%EC%84%B8%EB%8C%80-%EC%95%84%ED%82%A4%ED%85%8D%EC%B3%90-MoE-SSM-RetNet-V-JEPA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624506-A3FA-4373-A370-EEBA12FCDE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Mamba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76F8CE-58A3-4133-B747-DD54E85618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F6C571-F8EF-4005-91E2-C89DA1CBA5E5}"/>
              </a:ext>
            </a:extLst>
          </p:cNvPr>
          <p:cNvSpPr/>
          <p:nvPr/>
        </p:nvSpPr>
        <p:spPr>
          <a:xfrm>
            <a:off x="-512064" y="570167"/>
            <a:ext cx="7973568" cy="5879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https://nanunzoey.tistory.com/entry/%EC%9D%B4%EB%AF%B8%EC%A7%80-%EC%9D%B8%EC%BD%94%EB%94%A9-%EB%94%94%EC%BD%94%EB%94%A9?category=958234</a:t>
            </a:r>
          </a:p>
          <a:p>
            <a:pPr algn="ctr"/>
            <a:r>
              <a:rPr lang="en-US" altLang="ko-KR" sz="1200"/>
              <a:t>=&gt; </a:t>
            </a:r>
            <a:r>
              <a:rPr lang="ko-KR" altLang="en-US" sz="1200"/>
              <a:t>이미지 인코딩과 디코딩 과정</a:t>
            </a:r>
          </a:p>
          <a:p>
            <a:pPr algn="ctr"/>
            <a:endParaRPr lang="ko-KR" altLang="en-US" sz="1200"/>
          </a:p>
          <a:p>
            <a:pPr algn="ctr"/>
            <a:r>
              <a:rPr lang="en-US" altLang="ko-KR" sz="1200"/>
              <a:t>https://mattmazur.com/2015/03/17/a-step-by-step-backpropagation-example/</a:t>
            </a:r>
          </a:p>
          <a:p>
            <a:pPr algn="ctr"/>
            <a:r>
              <a:rPr lang="en-US" altLang="ko-KR" sz="1200"/>
              <a:t>=&gt; </a:t>
            </a:r>
            <a:r>
              <a:rPr lang="ko-KR" altLang="en-US" sz="1200"/>
              <a:t>역전파 계산</a:t>
            </a:r>
          </a:p>
          <a:p>
            <a:pPr algn="ctr"/>
            <a:endParaRPr lang="ko-KR" altLang="en-US" sz="1200"/>
          </a:p>
          <a:p>
            <a:pPr algn="ctr"/>
            <a:r>
              <a:rPr lang="en-US" altLang="ko-KR" sz="1200"/>
              <a:t>https://ffighting.net/deep-learning-basic/%EB%94%A5%EB%9F%AC%EB%8B%9D-%ED%95%B5%EC%8B%AC-%EA%B0%9C%EB%85%90/backpropagation/</a:t>
            </a:r>
          </a:p>
          <a:p>
            <a:pPr algn="ctr"/>
            <a:r>
              <a:rPr lang="en-US" altLang="ko-KR" sz="1200"/>
              <a:t>=&gt; </a:t>
            </a:r>
            <a:r>
              <a:rPr lang="ko-KR" altLang="en-US" sz="1200"/>
              <a:t>역전파 이점</a:t>
            </a:r>
          </a:p>
          <a:p>
            <a:pPr algn="ctr"/>
            <a:endParaRPr lang="ko-KR" altLang="en-US" sz="1200"/>
          </a:p>
          <a:p>
            <a:pPr algn="ctr"/>
            <a:r>
              <a:rPr lang="en-US" altLang="ko-KR" sz="1200"/>
              <a:t>https://ffighting.net/deep-learning-paper-review/diffusion-model/diffusion-model-basic/</a:t>
            </a:r>
          </a:p>
          <a:p>
            <a:pPr algn="ctr"/>
            <a:r>
              <a:rPr lang="en-US" altLang="ko-KR" sz="1200"/>
              <a:t>=&gt; </a:t>
            </a:r>
            <a:r>
              <a:rPr lang="ko-KR" altLang="en-US" sz="1200"/>
              <a:t>디퓨전 모델</a:t>
            </a:r>
          </a:p>
          <a:p>
            <a:pPr algn="ctr"/>
            <a:r>
              <a:rPr lang="en-US" altLang="ko-KR" sz="1200"/>
              <a:t>------------------------------------</a:t>
            </a:r>
          </a:p>
          <a:p>
            <a:pPr algn="ctr"/>
            <a:r>
              <a:rPr lang="en-US" altLang="ko-KR" sz="1200"/>
              <a:t>Mamba</a:t>
            </a:r>
          </a:p>
          <a:p>
            <a:pPr algn="ctr"/>
            <a:r>
              <a:rPr lang="en-US" altLang="ko-KR" sz="1200"/>
              <a:t>https://minyoungxi.tistory.com/118?category=1117064</a:t>
            </a:r>
          </a:p>
          <a:p>
            <a:pPr algn="ctr"/>
            <a:r>
              <a:rPr lang="en-US" altLang="ko-KR" sz="1200"/>
              <a:t>- mamba </a:t>
            </a:r>
            <a:r>
              <a:rPr lang="ko-KR" altLang="en-US" sz="1200"/>
              <a:t>논문</a:t>
            </a:r>
          </a:p>
          <a:p>
            <a:pPr algn="ctr"/>
            <a:endParaRPr lang="ko-KR" altLang="en-US" sz="1200"/>
          </a:p>
          <a:p>
            <a:pPr algn="ctr"/>
            <a:r>
              <a:rPr lang="en-US" altLang="ko-KR" sz="1200"/>
              <a:t>https://minyoungxi.tistory.com/120?category=1117064</a:t>
            </a:r>
          </a:p>
          <a:p>
            <a:pPr algn="ctr"/>
            <a:r>
              <a:rPr lang="en-US" altLang="ko-KR" sz="1200"/>
              <a:t>- SSS</a:t>
            </a:r>
            <a:r>
              <a:rPr lang="ko-KR" altLang="en-US" sz="1200"/>
              <a:t>에 대해 설명하면서</a:t>
            </a:r>
            <a:r>
              <a:rPr lang="en-US" altLang="ko-KR" sz="1200"/>
              <a:t>, </a:t>
            </a:r>
            <a:r>
              <a:rPr lang="ko-KR" altLang="en-US" sz="1200"/>
              <a:t>트랜스포머의 단점을 말함 참고하여 작성</a:t>
            </a:r>
          </a:p>
          <a:p>
            <a:pPr algn="ctr"/>
            <a:endParaRPr lang="ko-KR" altLang="en-US" sz="1200"/>
          </a:p>
          <a:p>
            <a:pPr algn="ctr"/>
            <a:r>
              <a:rPr lang="en-US" altLang="ko-KR" sz="1200"/>
              <a:t>https://taewan2002.medium.com/mamba-%EC%83%88%EB%A1%9C%EC%9A%B4-%EC%95%84%ED%82%A4%ED%85%8D%EC%B2%98%EC%9D%98-%EB%93%B1%EC%9E%A5-d315f764ea16</a:t>
            </a:r>
          </a:p>
          <a:p>
            <a:pPr algn="ctr"/>
            <a:r>
              <a:rPr lang="en-US" altLang="ko-KR" sz="1200"/>
              <a:t>- mamba </a:t>
            </a:r>
            <a:r>
              <a:rPr lang="ko-KR" altLang="en-US" sz="1200"/>
              <a:t>논문 내용 정리</a:t>
            </a:r>
          </a:p>
          <a:p>
            <a:pPr algn="ctr"/>
            <a:r>
              <a:rPr lang="en-US" altLang="ko-KR" sz="1200"/>
              <a:t>https://docs.google.com/presentation/d/1FswvobKe854DhW0bDanmO83ZpVuT3P8gxrELkV6twUE/edit#slide=id.g28aaf3ebb23_0_41</a:t>
            </a:r>
          </a:p>
          <a:p>
            <a:pPr algn="ctr"/>
            <a:r>
              <a:rPr lang="en-US" altLang="ko-KR" sz="1200"/>
              <a:t>- mamba ppt</a:t>
            </a:r>
          </a:p>
          <a:p>
            <a:pPr algn="ctr"/>
            <a:endParaRPr lang="en-US" altLang="ko-KR" sz="1200"/>
          </a:p>
          <a:p>
            <a:pPr algn="ctr"/>
            <a:endParaRPr lang="ko-KR" altLang="en-US" sz="12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C6F9E80-A76E-44B2-89D2-27E4477DFE08}"/>
              </a:ext>
            </a:extLst>
          </p:cNvPr>
          <p:cNvSpPr/>
          <p:nvPr/>
        </p:nvSpPr>
        <p:spPr>
          <a:xfrm>
            <a:off x="4730496" y="570167"/>
            <a:ext cx="7973568" cy="5879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https://newsletter.maartengrootendorst.com/p/a-visual-guide-to-mamba-and-state</a:t>
            </a:r>
          </a:p>
          <a:p>
            <a:pPr algn="ctr"/>
            <a:r>
              <a:rPr lang="en-US" altLang="ko-KR" sz="1200"/>
              <a:t>- </a:t>
            </a:r>
            <a:r>
              <a:rPr lang="ko-KR" altLang="en-US" sz="1200"/>
              <a:t>참고하면 좋음</a:t>
            </a:r>
          </a:p>
          <a:p>
            <a:pPr algn="ctr"/>
            <a:endParaRPr lang="ko-KR" altLang="en-US" sz="1200"/>
          </a:p>
          <a:p>
            <a:pPr algn="ctr"/>
            <a:r>
              <a:rPr lang="en-US" altLang="ko-KR" sz="1200"/>
              <a:t>https://minyoungxi.tistory.com/118</a:t>
            </a:r>
          </a:p>
          <a:p>
            <a:pPr algn="ctr"/>
            <a:r>
              <a:rPr lang="en-US" altLang="ko-KR" sz="1200"/>
              <a:t>- </a:t>
            </a:r>
            <a:r>
              <a:rPr lang="ko-KR" altLang="en-US" sz="1200"/>
              <a:t>수식 설명</a:t>
            </a:r>
            <a:r>
              <a:rPr lang="en-US" altLang="ko-KR" sz="1200"/>
              <a:t>( </a:t>
            </a:r>
            <a:r>
              <a:rPr lang="ko-KR" altLang="en-US" sz="1200"/>
              <a:t>자세히 작성함</a:t>
            </a:r>
            <a:r>
              <a:rPr lang="en-US" altLang="ko-KR" sz="1200"/>
              <a:t>)</a:t>
            </a:r>
          </a:p>
          <a:p>
            <a:pPr algn="ctr"/>
            <a:r>
              <a:rPr lang="en-US" altLang="ko-KR" sz="1200"/>
              <a:t> </a:t>
            </a:r>
          </a:p>
          <a:p>
            <a:pPr algn="ctr"/>
            <a:r>
              <a:rPr lang="en-US" altLang="ko-KR" sz="1200"/>
              <a:t>https://www.youtube.com/watch?v=g1AqUhP00Do</a:t>
            </a:r>
          </a:p>
          <a:p>
            <a:pPr algn="ctr"/>
            <a:r>
              <a:rPr lang="en-US" altLang="ko-KR" sz="1200"/>
              <a:t>- State Space Models </a:t>
            </a:r>
            <a:r>
              <a:rPr lang="ko-KR" altLang="en-US" sz="1200"/>
              <a:t>내용</a:t>
            </a:r>
            <a:r>
              <a:rPr lang="en-US" altLang="ko-KR" sz="1200"/>
              <a:t>(</a:t>
            </a:r>
            <a:r>
              <a:rPr lang="ko-KR" altLang="en-US" sz="1200"/>
              <a:t>언어</a:t>
            </a:r>
            <a:r>
              <a:rPr lang="en-US" altLang="ko-KR" sz="1200"/>
              <a:t>, </a:t>
            </a:r>
            <a:r>
              <a:rPr lang="ko-KR" altLang="en-US" sz="1200"/>
              <a:t>이미지 적용 예시</a:t>
            </a:r>
            <a:r>
              <a:rPr lang="en-US" altLang="ko-KR" sz="1200"/>
              <a:t>)</a:t>
            </a:r>
          </a:p>
          <a:p>
            <a:pPr algn="ctr"/>
            <a:endParaRPr lang="en-US" altLang="ko-KR" sz="1200"/>
          </a:p>
          <a:p>
            <a:pPr algn="ctr"/>
            <a:r>
              <a:rPr lang="en-US" altLang="ko-KR" sz="1200"/>
              <a:t>https://www.youtube.com/watch?v=vrF3MtGwD0Y</a:t>
            </a:r>
          </a:p>
          <a:p>
            <a:pPr algn="ctr"/>
            <a:r>
              <a:rPr lang="en-US" altLang="ko-KR" sz="1200"/>
              <a:t>- </a:t>
            </a:r>
            <a:r>
              <a:rPr lang="ko-KR" altLang="en-US" sz="1200"/>
              <a:t>수식 직관적으로 애니메이션화 이해하기 좋음</a:t>
            </a:r>
          </a:p>
          <a:p>
            <a:pPr algn="ctr"/>
            <a:endParaRPr lang="ko-KR" altLang="en-US" sz="1200"/>
          </a:p>
          <a:p>
            <a:pPr algn="ctr"/>
            <a:r>
              <a:rPr lang="en-US" altLang="ko-KR" sz="1200"/>
              <a:t>https://www.youtube.com/watch?v=N6Piou4oYx8&amp;t=10s</a:t>
            </a:r>
          </a:p>
          <a:p>
            <a:pPr algn="ctr"/>
            <a:r>
              <a:rPr lang="en-US" altLang="ko-KR" sz="1200"/>
              <a:t>- </a:t>
            </a:r>
            <a:r>
              <a:rPr lang="ko-KR" altLang="en-US" sz="1200"/>
              <a:t>수식 애니메이션</a:t>
            </a:r>
            <a:r>
              <a:rPr lang="en-US" altLang="ko-KR" sz="1200"/>
              <a:t>..(mamba</a:t>
            </a:r>
            <a:r>
              <a:rPr lang="ko-KR" altLang="en-US" sz="1200"/>
              <a:t>에 대한 시퀀스 정리 잘됨</a:t>
            </a:r>
            <a:r>
              <a:rPr lang="en-US" altLang="ko-KR" sz="1200"/>
              <a:t>)</a:t>
            </a:r>
          </a:p>
          <a:p>
            <a:pPr algn="ctr"/>
            <a:endParaRPr lang="en-US" altLang="ko-KR" sz="1200"/>
          </a:p>
          <a:p>
            <a:pPr algn="ctr"/>
            <a:r>
              <a:rPr lang="en-US" altLang="ko-KR" sz="1200"/>
              <a:t>https://junia3.github.io/blog/lssl</a:t>
            </a:r>
          </a:p>
          <a:p>
            <a:pPr algn="ctr"/>
            <a:r>
              <a:rPr lang="en-US" altLang="ko-KR" sz="1200"/>
              <a:t>- </a:t>
            </a:r>
            <a:r>
              <a:rPr lang="ko-KR" altLang="en-US" sz="1200"/>
              <a:t>블로그 전체 보기 좋은 개념들이 많음</a:t>
            </a:r>
          </a:p>
        </p:txBody>
      </p:sp>
    </p:spTree>
    <p:extLst>
      <p:ext uri="{BB962C8B-B14F-4D97-AF65-F5344CB8AC3E}">
        <p14:creationId xmlns:p14="http://schemas.microsoft.com/office/powerpoint/2010/main" val="2397630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AE5777-C2FE-435A-B7DF-3E723CBC8FDB}"/>
              </a:ext>
            </a:extLst>
          </p:cNvPr>
          <p:cNvSpPr txBox="1"/>
          <p:nvPr/>
        </p:nvSpPr>
        <p:spPr>
          <a:xfrm>
            <a:off x="418770" y="168923"/>
            <a:ext cx="10739534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딥 시퀀스 모델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순차적인 데이터를 처리하고 분석하는데 특화된 딥러닝 모델</a:t>
            </a:r>
            <a:r>
              <a:rPr lang="en-US" altLang="ko-KR"/>
              <a:t>, </a:t>
            </a:r>
            <a:r>
              <a:rPr lang="ko-KR" altLang="en-US"/>
              <a:t>일반적으로 자연어</a:t>
            </a:r>
            <a:r>
              <a:rPr lang="en-US" altLang="ko-KR"/>
              <a:t>, </a:t>
            </a:r>
            <a:r>
              <a:rPr lang="ko-KR" altLang="en-US"/>
              <a:t>음성</a:t>
            </a:r>
            <a:r>
              <a:rPr lang="en-US" altLang="ko-KR"/>
              <a:t>, </a:t>
            </a:r>
            <a:r>
              <a:rPr lang="ko-KR" altLang="en-US"/>
              <a:t>시계열 예측 등 다양한 분야 활용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RNN, CNN, Transformer </a:t>
            </a:r>
            <a:r>
              <a:rPr lang="ko-KR" altLang="en-US"/>
              <a:t>등 대표적인 딥 시퀀스 모델</a:t>
            </a:r>
            <a:br>
              <a:rPr lang="en-US" altLang="ko-KR"/>
            </a:br>
            <a:r>
              <a:rPr lang="en-US" altLang="ko-KR"/>
              <a:t>RNN</a:t>
            </a:r>
            <a:r>
              <a:rPr lang="ko-KR" altLang="en-US"/>
              <a:t>은 순차 데이터 처리에 효과적이지만 학습 속도 느림</a:t>
            </a:r>
            <a:br>
              <a:rPr lang="en-US" altLang="ko-KR"/>
            </a:br>
            <a:r>
              <a:rPr lang="en-US" altLang="ko-KR">
                <a:solidFill>
                  <a:srgbClr val="FF0000"/>
                </a:solidFill>
              </a:rPr>
              <a:t>Transformer</a:t>
            </a:r>
            <a:r>
              <a:rPr lang="ko-KR" altLang="en-US">
                <a:solidFill>
                  <a:srgbClr val="FF0000"/>
                </a:solidFill>
              </a:rPr>
              <a:t>는 장거리 의존성을 모델링하는데 뛰어나지만 계산 비용 많이듦</a:t>
            </a:r>
            <a:endParaRPr lang="en-US" altLang="ko-KR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/>
              <a:t>딥 시퀀스 모델의 문제점은 범용성</a:t>
            </a:r>
            <a:r>
              <a:rPr lang="en-US" altLang="ko-KR"/>
              <a:t>, </a:t>
            </a:r>
            <a:r>
              <a:rPr lang="ko-KR" altLang="en-US"/>
              <a:t>계산 효율성</a:t>
            </a:r>
            <a:r>
              <a:rPr lang="en-US" altLang="ko-KR"/>
              <a:t>, </a:t>
            </a:r>
            <a:r>
              <a:rPr lang="ko-KR" altLang="en-US"/>
              <a:t>장거리 의존성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트랜스포머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현재 가장 많이 사용되는 모델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트랜스포머는 </a:t>
            </a:r>
            <a:r>
              <a:rPr lang="en-US" altLang="ko-KR"/>
              <a:t>attention </a:t>
            </a:r>
            <a:r>
              <a:rPr lang="ko-KR" altLang="en-US"/>
              <a:t>기법을 통해 일반적으로 장거리 종속성</a:t>
            </a:r>
            <a:br>
              <a:rPr lang="en-US" altLang="ko-KR"/>
            </a:br>
            <a:r>
              <a:rPr lang="ko-KR" altLang="en-US"/>
              <a:t>개선했지만</a:t>
            </a:r>
            <a:r>
              <a:rPr lang="en-US" altLang="ko-KR"/>
              <a:t>, </a:t>
            </a:r>
            <a:r>
              <a:rPr lang="ko-KR" altLang="en-US"/>
              <a:t>긴 텍스트와 같은 맥락에서 확장이 안되는 문제있음</a:t>
            </a:r>
            <a:br>
              <a:rPr lang="en-US" altLang="ko-KR"/>
            </a:br>
            <a:r>
              <a:rPr lang="en-US" altLang="ko-KR"/>
              <a:t>=&gt; self-attention </a:t>
            </a:r>
            <a:r>
              <a:rPr lang="ko-KR" altLang="en-US"/>
              <a:t>때문에 입력 시퀀스의 모든 토큰 쌍이 상호작용</a:t>
            </a:r>
            <a:br>
              <a:rPr lang="en-US" altLang="ko-KR"/>
            </a:br>
            <a:r>
              <a:rPr lang="ko-KR" altLang="en-US"/>
              <a:t>을 계산해야한다</a:t>
            </a:r>
            <a:r>
              <a:rPr lang="en-US" altLang="ko-KR"/>
              <a:t>. </a:t>
            </a:r>
            <a:r>
              <a:rPr lang="ko-KR" altLang="en-US"/>
              <a:t>따라서</a:t>
            </a:r>
            <a:r>
              <a:rPr lang="en-US" altLang="ko-KR"/>
              <a:t>, </a:t>
            </a:r>
            <a:r>
              <a:rPr lang="ko-KR" altLang="en-US"/>
              <a:t>입력 시퀀스가 길어질수록 연산량과 메</a:t>
            </a:r>
            <a:br>
              <a:rPr lang="en-US" altLang="ko-KR"/>
            </a:br>
            <a:r>
              <a:rPr lang="ko-KR" altLang="en-US"/>
              <a:t>모리 살용량이 증가됨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State Space Models(SSM)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1</a:t>
            </a:r>
            <a:r>
              <a:rPr lang="ko-KR" altLang="en-US"/>
              <a:t>차원 </a:t>
            </a:r>
            <a:r>
              <a:rPr lang="en-US" altLang="ko-KR"/>
              <a:t>input</a:t>
            </a:r>
            <a:r>
              <a:rPr lang="ko-KR" altLang="en-US"/>
              <a:t>을 입력 받아 매핑 후 </a:t>
            </a:r>
            <a:r>
              <a:rPr lang="en-US" altLang="ko-KR"/>
              <a:t>1</a:t>
            </a:r>
            <a:r>
              <a:rPr lang="ko-KR" altLang="en-US"/>
              <a:t>차원으로 출력 보냄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SSM</a:t>
            </a:r>
            <a:r>
              <a:rPr lang="ko-KR" altLang="en-US"/>
              <a:t>은 긴 시퀀스 효율적으로 모델링하며</a:t>
            </a:r>
            <a:r>
              <a:rPr lang="en-US" altLang="ko-KR"/>
              <a:t>, </a:t>
            </a:r>
            <a:r>
              <a:rPr lang="ko-KR" altLang="en-US"/>
              <a:t>트랜스포머와 달리 메모리 </a:t>
            </a:r>
            <a:br>
              <a:rPr lang="en-US" altLang="ko-KR"/>
            </a:br>
            <a:r>
              <a:rPr lang="ko-KR" altLang="en-US"/>
              <a:t>계산 자원을 덜 소모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병렬화 가능한 훈련</a:t>
            </a:r>
            <a:r>
              <a:rPr lang="en-US" altLang="ko-KR"/>
              <a:t>(Convolution</a:t>
            </a:r>
            <a:r>
              <a:rPr lang="ko-KR" altLang="en-US"/>
              <a:t>을 활용하여 </a:t>
            </a:r>
            <a:r>
              <a:rPr lang="en-US" altLang="ko-KR"/>
              <a:t>RNN </a:t>
            </a:r>
            <a:r>
              <a:rPr lang="ko-KR" altLang="en-US"/>
              <a:t>단점 극복</a:t>
            </a:r>
            <a:r>
              <a:rPr lang="en-US" altLang="ko-KR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빠른 추론</a:t>
            </a:r>
            <a:r>
              <a:rPr lang="en-US" altLang="ko-KR"/>
              <a:t>(RNN </a:t>
            </a:r>
            <a:r>
              <a:rPr lang="ko-KR" altLang="en-US"/>
              <a:t>장점</a:t>
            </a:r>
            <a:r>
              <a:rPr lang="en-US" altLang="ko-KR"/>
              <a:t>) </a:t>
            </a:r>
            <a:r>
              <a:rPr lang="ko-KR" altLang="en-US"/>
              <a:t>가능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100</a:t>
            </a:r>
            <a:r>
              <a:rPr lang="ko-KR" altLang="en-US"/>
              <a:t>만 토큰 이상 처리할 수 있으면 트랜스포머와 성능 비슷</a:t>
            </a:r>
            <a:endParaRPr lang="en-US" altLang="ko-KR"/>
          </a:p>
          <a:p>
            <a:pPr marL="285750" indent="-285750">
              <a:buFontTx/>
              <a:buChar char="-"/>
            </a:pPr>
            <a:endParaRPr lang="en-US" altLang="ko-KR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E8E693B-807F-4B47-8BF1-6419D17E1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782" y="2292582"/>
            <a:ext cx="3845212" cy="203132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EF9D2D0-7667-4420-BBE2-487FA0311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1701" y="4929314"/>
            <a:ext cx="4035786" cy="180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571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C69CC5-20B2-4DC7-8B49-3383D349DBC6}"/>
                  </a:ext>
                </a:extLst>
              </p:cNvPr>
              <p:cNvSpPr txBox="1"/>
              <p:nvPr/>
            </p:nvSpPr>
            <p:spPr>
              <a:xfrm>
                <a:off x="240263" y="237845"/>
                <a:ext cx="10956471" cy="45243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/>
                  <a:t>연속 모델</a:t>
                </a:r>
                <a:r>
                  <a:rPr lang="en-US" altLang="ko-KR"/>
                  <a:t>(Continuous Model)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/>
                  <a:t>SSSM</a:t>
                </a:r>
                <a:r>
                  <a:rPr lang="ko-KR" altLang="en-US"/>
                  <a:t>은 </a:t>
                </a:r>
                <a:r>
                  <a:rPr lang="en-US" altLang="ko-KR"/>
                  <a:t>SSM(A,B,C)</a:t>
                </a:r>
                <a:r>
                  <a:rPr lang="ko-KR" altLang="en-US"/>
                  <a:t>의 시간 척도 매개변수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이산화</a:t>
                </a:r>
                <a:r>
                  <a:rPr lang="en-US" altLang="ko-KR"/>
                  <a:t>(</a:t>
                </a:r>
                <a:r>
                  <a:rPr lang="ko-KR" altLang="en-US"/>
                  <a:t>연속적인 데이터를 불연속적인 데이터로 변환</a:t>
                </a:r>
                <a:r>
                  <a:rPr lang="en-US" altLang="ko-KR"/>
                  <a:t>)</a:t>
                </a:r>
                <a:r>
                  <a:rPr lang="ko-KR" altLang="en-US"/>
                  <a:t>하여 정의되는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p>
                    </m:sSup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매핑이다</a:t>
                </a:r>
                <a:r>
                  <a:rPr lang="en-US" altLang="ko-KR"/>
                  <a:t>.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암시적 연속 모델로</a:t>
                </a:r>
                <a:r>
                  <a:rPr lang="en-US" altLang="ko-KR"/>
                  <a:t>, SSSM</a:t>
                </a:r>
                <a:r>
                  <a:rPr lang="ko-KR" altLang="en-US"/>
                  <a:t>은 다른 단계 크기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이산화하여 불규칙적으로 샘플링된 데이터를 처리</a:t>
                </a:r>
                <a:endParaRPr lang="en-US" altLang="ko-KR"/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연속 모델 표현은 불규칙적으로 샘플링된 데이터를 처리할 수 있음</a:t>
                </a:r>
                <a:endParaRPr lang="en-US" altLang="ko-KR"/>
              </a:p>
              <a:p>
                <a:pPr marL="285750" indent="-285750">
                  <a:buFontTx/>
                  <a:buChar char="-"/>
                </a:pPr>
                <a:endParaRPr lang="en-US" altLang="ko-KR"/>
              </a:p>
              <a:p>
                <a:r>
                  <a:rPr lang="ko-KR" altLang="en-US"/>
                  <a:t>순환 모델</a:t>
                </a:r>
                <a:r>
                  <a:rPr lang="en-US" altLang="ko-KR"/>
                  <a:t>(Recurrent Model)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선형 순환</a:t>
                </a:r>
                <a:r>
                  <a:rPr lang="en-US" altLang="ko-KR"/>
                  <a:t>(Linear Recurrence)</a:t>
                </a:r>
                <a:r>
                  <a:rPr lang="ko-KR" altLang="en-US"/>
                  <a:t>을 펼처서 레이어를 시간 방향으로 계산함으로써</a:t>
                </a:r>
                <a:r>
                  <a:rPr lang="en-US" altLang="ko-KR"/>
                  <a:t>(</a:t>
                </a:r>
                <a:r>
                  <a:rPr lang="ko-KR" altLang="en-US"/>
                  <a:t>즉</a:t>
                </a:r>
                <a:r>
                  <a:rPr lang="en-US" altLang="ko-KR"/>
                  <a:t>, </a:t>
                </a:r>
                <a:r>
                  <a:rPr lang="ko-KR" altLang="en-US"/>
                  <a:t>한번에 하나의 수직 슬라이스</a:t>
                </a:r>
                <a:r>
                  <a:rPr lang="en-US" altLang="ko-KR"/>
                  <a:t>(ut, xt, yt),(ut+1, xt+1, yt+1)</a:t>
                </a:r>
                <a:r>
                  <a:rPr lang="ko-KR" altLang="en-US"/>
                  <a:t>효율적으로 추론을 수행할 수 있음</a:t>
                </a:r>
                <a:endParaRPr lang="en-US" altLang="ko-KR"/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순환 모델 표현은 무한한 컨텍스트를 다룰 수 있고 효율적인 추로 가능</a:t>
                </a:r>
                <a:endParaRPr lang="en-US" altLang="ko-KR"/>
              </a:p>
              <a:p>
                <a:endParaRPr lang="en-US" altLang="ko-KR"/>
              </a:p>
              <a:p>
                <a:r>
                  <a:rPr lang="ko-KR" altLang="en-US"/>
                  <a:t>컨볼루션 모델</a:t>
                </a:r>
                <a:r>
                  <a:rPr lang="en-US" altLang="ko-KR"/>
                  <a:t>(Convolutional Model)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특정 필터와 컨볼루션하여 레이어를 깊이 방향</a:t>
                </a:r>
                <a:r>
                  <a:rPr lang="en-US" altLang="ko-KR"/>
                  <a:t>(Deep-wise)</a:t>
                </a:r>
                <a:r>
                  <a:rPr lang="ko-KR" altLang="en-US"/>
                  <a:t>으로 </a:t>
                </a:r>
                <a:br>
                  <a:rPr lang="en-US" altLang="ko-KR"/>
                </a:br>
                <a:r>
                  <a:rPr lang="ko-KR" altLang="en-US"/>
                  <a:t>병렬 계산함으로써 효율적으로 학습을 수행할 수 있다</a:t>
                </a:r>
                <a:r>
                  <a:rPr lang="en-US" altLang="ko-KR"/>
                  <a:t>.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컨볼루션 모델 표현은 지역 정보를 활용할 수 있고 병렬화된</a:t>
                </a:r>
                <a:r>
                  <a:rPr lang="en-US" altLang="ko-KR"/>
                  <a:t> </a:t>
                </a:r>
                <a:br>
                  <a:rPr lang="en-US" altLang="ko-KR"/>
                </a:br>
                <a:r>
                  <a:rPr lang="ko-KR" altLang="en-US"/>
                  <a:t>학습이 가능함</a:t>
                </a:r>
                <a:endParaRPr lang="en-US" altLang="ko-KR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8C69CC5-20B2-4DC7-8B49-3383D349D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63" y="237845"/>
                <a:ext cx="10956471" cy="4524315"/>
              </a:xfrm>
              <a:prstGeom prst="rect">
                <a:avLst/>
              </a:prstGeom>
              <a:blipFill>
                <a:blip r:embed="rId3"/>
                <a:stretch>
                  <a:fillRect l="-556" t="-674" b="-12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36A5BBD3-9811-4198-BE17-66A3E1632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478" y="3144416"/>
            <a:ext cx="5101522" cy="249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63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58C92E7-E615-448B-837E-C90E0E7B1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177" y="475838"/>
            <a:ext cx="9821646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93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FC8254-619C-4025-A190-EF2712964D65}"/>
              </a:ext>
            </a:extLst>
          </p:cNvPr>
          <p:cNvSpPr txBox="1"/>
          <p:nvPr/>
        </p:nvSpPr>
        <p:spPr>
          <a:xfrm>
            <a:off x="184342" y="164660"/>
            <a:ext cx="1188240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State Space Models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SSM </a:t>
            </a:r>
            <a:r>
              <a:rPr lang="ko-KR" altLang="en-US"/>
              <a:t>모델은 </a:t>
            </a:r>
            <a:r>
              <a:rPr lang="en-US" altLang="ko-KR"/>
              <a:t>1960</a:t>
            </a:r>
            <a:r>
              <a:rPr lang="ko-KR" altLang="en-US"/>
              <a:t>년 칼만 필터부터 시작하여 과학분야에 광범위하게 사용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MAMBA</a:t>
            </a:r>
            <a:r>
              <a:rPr lang="ko-KR" altLang="en-US"/>
              <a:t>에서 사용할 </a:t>
            </a:r>
            <a:r>
              <a:rPr lang="en-US" altLang="ko-KR"/>
              <a:t>SSM </a:t>
            </a:r>
            <a:r>
              <a:rPr lang="ko-KR" altLang="en-US"/>
              <a:t>모델은 기존의 방식과 다름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SSM</a:t>
            </a:r>
            <a:r>
              <a:rPr lang="ko-KR" altLang="en-US"/>
              <a:t>은 현재의</a:t>
            </a:r>
            <a:r>
              <a:rPr lang="en-US" altLang="ko-KR"/>
              <a:t>(?)</a:t>
            </a:r>
            <a:r>
              <a:rPr lang="ko-KR" altLang="en-US"/>
              <a:t>상태들을 정의하여 문제를 수학적으로 표현하는 방법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따라서</a:t>
            </a:r>
            <a:r>
              <a:rPr lang="en-US" altLang="ko-KR"/>
              <a:t>, </a:t>
            </a:r>
            <a:r>
              <a:rPr lang="ko-KR" altLang="en-US"/>
              <a:t>상태공간은 시스템을 완전히 설명하는 최소한의 변수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아래 예시 그림처럼</a:t>
            </a:r>
            <a:r>
              <a:rPr lang="en-US" altLang="ko-KR"/>
              <a:t>, </a:t>
            </a:r>
            <a:r>
              <a:rPr lang="ko-KR" altLang="en-US"/>
              <a:t>각 지점은 미로에서의 고유한 위치를 나타내며</a:t>
            </a:r>
            <a:r>
              <a:rPr lang="en-US" altLang="ko-KR"/>
              <a:t>, </a:t>
            </a:r>
            <a:r>
              <a:rPr lang="ko-KR" altLang="en-US"/>
              <a:t>출구까지 얼마나 떨어져 있는지와 같은 구체적인 세부사항을 포함한다</a:t>
            </a:r>
            <a:r>
              <a:rPr lang="en-US" altLang="ko-KR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시간 </a:t>
            </a:r>
            <a:r>
              <a:rPr lang="en-US" altLang="ko-KR"/>
              <a:t>t</a:t>
            </a:r>
            <a:r>
              <a:rPr lang="ko-KR" altLang="en-US"/>
              <a:t>에서 </a:t>
            </a:r>
            <a:r>
              <a:rPr lang="en-US" altLang="ko-KR"/>
              <a:t>SSM</a:t>
            </a:r>
            <a:r>
              <a:rPr lang="ko-KR" altLang="en-US"/>
              <a:t>은 입력시퀀스</a:t>
            </a:r>
            <a:r>
              <a:rPr lang="en-US" altLang="ko-KR"/>
              <a:t>, </a:t>
            </a:r>
            <a:r>
              <a:rPr lang="ko-KR" altLang="en-US"/>
              <a:t>잠재 상태 표현</a:t>
            </a:r>
            <a:r>
              <a:rPr lang="en-US" altLang="ko-KR"/>
              <a:t>, </a:t>
            </a:r>
            <a:r>
              <a:rPr lang="ko-KR" altLang="en-US"/>
              <a:t>예측된 출력 시퀀스로 이루어져있다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입력 시퀀스는 </a:t>
            </a:r>
            <a:r>
              <a:rPr lang="en-US" altLang="ko-KR"/>
              <a:t>x(t)</a:t>
            </a:r>
            <a:r>
              <a:rPr lang="ko-KR" altLang="en-US"/>
              <a:t>로 미로에서 왼쪽으로</a:t>
            </a:r>
            <a:r>
              <a:rPr lang="en-US" altLang="ko-KR"/>
              <a:t>, </a:t>
            </a:r>
            <a:r>
              <a:rPr lang="ko-KR" altLang="en-US"/>
              <a:t>아래로 움직이는 것을 뜻함</a:t>
            </a:r>
            <a:r>
              <a:rPr lang="en-US" altLang="ko-KR"/>
              <a:t>.</a:t>
            </a:r>
            <a:br>
              <a:rPr lang="en-US" altLang="ko-KR"/>
            </a:br>
            <a:r>
              <a:rPr lang="ko-KR" altLang="en-US"/>
              <a:t>잠재 상태 표현은 </a:t>
            </a:r>
            <a:r>
              <a:rPr lang="en-US" altLang="ko-KR"/>
              <a:t>h(t)</a:t>
            </a:r>
            <a:r>
              <a:rPr lang="ko-KR" altLang="en-US"/>
              <a:t>로 출구까지의 거리와 </a:t>
            </a:r>
            <a:r>
              <a:rPr lang="en-US" altLang="ko-KR"/>
              <a:t>x/y </a:t>
            </a:r>
            <a:r>
              <a:rPr lang="ko-KR" altLang="en-US"/>
              <a:t>좌표</a:t>
            </a:r>
            <a:br>
              <a:rPr lang="en-US" altLang="ko-KR"/>
            </a:br>
            <a:r>
              <a:rPr lang="ko-KR" altLang="en-US"/>
              <a:t>출력 시퀀스는 </a:t>
            </a:r>
            <a:r>
              <a:rPr lang="en-US" altLang="ko-KR"/>
              <a:t>y(t)</a:t>
            </a:r>
            <a:r>
              <a:rPr lang="ko-KR" altLang="en-US"/>
              <a:t>로 출구에 더 빨리 도달하기 위해 왼쪽으로 이동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하지만</a:t>
            </a:r>
            <a:r>
              <a:rPr lang="en-US" altLang="ko-KR"/>
              <a:t>, </a:t>
            </a:r>
            <a:r>
              <a:rPr lang="ko-KR" altLang="en-US"/>
              <a:t>한번에 왼쪽으로 이동하는 것과 같은 이산 시퀀스를 사용하는 대신 연속 시퀀스를 입력으로 받아</a:t>
            </a:r>
            <a:br>
              <a:rPr lang="en-US" altLang="ko-KR"/>
            </a:br>
            <a:r>
              <a:rPr lang="ko-KR" altLang="en-US"/>
              <a:t>출력 시퀀스를 예측한다</a:t>
            </a:r>
            <a:r>
              <a:rPr lang="en-US" altLang="ko-KR"/>
              <a:t>.</a:t>
            </a:r>
          </a:p>
          <a:p>
            <a:pPr marL="285750" indent="-285750">
              <a:buFontTx/>
              <a:buChar char="-"/>
            </a:pP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E3CFC17-A06A-48B9-822B-2E0E748AC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51" y="4017567"/>
            <a:ext cx="4442696" cy="27410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AB3F148-9FA2-4CDE-BE10-D4177EA855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403" y="3920720"/>
            <a:ext cx="3827070" cy="152609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DAE6705-A1F2-4ADE-A2B7-0DBE77E887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67" y="5426338"/>
            <a:ext cx="4610743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550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7F1B83-4253-4038-8B08-BF30C9C63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0367"/>
            <a:ext cx="4610743" cy="12670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E6BF2E-8B31-4F9B-B560-148163E59A26}"/>
              </a:ext>
            </a:extLst>
          </p:cNvPr>
          <p:cNvSpPr txBox="1"/>
          <p:nvPr/>
        </p:nvSpPr>
        <p:spPr>
          <a:xfrm>
            <a:off x="184343" y="164660"/>
            <a:ext cx="111710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State Space Models</a:t>
            </a:r>
          </a:p>
          <a:p>
            <a:pPr marL="285750" indent="-285750">
              <a:buFontTx/>
              <a:buChar char="-"/>
            </a:pPr>
            <a:r>
              <a:rPr lang="en-US" altLang="ko-KR"/>
              <a:t>SSM</a:t>
            </a:r>
            <a:r>
              <a:rPr lang="ko-KR" altLang="en-US"/>
              <a:t>은 동적 시스템으로 시간 </a:t>
            </a:r>
            <a:r>
              <a:rPr lang="en-US" altLang="ko-KR"/>
              <a:t>t</a:t>
            </a:r>
            <a:r>
              <a:rPr lang="ko-KR" altLang="en-US"/>
              <a:t>에서의 상태를 통해 두 방정식으로예측될 수 있다</a:t>
            </a:r>
            <a:r>
              <a:rPr lang="en-US" altLang="ko-KR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수식을 해석하면 상태방정식은 상태가 어떻게 변하는지</a:t>
            </a:r>
            <a:r>
              <a:rPr lang="en-US" altLang="ko-KR"/>
              <a:t>(</a:t>
            </a:r>
            <a:r>
              <a:rPr lang="ko-KR" altLang="en-US"/>
              <a:t>행렬 </a:t>
            </a:r>
            <a:r>
              <a:rPr lang="en-US" altLang="ko-KR"/>
              <a:t>A)</a:t>
            </a:r>
            <a:r>
              <a:rPr lang="ko-KR" altLang="en-US"/>
              <a:t>와 입력이 상태에 어떻게 영향을 미치는지</a:t>
            </a:r>
            <a:r>
              <a:rPr lang="en-US" altLang="ko-KR"/>
              <a:t>(</a:t>
            </a:r>
            <a:r>
              <a:rPr lang="ko-KR" altLang="en-US"/>
              <a:t>행렬 </a:t>
            </a:r>
            <a:r>
              <a:rPr lang="en-US" altLang="ko-KR"/>
              <a:t>B)</a:t>
            </a:r>
            <a:r>
              <a:rPr lang="ko-KR" altLang="en-US"/>
              <a:t>를 설명한다</a:t>
            </a:r>
            <a:r>
              <a:rPr lang="en-US" altLang="ko-KR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출력방정식은 상태가 어떻게 출력으로 변환되는지</a:t>
            </a:r>
            <a:r>
              <a:rPr lang="en-US" altLang="ko-KR"/>
              <a:t>(</a:t>
            </a:r>
            <a:r>
              <a:rPr lang="ko-KR" altLang="en-US"/>
              <a:t>행렬</a:t>
            </a:r>
            <a:r>
              <a:rPr lang="en-US" altLang="ko-KR"/>
              <a:t>C)</a:t>
            </a:r>
            <a:r>
              <a:rPr lang="ko-KR" altLang="en-US"/>
              <a:t>와 입력이 출력에 어떻게 영향을 미치는지</a:t>
            </a:r>
            <a:r>
              <a:rPr lang="en-US" altLang="ko-KR"/>
              <a:t>(</a:t>
            </a:r>
            <a:r>
              <a:rPr lang="ko-KR" altLang="en-US"/>
              <a:t>행렬 </a:t>
            </a:r>
            <a:r>
              <a:rPr lang="en-US" altLang="ko-KR"/>
              <a:t>D)</a:t>
            </a:r>
            <a:r>
              <a:rPr lang="ko-KR" altLang="en-US"/>
              <a:t>를 설명</a:t>
            </a:r>
            <a:endParaRPr lang="en-US" altLang="ko-KR"/>
          </a:p>
          <a:p>
            <a:pPr marL="285750" indent="-285750">
              <a:buFontTx/>
              <a:buChar char="-"/>
            </a:pPr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1C6ED6-4122-40FA-A331-83BA20F4E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31" y="2223548"/>
            <a:ext cx="3993866" cy="137958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E8594E9-3138-47F7-BED1-2079DF509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2471" y="2264603"/>
            <a:ext cx="3529831" cy="13385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8119B6-5E81-4D1C-AC37-0933C0E3C621}"/>
              </a:ext>
            </a:extLst>
          </p:cNvPr>
          <p:cNvSpPr txBox="1"/>
          <p:nvPr/>
        </p:nvSpPr>
        <p:spPr>
          <a:xfrm>
            <a:off x="345233" y="3522307"/>
            <a:ext cx="11504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/>
              <a:t>이러한 두 방정식을 시각화 하면 다음과 같다</a:t>
            </a:r>
            <a:r>
              <a:rPr lang="en-US" altLang="ko-KR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상태 방정식과 출력방정식을 단계별로 자세히 보면 다음과 같이 표현할 수 있다</a:t>
            </a:r>
            <a:r>
              <a:rPr lang="en-US" altLang="ko-KR"/>
              <a:t>.</a:t>
            </a:r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D6CB12F-B6CF-4401-8BCC-A47785B448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233" y="4391571"/>
            <a:ext cx="4163006" cy="176237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D1BA50C-9481-4D41-88CB-1225B7FA9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472" y="4078622"/>
            <a:ext cx="6509842" cy="262391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B742207-EC3A-4B11-A235-A88D9E4CB0B5}"/>
              </a:ext>
            </a:extLst>
          </p:cNvPr>
          <p:cNvSpPr txBox="1"/>
          <p:nvPr/>
        </p:nvSpPr>
        <p:spPr>
          <a:xfrm>
            <a:off x="255037" y="6270946"/>
            <a:ext cx="11504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/>
              <a:t>행렬 </a:t>
            </a:r>
            <a:r>
              <a:rPr lang="en-US" altLang="ko-KR"/>
              <a:t>D</a:t>
            </a:r>
            <a:r>
              <a:rPr lang="ko-KR" altLang="en-US"/>
              <a:t>를 사용하여 입력에서 출력으로 직접 신호를 제공할 수 있다</a:t>
            </a:r>
            <a:r>
              <a:rPr lang="en-US" altLang="ko-KR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이는 스킵 커넥션이라고 불린다</a:t>
            </a:r>
            <a:r>
              <a:rPr lang="en-US" altLang="ko-KR"/>
              <a:t>. SSM</a:t>
            </a:r>
            <a:r>
              <a:rPr lang="ko-KR" altLang="en-US"/>
              <a:t>은 종종 </a:t>
            </a:r>
            <a:r>
              <a:rPr lang="en-US" altLang="ko-KR"/>
              <a:t>D </a:t>
            </a:r>
            <a:r>
              <a:rPr lang="ko-KR" altLang="en-US"/>
              <a:t>없이 아래만을 사용함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24B450F-A180-4C35-9C3D-653F362CAC6A}"/>
              </a:ext>
            </a:extLst>
          </p:cNvPr>
          <p:cNvSpPr/>
          <p:nvPr/>
        </p:nvSpPr>
        <p:spPr>
          <a:xfrm>
            <a:off x="5769849" y="4929455"/>
            <a:ext cx="4512486" cy="17638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796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CCE5F3-C925-4050-8FD5-3ABDFA96D41D}"/>
                  </a:ext>
                </a:extLst>
              </p:cNvPr>
              <p:cNvSpPr txBox="1"/>
              <p:nvPr/>
            </p:nvSpPr>
            <p:spPr>
              <a:xfrm>
                <a:off x="175012" y="929770"/>
                <a:ext cx="11171012" cy="37140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/>
                  <a:t>State Space Models</a:t>
                </a:r>
              </a:p>
              <a:p>
                <a:endParaRPr lang="en-US" altLang="ko-KR"/>
              </a:p>
              <a:p>
                <a:r>
                  <a:rPr lang="en-US" altLang="ko-KR"/>
                  <a:t>- </a:t>
                </a:r>
                <a:r>
                  <a:rPr lang="ko-KR" altLang="en-US"/>
                  <a:t>위 수식에 따라</a:t>
                </a:r>
                <a:r>
                  <a:rPr lang="en-US" altLang="ko-KR"/>
                  <a:t>, SSM</a:t>
                </a:r>
                <a:r>
                  <a:rPr lang="ko-KR" altLang="en-US"/>
                  <a:t>은 입력 시퀀스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𝐿𝑥𝑀</m:t>
                        </m:r>
                      </m:sup>
                    </m:sSup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/>
                  <a:t>서 출력 시퀀스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𝐿𝑥𝑀</m:t>
                        </m:r>
                      </m:sup>
                    </m:sSup>
                  </m:oMath>
                </a14:m>
                <a:r>
                  <a:rPr lang="ko-KR" altLang="en-US"/>
                  <a:t>로의 시퀀스 간 변환으로 정의</a:t>
                </a:r>
                <a:endParaRPr lang="en-US" altLang="ko-KR"/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이는 </a:t>
                </a:r>
                <a:r>
                  <a:rPr lang="en-US" altLang="ko-KR"/>
                  <a:t>A,B,C</a:t>
                </a:r>
                <a:r>
                  <a:rPr lang="ko-KR" altLang="en-US"/>
                  <a:t>와 추가 매개변수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ko-KR" altLang="en-US"/>
                  <a:t>로 매개변수화 된다</a:t>
                </a:r>
                <a:r>
                  <a:rPr lang="en-US" altLang="ko-KR"/>
                  <a:t>.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일반적으로 </a:t>
                </a:r>
                <a:r>
                  <a:rPr lang="en-US" altLang="ko-KR"/>
                  <a:t>SSM</a:t>
                </a:r>
                <a:r>
                  <a:rPr lang="ko-KR" altLang="en-US"/>
                  <a:t>의 동역학은 시간에 따라 변할 수 있다</a:t>
                </a:r>
                <a:r>
                  <a:rPr lang="en-US" altLang="ko-KR"/>
                  <a:t>. </a:t>
                </a:r>
                <a:r>
                  <a:rPr lang="ko-KR" altLang="en-US"/>
                  <a:t>즉</a:t>
                </a:r>
                <a:r>
                  <a:rPr lang="en-US" altLang="ko-KR"/>
                  <a:t>, </a:t>
                </a:r>
                <a:r>
                  <a:rPr lang="ko-KR" altLang="en-US"/>
                  <a:t>행렬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𝑁𝑥𝑁</m:t>
                        </m:r>
                      </m:sup>
                    </m:sSup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en-US" altLang="ko-KR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ko-KR"/>
                  <a:t>,</a:t>
                </a:r>
                <a:r>
                  <a:rPr lang="en-US" altLang="ko-KR" b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𝑥𝑁</m:t>
                        </m:r>
                      </m:sup>
                    </m:sSup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시간</a:t>
                </a:r>
                <a:r>
                  <a:rPr lang="en-US" altLang="ko-KR"/>
                  <a:t>t</a:t>
                </a:r>
                <a:r>
                  <a:rPr lang="ko-KR" altLang="en-US"/>
                  <a:t>의 함수일 수 있다는 것이다</a:t>
                </a:r>
                <a:r>
                  <a:rPr lang="en-US" altLang="ko-KR"/>
                  <a:t>.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대부분의 실제 데이터는 연속적이지 않고 이산적이기 때문에 연속 함수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ko-KR" altLang="en-US" i="1">
                        <a:latin typeface="Cambria Math" panose="02040503050406030204" pitchFamily="18" charset="0"/>
                      </a:rPr>
                      <m:t>대</m:t>
                    </m:r>
                  </m:oMath>
                </a14:m>
                <a:r>
                  <a:rPr lang="ko-KR" altLang="en-US"/>
                  <a:t>신 입력 시퀀스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2,..)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적용하기 위해  이산화하는 작업이 필요하다</a:t>
                </a:r>
                <a:r>
                  <a:rPr lang="en-US" altLang="ko-KR"/>
                  <a:t>.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>
                    <a:solidFill>
                      <a:srgbClr val="FF0000"/>
                    </a:solidFill>
                  </a:rPr>
                  <a:t>입력의 해상도를 나타내는 추가 단계 크기 매개변수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a:rPr lang="ko-KR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>
                    <a:solidFill>
                      <a:srgbClr val="FF0000"/>
                    </a:solidFill>
                  </a:rPr>
                  <a:t> </a:t>
                </a:r>
                <a:r>
                  <a:rPr lang="ko-KR" altLang="en-US">
                    <a:solidFill>
                      <a:srgbClr val="FF0000"/>
                    </a:solidFill>
                  </a:rPr>
                  <a:t>필요하다</a:t>
                </a:r>
                <a:endParaRPr lang="en-US" altLang="ko-KR">
                  <a:solidFill>
                    <a:srgbClr val="FF0000"/>
                  </a:solidFill>
                </a:endParaRPr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입력 </a:t>
                </a:r>
                <a:r>
                  <a:rPr lang="en-US" altLang="ko-KR"/>
                  <a:t>uk</a:t>
                </a:r>
                <a:r>
                  <a:rPr lang="ko-KR" altLang="en-US"/>
                  <a:t>는 내재된 연속 신호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서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균일한 간격으로 샘플링된 값으로 볼수있다</a:t>
                </a:r>
                <a:r>
                  <a:rPr lang="en-US" altLang="ko-KR"/>
                  <a:t>. </a:t>
                </a:r>
                <a:r>
                  <a:rPr lang="ko-KR" altLang="en-US"/>
                  <a:t>예를 들어 데이터를 수집할 때</a:t>
                </a:r>
                <a:r>
                  <a:rPr lang="en-US" altLang="ko-KR"/>
                  <a:t>, 1</a:t>
                </a:r>
                <a:r>
                  <a:rPr lang="ko-KR" altLang="en-US"/>
                  <a:t>분간격으로 데이터를 수집할 때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∆)</m:t>
                    </m:r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/>
                  <a:t>다</a:t>
                </a:r>
                <a:r>
                  <a:rPr lang="en-US" altLang="ko-KR"/>
                  <a:t>. </a:t>
                </a:r>
                <a:r>
                  <a:rPr lang="ko-KR" altLang="en-US"/>
                  <a:t>이를 시간 척도</a:t>
                </a:r>
                <a:r>
                  <a:rPr lang="en-US" altLang="ko-KR"/>
                  <a:t>(timescale)</a:t>
                </a:r>
                <a:r>
                  <a:rPr lang="ko-KR" altLang="en-US"/>
                  <a:t>이라고 한다</a:t>
                </a:r>
                <a:r>
                  <a:rPr lang="en-US" altLang="ko-KR"/>
                  <a:t>.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이산화 할때</a:t>
                </a:r>
                <a:r>
                  <a:rPr lang="en-US" altLang="ko-KR"/>
                  <a:t>, MAMBA</a:t>
                </a:r>
                <a:r>
                  <a:rPr lang="ko-KR" altLang="en-US"/>
                  <a:t>는 </a:t>
                </a:r>
                <a:r>
                  <a:rPr lang="en-US" altLang="ko-KR">
                    <a:solidFill>
                      <a:srgbClr val="FF0000"/>
                    </a:solidFill>
                  </a:rPr>
                  <a:t>ZOH</a:t>
                </a:r>
                <a:r>
                  <a:rPr lang="ko-KR" altLang="en-US"/>
                  <a:t>방식을 사용하여 이산화 한다</a:t>
                </a:r>
                <a:r>
                  <a:rPr lang="en-US" altLang="ko-KR"/>
                  <a:t>.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6CCE5F3-C925-4050-8FD5-3ABDFA96D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012" y="929770"/>
                <a:ext cx="11171012" cy="3714094"/>
              </a:xfrm>
              <a:prstGeom prst="rect">
                <a:avLst/>
              </a:prstGeom>
              <a:blipFill>
                <a:blip r:embed="rId2"/>
                <a:stretch>
                  <a:fillRect l="-600" t="-9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3C3F3252-1011-4AE9-84C1-F45149841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988" y="118942"/>
            <a:ext cx="3213972" cy="96317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08B4883-25DC-4E20-8A3A-A8CB250C4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457" y="4251035"/>
            <a:ext cx="4595567" cy="26069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B4D1C64-B575-45E2-AB10-0B2C0FBE2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6867" y="5280439"/>
            <a:ext cx="3543795" cy="129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73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02FC9D-D90C-4490-9895-0CC7539B4C46}"/>
                  </a:ext>
                </a:extLst>
              </p:cNvPr>
              <p:cNvSpPr txBox="1"/>
              <p:nvPr/>
            </p:nvSpPr>
            <p:spPr>
              <a:xfrm>
                <a:off x="119029" y="220644"/>
                <a:ext cx="11171012" cy="2060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/>
                  <a:t>Discrete SSM</a:t>
                </a:r>
              </a:p>
              <a:p>
                <a:endParaRPr lang="en-US" altLang="ko-KR"/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위 수식에서의 모양은 원래의 연속 시간 모델과 동일</a:t>
                </a:r>
                <a:endParaRPr lang="en-US" altLang="ko-KR"/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위 방정식은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대</m:t>
                    </m:r>
                  </m:oMath>
                </a14:m>
                <a:r>
                  <a:rPr lang="ko-KR" altLang="en-US"/>
                  <a:t>신 시퀀스에서 시퀀스로의 매핑인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𝑢𝑘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𝑦𝑘</m:t>
                        </m:r>
                      </m:e>
                    </m:d>
                    <m:r>
                      <a:rPr lang="ko-KR" altLang="en-US" i="1">
                        <a:latin typeface="Cambria Math" panose="02040503050406030204" pitchFamily="18" charset="0"/>
                      </a:rPr>
                      <m:t>을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나</m:t>
                    </m:r>
                  </m:oMath>
                </a14:m>
                <a:r>
                  <a:rPr lang="ko-KR" altLang="en-US"/>
                  <a:t>타낸다</a:t>
                </a:r>
                <a:endParaRPr lang="en-US" altLang="ko-KR"/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또한</a:t>
                </a:r>
                <a:r>
                  <a:rPr lang="en-US" altLang="ko-KR"/>
                  <a:t>, </a:t>
                </a:r>
                <a:r>
                  <a:rPr lang="ko-KR" altLang="en-US"/>
                  <a:t>상태방정식은 이제 </a:t>
                </a:r>
                <a:r>
                  <a:rPr lang="en-US" altLang="ko-KR"/>
                  <a:t>xk</a:t>
                </a:r>
                <a:r>
                  <a:rPr lang="ko-KR" altLang="en-US"/>
                  <a:t>에 대한 순환이 되었다</a:t>
                </a:r>
                <a:r>
                  <a:rPr lang="en-US" altLang="ko-KR"/>
                  <a:t>. </a:t>
                </a:r>
                <a:r>
                  <a:rPr lang="ko-KR" altLang="en-US"/>
                  <a:t>이는 한단계씩 펼칠 수 있음을 의미하며 기존 </a:t>
                </a:r>
                <a:r>
                  <a:rPr lang="en-US" altLang="ko-KR"/>
                  <a:t>RNN</a:t>
                </a:r>
                <a:r>
                  <a:rPr lang="ko-KR" altLang="en-US"/>
                  <a:t>과 유사한 방식으로 계산 할 수 있음을 의미한다</a:t>
                </a:r>
                <a:r>
                  <a:rPr lang="en-US" altLang="ko-KR"/>
                  <a:t>.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altLang="ko-KR"/>
                  <a:t>RNN</a:t>
                </a:r>
                <a:r>
                  <a:rPr lang="ko-KR" altLang="en-US"/>
                  <a:t>의 언어로 표현하면</a:t>
                </a:r>
                <a:r>
                  <a:rPr lang="en-US" altLang="ko-KR"/>
                  <a:t>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은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전치 행렬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가진 은닉 상태</a:t>
                </a:r>
                <a:r>
                  <a:rPr lang="en-US" altLang="ko-KR"/>
                  <a:t>(Hidden state)</a:t>
                </a:r>
                <a:r>
                  <a:rPr lang="ko-KR" altLang="en-US"/>
                  <a:t>로 볼수 있다</a:t>
                </a:r>
                <a:r>
                  <a:rPr lang="en-US" altLang="ko-KR"/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802FC9D-D90C-4490-9895-0CC7539B4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29" y="220644"/>
                <a:ext cx="11171012" cy="2060179"/>
              </a:xfrm>
              <a:prstGeom prst="rect">
                <a:avLst/>
              </a:prstGeom>
              <a:blipFill>
                <a:blip r:embed="rId2"/>
                <a:stretch>
                  <a:fillRect l="-600" t="-1479" b="-35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2EFC06A4-3A4A-4026-AAD1-528735749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82" y="2409980"/>
            <a:ext cx="3428654" cy="131220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B053C5B-AA35-43B5-9056-FBB7DCE87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073" y="2280823"/>
            <a:ext cx="5121997" cy="23469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08529A-58F8-4E93-B4EA-1C9F8785BDAF}"/>
              </a:ext>
            </a:extLst>
          </p:cNvPr>
          <p:cNvSpPr txBox="1"/>
          <p:nvPr/>
        </p:nvSpPr>
        <p:spPr>
          <a:xfrm>
            <a:off x="485192" y="4570366"/>
            <a:ext cx="10646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이 구조는 </a:t>
            </a:r>
            <a:r>
              <a:rPr lang="ko-KR" altLang="en-US">
                <a:solidFill>
                  <a:srgbClr val="FF0000"/>
                </a:solidFill>
              </a:rPr>
              <a:t>이전 상태만 알고 있으면 되기 때문에 </a:t>
            </a:r>
            <a:r>
              <a:rPr lang="en-US" altLang="ko-KR">
                <a:solidFill>
                  <a:srgbClr val="FF0000"/>
                </a:solidFill>
              </a:rPr>
              <a:t>CNN</a:t>
            </a:r>
            <a:r>
              <a:rPr lang="ko-KR" altLang="en-US">
                <a:solidFill>
                  <a:srgbClr val="FF0000"/>
                </a:solidFill>
              </a:rPr>
              <a:t>이나 </a:t>
            </a:r>
            <a:r>
              <a:rPr lang="en-US" altLang="ko-KR">
                <a:solidFill>
                  <a:srgbClr val="FF0000"/>
                </a:solidFill>
              </a:rPr>
              <a:t>Transformer</a:t>
            </a:r>
            <a:r>
              <a:rPr lang="ko-KR" altLang="en-US">
                <a:solidFill>
                  <a:srgbClr val="FF0000"/>
                </a:solidFill>
              </a:rPr>
              <a:t>와 같은 모델과 달리</a:t>
            </a:r>
            <a:r>
              <a:rPr lang="en-US" altLang="ko-KR">
                <a:solidFill>
                  <a:srgbClr val="FF0000"/>
                </a:solidFill>
              </a:rPr>
              <a:t>,</a:t>
            </a:r>
          </a:p>
          <a:p>
            <a:r>
              <a:rPr lang="ko-KR" altLang="en-US"/>
              <a:t>시간 단계당 일정한 계산과 공간만 사용하면서 입력 시퀀스를 처리 할 수 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452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A90DB97-66AD-4A8A-8FDB-EEF14AC09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18" y="226076"/>
            <a:ext cx="3256559" cy="13240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343BCA-2130-4C57-A3C8-87E9337EA5D0}"/>
              </a:ext>
            </a:extLst>
          </p:cNvPr>
          <p:cNvSpPr txBox="1"/>
          <p:nvPr/>
        </p:nvSpPr>
        <p:spPr>
          <a:xfrm>
            <a:off x="109634" y="-34413"/>
            <a:ext cx="60975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>
                <a:hlinkClick r:id="rId4"/>
              </a:rPr>
              <a:t>https://newsletter.maartengrootendorst.com/p/a-visual-guide-to-mamba-and-state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위 사이트 보고 정리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4F57A6-BB1B-4F8A-BED9-8B0E6EB8B6C6}"/>
              </a:ext>
            </a:extLst>
          </p:cNvPr>
          <p:cNvSpPr txBox="1"/>
          <p:nvPr/>
        </p:nvSpPr>
        <p:spPr>
          <a:xfrm>
            <a:off x="128295" y="1692915"/>
            <a:ext cx="52088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/>
              <a:t>transformer </a:t>
            </a:r>
            <a:r>
              <a:rPr lang="ko-KR" altLang="en-US"/>
              <a:t>문제</a:t>
            </a:r>
            <a:r>
              <a:rPr lang="en-US" altLang="ko-KR"/>
              <a:t>(train</a:t>
            </a:r>
            <a:r>
              <a:rPr lang="ko-KR" altLang="en-US"/>
              <a:t>은 빠르나 </a:t>
            </a:r>
            <a:r>
              <a:rPr lang="en-US" altLang="ko-KR"/>
              <a:t>inference </a:t>
            </a:r>
            <a:r>
              <a:rPr lang="ko-KR" altLang="en-US"/>
              <a:t>느림</a:t>
            </a:r>
            <a:r>
              <a:rPr lang="en-US" altLang="ko-KR"/>
              <a:t>)</a:t>
            </a:r>
          </a:p>
          <a:p>
            <a:pPr marL="342900" indent="-342900">
              <a:buAutoNum type="arabicPeriod"/>
            </a:pPr>
            <a:r>
              <a:rPr lang="en-US" altLang="ko-KR"/>
              <a:t>RNN</a:t>
            </a:r>
            <a:r>
              <a:rPr lang="ko-KR" altLang="en-US"/>
              <a:t>문제</a:t>
            </a:r>
            <a:r>
              <a:rPr lang="en-US" altLang="ko-KR"/>
              <a:t>(train, inference </a:t>
            </a:r>
            <a:r>
              <a:rPr lang="ko-KR" altLang="en-US"/>
              <a:t>빠르나 정확도 부족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RNN</a:t>
            </a:r>
            <a:r>
              <a:rPr lang="ko-KR" altLang="en-US"/>
              <a:t>에 상태공간방정식 활용 </a:t>
            </a:r>
            <a:r>
              <a:rPr lang="en-US" altLang="ko-KR"/>
              <a:t>-&gt; mamba</a:t>
            </a:r>
          </a:p>
          <a:p>
            <a:pPr marL="342900" indent="-342900">
              <a:buAutoNum type="arabicPeriod"/>
            </a:pPr>
            <a:r>
              <a:rPr lang="ko-KR" altLang="en-US"/>
              <a:t>상태공간모델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연속 신호에서 이산신호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일반적으로 이산 입력이므로 모델을 이산화</a:t>
            </a:r>
            <a:br>
              <a:rPr lang="en-US" altLang="ko-KR"/>
            </a:br>
            <a:r>
              <a:rPr lang="en-US" altLang="ko-KR"/>
              <a:t>- ZOH(Zero Ored Hold) </a:t>
            </a:r>
            <a:r>
              <a:rPr lang="ko-KR" altLang="en-US"/>
              <a:t>기법 적용</a:t>
            </a:r>
            <a:r>
              <a:rPr lang="en-US" altLang="ko-KR"/>
              <a:t> </a:t>
            </a:r>
            <a:r>
              <a:rPr lang="ko-KR" altLang="en-US">
                <a:solidFill>
                  <a:srgbClr val="FF0000"/>
                </a:solidFill>
              </a:rPr>
              <a:t>입력신호</a:t>
            </a:r>
            <a:r>
              <a:rPr lang="en-US" altLang="ko-KR">
                <a:solidFill>
                  <a:srgbClr val="FF0000"/>
                </a:solidFill>
              </a:rPr>
              <a:t>(</a:t>
            </a:r>
            <a:r>
              <a:rPr lang="ko-KR" altLang="en-US">
                <a:solidFill>
                  <a:srgbClr val="FF0000"/>
                </a:solidFill>
              </a:rPr>
              <a:t>이산 신호 </a:t>
            </a:r>
            <a:r>
              <a:rPr lang="en-US" altLang="ko-KR">
                <a:solidFill>
                  <a:srgbClr val="FF0000"/>
                </a:solidFill>
              </a:rPr>
              <a:t>-&gt; </a:t>
            </a:r>
            <a:r>
              <a:rPr lang="ko-KR" altLang="en-US">
                <a:solidFill>
                  <a:srgbClr val="FF0000"/>
                </a:solidFill>
              </a:rPr>
              <a:t>연속 신호</a:t>
            </a:r>
            <a:r>
              <a:rPr lang="en-US" altLang="ko-KR">
                <a:solidFill>
                  <a:srgbClr val="FF0000"/>
                </a:solidFill>
              </a:rPr>
              <a:t>) *</a:t>
            </a:r>
            <a:r>
              <a:rPr lang="ko-KR" altLang="en-US">
                <a:solidFill>
                  <a:srgbClr val="FF0000"/>
                </a:solidFill>
              </a:rPr>
              <a:t>확인해봐야함</a:t>
            </a:r>
            <a:r>
              <a:rPr lang="en-US" altLang="ko-KR">
                <a:solidFill>
                  <a:srgbClr val="FF0000"/>
                </a:solidFill>
              </a:rPr>
              <a:t>*</a:t>
            </a:r>
          </a:p>
          <a:p>
            <a:pPr marL="342900" indent="-342900">
              <a:buAutoNum type="arabicPeriod"/>
            </a:pPr>
            <a:r>
              <a:rPr lang="ko-KR" altLang="en-US"/>
              <a:t>출력 신호는 연속 신호로 생성되며 이를 이산 신호로 변환하기 위해 샘플링 사용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SSM</a:t>
            </a:r>
            <a:r>
              <a:rPr lang="ko-KR" altLang="en-US"/>
              <a:t>은 합성표현도 가능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필터를 사용</a:t>
            </a:r>
            <a:endParaRPr lang="en-US" altLang="ko-KR"/>
          </a:p>
          <a:p>
            <a:pPr marL="342900" indent="-342900">
              <a:buAutoNum type="arabicPeriod"/>
            </a:pPr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5FD0888-1860-481C-923B-BC9BB1CAA8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4077" y="70470"/>
            <a:ext cx="4279236" cy="135894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B405A32-C47F-484E-A2BB-D5A51B32B1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5997" y="1531160"/>
            <a:ext cx="4581183" cy="150712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036BB55-9284-4E24-B68C-9FE2EFD1A9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7188" y="3032577"/>
            <a:ext cx="3932734" cy="150712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27B133F-C6EC-4830-ACDB-F1537CE6F5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5798" y="4812511"/>
            <a:ext cx="4069596" cy="2045489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575ED4A-E528-4E3A-BA8C-BDC567A405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8388" y="4893476"/>
            <a:ext cx="3381611" cy="201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26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BEAB894E-842D-43F5-9F25-72B9161B7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2647" y="377213"/>
            <a:ext cx="3412113" cy="16477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64B4B7-EF58-444B-AE1A-9B356AD9BCC3}"/>
              </a:ext>
            </a:extLst>
          </p:cNvPr>
          <p:cNvSpPr txBox="1"/>
          <p:nvPr/>
        </p:nvSpPr>
        <p:spPr>
          <a:xfrm>
            <a:off x="33903" y="237033"/>
            <a:ext cx="643874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SSM </a:t>
            </a:r>
            <a:r>
              <a:rPr lang="ko-KR" altLang="en-US"/>
              <a:t>합성 표현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이미지가 아닌 텍스트를 다루므로 </a:t>
            </a:r>
            <a:r>
              <a:rPr lang="en-US" altLang="ko-KR"/>
              <a:t>1</a:t>
            </a:r>
            <a:r>
              <a:rPr lang="ko-KR" altLang="en-US"/>
              <a:t>차원적 관점 필요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합성곱과 마찬가지로 </a:t>
            </a:r>
            <a:r>
              <a:rPr lang="en-US" altLang="ko-KR"/>
              <a:t>SSM </a:t>
            </a:r>
            <a:r>
              <a:rPr lang="ko-KR" altLang="en-US"/>
              <a:t>커널을 사용하여 각 토큰 세트 살펴보고 계산함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합성곱 신경망처럼 병렬로 학습할 수 있음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그러나</a:t>
            </a:r>
            <a:r>
              <a:rPr lang="en-US" altLang="ko-KR"/>
              <a:t>, </a:t>
            </a:r>
            <a:r>
              <a:rPr lang="ko-KR" altLang="en-US"/>
              <a:t>고정된 커널 크기로 인해 </a:t>
            </a:r>
            <a:r>
              <a:rPr lang="en-US" altLang="ko-KR"/>
              <a:t>RNN</a:t>
            </a:r>
            <a:r>
              <a:rPr lang="ko-KR" altLang="en-US"/>
              <a:t>만큼 추론이 빠르고 무제한적이지 않다는 단점도 있음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r>
              <a:rPr lang="ko-KR" altLang="en-US"/>
              <a:t>세가지 표현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연속</a:t>
            </a:r>
            <a:r>
              <a:rPr lang="en-US" altLang="ko-KR"/>
              <a:t>, </a:t>
            </a:r>
            <a:r>
              <a:rPr lang="ko-KR" altLang="en-US"/>
              <a:t>순환</a:t>
            </a:r>
            <a:r>
              <a:rPr lang="en-US" altLang="ko-KR"/>
              <a:t>, </a:t>
            </a:r>
            <a:r>
              <a:rPr lang="ko-KR" altLang="en-US"/>
              <a:t>합성곱의 세가지 표현은 서로 다른 장단점이 존재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이 </a:t>
            </a:r>
            <a:r>
              <a:rPr lang="en-US" altLang="ko-KR"/>
              <a:t>3</a:t>
            </a:r>
            <a:r>
              <a:rPr lang="ko-KR" altLang="en-US"/>
              <a:t>가지 방법을 사용하여 학습 및 추론이 가능</a:t>
            </a:r>
            <a:br>
              <a:rPr lang="en-US" altLang="ko-KR"/>
            </a:br>
            <a:r>
              <a:rPr lang="en-US" altLang="ko-KR"/>
              <a:t>- LSSL(Linear State-Space Layer)</a:t>
            </a:r>
            <a:r>
              <a:rPr lang="ko-KR" altLang="en-US"/>
              <a:t>라고함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선형 시간 불변성</a:t>
            </a:r>
            <a:r>
              <a:rPr lang="en-US" altLang="ko-KR"/>
              <a:t>(LTI)</a:t>
            </a:r>
            <a:r>
              <a:rPr lang="ko-KR" altLang="en-US"/>
              <a:t>를 공유함 </a:t>
            </a:r>
            <a:r>
              <a:rPr lang="en-US" altLang="ko-KR"/>
              <a:t>A,B,C</a:t>
            </a:r>
            <a:r>
              <a:rPr lang="ko-KR" altLang="en-US"/>
              <a:t>가 모든단계에 고정 됨</a:t>
            </a:r>
            <a:endParaRPr lang="en-US" altLang="ko-KR"/>
          </a:p>
          <a:p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97971AB-555B-4E60-ABAB-1F40CA9F6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7242" y="73110"/>
            <a:ext cx="3412113" cy="114529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88B2A60-6627-41DA-B856-10C5BD8173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0230" y="2024964"/>
            <a:ext cx="2939125" cy="160700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967ED8C-A564-49D8-8C35-9EC2FC97DA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5895" y="3631968"/>
            <a:ext cx="2773460" cy="155506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F062EA2-B270-463A-B343-6C1CE76958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708" y="5238972"/>
            <a:ext cx="2933292" cy="155506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9B6B634-36C1-45E0-8CE6-91469E5EA2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0395" y="4184680"/>
            <a:ext cx="2806615" cy="103771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00FFB25-6C66-42F0-A815-2BFFF9BFAD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86229" y="5199848"/>
            <a:ext cx="3231013" cy="163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63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6CA9A8-046D-43AB-94AE-2D2A96831980}"/>
              </a:ext>
            </a:extLst>
          </p:cNvPr>
          <p:cNvSpPr txBox="1"/>
          <p:nvPr/>
        </p:nvSpPr>
        <p:spPr>
          <a:xfrm>
            <a:off x="370892" y="248342"/>
            <a:ext cx="6097554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매트릭스 </a:t>
            </a:r>
            <a:r>
              <a:rPr lang="en-US" altLang="ko-KR"/>
              <a:t>A</a:t>
            </a:r>
            <a:r>
              <a:rPr lang="ko-KR" altLang="en-US"/>
              <a:t>의 중요성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큰 메모리</a:t>
            </a:r>
            <a:r>
              <a:rPr lang="en-US" altLang="ko-KR"/>
              <a:t>(</a:t>
            </a:r>
            <a:r>
              <a:rPr lang="ko-KR" altLang="en-US"/>
              <a:t>컨텍스트 크기</a:t>
            </a:r>
            <a:r>
              <a:rPr lang="en-US" altLang="ko-KR"/>
              <a:t>)</a:t>
            </a:r>
            <a:r>
              <a:rPr lang="ko-KR" altLang="en-US"/>
              <a:t>를 유지하는 방식은 어떻게</a:t>
            </a:r>
            <a:br>
              <a:rPr lang="en-US" altLang="ko-KR"/>
            </a:br>
            <a:r>
              <a:rPr lang="ko-KR" altLang="en-US"/>
              <a:t>처리되는가</a:t>
            </a:r>
            <a:r>
              <a:rPr lang="en-US" altLang="ko-KR"/>
              <a:t>? -&gt; HIPPO</a:t>
            </a:r>
            <a:r>
              <a:rPr lang="ko-KR" altLang="en-US"/>
              <a:t>사용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행렬 </a:t>
            </a:r>
            <a:r>
              <a:rPr lang="en-US" altLang="ko-KR"/>
              <a:t>A</a:t>
            </a:r>
            <a:r>
              <a:rPr lang="ko-KR" altLang="en-US"/>
              <a:t>를 사용하여 최근 토큰 잘 포착하고</a:t>
            </a:r>
            <a:r>
              <a:rPr lang="en-US" altLang="ko-KR"/>
              <a:t> </a:t>
            </a:r>
            <a:r>
              <a:rPr lang="ko-KR" altLang="en-US"/>
              <a:t>이전 토큰 감소시키는 상태 표현을 구축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Hippo Matrix </a:t>
            </a:r>
            <a:r>
              <a:rPr lang="ko-KR" altLang="en-US"/>
              <a:t>행렬 </a:t>
            </a:r>
            <a:r>
              <a:rPr lang="en-US" altLang="ko-KR"/>
              <a:t>A</a:t>
            </a:r>
            <a:r>
              <a:rPr lang="ko-KR" altLang="en-US"/>
              <a:t>를 구축하는게 랜덤 행렬로 초기화 하는것보다 더 나음 </a:t>
            </a:r>
            <a:r>
              <a:rPr lang="en-US" altLang="ko-KR"/>
              <a:t>=&gt; </a:t>
            </a:r>
            <a:r>
              <a:rPr lang="ko-KR" altLang="en-US">
                <a:solidFill>
                  <a:srgbClr val="FF0000"/>
                </a:solidFill>
              </a:rPr>
              <a:t>이유</a:t>
            </a:r>
            <a:r>
              <a:rPr lang="ko-KR" altLang="en-US"/>
              <a:t> </a:t>
            </a:r>
            <a:r>
              <a:rPr lang="ko-KR" altLang="en-US">
                <a:solidFill>
                  <a:srgbClr val="FF0000"/>
                </a:solidFill>
              </a:rPr>
              <a:t>조사</a:t>
            </a:r>
            <a:br>
              <a:rPr lang="en-US" altLang="ko-KR">
                <a:solidFill>
                  <a:srgbClr val="FF0000"/>
                </a:solidFill>
              </a:rPr>
            </a:br>
            <a:r>
              <a:rPr lang="en-US" altLang="ko-KR"/>
              <a:t>- </a:t>
            </a:r>
            <a:r>
              <a:rPr lang="ko-KR" altLang="en-US"/>
              <a:t>이전 신호</a:t>
            </a:r>
            <a:r>
              <a:rPr lang="en-US" altLang="ko-KR"/>
              <a:t>(</a:t>
            </a:r>
            <a:r>
              <a:rPr lang="ko-KR" altLang="en-US"/>
              <a:t>초기 토큰</a:t>
            </a:r>
            <a:r>
              <a:rPr lang="en-US" altLang="ko-KR"/>
              <a:t>)</a:t>
            </a:r>
            <a:r>
              <a:rPr lang="ko-KR" altLang="en-US"/>
              <a:t>에 비해 새로운 신호</a:t>
            </a:r>
            <a:r>
              <a:rPr lang="en-US" altLang="ko-KR"/>
              <a:t>(</a:t>
            </a:r>
            <a:r>
              <a:rPr lang="ko-KR" altLang="en-US"/>
              <a:t>최근 토큰</a:t>
            </a:r>
            <a:r>
              <a:rPr lang="en-US" altLang="ko-KR"/>
              <a:t>)</a:t>
            </a:r>
            <a:r>
              <a:rPr lang="ko-KR" altLang="en-US"/>
              <a:t>를 더 정확하게 재구성</a:t>
            </a:r>
            <a:br>
              <a:rPr lang="en-US" altLang="ko-KR"/>
            </a:br>
            <a:r>
              <a:rPr lang="en-US" altLang="ko-KR"/>
              <a:t>- HiPPO </a:t>
            </a:r>
            <a:r>
              <a:rPr lang="ko-KR" altLang="en-US"/>
              <a:t>행렬을 기반으로 긴 텍스트 시퀀스를 처리하고 메모리를 효율적으로 저장할 수 있음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>
                <a:solidFill>
                  <a:srgbClr val="FF0000"/>
                </a:solidFill>
              </a:rPr>
              <a:t>수학적으로 르잘드르 다항식 계수를 추적하여 이전 모든 기록을 근사할 수 있음 </a:t>
            </a:r>
            <a:r>
              <a:rPr lang="en-US" altLang="ko-KR">
                <a:solidFill>
                  <a:srgbClr val="FF0000"/>
                </a:solidFill>
              </a:rPr>
              <a:t>=&gt; </a:t>
            </a:r>
            <a:r>
              <a:rPr lang="ko-KR" altLang="en-US">
                <a:solidFill>
                  <a:srgbClr val="FF0000"/>
                </a:solidFill>
              </a:rPr>
              <a:t>이유 조사</a:t>
            </a:r>
            <a:endParaRPr lang="en-US" altLang="ko-KR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HIPPO</a:t>
            </a:r>
            <a:r>
              <a:rPr lang="ko-KR" altLang="en-US"/>
              <a:t>를 이전에 본 순환 및 합성 표현에 적용하여 </a:t>
            </a:r>
            <a:r>
              <a:rPr lang="ko-KR" altLang="en-US">
                <a:highlight>
                  <a:srgbClr val="FFFF00"/>
                </a:highlight>
              </a:rPr>
              <a:t>장거리 종속성 처리 </a:t>
            </a:r>
            <a:r>
              <a:rPr lang="en-US" altLang="ko-KR"/>
              <a:t>=&gt; SSM </a:t>
            </a:r>
            <a:r>
              <a:rPr lang="ko-KR" altLang="en-US"/>
              <a:t>클래스인 </a:t>
            </a:r>
            <a:r>
              <a:rPr lang="en-US" altLang="ko-KR"/>
              <a:t>S4(Structured State Space for Sequnces) </a:t>
            </a:r>
            <a:r>
              <a:rPr lang="ko-KR" altLang="en-US"/>
              <a:t>탄생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S4</a:t>
            </a:r>
            <a:r>
              <a:rPr lang="ko-KR" altLang="en-US"/>
              <a:t>는 상태 공간 모델</a:t>
            </a:r>
            <a:r>
              <a:rPr lang="en-US" altLang="ko-KR"/>
              <a:t>, </a:t>
            </a:r>
            <a:r>
              <a:rPr lang="ko-KR" altLang="en-US"/>
              <a:t>장거리 종속성을 처리하기 위한 </a:t>
            </a:r>
            <a:r>
              <a:rPr lang="en-US" altLang="ko-KR"/>
              <a:t>Hippo, </a:t>
            </a:r>
            <a:r>
              <a:rPr lang="ko-KR" altLang="en-US"/>
              <a:t>순환 및 합성 표현을 생성하기 위한 이산화로 구성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723554E-7581-471C-9C81-A3A7F5298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514" y="248342"/>
            <a:ext cx="5346483" cy="178931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7366A69-D46D-4912-B898-69E5FB573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820" y="2223603"/>
            <a:ext cx="5346483" cy="13097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0B89559-A51B-4D19-AD7B-B7D70B1B0D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8942" y="3719327"/>
            <a:ext cx="2489361" cy="263798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8D5F946-E17D-43C4-BA9E-54080EFF37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8637" y="4868292"/>
            <a:ext cx="4706424" cy="198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549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28570B-E3A6-4EC6-94E6-9E5AF79DDCB0}"/>
              </a:ext>
            </a:extLst>
          </p:cNvPr>
          <p:cNvSpPr txBox="1"/>
          <p:nvPr/>
        </p:nvSpPr>
        <p:spPr>
          <a:xfrm>
            <a:off x="370892" y="248342"/>
            <a:ext cx="609755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선택적 </a:t>
            </a:r>
            <a:r>
              <a:rPr lang="en-US" altLang="ko-KR"/>
              <a:t>SSM</a:t>
            </a:r>
          </a:p>
          <a:p>
            <a:pPr marL="342900" indent="-342900">
              <a:buAutoNum type="arabicPeriod"/>
            </a:pPr>
            <a:r>
              <a:rPr lang="ko-KR" altLang="en-US"/>
              <a:t>상태공간 모델은 텍스트 시퀀스를 모델링하는 데 사용할 수 있지만 단점이 있음</a:t>
            </a:r>
            <a:br>
              <a:rPr lang="en-US" altLang="ko-KR"/>
            </a:br>
            <a:r>
              <a:rPr lang="en-US" altLang="ko-KR"/>
              <a:t>1) </a:t>
            </a:r>
            <a:r>
              <a:rPr lang="ko-KR" altLang="en-US"/>
              <a:t>모델이 관련 정보를 필터링 할 수 있도록 선택적 스캔 알고리즘</a:t>
            </a:r>
            <a:br>
              <a:rPr lang="en-US" altLang="ko-KR"/>
            </a:br>
            <a:r>
              <a:rPr lang="en-US" altLang="ko-KR"/>
              <a:t>2) </a:t>
            </a:r>
            <a:r>
              <a:rPr lang="ko-KR" altLang="en-US"/>
              <a:t>병렬 스캔</a:t>
            </a:r>
            <a:r>
              <a:rPr lang="en-US" altLang="ko-KR"/>
              <a:t>, </a:t>
            </a:r>
            <a:r>
              <a:rPr lang="ko-KR" altLang="en-US"/>
              <a:t>커널 퓨전</a:t>
            </a:r>
            <a:r>
              <a:rPr lang="en-US" altLang="ko-KR"/>
              <a:t>, </a:t>
            </a:r>
            <a:r>
              <a:rPr lang="ko-KR" altLang="en-US"/>
              <a:t>재계산을 통해 결과를 효율적으로 저장할 수 있는 하드웨어 인식 알고리즘</a:t>
            </a:r>
            <a:br>
              <a:rPr lang="en-US" altLang="ko-KR"/>
            </a:br>
            <a:r>
              <a:rPr lang="en-US" altLang="ko-KR"/>
              <a:t>=&gt; </a:t>
            </a:r>
            <a:r>
              <a:rPr lang="ko-KR" altLang="en-US"/>
              <a:t>선택적 </a:t>
            </a:r>
            <a:r>
              <a:rPr lang="en-US" altLang="ko-KR"/>
              <a:t>SSM </a:t>
            </a:r>
            <a:r>
              <a:rPr lang="ko-KR" altLang="en-US"/>
              <a:t>또는 </a:t>
            </a:r>
            <a:r>
              <a:rPr lang="en-US" altLang="ko-KR"/>
              <a:t>S6</a:t>
            </a:r>
            <a:r>
              <a:rPr lang="ko-KR" altLang="en-US"/>
              <a:t>모델을 생성하는데 셀프 어텐션과 같이 </a:t>
            </a:r>
            <a:r>
              <a:rPr lang="en-US" altLang="ko-KR"/>
              <a:t>Mamba </a:t>
            </a:r>
            <a:r>
              <a:rPr lang="ko-KR" altLang="en-US"/>
              <a:t>블록을 생성하는 데 사용될 수 있다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>
                <a:solidFill>
                  <a:srgbClr val="FF0000"/>
                </a:solidFill>
              </a:rPr>
              <a:t>=&gt; </a:t>
            </a:r>
            <a:r>
              <a:rPr lang="ko-KR" altLang="en-US">
                <a:solidFill>
                  <a:srgbClr val="FF0000"/>
                </a:solidFill>
              </a:rPr>
              <a:t>크게 와닿지 않음 다시 확인</a:t>
            </a:r>
            <a:endParaRPr lang="en-US" altLang="ko-KR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/>
              <a:t>선택적 복사 작업과 유도 헤드를 통해 설명</a:t>
            </a:r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5FF7B47-7403-4909-BB3F-617C6F963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2553" y="48477"/>
            <a:ext cx="2858421" cy="15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8EE501-E8AA-4CA7-BAC2-CFCE8D5BD994}"/>
              </a:ext>
            </a:extLst>
          </p:cNvPr>
          <p:cNvSpPr txBox="1"/>
          <p:nvPr/>
        </p:nvSpPr>
        <p:spPr>
          <a:xfrm>
            <a:off x="7347376" y="1560369"/>
            <a:ext cx="4935894" cy="587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S4</a:t>
            </a:r>
            <a:r>
              <a:rPr lang="ko-KR" altLang="en-US"/>
              <a:t>에서 행렬 </a:t>
            </a:r>
            <a:r>
              <a:rPr lang="en-US" altLang="ko-KR"/>
              <a:t>A,B,C</a:t>
            </a:r>
            <a:r>
              <a:rPr lang="ko-KR" altLang="en-US"/>
              <a:t>는 입력과 독립적이다</a:t>
            </a:r>
            <a:r>
              <a:rPr lang="en-US" altLang="ko-KR"/>
              <a:t>. </a:t>
            </a:r>
            <a:r>
              <a:rPr lang="ko-KR" altLang="en-US"/>
              <a:t>차원 </a:t>
            </a:r>
            <a:r>
              <a:rPr lang="en-US" altLang="ko-KR"/>
              <a:t>N</a:t>
            </a:r>
            <a:r>
              <a:rPr lang="ko-KR" altLang="en-US"/>
              <a:t>과 </a:t>
            </a:r>
            <a:r>
              <a:rPr lang="en-US" altLang="ko-KR"/>
              <a:t>D</a:t>
            </a:r>
            <a:r>
              <a:rPr lang="ko-KR" altLang="en-US"/>
              <a:t>는 정적이며 변하지 않음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A2EDD03-C2CD-498C-BFA8-B84829898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6275" y="2174697"/>
            <a:ext cx="4476549" cy="16852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A5FBCA-DAF2-43E8-A9FE-4BE0FDFE1383}"/>
                  </a:ext>
                </a:extLst>
              </p:cNvPr>
              <p:cNvSpPr txBox="1"/>
              <p:nvPr/>
            </p:nvSpPr>
            <p:spPr>
              <a:xfrm>
                <a:off x="7256106" y="3946850"/>
                <a:ext cx="4935894" cy="587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MAMBA</a:t>
                </a:r>
                <a:r>
                  <a:rPr lang="ko-KR" altLang="en-US"/>
                  <a:t>는 행렬 </a:t>
                </a:r>
                <a:r>
                  <a:rPr lang="en-US" altLang="ko-KR"/>
                  <a:t>B,C </a:t>
                </a:r>
                <a:r>
                  <a:rPr lang="ko-KR" altLang="en-US"/>
                  <a:t>그리고 스텝 크기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ko-KR" altLang="en-US"/>
                  <a:t>를 입력 받도록 시퀀스 길이와 배치 크기를 포함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8A5FBCA-DAF2-43E8-A9FE-4BE0FDFE1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6106" y="3946850"/>
                <a:ext cx="4935894" cy="587574"/>
              </a:xfrm>
              <a:prstGeom prst="rect">
                <a:avLst/>
              </a:prstGeom>
              <a:blipFill>
                <a:blip r:embed="rId5"/>
                <a:stretch>
                  <a:fillRect l="-988" t="-5155" b="-247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D3AB641A-0C69-468F-B8D6-DCF899C949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8801" y="4507351"/>
            <a:ext cx="3830504" cy="16672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4D33C9D-88F5-48DE-B112-565389CA018D}"/>
              </a:ext>
            </a:extLst>
          </p:cNvPr>
          <p:cNvSpPr txBox="1"/>
          <p:nvPr/>
        </p:nvSpPr>
        <p:spPr>
          <a:xfrm>
            <a:off x="5918887" y="6151715"/>
            <a:ext cx="6217803" cy="693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모든 입력 토큰에 대해 서로 다른 </a:t>
            </a:r>
            <a:r>
              <a:rPr lang="en-US" altLang="ko-KR"/>
              <a:t>B</a:t>
            </a:r>
            <a:r>
              <a:rPr lang="ko-KR" altLang="en-US"/>
              <a:t>와 </a:t>
            </a:r>
            <a:r>
              <a:rPr lang="en-US" altLang="ko-KR"/>
              <a:t>C </a:t>
            </a:r>
            <a:r>
              <a:rPr lang="ko-KR" altLang="en-US"/>
              <a:t>행렬을 가지고 있다는 것을 의미하고 </a:t>
            </a:r>
            <a:r>
              <a:rPr lang="en-US" altLang="ko-KR"/>
              <a:t>content-awareness</a:t>
            </a:r>
            <a:r>
              <a:rPr lang="ko-KR" altLang="en-US"/>
              <a:t>를 해결함</a:t>
            </a:r>
          </a:p>
        </p:txBody>
      </p:sp>
    </p:spTree>
    <p:extLst>
      <p:ext uri="{BB962C8B-B14F-4D97-AF65-F5344CB8AC3E}">
        <p14:creationId xmlns:p14="http://schemas.microsoft.com/office/powerpoint/2010/main" val="1587614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5CA40E-EE08-4401-BC6A-55A81A8F58B5}"/>
                  </a:ext>
                </a:extLst>
              </p:cNvPr>
              <p:cNvSpPr txBox="1"/>
              <p:nvPr/>
            </p:nvSpPr>
            <p:spPr>
              <a:xfrm>
                <a:off x="-14075" y="261257"/>
                <a:ext cx="8089802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/>
                  <a:t>스텝 크기 </a:t>
                </a: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ko-KR" altLang="en-US"/>
                  <a:t> 특정 단어를 무시하고 이전 맥락에 더 포커스를 두지만</a:t>
                </a:r>
                <a:r>
                  <a:rPr lang="en-US" altLang="ko-KR"/>
                  <a:t>, </a:t>
                </a:r>
                <a:r>
                  <a:rPr lang="ko-KR" altLang="en-US"/>
                  <a:t>더 큰 스템 크기는 맥락보다 입력 단어에 더 집중한다</a:t>
                </a:r>
                <a:r>
                  <a:rPr lang="en-US" altLang="ko-KR"/>
                  <a:t>.</a:t>
                </a:r>
              </a:p>
              <a:p>
                <a:endParaRPr lang="en-US" altLang="ko-KR"/>
              </a:p>
              <a:p>
                <a:r>
                  <a:rPr lang="en-US" altLang="ko-KR"/>
                  <a:t>the scan operation</a:t>
                </a:r>
              </a:p>
              <a:p>
                <a:endParaRPr lang="en-US" altLang="ko-KR"/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행렬이 동적이기 때문에</a:t>
                </a:r>
                <a:r>
                  <a:rPr lang="en-US" altLang="ko-KR"/>
                  <a:t>, </a:t>
                </a:r>
                <a:r>
                  <a:rPr lang="ko-KR" altLang="en-US"/>
                  <a:t>고정된 커널에서의 컨볼루션 </a:t>
                </a:r>
                <a:br>
                  <a:rPr lang="en-US" altLang="ko-KR"/>
                </a:br>
                <a:r>
                  <a:rPr lang="ko-KR" altLang="en-US"/>
                  <a:t>표현을 사용할 수 없음</a:t>
                </a:r>
                <a:endParaRPr lang="en-US" altLang="ko-KR"/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따라서</a:t>
                </a:r>
                <a:r>
                  <a:rPr lang="en-US" altLang="ko-KR"/>
                  <a:t>, </a:t>
                </a:r>
                <a:r>
                  <a:rPr lang="ko-KR" altLang="en-US"/>
                  <a:t>컨볼루션 병렬화를 잃고 재귀적 표현만을 사용할 수 있음</a:t>
                </a:r>
                <a:br>
                  <a:rPr lang="en-US" altLang="ko-KR"/>
                </a:br>
                <a:r>
                  <a:rPr lang="en-US" altLang="ko-KR"/>
                  <a:t>(SSM</a:t>
                </a:r>
                <a:r>
                  <a:rPr lang="ko-KR" altLang="en-US"/>
                  <a:t>의 장점 삭제</a:t>
                </a:r>
                <a:r>
                  <a:rPr lang="en-US" altLang="ko-KR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재귀적으로 계산을 출력하는 과정을 보면 이전 상태를 가지고 있어야만 각 상태를 계산할 수 있으므로 불가능해 보임</a:t>
                </a:r>
                <a:endParaRPr lang="en-US" altLang="ko-KR"/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그러나</a:t>
                </a:r>
                <a:r>
                  <a:rPr lang="en-US" altLang="ko-KR"/>
                  <a:t>, MAMBA</a:t>
                </a:r>
                <a:r>
                  <a:rPr lang="ko-KR" altLang="en-US"/>
                  <a:t>는 병렬 스캔 알고리즘을 통해 가능하게 함</a:t>
                </a:r>
                <a:r>
                  <a:rPr lang="en-US" altLang="ko-KR"/>
                  <a:t>.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연산 순서가 중요하지 않다는 것을 가정함</a:t>
                </a:r>
                <a:endParaRPr lang="en-US" altLang="ko-KR"/>
              </a:p>
              <a:p>
                <a:pPr marL="285750" indent="-285750">
                  <a:buFontTx/>
                  <a:buChar char="-"/>
                </a:pPr>
                <a:r>
                  <a:rPr lang="en-US" altLang="ko-KR" b="0" i="0">
                    <a:solidFill>
                      <a:srgbClr val="242424"/>
                    </a:solidFill>
                    <a:effectLst/>
                    <a:latin typeface="source-serif-pro"/>
                  </a:rPr>
                  <a:t>Hardware-aware Parallel Scan Algorithm(</a:t>
                </a:r>
                <a:r>
                  <a:rPr lang="ko-KR" altLang="en-US" b="0" i="0">
                    <a:solidFill>
                      <a:srgbClr val="242424"/>
                    </a:solidFill>
                    <a:effectLst/>
                    <a:latin typeface="source-serif-pro"/>
                  </a:rPr>
                  <a:t>병렬 스캔 알고리즘</a:t>
                </a:r>
                <a:r>
                  <a:rPr lang="en-US" altLang="ko-KR" b="0" i="0">
                    <a:solidFill>
                      <a:srgbClr val="242424"/>
                    </a:solidFill>
                    <a:effectLst/>
                    <a:latin typeface="source-serif-pro"/>
                  </a:rPr>
                  <a:t>)</a:t>
                </a:r>
                <a:r>
                  <a:rPr lang="ko-KR" altLang="en-US" b="0" i="0">
                    <a:solidFill>
                      <a:srgbClr val="242424"/>
                    </a:solidFill>
                    <a:effectLst/>
                    <a:latin typeface="source-serif-pro"/>
                  </a:rPr>
                  <a:t>은 </a:t>
                </a:r>
                <a:r>
                  <a:rPr lang="en-US" altLang="ko-KR" b="0" i="0">
                    <a:solidFill>
                      <a:srgbClr val="242424"/>
                    </a:solidFill>
                    <a:effectLst/>
                    <a:latin typeface="source-serif-pro"/>
                  </a:rPr>
                  <a:t>Hidden State</a:t>
                </a:r>
                <a:r>
                  <a:rPr lang="ko-KR" altLang="en-US" b="0" i="0">
                    <a:solidFill>
                      <a:srgbClr val="242424"/>
                    </a:solidFill>
                    <a:effectLst/>
                    <a:latin typeface="source-serif-pro"/>
                  </a:rPr>
                  <a:t>를 메모리에 저장하지 않고 병렬적으로 </a:t>
                </a:r>
                <a:r>
                  <a:rPr lang="en-US" altLang="ko-KR" b="0" i="0">
                    <a:solidFill>
                      <a:srgbClr val="242424"/>
                    </a:solidFill>
                    <a:effectLst/>
                    <a:latin typeface="source-serif-pro"/>
                  </a:rPr>
                  <a:t>scan </a:t>
                </a:r>
                <a:r>
                  <a:rPr lang="ko-KR" altLang="en-US" b="0" i="0">
                    <a:solidFill>
                      <a:srgbClr val="242424"/>
                    </a:solidFill>
                    <a:effectLst/>
                    <a:latin typeface="source-serif-pro"/>
                  </a:rPr>
                  <a:t>연산을 수행하는 방식이다</a:t>
                </a:r>
                <a:endParaRPr lang="en-US" altLang="ko-KR" b="0" i="0">
                  <a:solidFill>
                    <a:srgbClr val="242424"/>
                  </a:solidFill>
                  <a:effectLst/>
                  <a:latin typeface="source-serif-pro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85CA40E-EE08-4401-BC6A-55A81A8F5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075" y="261257"/>
                <a:ext cx="8089802" cy="4247317"/>
              </a:xfrm>
              <a:prstGeom prst="rect">
                <a:avLst/>
              </a:prstGeom>
              <a:blipFill>
                <a:blip r:embed="rId3"/>
                <a:stretch>
                  <a:fillRect l="-829" t="-861" r="-226" b="-12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그룹 9">
            <a:extLst>
              <a:ext uri="{FF2B5EF4-FFF2-40B4-BE49-F238E27FC236}">
                <a16:creationId xmlns:a16="http://schemas.microsoft.com/office/drawing/2014/main" id="{F56A490B-8627-4659-8F11-FB245AA80C53}"/>
              </a:ext>
            </a:extLst>
          </p:cNvPr>
          <p:cNvGrpSpPr/>
          <p:nvPr/>
        </p:nvGrpSpPr>
        <p:grpSpPr>
          <a:xfrm>
            <a:off x="8169053" y="88624"/>
            <a:ext cx="3919265" cy="2584098"/>
            <a:chOff x="7589864" y="762444"/>
            <a:chExt cx="4311192" cy="258409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009FB46-A8EC-4EE3-812B-C068E9151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89864" y="762444"/>
              <a:ext cx="4311192" cy="2584098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72B57DF-F22A-4607-886F-198EB962CE57}"/>
                </a:ext>
              </a:extLst>
            </p:cNvPr>
            <p:cNvSpPr/>
            <p:nvPr/>
          </p:nvSpPr>
          <p:spPr>
            <a:xfrm>
              <a:off x="9423918" y="883574"/>
              <a:ext cx="2090057" cy="5318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위 그림 이해 </a:t>
              </a:r>
              <a:r>
                <a:rPr lang="en-US" altLang="ko-KR"/>
                <a:t>x</a:t>
              </a:r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A3258922-14AD-405B-A83A-34F6F812C8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279" y="2859948"/>
            <a:ext cx="3264812" cy="113810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A25CE96-4508-4FBA-B73D-EAE235E758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694" y="4054559"/>
            <a:ext cx="3384436" cy="2294281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F06F3114-D340-4B49-AA5E-94B7674DC75E}"/>
              </a:ext>
            </a:extLst>
          </p:cNvPr>
          <p:cNvSpPr/>
          <p:nvPr/>
        </p:nvSpPr>
        <p:spPr>
          <a:xfrm>
            <a:off x="6930802" y="4792980"/>
            <a:ext cx="2152237" cy="3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/>
              <a:t>입력 신호를 상태 공간으로 매핑하고 하향식 상태 업데이트를 수행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2E441E-DADB-415F-99F7-887A1DEE5B88}"/>
              </a:ext>
            </a:extLst>
          </p:cNvPr>
          <p:cNvSpPr/>
          <p:nvPr/>
        </p:nvSpPr>
        <p:spPr>
          <a:xfrm>
            <a:off x="6930801" y="5353843"/>
            <a:ext cx="2152237" cy="3505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/>
              <a:t>상태공간에서 상향식으로 계산하여 최종 상태 벡터를 결정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7B30E6F8-C28D-4DAB-8662-0637AAADDB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2408" y="4508574"/>
            <a:ext cx="3907841" cy="22942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CCE5B19-4319-4EEA-A95A-4F7DD2063BB3}"/>
              </a:ext>
            </a:extLst>
          </p:cNvPr>
          <p:cNvSpPr txBox="1"/>
          <p:nvPr/>
        </p:nvSpPr>
        <p:spPr>
          <a:xfrm>
            <a:off x="7308342" y="6368182"/>
            <a:ext cx="5347716" cy="630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=&gt; </a:t>
            </a:r>
            <a:r>
              <a:rPr lang="ko-KR" altLang="en-US"/>
              <a:t>입력 신호와 상태 업데이트가 독립적으로 이루어져 시간 복잡도를</a:t>
            </a:r>
            <a:r>
              <a:rPr lang="en-US" altLang="ko-KR"/>
              <a:t>(O(n/t))</a:t>
            </a:r>
            <a:r>
              <a:rPr lang="ko-KR" altLang="en-US"/>
              <a:t>로 줄이는데 기여함</a:t>
            </a:r>
          </a:p>
        </p:txBody>
      </p:sp>
    </p:spTree>
    <p:extLst>
      <p:ext uri="{BB962C8B-B14F-4D97-AF65-F5344CB8AC3E}">
        <p14:creationId xmlns:p14="http://schemas.microsoft.com/office/powerpoint/2010/main" val="2418247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3C7003F-663D-483C-B759-A8FB66EFF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840" y="281011"/>
            <a:ext cx="3887160" cy="10164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C41B8A-E163-4E6D-875C-69E4EC7695E2}"/>
              </a:ext>
            </a:extLst>
          </p:cNvPr>
          <p:cNvSpPr txBox="1"/>
          <p:nvPr/>
        </p:nvSpPr>
        <p:spPr>
          <a:xfrm>
            <a:off x="398884" y="281011"/>
            <a:ext cx="79059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>
                <a:solidFill>
                  <a:srgbClr val="242424"/>
                </a:solidFill>
                <a:latin typeface="source-serif-pro"/>
              </a:rPr>
              <a:t>병렬 스캔 알고리즘을 사용하기 위해 </a:t>
            </a:r>
            <a:r>
              <a:rPr lang="en-US" altLang="ko-KR">
                <a:solidFill>
                  <a:srgbClr val="242424"/>
                </a:solidFill>
                <a:latin typeface="source-serif-pro"/>
              </a:rPr>
              <a:t>Kernel fusion </a:t>
            </a:r>
            <a:r>
              <a:rPr lang="ko-KR" altLang="en-US">
                <a:solidFill>
                  <a:srgbClr val="242424"/>
                </a:solidFill>
                <a:latin typeface="source-serif-pro"/>
              </a:rPr>
              <a:t>기법을 활용함</a:t>
            </a:r>
            <a:r>
              <a:rPr lang="en-US" altLang="ko-KR">
                <a:solidFill>
                  <a:srgbClr val="242424"/>
                </a:solidFill>
                <a:latin typeface="source-serif-pro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>
                <a:solidFill>
                  <a:srgbClr val="242424"/>
                </a:solidFill>
                <a:latin typeface="source-serif-pro"/>
              </a:rPr>
              <a:t>Kernel fusion</a:t>
            </a:r>
            <a:r>
              <a:rPr lang="ko-KR" altLang="en-US">
                <a:solidFill>
                  <a:srgbClr val="242424"/>
                </a:solidFill>
                <a:latin typeface="source-serif-pro"/>
              </a:rPr>
              <a:t>은 입력과 파라미터를 </a:t>
            </a:r>
            <a:r>
              <a:rPr lang="en-US" altLang="ko-KR">
                <a:solidFill>
                  <a:srgbClr val="242424"/>
                </a:solidFill>
                <a:latin typeface="source-serif-pro"/>
              </a:rPr>
              <a:t>GPU HBM</a:t>
            </a:r>
            <a:r>
              <a:rPr lang="ko-KR" altLang="en-US">
                <a:solidFill>
                  <a:srgbClr val="242424"/>
                </a:solidFill>
                <a:latin typeface="source-serif-pro"/>
              </a:rPr>
              <a:t>에서 읽어오고 </a:t>
            </a:r>
            <a:r>
              <a:rPr lang="en-US" altLang="ko-KR">
                <a:solidFill>
                  <a:srgbClr val="242424"/>
                </a:solidFill>
                <a:latin typeface="source-serif-pro"/>
              </a:rPr>
              <a:t>SRAM</a:t>
            </a:r>
            <a:r>
              <a:rPr lang="ko-KR" altLang="en-US">
                <a:solidFill>
                  <a:srgbClr val="242424"/>
                </a:solidFill>
                <a:latin typeface="source-serif-pro"/>
              </a:rPr>
              <a:t>에 로드함</a:t>
            </a:r>
            <a:br>
              <a:rPr lang="en-US" altLang="ko-KR">
                <a:solidFill>
                  <a:srgbClr val="242424"/>
                </a:solidFill>
                <a:latin typeface="source-serif-pro"/>
              </a:rPr>
            </a:br>
            <a:r>
              <a:rPr lang="ko-KR" altLang="en-US">
                <a:solidFill>
                  <a:srgbClr val="242424"/>
                </a:solidFill>
                <a:latin typeface="source-serif-pro"/>
              </a:rPr>
              <a:t>결과적으로</a:t>
            </a:r>
            <a:r>
              <a:rPr lang="en-US" altLang="ko-KR">
                <a:solidFill>
                  <a:srgbClr val="242424"/>
                </a:solidFill>
                <a:latin typeface="source-serif-pro"/>
              </a:rPr>
              <a:t>, </a:t>
            </a:r>
            <a:r>
              <a:rPr lang="ko-KR" altLang="en-US">
                <a:solidFill>
                  <a:srgbClr val="242424"/>
                </a:solidFill>
                <a:latin typeface="source-serif-pro"/>
              </a:rPr>
              <a:t>시퀀스를 부분적으로 계산하고 반복적으로 결합할 수 있음</a:t>
            </a:r>
            <a:endParaRPr lang="en-US" altLang="ko-KR">
              <a:solidFill>
                <a:srgbClr val="242424"/>
              </a:solidFill>
              <a:latin typeface="source-serif-pro"/>
            </a:endParaRPr>
          </a:p>
          <a:p>
            <a:pPr marL="285750" indent="-285750">
              <a:buFontTx/>
              <a:buChar char="-"/>
            </a:pPr>
            <a:r>
              <a:rPr lang="ko-KR" altLang="en-US"/>
              <a:t>중간 상태는 저장되지 않지만</a:t>
            </a:r>
            <a:r>
              <a:rPr lang="en-US" altLang="ko-KR"/>
              <a:t>, gradient</a:t>
            </a:r>
            <a:r>
              <a:rPr lang="ko-KR" altLang="en-US"/>
              <a:t>를 계산하기 위해 역방향 패스에서 필요하다</a:t>
            </a:r>
            <a:r>
              <a:rPr lang="en-US" altLang="ko-KR"/>
              <a:t>. </a:t>
            </a:r>
            <a:r>
              <a:rPr lang="ko-KR" altLang="en-US"/>
              <a:t>역방향 패스 동안 이러한 중간 상태들을 재계산한다</a:t>
            </a:r>
            <a:r>
              <a:rPr lang="en-US" altLang="ko-KR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아래 아키테거는 선택적 스캔 알고리즘으로 계산된 </a:t>
            </a:r>
            <a:r>
              <a:rPr lang="en-US" altLang="ko-KR"/>
              <a:t>S4</a:t>
            </a:r>
            <a:r>
              <a:rPr lang="ko-KR" altLang="en-US"/>
              <a:t>모델이다</a:t>
            </a:r>
            <a:r>
              <a:rPr lang="en-US" altLang="ko-KR"/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3A84E08-FB43-46F0-A4C6-3D2D731A4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629" y="1297442"/>
            <a:ext cx="3404514" cy="176670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7CF420E-6D8C-4C25-BBC8-A5D26587F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1770" y="1979387"/>
            <a:ext cx="5059618" cy="167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64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6C63334-14E4-448B-A615-F7B3D2EEC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812" y="0"/>
            <a:ext cx="4599286" cy="27515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59E02D-FA67-4C48-B72D-D1E4BB60AA57}"/>
                  </a:ext>
                </a:extLst>
              </p:cNvPr>
              <p:cNvSpPr txBox="1"/>
              <p:nvPr/>
            </p:nvSpPr>
            <p:spPr>
              <a:xfrm>
                <a:off x="326571" y="457200"/>
                <a:ext cx="7175241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The Mamba Block</a:t>
                </a:r>
              </a:p>
              <a:p>
                <a:endParaRPr lang="en-US" altLang="ko-KR"/>
              </a:p>
              <a:p>
                <a:pPr marL="285750" indent="-285750">
                  <a:buFontTx/>
                  <a:buChar char="-"/>
                </a:pPr>
                <a:r>
                  <a:rPr lang="en-US" altLang="ko-KR"/>
                  <a:t>Mamba</a:t>
                </a:r>
                <a:r>
                  <a:rPr lang="ko-KR" altLang="en-US"/>
                  <a:t>는 </a:t>
                </a:r>
                <a:r>
                  <a:rPr lang="en-US" altLang="ko-KR"/>
                  <a:t>H3 </a:t>
                </a:r>
                <a:r>
                  <a:rPr lang="ko-KR" altLang="en-US"/>
                  <a:t>요소</a:t>
                </a:r>
                <a:r>
                  <a:rPr lang="en-US" altLang="ko-KR"/>
                  <a:t>(?)</a:t>
                </a:r>
                <a:r>
                  <a:rPr lang="ko-KR" altLang="en-US"/>
                  <a:t>와 트랜스포머에서 자주 사용하는 </a:t>
                </a:r>
                <a:r>
                  <a:rPr lang="en-US" altLang="ko-KR"/>
                  <a:t>Gated MLP</a:t>
                </a:r>
                <a:r>
                  <a:rPr lang="ko-KR" altLang="en-US"/>
                  <a:t>를 섞은 형식으로 오른쪽 그림과 같다</a:t>
                </a:r>
                <a:r>
                  <a:rPr lang="en-US" altLang="ko-KR"/>
                  <a:t>.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ko-KR" altLang="en-US"/>
                  <a:t>는 </a:t>
                </a:r>
                <a:r>
                  <a:rPr lang="en-US" altLang="ko-KR"/>
                  <a:t>Swish </a:t>
                </a:r>
                <a:r>
                  <a:rPr lang="ko-KR" altLang="en-US"/>
                  <a:t>활성화 함수 사용</a:t>
                </a:r>
                <a:br>
                  <a:rPr lang="en-US" altLang="ko-KR"/>
                </a:br>
                <a:r>
                  <a:rPr lang="en-US" altLang="ko-KR"/>
                  <a:t>=&gt; Swish</a:t>
                </a:r>
                <a:r>
                  <a:rPr lang="ko-KR" altLang="en-US"/>
                  <a:t>의 </a:t>
                </a:r>
                <a:r>
                  <a:rPr lang="ko-KR" altLang="en-US">
                    <a:solidFill>
                      <a:srgbClr val="FF0000"/>
                    </a:solidFill>
                  </a:rPr>
                  <a:t>연속적이고 부드러운 특성이 더 나은 학습 성능과 안정성을 제공</a:t>
                </a:r>
                <a:r>
                  <a:rPr lang="ko-KR" altLang="en-US"/>
                  <a:t>할 수 있다</a:t>
                </a:r>
                <a:r>
                  <a:rPr lang="en-US" altLang="ko-KR"/>
                  <a:t>. </a:t>
                </a:r>
                <a:r>
                  <a:rPr lang="ko-KR" altLang="en-US"/>
                  <a:t>특히</a:t>
                </a:r>
                <a:r>
                  <a:rPr lang="en-US" altLang="ko-KR"/>
                  <a:t>, </a:t>
                </a:r>
                <a:r>
                  <a:rPr lang="ko-KR" altLang="en-US">
                    <a:solidFill>
                      <a:srgbClr val="FF0000"/>
                    </a:solidFill>
                  </a:rPr>
                  <a:t>연속적인 신호 처리</a:t>
                </a:r>
                <a:r>
                  <a:rPr lang="en-US" altLang="ko-KR"/>
                  <a:t>, </a:t>
                </a:r>
                <a:r>
                  <a:rPr lang="ko-KR" altLang="en-US"/>
                  <a:t>복잡한 상태 전이</a:t>
                </a:r>
                <a:r>
                  <a:rPr lang="en-US" altLang="ko-KR"/>
                  <a:t>, </a:t>
                </a:r>
                <a:r>
                  <a:rPr lang="ko-KR" altLang="en-US"/>
                  <a:t>다양한 출력 특성을 다룰때 유리한 특징을 가지고 있다</a:t>
                </a:r>
                <a:r>
                  <a:rPr lang="en-US" altLang="ko-KR"/>
                  <a:t>.</a:t>
                </a:r>
                <a:br>
                  <a:rPr lang="en-US" altLang="ko-KR"/>
                </a:br>
                <a:r>
                  <a:rPr lang="en-US" altLang="ko-KR"/>
                  <a:t>=&gt; ReLU</a:t>
                </a:r>
                <a:r>
                  <a:rPr lang="ko-KR" altLang="en-US"/>
                  <a:t>는 </a:t>
                </a:r>
                <a:r>
                  <a:rPr lang="en-US" altLang="ko-KR"/>
                  <a:t>x=0</a:t>
                </a:r>
                <a:r>
                  <a:rPr lang="ko-KR" altLang="en-US"/>
                  <a:t>일때</a:t>
                </a:r>
                <a:r>
                  <a:rPr lang="en-US" altLang="ko-KR"/>
                  <a:t>, </a:t>
                </a:r>
                <a:r>
                  <a:rPr lang="ko-KR" altLang="en-US"/>
                  <a:t>미분을 할 수 없으므로 사용 </a:t>
                </a:r>
                <a:r>
                  <a:rPr lang="en-US" altLang="ko-KR"/>
                  <a:t>x</a:t>
                </a:r>
                <a:endParaRPr lang="ko-KR" alt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59E02D-FA67-4C48-B72D-D1E4BB60A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571" y="457200"/>
                <a:ext cx="7175241" cy="2585323"/>
              </a:xfrm>
              <a:prstGeom prst="rect">
                <a:avLst/>
              </a:prstGeom>
              <a:blipFill>
                <a:blip r:embed="rId4"/>
                <a:stretch>
                  <a:fillRect l="-935" t="-1179" r="-340" b="-28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ADCEFF41-17ED-408C-8A83-5273864338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6654" y="2145106"/>
            <a:ext cx="2688619" cy="184967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87107DA-7F08-4AFF-9358-1AAEA408BF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5003" y="4041462"/>
            <a:ext cx="5186095" cy="25708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B21810A-11B0-4137-BA44-6D131D1F64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721" y="3785764"/>
            <a:ext cx="5728179" cy="3007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778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AAE225-4FF7-4CE9-87D2-28121A17EF01}"/>
              </a:ext>
            </a:extLst>
          </p:cNvPr>
          <p:cNvSpPr txBox="1"/>
          <p:nvPr/>
        </p:nvSpPr>
        <p:spPr>
          <a:xfrm>
            <a:off x="310122" y="0"/>
            <a:ext cx="7086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Selective SSM</a:t>
            </a:r>
          </a:p>
          <a:p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이산화를 통해 생성된 재귀적 </a:t>
            </a:r>
            <a:r>
              <a:rPr lang="en-US" altLang="ko-KR"/>
              <a:t>SSM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장거리 의존성을 포착하기 위한 </a:t>
            </a:r>
            <a:r>
              <a:rPr lang="en-US" altLang="ko-KR"/>
              <a:t>HiPPO </a:t>
            </a:r>
            <a:r>
              <a:rPr lang="ko-KR" altLang="en-US"/>
              <a:t>초기화가 있는 행렬 </a:t>
            </a:r>
            <a:r>
              <a:rPr lang="en-US" altLang="ko-KR"/>
              <a:t>A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정보를 선택적으로 압축하기 위한 선택적 알고리즘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계산 속도를 높이기 위한 하드웨어 인식 알고리즘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AFC6E48-0028-41C6-A322-17F68663C3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263"/>
          <a:stretch/>
        </p:blipFill>
        <p:spPr>
          <a:xfrm>
            <a:off x="10182263" y="7155"/>
            <a:ext cx="2795679" cy="14011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6AAAAA-55EC-43B8-B5D7-8410F0607863}"/>
              </a:ext>
            </a:extLst>
          </p:cNvPr>
          <p:cNvSpPr txBox="1"/>
          <p:nvPr/>
        </p:nvSpPr>
        <p:spPr>
          <a:xfrm>
            <a:off x="436118" y="1782982"/>
            <a:ext cx="113197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실험 결과</a:t>
            </a:r>
            <a:endParaRPr lang="en-US" altLang="ko-KR"/>
          </a:p>
          <a:p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실제 성능을 비교하기위해 </a:t>
            </a:r>
            <a:r>
              <a:rPr lang="en-US" altLang="ko-KR"/>
              <a:t>Selective Mechanism</a:t>
            </a:r>
            <a:r>
              <a:rPr lang="ko-KR" altLang="en-US"/>
              <a:t>을 도입한 </a:t>
            </a:r>
            <a:r>
              <a:rPr lang="en-US" altLang="ko-KR"/>
              <a:t>SSM</a:t>
            </a:r>
            <a:r>
              <a:rPr lang="ko-KR" altLang="en-US"/>
              <a:t>과 그렇지 않은 </a:t>
            </a:r>
            <a:r>
              <a:rPr lang="en-US" altLang="ko-KR"/>
              <a:t>SSM(H3) </a:t>
            </a:r>
            <a:r>
              <a:rPr lang="ko-KR" altLang="en-US"/>
              <a:t>비교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X</a:t>
            </a:r>
            <a:r>
              <a:rPr lang="ko-KR" altLang="en-US"/>
              <a:t>축은 연산 복잡도</a:t>
            </a:r>
            <a:r>
              <a:rPr lang="en-US" altLang="ko-KR"/>
              <a:t>, Y</a:t>
            </a:r>
            <a:r>
              <a:rPr lang="ko-KR" altLang="en-US"/>
              <a:t>축은 성능이다 </a:t>
            </a:r>
            <a:r>
              <a:rPr lang="en-US" altLang="ko-KR"/>
              <a:t>Y</a:t>
            </a:r>
            <a:r>
              <a:rPr lang="ko-KR" altLang="en-US"/>
              <a:t>축이 낮을 수록 더 정확하게 언어를 맞출수 있음을 의미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MAMBA</a:t>
            </a:r>
            <a:r>
              <a:rPr lang="ko-KR" altLang="en-US"/>
              <a:t>가 두개의 그래프에서 성능이 가장 좋음을 보여줌</a:t>
            </a:r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E7EA804-FD4E-4584-A45C-3C51135225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391"/>
          <a:stretch/>
        </p:blipFill>
        <p:spPr>
          <a:xfrm>
            <a:off x="7131542" y="70918"/>
            <a:ext cx="2968945" cy="13763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B69947-E290-4B38-B927-A8E63BB640E0}"/>
              </a:ext>
            </a:extLst>
          </p:cNvPr>
          <p:cNvSpPr txBox="1"/>
          <p:nvPr/>
        </p:nvSpPr>
        <p:spPr>
          <a:xfrm>
            <a:off x="185547" y="3288966"/>
            <a:ext cx="118209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결론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Mamba</a:t>
            </a:r>
            <a:r>
              <a:rPr lang="ko-KR" altLang="en-US"/>
              <a:t>의 핵심 연산인 병렬 스캔</a:t>
            </a:r>
            <a:r>
              <a:rPr lang="en-US" altLang="ko-KR"/>
              <a:t>(parallel scan)</a:t>
            </a:r>
            <a:r>
              <a:rPr lang="ko-KR" altLang="en-US"/>
              <a:t>이 표준 구현 방식보다 </a:t>
            </a:r>
            <a:r>
              <a:rPr lang="en-US" altLang="ko-KR"/>
              <a:t>40</a:t>
            </a:r>
            <a:r>
              <a:rPr lang="ko-KR" altLang="en-US"/>
              <a:t>배 빠른 속도 보여줌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Mamba</a:t>
            </a:r>
            <a:r>
              <a:rPr lang="ko-KR" altLang="en-US"/>
              <a:t>가 </a:t>
            </a:r>
            <a:r>
              <a:rPr lang="en-US" altLang="ko-KR"/>
              <a:t>GPU </a:t>
            </a:r>
            <a:r>
              <a:rPr lang="ko-KR" altLang="en-US"/>
              <a:t>메모리 계층 구조를 효율적으로 활용한다는 결론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또한</a:t>
            </a:r>
            <a:r>
              <a:rPr lang="en-US" altLang="ko-KR"/>
              <a:t>, Mamba</a:t>
            </a:r>
            <a:r>
              <a:rPr lang="ko-KR" altLang="en-US"/>
              <a:t>는 </a:t>
            </a:r>
            <a:r>
              <a:rPr lang="en-US" altLang="ko-KR"/>
              <a:t>recurrent </a:t>
            </a:r>
            <a:r>
              <a:rPr lang="ko-KR" altLang="en-US"/>
              <a:t>모델로 </a:t>
            </a:r>
            <a:r>
              <a:rPr lang="en-US" altLang="ko-KR"/>
              <a:t>transforme</a:t>
            </a:r>
            <a:r>
              <a:rPr lang="ko-KR" altLang="en-US"/>
              <a:t>보다 </a:t>
            </a:r>
            <a:r>
              <a:rPr lang="en-US" altLang="ko-KR"/>
              <a:t>5</a:t>
            </a:r>
            <a:r>
              <a:rPr lang="ko-KR" altLang="en-US"/>
              <a:t>배 높은 처리량을 달성하여 동일한 하드웨어에서 더 많은 토큰을 처리할 수 있어 추론 속도가 훨씬 빠름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결론적으로</a:t>
            </a:r>
            <a:r>
              <a:rPr lang="en-US" altLang="ko-KR"/>
              <a:t>, </a:t>
            </a:r>
            <a:r>
              <a:rPr lang="ko-KR" altLang="en-US"/>
              <a:t>구조화된 </a:t>
            </a:r>
            <a:r>
              <a:rPr lang="en-US" altLang="ko-KR"/>
              <a:t>SSM</a:t>
            </a:r>
            <a:r>
              <a:rPr lang="ko-KR" altLang="en-US"/>
              <a:t>에 </a:t>
            </a:r>
            <a:r>
              <a:rPr lang="en-US" altLang="ko-KR"/>
              <a:t>Selection </a:t>
            </a:r>
            <a:r>
              <a:rPr lang="ko-KR" altLang="en-US"/>
              <a:t>메커니즘을 도입하여 시퀀스 길이에 따라 선형적으로 확장되는 동시에 맥락 의존적 추론을 수행할 수 있도록 함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Attention</a:t>
            </a:r>
            <a:r>
              <a:rPr lang="ko-KR" altLang="en-US"/>
              <a:t>을 사용하지 않는 아키텍처에 통합된 </a:t>
            </a:r>
            <a:r>
              <a:rPr lang="en-US" altLang="ko-KR"/>
              <a:t>Mamba</a:t>
            </a:r>
            <a:r>
              <a:rPr lang="ko-KR" altLang="en-US"/>
              <a:t>는 다양한 도메인에서 좋은 결과를 달성했음</a:t>
            </a:r>
            <a:r>
              <a:rPr lang="en-US" altLang="ko-KR"/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B9EA0CC-A050-4284-B2E8-9077A78F9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5665061"/>
            <a:ext cx="4297680" cy="119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882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27CFDD-4BEE-4FE5-95D9-FED36E831787}"/>
              </a:ext>
            </a:extLst>
          </p:cNvPr>
          <p:cNvSpPr txBox="1"/>
          <p:nvPr/>
        </p:nvSpPr>
        <p:spPr>
          <a:xfrm>
            <a:off x="128276" y="196701"/>
            <a:ext cx="84230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언어 모델링 측면에서 트랜스포머보다 더 나은 신경망모델</a:t>
            </a:r>
            <a:endParaRPr lang="en-US" altLang="ko-KR"/>
          </a:p>
          <a:p>
            <a:r>
              <a:rPr lang="en-US" altLang="ko-KR"/>
              <a:t>-&gt;</a:t>
            </a:r>
            <a:r>
              <a:rPr lang="ko-KR" altLang="en-US"/>
              <a:t>계산 비용 낮으며 성능 좋음</a:t>
            </a:r>
            <a:endParaRPr lang="en-US" altLang="ko-KR"/>
          </a:p>
          <a:p>
            <a:r>
              <a:rPr lang="en-US" altLang="ko-KR"/>
              <a:t>MAMBA</a:t>
            </a:r>
            <a:r>
              <a:rPr lang="ko-KR" altLang="en-US"/>
              <a:t>는 상태공간모델로부터 확장하여 표현됨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RNN</a:t>
            </a:r>
            <a:r>
              <a:rPr lang="ko-KR" altLang="en-US"/>
              <a:t>은 순차 데이터 처리에 효과적이지만 학습속도 느림</a:t>
            </a:r>
            <a:endParaRPr lang="en-US" altLang="ko-KR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8BB9A23-62AF-4E63-BE52-44DB717A6946}"/>
              </a:ext>
            </a:extLst>
          </p:cNvPr>
          <p:cNvGrpSpPr/>
          <p:nvPr/>
        </p:nvGrpSpPr>
        <p:grpSpPr>
          <a:xfrm>
            <a:off x="6280420" y="286693"/>
            <a:ext cx="5894563" cy="4570617"/>
            <a:chOff x="6017548" y="1842932"/>
            <a:chExt cx="5894563" cy="4570617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796C48F-AABE-4C45-8E19-2DBE9EC9223F}"/>
                </a:ext>
              </a:extLst>
            </p:cNvPr>
            <p:cNvSpPr/>
            <p:nvPr/>
          </p:nvSpPr>
          <p:spPr>
            <a:xfrm>
              <a:off x="6321669" y="5934808"/>
              <a:ext cx="1837592" cy="4787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State-Space Models</a:t>
              </a:r>
              <a:endParaRPr lang="ko-KR" altLang="en-US"/>
            </a:p>
          </p:txBody>
        </p:sp>
        <p:sp>
          <p:nvSpPr>
            <p:cNvPr id="7" name="화살표: 오른쪽 6">
              <a:extLst>
                <a:ext uri="{FF2B5EF4-FFF2-40B4-BE49-F238E27FC236}">
                  <a16:creationId xmlns:a16="http://schemas.microsoft.com/office/drawing/2014/main" id="{AB878B85-A524-4A98-A576-667F660DD686}"/>
                </a:ext>
              </a:extLst>
            </p:cNvPr>
            <p:cNvSpPr/>
            <p:nvPr/>
          </p:nvSpPr>
          <p:spPr>
            <a:xfrm rot="16200000">
              <a:off x="7062438" y="5537338"/>
              <a:ext cx="356052" cy="35968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13BEE06-ABD8-47B4-BE57-A952499DAE53}"/>
                </a:ext>
              </a:extLst>
            </p:cNvPr>
            <p:cNvSpPr/>
            <p:nvPr/>
          </p:nvSpPr>
          <p:spPr>
            <a:xfrm>
              <a:off x="6321669" y="4911146"/>
              <a:ext cx="1837592" cy="4787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HiPPO</a:t>
              </a:r>
              <a:endParaRPr lang="ko-KR" altLang="en-US"/>
            </a:p>
          </p:txBody>
        </p:sp>
        <p:sp>
          <p:nvSpPr>
            <p:cNvPr id="9" name="화살표: 오른쪽 8">
              <a:extLst>
                <a:ext uri="{FF2B5EF4-FFF2-40B4-BE49-F238E27FC236}">
                  <a16:creationId xmlns:a16="http://schemas.microsoft.com/office/drawing/2014/main" id="{A8873E47-3DC2-4524-A5EA-CBECE7BB52CE}"/>
                </a:ext>
              </a:extLst>
            </p:cNvPr>
            <p:cNvSpPr/>
            <p:nvPr/>
          </p:nvSpPr>
          <p:spPr>
            <a:xfrm rot="16200000">
              <a:off x="7062438" y="4513676"/>
              <a:ext cx="356052" cy="35968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530CAD3F-920B-4CC7-B1FB-1A523E94420F}"/>
                </a:ext>
              </a:extLst>
            </p:cNvPr>
            <p:cNvSpPr/>
            <p:nvPr/>
          </p:nvSpPr>
          <p:spPr>
            <a:xfrm>
              <a:off x="6321669" y="4003662"/>
              <a:ext cx="1837592" cy="4787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Discretiazation</a:t>
              </a:r>
              <a:endParaRPr lang="ko-KR" altLang="en-US"/>
            </a:p>
          </p:txBody>
        </p:sp>
        <p:sp>
          <p:nvSpPr>
            <p:cNvPr id="11" name="화살표: 오른쪽 10">
              <a:extLst>
                <a:ext uri="{FF2B5EF4-FFF2-40B4-BE49-F238E27FC236}">
                  <a16:creationId xmlns:a16="http://schemas.microsoft.com/office/drawing/2014/main" id="{4E543BB1-4B83-46BD-8E08-26662FB57A61}"/>
                </a:ext>
              </a:extLst>
            </p:cNvPr>
            <p:cNvSpPr/>
            <p:nvPr/>
          </p:nvSpPr>
          <p:spPr>
            <a:xfrm rot="16200000">
              <a:off x="7062438" y="3606192"/>
              <a:ext cx="356052" cy="35968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5D7D7F2-1D2D-4D31-A47A-422463C57CB9}"/>
                </a:ext>
              </a:extLst>
            </p:cNvPr>
            <p:cNvSpPr/>
            <p:nvPr/>
          </p:nvSpPr>
          <p:spPr>
            <a:xfrm>
              <a:off x="6017548" y="3096178"/>
              <a:ext cx="2445835" cy="4787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Structured</a:t>
              </a:r>
            </a:p>
            <a:p>
              <a:pPr algn="ctr"/>
              <a:r>
                <a:rPr lang="en-US" altLang="ko-KR"/>
                <a:t>State-Space Models</a:t>
              </a:r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99D4FD7-C438-4B21-A334-829ABA84948D}"/>
                </a:ext>
              </a:extLst>
            </p:cNvPr>
            <p:cNvSpPr/>
            <p:nvPr/>
          </p:nvSpPr>
          <p:spPr>
            <a:xfrm>
              <a:off x="10506342" y="4003662"/>
              <a:ext cx="1141000" cy="4787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RNN</a:t>
              </a:r>
              <a:endParaRPr lang="ko-KR" altLang="en-US"/>
            </a:p>
          </p:txBody>
        </p:sp>
        <p:sp>
          <p:nvSpPr>
            <p:cNvPr id="19" name="화살표: 오른쪽 18">
              <a:extLst>
                <a:ext uri="{FF2B5EF4-FFF2-40B4-BE49-F238E27FC236}">
                  <a16:creationId xmlns:a16="http://schemas.microsoft.com/office/drawing/2014/main" id="{82DA68CE-235A-4E75-AB2D-9875FAEE6B95}"/>
                </a:ext>
              </a:extLst>
            </p:cNvPr>
            <p:cNvSpPr/>
            <p:nvPr/>
          </p:nvSpPr>
          <p:spPr>
            <a:xfrm rot="16200000">
              <a:off x="10898815" y="3606192"/>
              <a:ext cx="356052" cy="35968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B4A62CCD-3D6E-4672-848E-C5BBD5518EBF}"/>
                </a:ext>
              </a:extLst>
            </p:cNvPr>
            <p:cNvSpPr/>
            <p:nvPr/>
          </p:nvSpPr>
          <p:spPr>
            <a:xfrm>
              <a:off x="10241573" y="3096178"/>
              <a:ext cx="1670538" cy="4787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Linearization</a:t>
              </a:r>
              <a:endParaRPr lang="ko-KR" altLang="en-US"/>
            </a:p>
          </p:txBody>
        </p:sp>
        <p:sp>
          <p:nvSpPr>
            <p:cNvPr id="21" name="화살표: 오른쪽 20">
              <a:extLst>
                <a:ext uri="{FF2B5EF4-FFF2-40B4-BE49-F238E27FC236}">
                  <a16:creationId xmlns:a16="http://schemas.microsoft.com/office/drawing/2014/main" id="{ECEB2E92-94DD-48C5-AE2D-4D12308077B3}"/>
                </a:ext>
              </a:extLst>
            </p:cNvPr>
            <p:cNvSpPr/>
            <p:nvPr/>
          </p:nvSpPr>
          <p:spPr>
            <a:xfrm rot="13966494">
              <a:off x="9705250" y="2550913"/>
              <a:ext cx="752992" cy="35968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화살표: 오른쪽 21">
              <a:extLst>
                <a:ext uri="{FF2B5EF4-FFF2-40B4-BE49-F238E27FC236}">
                  <a16:creationId xmlns:a16="http://schemas.microsoft.com/office/drawing/2014/main" id="{EC05B3AE-BA8C-4DC3-97B7-1997602F073C}"/>
                </a:ext>
              </a:extLst>
            </p:cNvPr>
            <p:cNvSpPr/>
            <p:nvPr/>
          </p:nvSpPr>
          <p:spPr>
            <a:xfrm rot="18195715">
              <a:off x="7987253" y="2555780"/>
              <a:ext cx="752992" cy="35968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108E0DA-75D0-4B67-A8B2-9FE31E6592FC}"/>
                </a:ext>
              </a:extLst>
            </p:cNvPr>
            <p:cNvSpPr/>
            <p:nvPr/>
          </p:nvSpPr>
          <p:spPr>
            <a:xfrm>
              <a:off x="7878587" y="1842932"/>
              <a:ext cx="2445835" cy="47874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Mamba</a:t>
              </a:r>
              <a:endParaRPr lang="ko-KR" altLang="en-US"/>
            </a:p>
          </p:txBody>
        </p:sp>
      </p:grpSp>
      <p:pic>
        <p:nvPicPr>
          <p:cNvPr id="25" name="그림 24">
            <a:extLst>
              <a:ext uri="{FF2B5EF4-FFF2-40B4-BE49-F238E27FC236}">
                <a16:creationId xmlns:a16="http://schemas.microsoft.com/office/drawing/2014/main" id="{06BDFC91-F6E3-43F5-B724-9660FD0FB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068" y="5318061"/>
            <a:ext cx="5224520" cy="105137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5833FBD-1057-44FC-994A-848F6C0B6BC3}"/>
              </a:ext>
            </a:extLst>
          </p:cNvPr>
          <p:cNvSpPr txBox="1"/>
          <p:nvPr/>
        </p:nvSpPr>
        <p:spPr>
          <a:xfrm>
            <a:off x="0" y="1611851"/>
            <a:ext cx="101111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트랜스포머</a:t>
            </a:r>
            <a:endParaRPr lang="en-US" altLang="ko-KR"/>
          </a:p>
          <a:p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Attention </a:t>
            </a:r>
            <a:r>
              <a:rPr lang="ko-KR" altLang="en-US"/>
              <a:t>기법을 통해 장거리 종속성 개선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input</a:t>
            </a:r>
            <a:r>
              <a:rPr lang="ko-KR" altLang="en-US"/>
              <a:t>이 길면 느리다</a:t>
            </a:r>
            <a:r>
              <a:rPr lang="en-US" altLang="ko-KR"/>
              <a:t>.</a:t>
            </a:r>
            <a:br>
              <a:rPr lang="en-US" altLang="ko-KR"/>
            </a:br>
            <a:r>
              <a:rPr lang="en-US" altLang="ko-KR"/>
              <a:t>- self-attention </a:t>
            </a:r>
            <a:r>
              <a:rPr lang="ko-KR" altLang="en-US"/>
              <a:t>메커니즘 떄문에</a:t>
            </a:r>
            <a:r>
              <a:rPr lang="en-US" altLang="ko-KR"/>
              <a:t>. </a:t>
            </a:r>
            <a:r>
              <a:rPr lang="ko-KR" altLang="en-US"/>
              <a:t>모든 쌍이 상호작용 해야함</a:t>
            </a:r>
            <a:br>
              <a:rPr lang="en-US" altLang="ko-KR"/>
            </a:br>
            <a:r>
              <a:rPr lang="en-US" altLang="ko-KR"/>
              <a:t>- </a:t>
            </a:r>
            <a:r>
              <a:rPr lang="ko-KR" altLang="en-US"/>
              <a:t>시퀀스 길이가 </a:t>
            </a:r>
            <a:r>
              <a:rPr lang="en-US" altLang="ko-KR"/>
              <a:t>n</a:t>
            </a:r>
            <a:r>
              <a:rPr lang="ko-KR" altLang="en-US"/>
              <a:t>일때 </a:t>
            </a:r>
            <a:r>
              <a:rPr lang="en-US" altLang="ko-KR"/>
              <a:t>O(n^2)</a:t>
            </a:r>
            <a:r>
              <a:rPr lang="ko-KR" altLang="en-US"/>
              <a:t>의 시간 복잡도를 가짐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메모리 사용량도 동일하게 증가</a:t>
            </a:r>
            <a:endParaRPr lang="en-US" altLang="ko-KR"/>
          </a:p>
          <a:p>
            <a:pPr marL="285750" indent="-285750">
              <a:buFontTx/>
              <a:buChar char="-"/>
            </a:pPr>
            <a:endParaRPr lang="en-US" altLang="ko-KR"/>
          </a:p>
          <a:p>
            <a:pPr marL="285750" indent="-285750">
              <a:buFontTx/>
              <a:buChar char="-"/>
            </a:pPr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97A92177-5449-42E4-ACD4-88EC7D164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313" y="3555470"/>
            <a:ext cx="3922264" cy="3389218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A3FB4738-36BF-4A95-A0F2-9FA497F0DE58}"/>
              </a:ext>
            </a:extLst>
          </p:cNvPr>
          <p:cNvSpPr/>
          <p:nvPr/>
        </p:nvSpPr>
        <p:spPr>
          <a:xfrm>
            <a:off x="8948057" y="3265714"/>
            <a:ext cx="3666931" cy="17778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>
                <a:solidFill>
                  <a:schemeClr val="bg1"/>
                </a:solidFill>
              </a:rPr>
              <a:t>정리</a:t>
            </a:r>
            <a:r>
              <a:rPr lang="en-US" altLang="ko-KR" sz="1400">
                <a:solidFill>
                  <a:schemeClr val="bg1"/>
                </a:solidFill>
              </a:rPr>
              <a:t>:</a:t>
            </a:r>
          </a:p>
          <a:p>
            <a:r>
              <a:rPr lang="ko-KR" altLang="en-US" sz="1400" b="1" i="0">
                <a:solidFill>
                  <a:schemeClr val="bg1"/>
                </a:solidFill>
                <a:effectLst/>
                <a:latin typeface="ui-sans-serif"/>
              </a:rPr>
              <a:t>상태 공간 모델의 방정식을 활용하여 상태 전이 행렬 </a:t>
            </a:r>
            <a:r>
              <a:rPr lang="en-US" altLang="ko-KR" sz="1400" b="1" i="0">
                <a:solidFill>
                  <a:schemeClr val="bg1"/>
                </a:solidFill>
                <a:effectLst/>
                <a:latin typeface="KaTeX_Main"/>
              </a:rPr>
              <a:t>A</a:t>
            </a:r>
            <a:r>
              <a:rPr lang="ko-KR" altLang="en-US" sz="1400" b="1" i="0">
                <a:solidFill>
                  <a:schemeClr val="bg1"/>
                </a:solidFill>
                <a:effectLst/>
                <a:latin typeface="ui-sans-serif"/>
              </a:rPr>
              <a:t>를 </a:t>
            </a:r>
            <a:r>
              <a:rPr lang="en-US" altLang="ko-KR" sz="1400" b="1" i="0">
                <a:solidFill>
                  <a:schemeClr val="bg1"/>
                </a:solidFill>
                <a:effectLst/>
                <a:latin typeface="ui-sans-serif"/>
              </a:rPr>
              <a:t>HiPPO </a:t>
            </a:r>
            <a:r>
              <a:rPr lang="ko-KR" altLang="en-US" sz="1400" b="1" i="0">
                <a:solidFill>
                  <a:schemeClr val="bg1"/>
                </a:solidFill>
                <a:effectLst/>
                <a:latin typeface="ui-sans-serif"/>
              </a:rPr>
              <a:t>구조에 맞게 수정하고</a:t>
            </a:r>
            <a:r>
              <a:rPr lang="en-US" altLang="ko-KR" sz="1400" b="1" i="0">
                <a:solidFill>
                  <a:schemeClr val="bg1"/>
                </a:solidFill>
                <a:effectLst/>
                <a:latin typeface="ui-sans-serif"/>
              </a:rPr>
              <a:t>, ZOH </a:t>
            </a:r>
            <a:r>
              <a:rPr lang="ko-KR" altLang="en-US" sz="1400" b="1" i="0">
                <a:solidFill>
                  <a:schemeClr val="bg1"/>
                </a:solidFill>
                <a:effectLst/>
                <a:latin typeface="ui-sans-serif"/>
              </a:rPr>
              <a:t>기법을 통해 이산화한다</a:t>
            </a:r>
            <a:r>
              <a:rPr lang="en-US" altLang="ko-KR" sz="1400" b="1" i="0">
                <a:solidFill>
                  <a:schemeClr val="bg1"/>
                </a:solidFill>
                <a:effectLst/>
                <a:latin typeface="ui-sans-serif"/>
              </a:rPr>
              <a:t>. </a:t>
            </a:r>
            <a:r>
              <a:rPr lang="ko-KR" altLang="en-US" sz="1400" b="1" i="0">
                <a:solidFill>
                  <a:schemeClr val="bg1"/>
                </a:solidFill>
                <a:effectLst/>
                <a:latin typeface="ui-sans-serif"/>
              </a:rPr>
              <a:t>이를 바탕으로 </a:t>
            </a:r>
            <a:r>
              <a:rPr lang="en-US" altLang="ko-KR" sz="1400" b="1" i="0">
                <a:solidFill>
                  <a:schemeClr val="bg1"/>
                </a:solidFill>
                <a:effectLst/>
                <a:latin typeface="ui-sans-serif"/>
              </a:rPr>
              <a:t>HiPPO</a:t>
            </a:r>
            <a:r>
              <a:rPr lang="ko-KR" altLang="en-US" sz="1400" b="1" i="0">
                <a:solidFill>
                  <a:schemeClr val="bg1"/>
                </a:solidFill>
                <a:effectLst/>
                <a:latin typeface="ui-sans-serif"/>
              </a:rPr>
              <a:t>와 이산화를 기반으로 </a:t>
            </a:r>
            <a:r>
              <a:rPr lang="en-US" altLang="ko-KR" sz="1400" b="1" i="0">
                <a:solidFill>
                  <a:schemeClr val="bg1"/>
                </a:solidFill>
                <a:effectLst/>
                <a:latin typeface="ui-sans-serif"/>
              </a:rPr>
              <a:t>SSM</a:t>
            </a:r>
            <a:r>
              <a:rPr lang="ko-KR" altLang="en-US" sz="1400" b="1" i="0">
                <a:solidFill>
                  <a:schemeClr val="bg1"/>
                </a:solidFill>
                <a:effectLst/>
                <a:latin typeface="ui-sans-serif"/>
              </a:rPr>
              <a:t>을 구조화한다</a:t>
            </a:r>
            <a:r>
              <a:rPr lang="en-US" altLang="ko-KR" sz="1400" b="1" i="0">
                <a:solidFill>
                  <a:schemeClr val="bg1"/>
                </a:solidFill>
                <a:effectLst/>
                <a:latin typeface="ui-sans-serif"/>
              </a:rPr>
              <a:t>. </a:t>
            </a:r>
            <a:r>
              <a:rPr lang="ko-KR" altLang="en-US" sz="1400" b="1" i="0">
                <a:solidFill>
                  <a:schemeClr val="bg1"/>
                </a:solidFill>
                <a:effectLst/>
                <a:latin typeface="ui-sans-serif"/>
              </a:rPr>
              <a:t>이후</a:t>
            </a:r>
            <a:r>
              <a:rPr lang="en-US" altLang="ko-KR" sz="1400" b="1" i="0">
                <a:solidFill>
                  <a:schemeClr val="bg1"/>
                </a:solidFill>
                <a:effectLst/>
                <a:latin typeface="ui-sans-serif"/>
              </a:rPr>
              <a:t>, RNN</a:t>
            </a:r>
            <a:r>
              <a:rPr lang="ko-KR" altLang="en-US" sz="1400" b="1" i="0">
                <a:solidFill>
                  <a:schemeClr val="bg1"/>
                </a:solidFill>
                <a:effectLst/>
                <a:latin typeface="ui-sans-serif"/>
              </a:rPr>
              <a:t>의 비선형 특성을 제거하여 선형화된 형태로 구조화된 </a:t>
            </a:r>
            <a:r>
              <a:rPr lang="en-US" altLang="ko-KR" sz="1400" b="1" i="0">
                <a:solidFill>
                  <a:schemeClr val="bg1"/>
                </a:solidFill>
                <a:effectLst/>
                <a:latin typeface="ui-sans-serif"/>
              </a:rPr>
              <a:t>SSM</a:t>
            </a:r>
            <a:r>
              <a:rPr lang="ko-KR" altLang="en-US" sz="1400" b="1" i="0">
                <a:solidFill>
                  <a:schemeClr val="bg1"/>
                </a:solidFill>
                <a:effectLst/>
                <a:latin typeface="ui-sans-serif"/>
              </a:rPr>
              <a:t>과 결합한 후 학습을 수행한다</a:t>
            </a:r>
            <a:r>
              <a:rPr lang="en-US" altLang="ko-KR" sz="1400" b="1" i="0">
                <a:solidFill>
                  <a:schemeClr val="bg1"/>
                </a:solidFill>
                <a:effectLst/>
                <a:latin typeface="ui-sans-serif"/>
              </a:rPr>
              <a:t>.</a:t>
            </a:r>
            <a:endParaRPr lang="ko-KR" altLang="en-US" sz="1400">
              <a:solidFill>
                <a:schemeClr val="bg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ED97940-3386-4F43-A3F7-0BB6F08235F3}"/>
              </a:ext>
            </a:extLst>
          </p:cNvPr>
          <p:cNvSpPr/>
          <p:nvPr/>
        </p:nvSpPr>
        <p:spPr>
          <a:xfrm>
            <a:off x="10982131" y="488565"/>
            <a:ext cx="2445835" cy="10945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계산량 줄어들고 긴 시퀀스의 처리에서 효율성이 높아짐</a:t>
            </a:r>
            <a:r>
              <a:rPr lang="en-US" altLang="ko-KR" sz="1400"/>
              <a:t>. </a:t>
            </a:r>
            <a:r>
              <a:rPr lang="ko-KR" altLang="en-US" sz="1400"/>
              <a:t>또한</a:t>
            </a:r>
            <a:r>
              <a:rPr lang="en-US" altLang="ko-KR" sz="1400"/>
              <a:t>, </a:t>
            </a:r>
            <a:r>
              <a:rPr lang="ko-KR" altLang="en-US" sz="1400"/>
              <a:t>안정성도 증가</a:t>
            </a:r>
            <a:endParaRPr lang="en-US" altLang="ko-KR" sz="1400"/>
          </a:p>
          <a:p>
            <a:pPr algn="ctr"/>
            <a:r>
              <a:rPr lang="en-US" altLang="ko-KR" sz="1400"/>
              <a:t>ssm</a:t>
            </a:r>
            <a:r>
              <a:rPr lang="ko-KR" altLang="en-US" sz="1400"/>
              <a:t>의 형태와 매우 유사해지며 결합하기 쉬워짐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E0F368C3-94D2-47C2-BDEC-F686DCA77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750" y="-29997"/>
            <a:ext cx="2726920" cy="488183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96AA8897-D98B-4CCF-9E6A-7CBF29323650}"/>
              </a:ext>
            </a:extLst>
          </p:cNvPr>
          <p:cNvSpPr/>
          <p:nvPr/>
        </p:nvSpPr>
        <p:spPr>
          <a:xfrm>
            <a:off x="11519556" y="1885648"/>
            <a:ext cx="1959429" cy="7344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RNN</a:t>
            </a:r>
            <a:r>
              <a:rPr lang="ko-KR" altLang="en-US" sz="900"/>
              <a:t>의 단점 중 하나인 병렬화 불가능 문제를 </a:t>
            </a:r>
            <a:r>
              <a:rPr lang="en-US" altLang="ko-KR" sz="900"/>
              <a:t>Linear recurrence convolution</a:t>
            </a:r>
            <a:r>
              <a:rPr lang="ko-KR" altLang="en-US" sz="900"/>
              <a:t>으로 해결</a:t>
            </a:r>
            <a:r>
              <a:rPr lang="en-US" altLang="ko-KR" sz="900"/>
              <a:t>(LMU)</a:t>
            </a:r>
          </a:p>
          <a:p>
            <a:pPr algn="ctr"/>
            <a:r>
              <a:rPr lang="en-US" altLang="ko-KR" sz="900"/>
              <a:t>https://junia3.github.io/blog/lssl</a:t>
            </a:r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4272640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370A83-7290-41FD-B8D2-F0A821E026EC}"/>
              </a:ext>
            </a:extLst>
          </p:cNvPr>
          <p:cNvSpPr txBox="1"/>
          <p:nvPr/>
        </p:nvSpPr>
        <p:spPr>
          <a:xfrm>
            <a:off x="30369" y="59931"/>
            <a:ext cx="1223449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SSM(Space State Models)</a:t>
            </a:r>
          </a:p>
          <a:p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트랜스포머기반 모델에 비해 다양한 작업에서 계산 비용이 낮고 성능이 좋음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제어 이론 및 계산 신경 과학에 뿌리를 둠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동적 시스템을 상태 변수로 모델링하여 딥러닝 적용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1</a:t>
            </a:r>
            <a:r>
              <a:rPr lang="ko-KR" altLang="en-US"/>
              <a:t>차원 </a:t>
            </a:r>
            <a:r>
              <a:rPr lang="en-US" altLang="ko-KR"/>
              <a:t>input</a:t>
            </a:r>
            <a:r>
              <a:rPr lang="ko-KR" altLang="en-US"/>
              <a:t>을 입력받아 잠재 공간에 매핑 후 다시 </a:t>
            </a:r>
            <a:r>
              <a:rPr lang="en-US" altLang="ko-KR"/>
              <a:t>1</a:t>
            </a:r>
            <a:r>
              <a:rPr lang="ko-KR" altLang="en-US"/>
              <a:t>차원 출력으로 내보냄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SSM</a:t>
            </a:r>
            <a:r>
              <a:rPr lang="ko-KR" altLang="en-US"/>
              <a:t>은 긴 시퀀스를 효율적으로 모델링할 수 있으며 메모리와 계산 자원을 덜 소모함</a:t>
            </a:r>
            <a:br>
              <a:rPr lang="en-US" altLang="ko-KR"/>
            </a:br>
            <a:r>
              <a:rPr lang="en-US" altLang="ko-KR">
                <a:solidFill>
                  <a:srgbClr val="FF0000"/>
                </a:solidFill>
              </a:rPr>
              <a:t>- </a:t>
            </a:r>
            <a:r>
              <a:rPr lang="ko-KR" altLang="en-US">
                <a:solidFill>
                  <a:srgbClr val="FF0000"/>
                </a:solidFill>
              </a:rPr>
              <a:t>긴 시퀀스를 어떻게 효율적으로 모델링할 수 있는지</a:t>
            </a:r>
            <a:endParaRPr lang="en-US" altLang="ko-KR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altLang="ko-KR"/>
              <a:t>SSM </a:t>
            </a:r>
            <a:r>
              <a:rPr lang="ko-KR" altLang="en-US"/>
              <a:t>수식에서 선형적인 계산 복잡도 가지고 있으며</a:t>
            </a:r>
            <a:r>
              <a:rPr lang="en-US" altLang="ko-KR"/>
              <a:t>, </a:t>
            </a:r>
            <a:r>
              <a:rPr lang="ko-KR" altLang="en-US"/>
              <a:t>효율적인 훈련을 위해 병렬 계산이 가능</a:t>
            </a:r>
            <a:br>
              <a:rPr lang="en-US" altLang="ko-KR"/>
            </a:br>
            <a:r>
              <a:rPr lang="en-US" altLang="ko-KR"/>
              <a:t>-&gt; </a:t>
            </a:r>
            <a:r>
              <a:rPr lang="ko-KR" altLang="en-US"/>
              <a:t>하지만</a:t>
            </a:r>
            <a:r>
              <a:rPr lang="en-US" altLang="ko-KR"/>
              <a:t>, </a:t>
            </a:r>
            <a:r>
              <a:rPr lang="ko-KR" altLang="en-US"/>
              <a:t>더 많은 메모리가 필요할 수 있음 또한</a:t>
            </a:r>
            <a:r>
              <a:rPr lang="en-US" altLang="ko-KR"/>
              <a:t>, </a:t>
            </a:r>
            <a:r>
              <a:rPr lang="ko-KR" altLang="en-US"/>
              <a:t>훈련 중 그레디언트 소실 문제 발생가능성 있음</a:t>
            </a:r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B76BDC0-669A-4C6C-9693-6579F2365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582" y="0"/>
            <a:ext cx="3838418" cy="17128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562ED2-7182-4AC0-8D16-D72BBF57D91D}"/>
                  </a:ext>
                </a:extLst>
              </p:cNvPr>
              <p:cNvSpPr txBox="1"/>
              <p:nvPr/>
            </p:nvSpPr>
            <p:spPr>
              <a:xfrm>
                <a:off x="-42496" y="2982184"/>
                <a:ext cx="12234496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Deep</a:t>
                </a:r>
                <a:r>
                  <a:rPr lang="ko-KR" altLang="en-US"/>
                  <a:t> </a:t>
                </a:r>
                <a:r>
                  <a:rPr lang="en-US" altLang="ko-KR"/>
                  <a:t>SSM</a:t>
                </a:r>
              </a:p>
              <a:p>
                <a:endParaRPr lang="en-US" altLang="ko-KR"/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상태공간 방정식은 </a:t>
                </a:r>
                <a:r>
                  <a:rPr lang="en-US" altLang="ko-KR"/>
                  <a:t>1</a:t>
                </a:r>
                <a:r>
                  <a:rPr lang="ko-KR" altLang="en-US"/>
                  <a:t>차원 입력 신호를 </a:t>
                </a:r>
                <a:r>
                  <a:rPr lang="en-US" altLang="ko-KR"/>
                  <a:t>N</a:t>
                </a:r>
                <a:r>
                  <a:rPr lang="ko-KR" altLang="en-US"/>
                  <a:t>차원의 잠재 상태 </a:t>
                </a:r>
                <a:r>
                  <a:rPr lang="en-US" altLang="ko-KR"/>
                  <a:t>x(t)</a:t>
                </a:r>
                <a:r>
                  <a:rPr lang="ko-KR" altLang="en-US"/>
                  <a:t>로 매핑한 후에 </a:t>
                </a:r>
                <a:r>
                  <a:rPr lang="en-US" altLang="ko-KR"/>
                  <a:t>1</a:t>
                </a:r>
                <a:r>
                  <a:rPr lang="ko-KR" altLang="en-US"/>
                  <a:t>차원 출력 신호 </a:t>
                </a:r>
                <a:r>
                  <a:rPr lang="en-US" altLang="ko-KR"/>
                  <a:t>y(t)</a:t>
                </a:r>
                <a:r>
                  <a:rPr lang="ko-KR" altLang="en-US"/>
                  <a:t>로 투영함</a:t>
                </a:r>
                <a:endParaRPr lang="en-US" altLang="ko-KR"/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즉</a:t>
                </a:r>
                <a:r>
                  <a:rPr lang="en-US" altLang="ko-KR"/>
                  <a:t>, </a:t>
                </a:r>
                <a:r>
                  <a:rPr lang="ko-KR" altLang="en-US"/>
                  <a:t>입력 신호인 </a:t>
                </a:r>
                <a:r>
                  <a:rPr lang="en-US" altLang="ko-KR"/>
                  <a:t>u(t)</a:t>
                </a:r>
                <a:r>
                  <a:rPr lang="ko-KR" altLang="en-US"/>
                  <a:t>를 </a:t>
                </a:r>
                <a:r>
                  <a:rPr lang="en-US" altLang="ko-KR"/>
                  <a:t>State representation vector x(t)</a:t>
                </a:r>
                <a:r>
                  <a:rPr lang="ko-KR" altLang="en-US"/>
                  <a:t>와 출력 벡터 </a:t>
                </a:r>
                <a:r>
                  <a:rPr lang="en-US" altLang="ko-KR"/>
                  <a:t>y(t)</a:t>
                </a:r>
                <a:r>
                  <a:rPr lang="ko-KR" altLang="en-US"/>
                  <a:t>로 매핑함</a:t>
                </a:r>
                <a:endParaRPr lang="en-US" altLang="ko-KR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ko-KR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ko-KR" b="0" i="1">
                  <a:latin typeface="Cambria Math" panose="02040503050406030204" pitchFamily="18" charset="0"/>
                </a:endParaRPr>
              </a:p>
              <a:p>
                <a:endParaRPr lang="en-US" altLang="ko-KR" b="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ko-KR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상태벡터</a:t>
                </a:r>
                <a:r>
                  <a:rPr lang="en-US" altLang="ko-KR"/>
                  <a:t>, </a:t>
                </a:r>
                <a:r>
                  <a:rPr lang="ko-KR" altLang="en-US"/>
                  <a:t>출력벡터</a:t>
                </a:r>
                <a:r>
                  <a:rPr lang="en-US" altLang="ko-KR"/>
                  <a:t>,</a:t>
                </a:r>
                <a:r>
                  <a:rPr lang="ko-KR" altLang="en-US"/>
                  <a:t>입력</a:t>
                </a:r>
                <a:r>
                  <a:rPr lang="en-US" altLang="ko-KR"/>
                  <a:t>(</a:t>
                </a:r>
                <a:r>
                  <a:rPr lang="ko-KR" altLang="en-US"/>
                  <a:t>제어</a:t>
                </a:r>
                <a:r>
                  <a:rPr lang="en-US" altLang="ko-KR"/>
                  <a:t>)</a:t>
                </a:r>
                <a:r>
                  <a:rPr lang="ko-KR" altLang="en-US"/>
                  <a:t>벡터</a:t>
                </a:r>
                <a:endParaRPr lang="en-US" altLang="ko-KR"/>
              </a:p>
              <a:p>
                <a:endParaRPr lang="en-US" altLang="ko-KR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F562ED2-7182-4AC0-8D16-D72BBF57D9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2496" y="2982184"/>
                <a:ext cx="12234496" cy="2585323"/>
              </a:xfrm>
              <a:prstGeom prst="rect">
                <a:avLst/>
              </a:prstGeom>
              <a:blipFill>
                <a:blip r:embed="rId4"/>
                <a:stretch>
                  <a:fillRect l="-498" t="-11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81853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51856A-DD00-49E0-89DA-9B527FBB7B28}"/>
              </a:ext>
            </a:extLst>
          </p:cNvPr>
          <p:cNvSpPr txBox="1"/>
          <p:nvPr/>
        </p:nvSpPr>
        <p:spPr>
          <a:xfrm>
            <a:off x="326571" y="307910"/>
            <a:ext cx="115139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ZOH(Zero Order Hold), 0</a:t>
            </a:r>
            <a:r>
              <a:rPr lang="ko-KR" altLang="en-US"/>
              <a:t>차 홀드 방식</a:t>
            </a:r>
            <a:endParaRPr lang="en-US" altLang="ko-KR"/>
          </a:p>
          <a:p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보통 제어기는 디지털 방식으로 구현되고 있다</a:t>
            </a:r>
            <a:r>
              <a:rPr lang="en-US" altLang="ko-KR"/>
              <a:t>. 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이 방식에서는 제어기의 출력도 디지털 신호이기 때문에 일정한 시간 간격에서만 사용할 수 있다</a:t>
            </a:r>
            <a:r>
              <a:rPr lang="en-US" altLang="ko-KR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이산시간</a:t>
            </a:r>
            <a:r>
              <a:rPr lang="en-US" altLang="ko-KR"/>
              <a:t>(Discrete-time) </a:t>
            </a:r>
            <a:r>
              <a:rPr lang="ko-KR" altLang="en-US"/>
              <a:t>단계에서만 새로운 제어 입력값을 사용할 수 있다</a:t>
            </a:r>
            <a:r>
              <a:rPr lang="en-US" altLang="ko-KR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하지만</a:t>
            </a:r>
            <a:r>
              <a:rPr lang="en-US" altLang="ko-KR"/>
              <a:t>, </a:t>
            </a:r>
            <a:r>
              <a:rPr lang="ko-KR" altLang="en-US"/>
              <a:t>제어 대상 시스템이 연속시간</a:t>
            </a:r>
            <a:r>
              <a:rPr lang="en-US" altLang="ko-KR"/>
              <a:t>(Continuous-time) </a:t>
            </a:r>
            <a:r>
              <a:rPr lang="ko-KR" altLang="en-US"/>
              <a:t>시스템이라면 연속적인 입력이 필요하기 때문에 간헐적으로 계산되는 제어 입력을 사용할 수 없다</a:t>
            </a:r>
            <a:r>
              <a:rPr lang="en-US" altLang="ko-KR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/>
              <a:t>다음 샘플링 시간까지 제어입력 값을 일정하게 유지시키는 것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이를 </a:t>
            </a:r>
            <a:r>
              <a:rPr lang="en-US" altLang="ko-KR"/>
              <a:t>0</a:t>
            </a:r>
            <a:r>
              <a:rPr lang="ko-KR" altLang="en-US"/>
              <a:t>차 홀드 방식</a:t>
            </a:r>
            <a:endParaRPr lang="en-US" altLang="ko-KR"/>
          </a:p>
          <a:p>
            <a:pPr marL="285750" indent="-285750">
              <a:buFontTx/>
              <a:buChar char="-"/>
            </a:pPr>
            <a:endParaRPr lang="en-US" altLang="ko-KR"/>
          </a:p>
          <a:p>
            <a:pPr marL="285750" indent="-285750">
              <a:buFontTx/>
              <a:buChar char="-"/>
            </a:pPr>
            <a:r>
              <a:rPr lang="ko-KR" altLang="en-US"/>
              <a:t>연속 시간 선형 시불변</a:t>
            </a:r>
            <a:r>
              <a:rPr lang="en-US" altLang="ko-KR"/>
              <a:t>(LTI, Linear Time Invariant)</a:t>
            </a:r>
            <a:r>
              <a:rPr lang="ko-KR" altLang="en-US"/>
              <a:t>시스템은 상태 공간 방정식을 표현</a:t>
            </a:r>
            <a:endParaRPr lang="en-US" altLang="ko-KR"/>
          </a:p>
          <a:p>
            <a:pPr marL="285750" indent="-285750">
              <a:buFontTx/>
              <a:buChar char="-"/>
            </a:pPr>
            <a:r>
              <a:rPr lang="en-US" altLang="ko-KR"/>
              <a:t>u(t)</a:t>
            </a:r>
            <a:r>
              <a:rPr lang="ko-KR" altLang="en-US"/>
              <a:t>가 시간 </a:t>
            </a:r>
            <a:r>
              <a:rPr lang="en-US" altLang="ko-KR"/>
              <a:t>t=t_k</a:t>
            </a:r>
            <a:r>
              <a:rPr lang="ko-KR" altLang="en-US"/>
              <a:t>에서만 바뀌고</a:t>
            </a:r>
            <a:r>
              <a:rPr lang="en-US" altLang="ko-KR"/>
              <a:t>, </a:t>
            </a:r>
            <a:r>
              <a:rPr lang="ko-KR" altLang="en-US"/>
              <a:t>시간 </a:t>
            </a:r>
            <a:r>
              <a:rPr lang="en-US" altLang="ko-KR"/>
              <a:t>t_k&lt;t&lt;t_k+1</a:t>
            </a:r>
            <a:r>
              <a:rPr lang="ko-KR" altLang="en-US"/>
              <a:t>사이에서는 일정한 값으로 유지</a:t>
            </a:r>
            <a:endParaRPr lang="en-US" altLang="ko-KR"/>
          </a:p>
          <a:p>
            <a:pPr marL="285750" indent="-285750">
              <a:buFontTx/>
              <a:buChar char="-"/>
            </a:pPr>
            <a:endParaRPr lang="en-US" altLang="ko-KR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468657B-B08C-41DB-A753-EDA82ECD09A0}"/>
              </a:ext>
            </a:extLst>
          </p:cNvPr>
          <p:cNvGrpSpPr/>
          <p:nvPr/>
        </p:nvGrpSpPr>
        <p:grpSpPr>
          <a:xfrm>
            <a:off x="8363698" y="3724230"/>
            <a:ext cx="3752938" cy="1378255"/>
            <a:chOff x="3763706" y="3682241"/>
            <a:chExt cx="3752938" cy="137825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3B279729-200A-4DA9-93E0-2A08957F9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63706" y="3682241"/>
              <a:ext cx="3691453" cy="895475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3B8DC66-C451-411B-A626-AAE5B9A76D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2689" y="4646270"/>
              <a:ext cx="3123955" cy="4142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8546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7C050A-C63A-418E-996E-2AE500F2C8FF}"/>
              </a:ext>
            </a:extLst>
          </p:cNvPr>
          <p:cNvSpPr txBox="1"/>
          <p:nvPr/>
        </p:nvSpPr>
        <p:spPr>
          <a:xfrm>
            <a:off x="2468880" y="704088"/>
            <a:ext cx="76535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목차</a:t>
            </a:r>
            <a:endParaRPr lang="en-US" altLang="ko-KR"/>
          </a:p>
          <a:p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Transformer</a:t>
            </a:r>
            <a:r>
              <a:rPr lang="ko-KR" altLang="en-US"/>
              <a:t> 문제점</a:t>
            </a:r>
            <a:br>
              <a:rPr lang="en-US" altLang="ko-KR"/>
            </a:br>
            <a:r>
              <a:rPr lang="en-US" altLang="ko-KR"/>
              <a:t>- transformer </a:t>
            </a:r>
            <a:r>
              <a:rPr lang="ko-KR" altLang="en-US"/>
              <a:t>설명</a:t>
            </a:r>
            <a:r>
              <a:rPr lang="en-US" altLang="ko-KR"/>
              <a:t>(</a:t>
            </a:r>
            <a:r>
              <a:rPr lang="ko-KR" altLang="en-US">
                <a:hlinkClick r:id="rId2"/>
              </a:rPr>
              <a:t>한계점 설명</a:t>
            </a:r>
            <a:r>
              <a:rPr lang="en-US" altLang="ko-KR"/>
              <a:t>)</a:t>
            </a:r>
            <a:br>
              <a:rPr lang="en-US" altLang="ko-KR"/>
            </a:br>
            <a:r>
              <a:rPr lang="en-US" altLang="ko-KR"/>
              <a:t>- RNN</a:t>
            </a:r>
            <a:r>
              <a:rPr lang="ko-KR" altLang="en-US"/>
              <a:t>을 써야하나</a:t>
            </a:r>
            <a:r>
              <a:rPr lang="en-US" altLang="ko-KR"/>
              <a:t>?</a:t>
            </a:r>
          </a:p>
          <a:p>
            <a:pPr marL="342900" indent="-342900">
              <a:buAutoNum type="arabicPeriod"/>
            </a:pPr>
            <a:r>
              <a:rPr lang="en-US" altLang="ko-KR"/>
              <a:t>SSM(State Space Models)</a:t>
            </a:r>
            <a:br>
              <a:rPr lang="en-US" altLang="ko-KR"/>
            </a:br>
            <a:r>
              <a:rPr lang="en-US" altLang="ko-KR"/>
              <a:t>- A</a:t>
            </a:r>
            <a:r>
              <a:rPr lang="ko-KR" altLang="en-US"/>
              <a:t>행렬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~</a:t>
            </a:r>
          </a:p>
          <a:p>
            <a:pPr marL="342900" indent="-342900">
              <a:buAutoNum type="arabicPeriod"/>
            </a:pPr>
            <a:r>
              <a:rPr lang="en-US" altLang="ko-KR"/>
              <a:t>~</a:t>
            </a:r>
          </a:p>
          <a:p>
            <a:pPr marL="342900" indent="-342900">
              <a:buAutoNum type="arabicPeriod"/>
            </a:pPr>
            <a:r>
              <a:rPr lang="ko-KR" altLang="en-US"/>
              <a:t>결론</a:t>
            </a:r>
            <a:r>
              <a:rPr lang="en-US" altLang="ko-KR"/>
              <a:t>(</a:t>
            </a:r>
            <a:r>
              <a:rPr lang="ko-KR" altLang="en-US">
                <a:hlinkClick r:id="rId2"/>
              </a:rPr>
              <a:t>다른 모델 설명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C948EE4-F5FB-4902-8526-618F16F9D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980" y="4328162"/>
            <a:ext cx="10174120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698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8A3D7B5-9DA8-4D5B-8C95-E506AFCD9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457"/>
            <a:ext cx="11803122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39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7F93764-0418-4F5E-A868-828BF047D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60961"/>
            <a:ext cx="6264235" cy="24120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F6B6292-B4FB-4C0E-809E-025D95A7C2A8}"/>
                  </a:ext>
                </a:extLst>
              </p:cNvPr>
              <p:cNvSpPr txBox="1"/>
              <p:nvPr/>
            </p:nvSpPr>
            <p:spPr>
              <a:xfrm>
                <a:off x="36576" y="0"/>
                <a:ext cx="9317736" cy="5082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/>
                  <a:t>flash attention</a:t>
                </a:r>
              </a:p>
              <a:p>
                <a:endParaRPr lang="en-US" altLang="ko-KR"/>
              </a:p>
              <a:p>
                <a:pPr marL="285750" indent="-285750">
                  <a:buFontTx/>
                  <a:buChar char="-"/>
                </a:pPr>
                <a:r>
                  <a:rPr lang="en-US" altLang="ko-KR"/>
                  <a:t>self-attention </a:t>
                </a:r>
                <a:r>
                  <a:rPr lang="ko-KR" altLang="en-US"/>
                  <a:t>연산은 시퀀스 길이에 대해 메모리 복잡도가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으</m:t>
                    </m:r>
                  </m:oMath>
                </a14:m>
                <a:r>
                  <a:rPr lang="ko-KR" altLang="en-US"/>
                  <a:t>로 증가</a:t>
                </a:r>
                <a:r>
                  <a:rPr lang="en-US" altLang="ko-KR"/>
                  <a:t>, </a:t>
                </a:r>
                <a:r>
                  <a:rPr lang="ko-KR" altLang="en-US"/>
                  <a:t>긴 시퀀스를 처리할 때 비효율적</a:t>
                </a:r>
                <a:r>
                  <a:rPr lang="en-US" altLang="ko-KR"/>
                  <a:t>.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메모리 접근</a:t>
                </a:r>
                <a:r>
                  <a:rPr lang="en-US" altLang="ko-KR"/>
                  <a:t>(IO) </a:t>
                </a:r>
                <a:r>
                  <a:rPr lang="ko-KR" altLang="en-US"/>
                  <a:t>병목 현상 </a:t>
                </a:r>
                <a:r>
                  <a:rPr lang="en-US" altLang="ko-KR"/>
                  <a:t>: self-attentio</a:t>
                </a:r>
                <a:r>
                  <a:rPr lang="ko-KR" altLang="en-US"/>
                  <a:t>은 주로 </a:t>
                </a:r>
                <a:r>
                  <a:rPr lang="en-US" altLang="ko-KR"/>
                  <a:t>HBM(</a:t>
                </a:r>
                <a:r>
                  <a:rPr lang="ko-KR" altLang="en-US"/>
                  <a:t>고대역폭 메모리</a:t>
                </a:r>
                <a:r>
                  <a:rPr lang="en-US" altLang="ko-KR"/>
                  <a:t>)</a:t>
                </a:r>
                <a:r>
                  <a:rPr lang="ko-KR" altLang="en-US"/>
                  <a:t>을 활용하며</a:t>
                </a:r>
                <a:r>
                  <a:rPr lang="en-US" altLang="ko-KR"/>
                  <a:t>, attention score </a:t>
                </a:r>
                <a:r>
                  <a:rPr lang="ko-KR" altLang="en-US"/>
                  <a:t>행렬</a:t>
                </a:r>
                <a:r>
                  <a:rPr lang="en-US" altLang="ko-KR"/>
                  <a:t>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한꺼번에 계산하여 저장하기에 메모리 사용량이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ko-KR" altLang="en-US" i="1">
                        <a:latin typeface="Cambria Math" panose="02040503050406030204" pitchFamily="18" charset="0"/>
                      </a:rPr>
                      <m:t>증</m:t>
                    </m:r>
                  </m:oMath>
                </a14:m>
                <a:r>
                  <a:rPr lang="ko-KR" altLang="en-US"/>
                  <a:t>가하여 속도 저하</a:t>
                </a:r>
                <a:r>
                  <a:rPr lang="en-US" altLang="ko-KR"/>
                  <a:t>. SRAM</a:t>
                </a:r>
                <a:r>
                  <a:rPr lang="ko-KR" altLang="en-US"/>
                  <a:t>은 거의 사용하지 않으며 메모리 병목 발생</a:t>
                </a:r>
                <a:endParaRPr lang="en-US" altLang="ko-KR"/>
              </a:p>
              <a:p>
                <a:pPr marL="285750" indent="-285750">
                  <a:buFontTx/>
                  <a:buChar char="-"/>
                </a:pPr>
                <a:endParaRPr lang="en-US" altLang="ko-KR"/>
              </a:p>
              <a:p>
                <a:pPr marL="285750" indent="-285750">
                  <a:buFontTx/>
                  <a:buChar char="-"/>
                </a:pPr>
                <a:r>
                  <a:rPr lang="en-US" altLang="ko-KR"/>
                  <a:t>flash attention</a:t>
                </a:r>
                <a:r>
                  <a:rPr lang="ko-KR" altLang="en-US"/>
                  <a:t>은 </a:t>
                </a:r>
                <a:r>
                  <a:rPr lang="en-US" altLang="ko-KR"/>
                  <a:t>self-attention</a:t>
                </a:r>
                <a:r>
                  <a:rPr lang="ko-KR" altLang="en-US"/>
                  <a:t>의 문제 해결하기 위해 </a:t>
                </a:r>
                <a:r>
                  <a:rPr lang="en-US" altLang="ko-KR"/>
                  <a:t>GPU </a:t>
                </a:r>
                <a:r>
                  <a:rPr lang="ko-KR" altLang="en-US"/>
                  <a:t>메모리 계층 구조를 고려한 </a:t>
                </a:r>
                <a:r>
                  <a:rPr lang="en-US" altLang="ko-KR"/>
                  <a:t>IO-Aware(</a:t>
                </a:r>
                <a:r>
                  <a:rPr lang="ko-KR" altLang="en-US"/>
                  <a:t>입출력 최적화</a:t>
                </a:r>
                <a:r>
                  <a:rPr lang="en-US" altLang="ko-KR"/>
                  <a:t>) </a:t>
                </a:r>
                <a:r>
                  <a:rPr lang="ko-KR" altLang="en-US"/>
                  <a:t>최적화 기법을 도입</a:t>
                </a:r>
                <a:r>
                  <a:rPr lang="en-US" altLang="ko-KR"/>
                  <a:t>.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/>
                  <a:t>기법 </a:t>
                </a:r>
                <a:r>
                  <a:rPr lang="en-US" altLang="ko-KR"/>
                  <a:t>: </a:t>
                </a:r>
                <a:r>
                  <a:rPr lang="ko-KR" altLang="en-US"/>
                  <a:t>타일링과 재계산</a:t>
                </a:r>
                <a:br>
                  <a:rPr lang="en-US" altLang="ko-KR"/>
                </a:br>
                <a:r>
                  <a:rPr lang="ko-KR" altLang="en-US"/>
                  <a:t>타일링 </a:t>
                </a:r>
                <a:r>
                  <a:rPr lang="en-US" altLang="ko-KR"/>
                  <a:t>: </a:t>
                </a:r>
                <a:r>
                  <a:rPr lang="ko-KR" altLang="en-US">
                    <a:solidFill>
                      <a:srgbClr val="FF0000"/>
                    </a:solidFill>
                  </a:rPr>
                  <a:t>입력 데이터를 작은 블록으로 분할</a:t>
                </a:r>
                <a:r>
                  <a:rPr lang="en-US" altLang="ko-KR">
                    <a:solidFill>
                      <a:srgbClr val="FF0000"/>
                    </a:solidFill>
                  </a:rPr>
                  <a:t>(</a:t>
                </a:r>
                <a:r>
                  <a:rPr lang="ko-KR" altLang="en-US">
                    <a:solidFill>
                      <a:srgbClr val="FF0000"/>
                    </a:solidFill>
                  </a:rPr>
                  <a:t>청크</a:t>
                </a:r>
                <a:r>
                  <a:rPr lang="en-US" altLang="ko-KR">
                    <a:solidFill>
                      <a:srgbClr val="FF0000"/>
                    </a:solidFill>
                  </a:rPr>
                  <a:t>)</a:t>
                </a:r>
                <a:r>
                  <a:rPr lang="ko-KR" altLang="en-US"/>
                  <a:t>하여</a:t>
                </a:r>
                <a:r>
                  <a:rPr lang="en-US" altLang="ko-KR"/>
                  <a:t>, </a:t>
                </a:r>
                <a:r>
                  <a:rPr lang="ko-KR" altLang="en-US"/>
                  <a:t>각 블록을 </a:t>
                </a:r>
                <a:r>
                  <a:rPr lang="en-US" altLang="ko-KR"/>
                  <a:t>gpu</a:t>
                </a:r>
                <a:r>
                  <a:rPr lang="ko-KR" altLang="en-US"/>
                  <a:t>의 고속 메모리</a:t>
                </a:r>
                <a:r>
                  <a:rPr lang="en-US" altLang="ko-KR"/>
                  <a:t>(SRAM)</a:t>
                </a:r>
                <a:r>
                  <a:rPr lang="ko-KR" altLang="en-US"/>
                  <a:t>에 적재한 후 연산 수행</a:t>
                </a:r>
                <a:r>
                  <a:rPr lang="en-US" altLang="ko-KR"/>
                  <a:t>. </a:t>
                </a:r>
                <a:r>
                  <a:rPr lang="ko-KR" altLang="en-US"/>
                  <a:t>이를 통해 느린 메모리</a:t>
                </a:r>
                <a:r>
                  <a:rPr lang="en-US" altLang="ko-KR"/>
                  <a:t>(HBM)</a:t>
                </a:r>
                <a:r>
                  <a:rPr lang="ko-KR" altLang="en-US"/>
                  <a:t>와의 데이터 이동을 최소화하고 메모리 접근 회수 줄임</a:t>
                </a:r>
                <a:br>
                  <a:rPr lang="en-US" altLang="ko-KR"/>
                </a:br>
                <a:r>
                  <a:rPr lang="ko-KR" altLang="en-US"/>
                  <a:t>재계산 </a:t>
                </a:r>
                <a:r>
                  <a:rPr lang="en-US" altLang="ko-KR"/>
                  <a:t>: </a:t>
                </a:r>
                <a:r>
                  <a:rPr lang="ko-KR" altLang="en-US"/>
                  <a:t>중간 결과를 저장하지 않고 필요 시 재계산하는 방식으로 메모리 사용량 줄임</a:t>
                </a:r>
                <a:r>
                  <a:rPr lang="en-US" altLang="ko-KR"/>
                  <a:t>. </a:t>
                </a:r>
                <a:r>
                  <a:rPr lang="ko-KR" altLang="en-US"/>
                  <a:t>이는 연산량은 다소 증가시키지만</a:t>
                </a:r>
                <a:r>
                  <a:rPr lang="en-US" altLang="ko-KR"/>
                  <a:t>, </a:t>
                </a:r>
                <a:r>
                  <a:rPr lang="ko-KR" altLang="en-US"/>
                  <a:t>전체적인 메모리 </a:t>
                </a:r>
                <a:r>
                  <a:rPr lang="en-US" altLang="ko-KR"/>
                  <a:t>I/O</a:t>
                </a:r>
                <a:r>
                  <a:rPr lang="ko-KR" altLang="en-US"/>
                  <a:t>를 감소시켜 성능향상을 이끌어냄</a:t>
                </a:r>
                <a:endParaRPr lang="en-US" altLang="ko-KR"/>
              </a:p>
              <a:p>
                <a:pPr marL="285750" indent="-285750">
                  <a:buFontTx/>
                  <a:buChar char="-"/>
                </a:pPr>
                <a:endParaRPr lang="en-US" altLang="ko-KR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F6B6292-B4FB-4C0E-809E-025D95A7C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" y="0"/>
                <a:ext cx="9317736" cy="5082610"/>
              </a:xfrm>
              <a:prstGeom prst="rect">
                <a:avLst/>
              </a:prstGeom>
              <a:blipFill>
                <a:blip r:embed="rId4"/>
                <a:stretch>
                  <a:fillRect l="-654" t="-600" r="-12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D2E05825-37DB-425F-92F6-81AF971396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6609136"/>
                  </p:ext>
                </p:extLst>
              </p:nvPr>
            </p:nvGraphicFramePr>
            <p:xfrm>
              <a:off x="6255091" y="4546294"/>
              <a:ext cx="6190491" cy="222667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63497">
                      <a:extLst>
                        <a:ext uri="{9D8B030D-6E8A-4147-A177-3AD203B41FA5}">
                          <a16:colId xmlns:a16="http://schemas.microsoft.com/office/drawing/2014/main" val="1334471040"/>
                        </a:ext>
                      </a:extLst>
                    </a:gridCol>
                    <a:gridCol w="2063497">
                      <a:extLst>
                        <a:ext uri="{9D8B030D-6E8A-4147-A177-3AD203B41FA5}">
                          <a16:colId xmlns:a16="http://schemas.microsoft.com/office/drawing/2014/main" val="1245935691"/>
                        </a:ext>
                      </a:extLst>
                    </a:gridCol>
                    <a:gridCol w="2063497">
                      <a:extLst>
                        <a:ext uri="{9D8B030D-6E8A-4147-A177-3AD203B41FA5}">
                          <a16:colId xmlns:a16="http://schemas.microsoft.com/office/drawing/2014/main" val="1170992263"/>
                        </a:ext>
                      </a:extLst>
                    </a:gridCol>
                  </a:tblGrid>
                  <a:tr h="321846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/>
                            <a:t>Attention</a:t>
                          </a:r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/>
                            <a:t>flash-attention</a:t>
                          </a:r>
                          <a:endParaRPr lang="ko-KR" alt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9412853"/>
                      </a:ext>
                    </a:extLst>
                  </a:tr>
                  <a:tr h="610030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/>
                            <a:t>attention score</a:t>
                          </a:r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  <m:sSup>
                                      <m:sSup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p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den>
                                </m:f>
                              </m:oMath>
                            </m:oMathPara>
                          </a14:m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Sup>
                                      <m:sSubSupPr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𝐾</m:t>
                                        </m:r>
                                      </m:e>
                                      <m:sub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sup>
                                    </m:sSubSup>
                                  </m:num>
                                  <m:den>
                                    <m:rad>
                                      <m:radPr>
                                        <m:degHide m:val="on"/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𝑑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rad>
                                  </m:den>
                                </m:f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𝑐h𝑢𝑛𝑘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1681900"/>
                      </a:ext>
                    </a:extLst>
                  </a:tr>
                  <a:tr h="32184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/>
                            <a:t>softmax </a:t>
                          </a:r>
                          <a:r>
                            <a:rPr lang="ko-KR" altLang="en-US" sz="1400"/>
                            <a:t>연산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/>
                            <a:t>A = softmax(S)</a:t>
                          </a:r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̀"/>
                                    <m:ctrlPr>
                                      <a:rPr lang="en-US" altLang="ko-KR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  <m:r>
                                  <a:rPr lang="en-US" altLang="ko-KR" sz="1400" i="1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r>
                                  <a:rPr lang="en-US" altLang="ko-KR" sz="1400" i="1" smtClean="0">
                                    <a:latin typeface="Cambria Math" panose="02040503050406030204" pitchFamily="18" charset="0"/>
                                  </a:rPr>
                                  <m:t>𝑠𝑜𝑓𝑡𝑚𝑎𝑥</m:t>
                                </m:r>
                                <m:r>
                                  <a:rPr lang="en-US" altLang="ko-KR" sz="140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140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1639173"/>
                      </a:ext>
                    </a:extLst>
                  </a:tr>
                  <a:tr h="32184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/>
                            <a:t>value</a:t>
                          </a:r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𝐴𝑉</m:t>
                                </m:r>
                              </m:oMath>
                            </m:oMathPara>
                          </a14:m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̀"/>
                                        <m:ctrlP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1400" b="0" i="1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</a:rPr>
                                      <m:t>V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400" b="0" i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ko-KR" alt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384597"/>
                      </a:ext>
                    </a:extLst>
                  </a:tr>
                  <a:tr h="32184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400"/>
                            <a:t>메모리 사용량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44541959"/>
                      </a:ext>
                    </a:extLst>
                  </a:tr>
                  <a:tr h="32184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400"/>
                            <a:t>연산량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p/>
                                </m:sSup>
                                <m:sSub>
                                  <m:sSubPr>
                                    <m:ctrlP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ko-KR" sz="14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altLang="ko-KR" sz="1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737693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5">
                <a:extLst>
                  <a:ext uri="{FF2B5EF4-FFF2-40B4-BE49-F238E27FC236}">
                    <a16:creationId xmlns:a16="http://schemas.microsoft.com/office/drawing/2014/main" id="{D2E05825-37DB-425F-92F6-81AF971396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46609136"/>
                  </p:ext>
                </p:extLst>
              </p:nvPr>
            </p:nvGraphicFramePr>
            <p:xfrm>
              <a:off x="6255091" y="4546294"/>
              <a:ext cx="6190491" cy="222667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63497">
                      <a:extLst>
                        <a:ext uri="{9D8B030D-6E8A-4147-A177-3AD203B41FA5}">
                          <a16:colId xmlns:a16="http://schemas.microsoft.com/office/drawing/2014/main" val="1334471040"/>
                        </a:ext>
                      </a:extLst>
                    </a:gridCol>
                    <a:gridCol w="2063497">
                      <a:extLst>
                        <a:ext uri="{9D8B030D-6E8A-4147-A177-3AD203B41FA5}">
                          <a16:colId xmlns:a16="http://schemas.microsoft.com/office/drawing/2014/main" val="1245935691"/>
                        </a:ext>
                      </a:extLst>
                    </a:gridCol>
                    <a:gridCol w="2063497">
                      <a:extLst>
                        <a:ext uri="{9D8B030D-6E8A-4147-A177-3AD203B41FA5}">
                          <a16:colId xmlns:a16="http://schemas.microsoft.com/office/drawing/2014/main" val="1170992263"/>
                        </a:ext>
                      </a:extLst>
                    </a:gridCol>
                  </a:tblGrid>
                  <a:tr h="321846">
                    <a:tc>
                      <a:txBody>
                        <a:bodyPr/>
                        <a:lstStyle/>
                        <a:p>
                          <a:pPr latinLnBrk="1"/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/>
                            <a:t>Attention</a:t>
                          </a:r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/>
                            <a:t>flash-attention</a:t>
                          </a:r>
                          <a:endParaRPr lang="ko-KR" altLang="en-US" sz="14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49412853"/>
                      </a:ext>
                    </a:extLst>
                  </a:tr>
                  <a:tr h="616268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/>
                            <a:t>attention score</a:t>
                          </a:r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592" t="-52941" r="-101479" b="-21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52941" r="-1180" b="-21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31681900"/>
                      </a:ext>
                    </a:extLst>
                  </a:tr>
                  <a:tr h="32184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/>
                            <a:t>softmax </a:t>
                          </a:r>
                          <a:r>
                            <a:rPr lang="ko-KR" altLang="en-US" sz="1400"/>
                            <a:t>연산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/>
                            <a:t>A = softmax(S)</a:t>
                          </a:r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294340" r="-1180" b="-3132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1639173"/>
                      </a:ext>
                    </a:extLst>
                  </a:tr>
                  <a:tr h="32184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en-US" altLang="ko-KR" sz="1400"/>
                            <a:t>value</a:t>
                          </a:r>
                          <a:endParaRPr lang="ko-KR" altLang="en-US" sz="14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592" t="-394340" r="-101479" b="-213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394340" r="-1180" b="-2132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384597"/>
                      </a:ext>
                    </a:extLst>
                  </a:tr>
                  <a:tr h="321846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400"/>
                            <a:t>메모리 사용량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592" t="-494340" r="-101479" b="-113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494340" r="-1180" b="-1132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4541959"/>
                      </a:ext>
                    </a:extLst>
                  </a:tr>
                  <a:tr h="323025">
                    <a:tc>
                      <a:txBody>
                        <a:bodyPr/>
                        <a:lstStyle/>
                        <a:p>
                          <a:pPr latinLnBrk="1"/>
                          <a:r>
                            <a:rPr lang="ko-KR" altLang="en-US" sz="1400"/>
                            <a:t>연산량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100592" t="-594340" r="-101479" b="-132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5"/>
                          <a:stretch>
                            <a:fillRect l="-200000" t="-594340" r="-1180" b="-132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9737693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1216D674-89F2-4CB7-8631-2313E3BA02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720" y="2561221"/>
            <a:ext cx="4387075" cy="154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3545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843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4639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711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30489</TotalTime>
  <Words>3442</Words>
  <Application>Microsoft Office PowerPoint</Application>
  <PresentationFormat>와이드스크린</PresentationFormat>
  <Paragraphs>279</Paragraphs>
  <Slides>25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2" baseType="lpstr">
      <vt:lpstr>KaTeX_Main</vt:lpstr>
      <vt:lpstr>source-serif-pro</vt:lpstr>
      <vt:lpstr>ui-sans-serif</vt:lpstr>
      <vt:lpstr>맑은 고딕</vt:lpstr>
      <vt:lpstr>Arial</vt:lpstr>
      <vt:lpstr>Cambria Math</vt:lpstr>
      <vt:lpstr>Office 테마</vt:lpstr>
      <vt:lpstr>Mamba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Mamba</dc:title>
  <dc:creator>지훈 김</dc:creator>
  <cp:lastModifiedBy>지훈 김</cp:lastModifiedBy>
  <cp:revision>55</cp:revision>
  <dcterms:created xsi:type="dcterms:W3CDTF">2025-01-17T01:27:02Z</dcterms:created>
  <dcterms:modified xsi:type="dcterms:W3CDTF">2025-03-05T01:27:34Z</dcterms:modified>
</cp:coreProperties>
</file>