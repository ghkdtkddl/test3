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8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66" r:id="rId21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34" autoAdjust="0"/>
    <p:restoredTop sz="92941" autoAdjust="0"/>
  </p:normalViewPr>
  <p:slideViewPr>
    <p:cSldViewPr snapToGrid="0" snapToObjects="1">
      <p:cViewPr varScale="1">
        <p:scale>
          <a:sx n="106" d="100"/>
          <a:sy n="106" d="100"/>
        </p:scale>
        <p:origin x="2256" y="78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r">
              <a:defRPr sz="1200"/>
            </a:lvl1pPr>
          </a:lstStyle>
          <a:p>
            <a:pPr lvl="0">
              <a:defRPr/>
            </a:pPr>
            <a:fld id="{86BECE3D-28DF-44F2-BBF4-A1F550C97DF1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r">
              <a:defRPr sz="1200"/>
            </a:lvl1pPr>
          </a:lstStyle>
          <a:p>
            <a:pPr lvl="0">
              <a:defRPr/>
            </a:pPr>
            <a:fld id="{9CCD6CBE-4E81-4091-B594-FAD27E600D5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r">
              <a:defRPr sz="1200"/>
            </a:lvl1pPr>
          </a:lstStyle>
          <a:p>
            <a:pPr lvl="0">
              <a:defRPr/>
            </a:pPr>
            <a:fld id="{3A58FB49-0BA5-40AA-BFC7-FBD141E0550C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7" rIns="94475" bIns="472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7" rIns="94475" bIns="47237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r">
              <a:defRPr sz="1200"/>
            </a:lvl1pPr>
          </a:lstStyle>
          <a:p>
            <a:pPr lvl="0">
              <a:defRPr/>
            </a:pPr>
            <a:fld id="{81BAB70A-F45A-47C3-B1C3-08DF0F4D192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강화학습의 모티브가 된 학습방법 중 하나인 스키너 상자실험</a:t>
            </a:r>
          </a:p>
          <a:p>
            <a:pPr lvl="0">
              <a:defRPr/>
            </a:pPr>
            <a:r>
              <a:rPr lang="ko-KR" altLang="en-US"/>
              <a:t>처벌은 잘 안함 국가에서 허락을 해줘야하기때문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1200">
                <a:latin typeface="+mn-ea"/>
              </a:rPr>
              <a:t>어떤 행동이 좋은 행동이고 좋은 조합인지 </a:t>
            </a:r>
            <a:r>
              <a:rPr lang="en-US" altLang="ko-KR" sz="1200">
                <a:latin typeface="+mn-ea"/>
              </a:rPr>
              <a:t>trial and error</a:t>
            </a:r>
            <a:r>
              <a:rPr lang="ko-KR" altLang="en-US" sz="1200">
                <a:latin typeface="+mn-ea"/>
              </a:rPr>
              <a:t>로서 이것저것 시도해 보며 알아가게 되고 실제로 학습을 시켜보면서 경험을 하여 얻어진다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계속 학습이 이뤄지고 어느 순간 터널이 뚫리게 된다면 점수가 한번에 많은 점수를 얻는 경험을 하는데 이때는 전략을 바꾸게 되며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는 터널을 뚫으면 많은 점수를 얻는 것을 알 수 있게된다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리턴은 현재시점에서 앞으로 내가 받게될 보상의 합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https://blog.naver.com/PostView.naver?blogId=kryj9625&amp;logNo=221769935372&amp;categoryNo=15&amp;parentCategoryNo=0&amp;viewDate=&amp;currentPage=1&amp;postListTopCurrentPage=1&amp;from=postView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https://information.koreainfoguide.com/entry/Lecture-2-Markov-Decision-Process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rmation.koreainfoguide.com/entry/Lecture-2-Markov-Decision-Process" TargetMode="External"/><Relationship Id="rId3" Type="http://schemas.openxmlformats.org/officeDocument/2006/relationships/hyperlink" Target="https://brunch.co.kr/@mnc/14" TargetMode="External"/><Relationship Id="rId7" Type="http://schemas.openxmlformats.org/officeDocument/2006/relationships/hyperlink" Target="https://blog.naver.com/PostView.naver?blogId=kryj9625&amp;logNo=221769935372&amp;categoryNo=15&amp;parentCategoryNo=0&amp;viewDate=&amp;currentPage=1&amp;postListTopCurrentPage=1&amp;from=postView" TargetMode="External"/><Relationship Id="rId2" Type="http://schemas.openxmlformats.org/officeDocument/2006/relationships/hyperlink" Target="https://dnddnjs.gitbooks.io/rl/content/example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i-sinq.tistory.com/entry/Bellman-Equation%EB%B2%A8%EB%A7%8C-%EB%B0%A9%EC%A0%95%EC%8B%9D" TargetMode="External"/><Relationship Id="rId5" Type="http://schemas.openxmlformats.org/officeDocument/2006/relationships/hyperlink" Target="https://skidrow6122.tistory.com/entry/3-Bellman-Equation-and-Optimality" TargetMode="External"/><Relationship Id="rId4" Type="http://schemas.openxmlformats.org/officeDocument/2006/relationships/hyperlink" Target="https://sumniya.tistory.com/3" TargetMode="External"/><Relationship Id="rId9" Type="http://schemas.openxmlformats.org/officeDocument/2006/relationships/hyperlink" Target="https://velog.io/@sjinu/%EA%B0%9C%EB%85%90%EC%A0%95%EB%A6%AC-2.-Markov-Decision-ProcessesMDP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>
                <a:solidFill>
                  <a:schemeClr val="tx1"/>
                </a:solidFill>
              </a:rPr>
              <a:t>강화학습</a:t>
            </a:r>
            <a:endParaRPr lang="en-US" altLang="ko-KR" sz="600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/>
              <a:t>Reinforcement Learning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4" y="29943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MDP(Markov Decision Process)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Bellman Equation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67558" y="1102405"/>
            <a:ext cx="3620031" cy="30736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5273" y="4155925"/>
            <a:ext cx="8674727" cy="2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강화학습은 </a:t>
            </a:r>
            <a:r>
              <a:rPr lang="en-US" altLang="ko-KR" sz="1200">
                <a:latin typeface="+mn-ea"/>
              </a:rPr>
              <a:t>Machine Learning</a:t>
            </a:r>
            <a:r>
              <a:rPr lang="ko-KR" altLang="en-US" sz="1200">
                <a:latin typeface="+mn-ea"/>
              </a:rPr>
              <a:t>의 한 종류로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행동을 수행하는 학습자가 어떤 행동을 해야할지지 모르는 상태에서 행동에 대한 보상을 극대화하기 위해 어떻게 행동을 해야하는지 방향을 찾는 학습 방법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 특징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데이터에 대한 라벨의 여부로 분류되는 </a:t>
            </a:r>
            <a:r>
              <a:rPr lang="en-US" altLang="ko-KR" sz="1200">
                <a:latin typeface="+mn-ea"/>
              </a:rPr>
              <a:t>Supervised Learning/Unsupervised Learning</a:t>
            </a:r>
            <a:r>
              <a:rPr lang="ko-KR" altLang="en-US" sz="1200">
                <a:latin typeface="+mn-ea"/>
              </a:rPr>
              <a:t>과는 다른 특징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latin typeface="+mn-ea"/>
              </a:rPr>
              <a:t>Trial and Error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해야 하는 지 전달받지 않고 많은 시도와 실패를 통해 가장 높은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수 있는 </a:t>
            </a:r>
            <a:r>
              <a:rPr lang="en-US" altLang="ko-KR" sz="1200">
                <a:latin typeface="+mn-ea"/>
              </a:rPr>
              <a:t>Action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solidFill>
                  <a:srgbClr val="FFC000"/>
                </a:solidFill>
                <a:latin typeface="+mn-ea"/>
              </a:rPr>
              <a:t>Delayed Reward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강화학습이 다루는 문제는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시간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이라는 개념 포함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환경이 반응할때까지 많은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이있고 시간도 포함되어 있기 때문에 어떤 행동이 더 나은 행동인지 판단하기 어려움</a:t>
            </a:r>
            <a:r>
              <a:rPr lang="en-US" altLang="ko-KR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대해서 보상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보상 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( </a:t>
            </a:r>
            <a:r>
              <a:rPr lang="ko-KR" altLang="en-US" sz="1200">
                <a:latin typeface="+mn-ea"/>
              </a:rPr>
              <a:t>대부분의 사람은 현재의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대한 보상을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미래에는 더 좋은 환경이 구성될수 도 있지만 아닐수도 있어서가 이유</a:t>
            </a:r>
            <a:r>
              <a:rPr lang="en-US" altLang="ko-KR" sz="1200">
                <a:latin typeface="+mn-ea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4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스키너 상자 실험</a:t>
            </a:r>
            <a:r>
              <a:rPr lang="en-US" altLang="ko-KR" sz="1200">
                <a:latin typeface="+mn-ea"/>
              </a:rPr>
              <a:t>&gt;</a:t>
            </a:r>
            <a:r>
              <a:rPr lang="ko-KR" altLang="en-US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스키너 상자실험은 동물을 가두어 특정한 행동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을 하면 보상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을 주는 실험</a:t>
            </a: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실험 방법</a:t>
            </a:r>
            <a:r>
              <a:rPr lang="en-US" altLang="ko-KR" sz="1200">
                <a:latin typeface="+mn-ea"/>
              </a:rPr>
              <a:t>&gt; </a:t>
            </a:r>
          </a:p>
          <a:p>
            <a:pPr algn="l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스키너 상자에는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누르면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 먹이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가 나오도록 설정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배고픈 상태의 쥐가 처음에는 여러가지 행동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우연히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누르게 되면 먹이가 자동적으로 주어짐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과정 몇 차례 반복되면 다른 행동을 하지 않고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만 누르는 행동만 하게되어 먹이를 얻음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ko-KR" altLang="en-US" sz="1200">
                <a:latin typeface="+mn-ea"/>
              </a:rPr>
              <a:t>이와 같이 자신이 한 행동에 따른 보상으로 더 좋은 보상을 받는 행동을 하도록 학습이 되는것을 볼 수 있는데 이러한 학습방법이 강화학습의 모티브가 됨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917019" y="1152835"/>
            <a:ext cx="7237080" cy="2700214"/>
            <a:chOff x="917019" y="1152835"/>
            <a:chExt cx="7237080" cy="270021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17019" y="1176150"/>
              <a:ext cx="3743847" cy="267689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908661" y="1152835"/>
              <a:ext cx="3245438" cy="2663709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3196206" y="3816544"/>
            <a:ext cx="2869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</a:t>
            </a:r>
            <a:r>
              <a:rPr lang="ko-KR" altLang="en-US" sz="1100"/>
              <a:t>스키너 상자 </a:t>
            </a:r>
            <a:r>
              <a:rPr lang="en-US" altLang="ko-KR" sz="1100"/>
              <a:t>(</a:t>
            </a:r>
            <a:r>
              <a:rPr lang="ko-KR" altLang="en-US" sz="1100"/>
              <a:t>좌</a:t>
            </a:r>
            <a:r>
              <a:rPr lang="en-US" altLang="ko-KR" sz="1100"/>
              <a:t>: </a:t>
            </a:r>
            <a:r>
              <a:rPr lang="ko-KR" altLang="en-US" sz="1100"/>
              <a:t>쥐 </a:t>
            </a:r>
            <a:r>
              <a:rPr lang="en-US" altLang="ko-KR" sz="1100"/>
              <a:t>/ </a:t>
            </a:r>
            <a:r>
              <a:rPr lang="ko-KR" altLang="en-US" sz="1100"/>
              <a:t>우</a:t>
            </a:r>
            <a:r>
              <a:rPr lang="en-US" altLang="ko-KR" sz="1100"/>
              <a:t>: </a:t>
            </a:r>
            <a:r>
              <a:rPr lang="ko-KR" altLang="en-US" sz="1100"/>
              <a:t>비둘기</a:t>
            </a:r>
            <a:r>
              <a:rPr lang="en-US" altLang="ko-KR" sz="1100"/>
              <a:t>)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28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강화학습 예시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벽돌깨기</a:t>
            </a:r>
            <a:r>
              <a:rPr lang="en-US" altLang="ko-KR" sz="1200">
                <a:latin typeface="+mn-ea"/>
              </a:rPr>
              <a:t>)&gt;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강화학습과 딥러닝으로 </a:t>
            </a:r>
            <a:r>
              <a:rPr lang="en-US" altLang="ko-KR" sz="1200">
                <a:latin typeface="+mn-ea"/>
              </a:rPr>
              <a:t>atari</a:t>
            </a:r>
            <a:r>
              <a:rPr lang="ko-KR" altLang="en-US" sz="1200">
                <a:latin typeface="+mn-ea"/>
              </a:rPr>
              <a:t>게임 학습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학습</a:t>
            </a:r>
            <a:r>
              <a:rPr lang="en-US" altLang="ko-KR" sz="1200">
                <a:latin typeface="+mn-ea"/>
              </a:rPr>
              <a:t>＇</a:t>
            </a:r>
            <a:r>
              <a:rPr lang="ko-KR" altLang="en-US" sz="1200">
                <a:latin typeface="+mn-ea"/>
              </a:rPr>
              <a:t>대상을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라고 하며 예시에서는 사람의 뇌에 해당된다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조작키를 사용하여 랜덤하게 움직임이다가 공을 치게 되고 게임 점수가 올라가는것 확인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행동을 학습하여 점수를 올리지만 </a:t>
            </a:r>
            <a:r>
              <a:rPr lang="en-US" altLang="ko-KR" sz="1200">
                <a:latin typeface="+mn-ea"/>
              </a:rPr>
              <a:t>episode</a:t>
            </a:r>
            <a:r>
              <a:rPr lang="ko-KR" altLang="en-US" sz="1200">
                <a:latin typeface="+mn-ea"/>
              </a:rPr>
              <a:t>당 최고의 점수를 얻기위해 다른 시도도 해봄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는 일련의 연속된 행동 중 정책</a:t>
            </a:r>
            <a:r>
              <a:rPr lang="en-US" altLang="ko-KR" sz="1200">
                <a:latin typeface="+mn-ea"/>
              </a:rPr>
              <a:t>(policy)</a:t>
            </a:r>
            <a:r>
              <a:rPr lang="ko-KR" altLang="en-US" sz="1200">
                <a:latin typeface="+mn-ea"/>
              </a:rPr>
              <a:t>이 필요하게 됨으로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정책 </a:t>
            </a:r>
            <a:r>
              <a:rPr lang="en-US" altLang="ko-KR" sz="1200">
                <a:latin typeface="+mn-ea"/>
              </a:rPr>
              <a:t>or </a:t>
            </a:r>
            <a:r>
              <a:rPr lang="ko-KR" altLang="en-US" sz="1200">
                <a:latin typeface="+mn-ea"/>
              </a:rPr>
              <a:t>다른행동을 하여 좀 더 높은</a:t>
            </a:r>
            <a:br>
              <a:rPr lang="ko-KR" altLang="en-US" sz="1200">
                <a:latin typeface="+mn-ea"/>
              </a:rPr>
            </a:br>
            <a:r>
              <a:rPr lang="ko-KR" altLang="en-US" sz="1200">
                <a:latin typeface="+mn-ea"/>
              </a:rPr>
              <a:t>   점수를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찾음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벽돌사이틈에 공이들어갔을때</a:t>
            </a:r>
            <a:r>
              <a:rPr lang="en-US" altLang="ko-KR" sz="1200">
                <a:latin typeface="+mn-ea"/>
              </a:rPr>
              <a:t>)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8582" y="1168651"/>
            <a:ext cx="4664281" cy="2931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879133" y="1444404"/>
            <a:ext cx="5832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600" b="1">
                <a:latin typeface="+mj-ea"/>
                <a:ea typeface="+mj-ea"/>
                <a:cs typeface="+mn-cs"/>
              </a:rPr>
              <a:t>‘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강화학습은 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Markov Decision Process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의 문제를 푸는것이다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!’</a:t>
            </a:r>
            <a:endParaRPr lang="ko-KR" altLang="en-US" sz="1600" b="1">
              <a:latin typeface="+mj-ea"/>
              <a:ea typeface="+mj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447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&lt;Markov Property&gt;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시간에 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도달하든 그 이전에 어떤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거쳐왔든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갈 확률은 항상 같다는 성질</a:t>
            </a: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- 0</a:t>
            </a:r>
            <a:r>
              <a:rPr lang="ko-KR" altLang="en-US" sz="1200">
                <a:latin typeface="+mn-ea"/>
              </a:rPr>
              <a:t>부터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 까지의 여러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거쳐오고 </a:t>
            </a:r>
            <a:r>
              <a:rPr lang="en-US" altLang="ko-KR" sz="1200">
                <a:latin typeface="+mn-ea"/>
              </a:rPr>
              <a:t>t+1</a:t>
            </a:r>
            <a:r>
              <a:rPr lang="ko-KR" altLang="en-US" sz="1200">
                <a:latin typeface="+mn-ea"/>
              </a:rPr>
              <a:t>시간에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도달할 확률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좌변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이 바로 직전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다음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올 확률이 같다는 식</a:t>
            </a: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ko-KR" altLang="en-US" sz="1200">
                <a:latin typeface="+mn-ea"/>
              </a:rPr>
              <a:t>   </a:t>
            </a:r>
            <a:r>
              <a:rPr lang="en-US" altLang="ko-KR" sz="1200">
                <a:latin typeface="+mn-ea"/>
              </a:rPr>
              <a:t>(0~t-1</a:t>
            </a:r>
            <a:r>
              <a:rPr lang="ko-KR" altLang="en-US" sz="1200">
                <a:latin typeface="+mn-ea"/>
              </a:rPr>
              <a:t>시간까지의 정보는 이미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가지고 있다는 가정 전제</a:t>
            </a:r>
            <a:r>
              <a:rPr lang="en-US" altLang="ko-KR" sz="1200">
                <a:latin typeface="+mn-ea"/>
              </a:rPr>
              <a:t>)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&lt;State Transition Probability Matrix&gt;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들간의 이동하는 것을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이라고 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이를 확률로 표현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Markov </a:t>
            </a:r>
            <a:r>
              <a:rPr lang="ko-KR" altLang="en-US" sz="1200">
                <a:latin typeface="+mn-ea"/>
              </a:rPr>
              <a:t>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다음상태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으로 이동할 확률을 뜻하며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행렬의 형태로 정리한 것을 </a:t>
            </a:r>
            <a:r>
              <a:rPr lang="en-US" altLang="ko-KR" sz="1200">
                <a:latin typeface="+mn-ea"/>
              </a:rPr>
              <a:t>State Transition Probability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Matrix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 Transition Probability Matrix</a:t>
            </a:r>
            <a:r>
              <a:rPr lang="ko-KR" altLang="en-US" sz="1200">
                <a:latin typeface="+mn-ea"/>
              </a:rPr>
              <a:t>는 주어진 환경을 설명하는데 필요한 요소이며 각 행의 합은 </a:t>
            </a:r>
            <a:r>
              <a:rPr lang="en-US" altLang="ko-KR" sz="1200">
                <a:latin typeface="+mn-ea"/>
              </a:rPr>
              <a:t>1</a:t>
            </a:r>
            <a:r>
              <a:rPr lang="ko-KR" altLang="en-US" sz="1200">
                <a:latin typeface="+mn-ea"/>
              </a:rPr>
              <a:t>이 된다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graphicFrame>
        <p:nvGraphicFramePr>
          <p:cNvPr id="7" name="표 7"/>
          <p:cNvGraphicFramePr>
            <a:graphicFrameLocks noGrp="1"/>
          </p:cNvGraphicFramePr>
          <p:nvPr/>
        </p:nvGraphicFramePr>
        <p:xfrm>
          <a:off x="1414943" y="2318782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524000" y="3771835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552391" y="4663251"/>
            <a:ext cx="3284529" cy="1500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117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0">
                <a:latin typeface="+mn-ea"/>
              </a:rPr>
              <a:t>&lt;Markov Process (</a:t>
            </a:r>
            <a:r>
              <a:rPr lang="en-US" altLang="ko-KR" sz="1200">
                <a:latin typeface="+mn-ea"/>
              </a:rPr>
              <a:t>Markov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Chain)&gt;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시간에 상관없이 랜덤하게 다른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전이할 수 있는 </a:t>
            </a:r>
            <a:r>
              <a:rPr lang="en-US" altLang="ko-KR" sz="1200">
                <a:latin typeface="+mn-ea"/>
              </a:rPr>
              <a:t>process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&lt;S,P&gt; </a:t>
            </a:r>
            <a:r>
              <a:rPr lang="ko-KR" altLang="en-US" sz="1200">
                <a:latin typeface="+mn-ea"/>
              </a:rPr>
              <a:t>튜플이며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는 상태들의 집합</a:t>
            </a:r>
            <a:r>
              <a:rPr lang="en-US" altLang="ko-KR" sz="1200">
                <a:latin typeface="+mn-ea"/>
              </a:rPr>
              <a:t>, P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Transition Probability Matrix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Markov Chain</a:t>
            </a:r>
            <a:r>
              <a:rPr lang="ko-KR" altLang="en-US" sz="1200" b="0">
                <a:latin typeface="+mn-ea"/>
              </a:rPr>
              <a:t>에서 </a:t>
            </a:r>
            <a:r>
              <a:rPr lang="en-US" altLang="ko-KR" sz="1200" b="0">
                <a:latin typeface="+mn-ea"/>
              </a:rPr>
              <a:t>sleep</a:t>
            </a:r>
            <a:r>
              <a:rPr lang="ko-KR" altLang="en-US" sz="1200" b="0">
                <a:latin typeface="+mn-ea"/>
              </a:rPr>
              <a:t>은 종점이며 에피소드가 끝나는 </a:t>
            </a:r>
            <a:r>
              <a:rPr lang="en-US" altLang="ko-KR" sz="1200" b="0">
                <a:latin typeface="+mn-ea"/>
              </a:rPr>
              <a:t>state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에피소드는 샘플링한다는 의미로 이해 하면 쉽고 에피소드는 무한한경우의 수가 될 수 있다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4799" y="3002355"/>
            <a:ext cx="4237201" cy="336560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36895" y="3429000"/>
            <a:ext cx="2440987" cy="126645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462943" y="4777272"/>
            <a:ext cx="4360269" cy="1590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36895" y="3173730"/>
            <a:ext cx="1264919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에피소드 예시 </a:t>
            </a:r>
            <a:r>
              <a:rPr lang="en-US" altLang="ko-KR" sz="1100"/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969" y="6367963"/>
            <a:ext cx="1598296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</a:t>
            </a:r>
            <a:r>
              <a:rPr lang="en-US" altLang="ko-KR" sz="1100"/>
              <a:t>Markov Process </a:t>
            </a:r>
            <a:r>
              <a:rPr lang="ko-KR" altLang="en-US" sz="1100"/>
              <a:t>예시 </a:t>
            </a:r>
            <a:r>
              <a:rPr lang="en-US" altLang="ko-KR" sz="1100"/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8302" y="6359891"/>
            <a:ext cx="2847024" cy="270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 Transition Probability Matrix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244169" y="4997644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35560" y="5271011"/>
            <a:ext cx="8254767" cy="118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&lt;Discounting factor&gt;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정확한 가치를 구하기 위해서 어느 시점에서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얻느냐가 중요한 관점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도달한 후 지금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것인가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나중에 도달해서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얻을 것이냐에 대한 가치판단 필요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현재가치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미래가치인데 이때 필요한게 시간 개념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미래가치를 현재시점으로 보면 현재가치보다 적은것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</a:t>
            </a:r>
            <a:r>
              <a:rPr lang="ko-KR" altLang="en-US" sz="1200">
                <a:latin typeface="+mn-ea"/>
              </a:rPr>
              <a:t>이를 수식적으로 반영한것이 </a:t>
            </a:r>
            <a:r>
              <a:rPr lang="en-US" altLang="ko-KR" sz="1200">
                <a:latin typeface="+mn-ea"/>
              </a:rPr>
              <a:t>discounting factor,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이다</a:t>
            </a:r>
            <a:r>
              <a:rPr lang="en-US" altLang="ko-KR" sz="1200">
                <a:latin typeface="+mn-ea"/>
              </a:rPr>
              <a:t>.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0~1</a:t>
            </a:r>
            <a:r>
              <a:rPr lang="ko-KR" altLang="en-US" sz="1200">
                <a:latin typeface="+mn-ea"/>
              </a:rPr>
              <a:t>사이의 값으로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미래가치를 현재시점에서의 가치로 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변환한다</a:t>
            </a:r>
            <a:r>
              <a:rPr lang="en-US" altLang="ko-KR" sz="1200">
                <a:latin typeface="+mn-ea"/>
              </a:rPr>
              <a:t>.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547361" y="4990025"/>
            <a:ext cx="3215639" cy="308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State</a:t>
            </a:r>
            <a:r>
              <a:rPr lang="ko-KR" altLang="en-US" sz="1100"/>
              <a:t>에서 </a:t>
            </a:r>
            <a:r>
              <a:rPr lang="en-US" altLang="ko-KR" sz="1100"/>
              <a:t>Reward</a:t>
            </a:r>
            <a:r>
              <a:rPr lang="ko-KR" altLang="en-US" sz="1100"/>
              <a:t>를 받을 수 있는 기댓값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144000" y="5082143"/>
            <a:ext cx="1913660" cy="790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delay reward vs discount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/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+mn-ea"/>
                  </a:rPr>
                  <a:t>&lt;Markov Reward Process&gt;</a:t>
                </a:r>
              </a:p>
              <a:p>
                <a:r>
                  <a:rPr lang="en-US" altLang="ko-KR" sz="1200" dirty="0">
                    <a:latin typeface="+mn-ea"/>
                  </a:rPr>
                  <a:t> - Markov Reward Process</a:t>
                </a:r>
                <a:r>
                  <a:rPr lang="ko-KR" altLang="en-US" sz="1200" dirty="0">
                    <a:latin typeface="+mn-ea"/>
                  </a:rPr>
                  <a:t>는</a:t>
                </a:r>
                <a:r>
                  <a:rPr lang="en-US" altLang="ko-KR" sz="1200" dirty="0">
                    <a:latin typeface="+mn-ea"/>
                  </a:rPr>
                  <a:t> &lt;S,P,R,</a:t>
                </a:r>
                <a:r>
                  <a:rPr lang="el-GR" altLang="ko-KR" sz="1200" dirty="0">
                    <a:latin typeface="+mn-ea"/>
                  </a:rPr>
                  <a:t>γ</a:t>
                </a:r>
                <a:r>
                  <a:rPr lang="en-US" altLang="ko-KR" sz="1200" dirty="0">
                    <a:latin typeface="+mn-ea"/>
                  </a:rPr>
                  <a:t>&gt; </a:t>
                </a:r>
                <a:r>
                  <a:rPr lang="ko-KR" altLang="en-US" sz="1200" dirty="0" err="1">
                    <a:latin typeface="+mn-ea"/>
                  </a:rPr>
                  <a:t>튜플이며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R</a:t>
                </a:r>
                <a:r>
                  <a:rPr lang="ko-KR" altLang="en-US" sz="1200" dirty="0">
                    <a:latin typeface="+mn-ea"/>
                  </a:rPr>
                  <a:t>은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각</a:t>
                </a:r>
                <a:r>
                  <a:rPr lang="en-US" altLang="ko-KR" sz="1200" dirty="0">
                    <a:latin typeface="+mn-ea"/>
                  </a:rPr>
                  <a:t> 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를 정해주는 함수</a:t>
                </a:r>
                <a:r>
                  <a:rPr lang="en-US" altLang="ko-KR" sz="12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는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timestep</a:t>
                </a:r>
                <a:r>
                  <a:rPr lang="ko-KR" altLang="en-US" sz="1200" dirty="0">
                    <a:latin typeface="+mn-ea"/>
                  </a:rPr>
                  <a:t>에 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  따라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감쇄율을 정해주는 </a:t>
                </a:r>
                <a:r>
                  <a:rPr lang="en-US" altLang="ko-KR" sz="1200" dirty="0">
                    <a:latin typeface="+mn-ea"/>
                  </a:rPr>
                  <a:t>discount factor</a:t>
                </a:r>
              </a:p>
              <a:p>
                <a:r>
                  <a:rPr lang="en-US" altLang="ko-KR" sz="1200" dirty="0">
                    <a:latin typeface="+mn-ea"/>
                  </a:rPr>
                  <a:t> - S,P</a:t>
                </a:r>
                <a:r>
                  <a:rPr lang="ko-KR" altLang="en-US" sz="1200" dirty="0">
                    <a:latin typeface="+mn-ea"/>
                  </a:rPr>
                  <a:t>가 주어지면 </a:t>
                </a:r>
                <a:r>
                  <a:rPr lang="en-US" altLang="ko-KR" sz="1200" dirty="0">
                    <a:latin typeface="+mn-ea"/>
                  </a:rPr>
                  <a:t>Markov Process</a:t>
                </a:r>
                <a:r>
                  <a:rPr lang="ko-KR" altLang="en-US" sz="1200" dirty="0">
                    <a:latin typeface="+mn-ea"/>
                  </a:rPr>
                  <a:t>가 정의되고 </a:t>
                </a:r>
                <a:r>
                  <a:rPr lang="en-US" altLang="ko-KR" sz="1200" dirty="0">
                    <a:latin typeface="+mn-ea"/>
                  </a:rPr>
                  <a:t>S,P,R,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주어지면 </a:t>
                </a:r>
                <a:r>
                  <a:rPr lang="en-US" altLang="ko-KR" sz="1200" dirty="0">
                    <a:latin typeface="+mn-ea"/>
                  </a:rPr>
                  <a:t>Markov Reward Process</a:t>
                </a:r>
                <a:r>
                  <a:rPr lang="ko-KR" altLang="en-US" sz="1200" dirty="0">
                    <a:latin typeface="+mn-ea"/>
                  </a:rPr>
                  <a:t>가 정의</a:t>
                </a:r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- Markov Process</a:t>
                </a:r>
                <a:r>
                  <a:rPr lang="ko-KR" altLang="en-US" sz="1200" dirty="0">
                    <a:latin typeface="+mn-ea"/>
                  </a:rPr>
                  <a:t>에서 다음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로 </a:t>
                </a:r>
                <a:r>
                  <a:rPr lang="ko-KR" altLang="en-US" sz="1200" dirty="0" err="1">
                    <a:latin typeface="+mn-ea"/>
                  </a:rPr>
                  <a:t>이동할때</a:t>
                </a:r>
                <a:r>
                  <a:rPr lang="ko-KR" altLang="en-US" sz="1200" dirty="0">
                    <a:latin typeface="+mn-ea"/>
                  </a:rPr>
                  <a:t> 얼마나 </a:t>
                </a:r>
                <a:r>
                  <a:rPr lang="ko-KR" altLang="en-US" sz="1200" dirty="0" err="1">
                    <a:latin typeface="+mn-ea"/>
                  </a:rPr>
                  <a:t>가치있는지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ko-KR" altLang="en-US" sz="1200" dirty="0" err="1">
                    <a:latin typeface="+mn-ea"/>
                  </a:rPr>
                  <a:t>정량화하기</a:t>
                </a:r>
                <a:r>
                  <a:rPr lang="ko-KR" altLang="en-US" sz="1200" dirty="0">
                    <a:latin typeface="+mn-ea"/>
                  </a:rPr>
                  <a:t> 위해 도입한 프로세스</a:t>
                </a:r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  - </a:t>
                </a:r>
                <a:r>
                  <a:rPr lang="ko-KR" altLang="en-US" sz="1200" dirty="0">
                    <a:latin typeface="+mn-ea"/>
                  </a:rPr>
                  <a:t>위의 그림처럼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별로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개념이 적용되어 어떤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 값 존재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  - state</a:t>
                </a:r>
                <a:r>
                  <a:rPr lang="ko-KR" altLang="en-US" sz="1200" dirty="0">
                    <a:latin typeface="+mn-ea"/>
                  </a:rPr>
                  <a:t>를 받아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기댓값으로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mapping</a:t>
                </a:r>
                <a:r>
                  <a:rPr lang="ko-KR" altLang="en-US" sz="1200" dirty="0">
                    <a:latin typeface="+mn-ea"/>
                  </a:rPr>
                  <a:t>하는 함수를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라고 </a:t>
                </a:r>
                <a:r>
                  <a:rPr lang="ko-KR" altLang="en-US" sz="1200" dirty="0" err="1">
                    <a:latin typeface="+mn-ea"/>
                  </a:rPr>
                  <a:t>할때</a:t>
                </a:r>
                <a:r>
                  <a:rPr lang="ko-KR" altLang="en-US" sz="1200" dirty="0">
                    <a:latin typeface="+mn-ea"/>
                  </a:rPr>
                  <a:t> 수식은 다음과 같다</a:t>
                </a:r>
                <a:r>
                  <a:rPr lang="en-US" altLang="ko-KR" sz="1200" dirty="0">
                    <a:latin typeface="+mn-ea"/>
                  </a:rPr>
                  <a:t> </a:t>
                </a:r>
              </a:p>
              <a:p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569C99C5-237A-4DFB-9259-9492809A5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383843"/>
            <a:ext cx="3057670" cy="19808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ko-KR" altLang="en-US"/>
              <a:t>강화학습 기초개념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60" y="1209219"/>
            <a:ext cx="8254767" cy="81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&lt;Return&gt;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각각의 에피소드를 따라 받는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총합이 </a:t>
            </a:r>
            <a:r>
              <a:rPr lang="en-US" altLang="ko-KR" sz="1200">
                <a:latin typeface="+mn-ea"/>
              </a:rPr>
              <a:t>Return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목적은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을 최대화 하는 문제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정확히는 미래에 받을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총합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을 최대화 하는것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Return</a:t>
            </a:r>
            <a:r>
              <a:rPr lang="ko-KR" altLang="en-US" sz="1200">
                <a:latin typeface="+mn-ea"/>
              </a:rPr>
              <a:t>은 현재시점에서의 앞으로 내가 받게될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합이며 수식은 다음과 같다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414943" y="1975278"/>
          <a:ext cx="6096000" cy="673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418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35558" y="2718033"/>
            <a:ext cx="8585557" cy="118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-Markov Process(MP)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추가한것이 </a:t>
            </a:r>
            <a:r>
              <a:rPr lang="en-US" altLang="ko-KR" sz="1200">
                <a:latin typeface="+mn-ea"/>
              </a:rPr>
              <a:t>Markov Reward Process(MRP), MRP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개념이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Markov Decision Process(MDP)</a:t>
            </a:r>
            <a:r>
              <a:rPr lang="ko-KR" altLang="en-US" sz="1200">
                <a:latin typeface="+mn-ea"/>
              </a:rPr>
              <a:t>이다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변하는것은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임의로 변했다면</a:t>
            </a:r>
            <a:r>
              <a:rPr lang="en-US" altLang="ko-KR" sz="1200">
                <a:latin typeface="+mn-ea"/>
              </a:rPr>
              <a:t>,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MDP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함으로써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변한다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60" y="4503137"/>
            <a:ext cx="74139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</a:t>
            </a:r>
            <a:r>
              <a:rPr lang="en-US" altLang="ko-KR" sz="1200">
                <a:latin typeface="+mn-ea"/>
              </a:rPr>
              <a:t>mapping</a:t>
            </a:r>
            <a:r>
              <a:rPr lang="ko-KR" altLang="en-US" sz="1200">
                <a:latin typeface="+mn-ea"/>
              </a:rPr>
              <a:t>하는 함수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할 지 정하는 것을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라고함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수식으로는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수행할 확률로 정의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7" name="표 7"/>
          <p:cNvGraphicFramePr>
            <a:graphicFrameLocks noGrp="1"/>
          </p:cNvGraphicFramePr>
          <p:nvPr/>
        </p:nvGraphicFramePr>
        <p:xfrm>
          <a:off x="1524000" y="5049313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 b="-98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5560" y="5315143"/>
            <a:ext cx="8661755" cy="4455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 vs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probability&gt;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 - Transition Probability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으로 전이할 확률</a:t>
            </a:r>
            <a:r>
              <a:rPr lang="en-US" altLang="ko-KR" sz="1200">
                <a:latin typeface="+mn-ea"/>
              </a:rPr>
              <a:t>, Policy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이라는 개념이 추가되어 수식은 다음과 같음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58913" y="5689209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2263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5"/>
                      <a:stretch>
                        <a:fillRect b="-185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5560" y="5944360"/>
            <a:ext cx="5061305" cy="4450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&lt;Reward with 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변화가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따라 달라짐으로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에 </a:t>
            </a:r>
            <a:r>
              <a:rPr lang="en-US" altLang="ko-KR" sz="1200">
                <a:latin typeface="+mn-ea"/>
              </a:rPr>
              <a:t>action </a:t>
            </a:r>
            <a:r>
              <a:rPr lang="ko-KR" altLang="en-US" sz="1200">
                <a:latin typeface="+mn-ea"/>
              </a:rPr>
              <a:t>함수 추가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5" name="표 7"/>
          <p:cNvGraphicFramePr>
            <a:graphicFrameLocks noGrp="1"/>
          </p:cNvGraphicFramePr>
          <p:nvPr/>
        </p:nvGraphicFramePr>
        <p:xfrm>
          <a:off x="1633735" y="6309459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8" name="그룹 27"/>
          <p:cNvGrpSpPr/>
          <p:nvPr/>
        </p:nvGrpSpPr>
        <p:grpSpPr>
          <a:xfrm>
            <a:off x="2460939" y="3829496"/>
            <a:ext cx="1072522" cy="475311"/>
            <a:chOff x="2460939" y="3829496"/>
            <a:chExt cx="1072522" cy="475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타원 2"/>
                <p:cNvSpPr/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3" name=""/>
                <p:cNvSpPr txBox="1"/>
                <p:nvPr/>
              </p:nvSpPr>
              <p:spPr>
                <a:xfrm>
                  <a:off x="2460939" y="4043950"/>
                  <a:ext cx="254000" cy="26085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7" name="직선 화살표 연결선 6"/>
            <p:cNvCxnSpPr/>
            <p:nvPr/>
          </p:nvCxnSpPr>
          <p:spPr>
            <a:xfrm flipV="1">
              <a:off x="2714939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타원 18"/>
                <p:cNvSpPr/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19" name=""/>
                <p:cNvSpPr txBox="1"/>
                <p:nvPr/>
              </p:nvSpPr>
              <p:spPr>
                <a:xfrm>
                  <a:off x="3213100" y="4043950"/>
                  <a:ext cx="254000" cy="26085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2473157" y="3829496"/>
              <a:ext cx="23765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739" y="3842134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375512" y="3829496"/>
            <a:ext cx="1830411" cy="479628"/>
            <a:chOff x="4375512" y="3829496"/>
            <a:chExt cx="1830411" cy="479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타원 20"/>
                <p:cNvSpPr/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1" name=""/>
                <p:cNvSpPr txBox="1"/>
                <p:nvPr/>
              </p:nvSpPr>
              <p:spPr>
                <a:xfrm>
                  <a:off x="4375512" y="4043950"/>
                  <a:ext cx="254000" cy="26085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22" name="직선 화살표 연결선 21"/>
            <p:cNvCxnSpPr/>
            <p:nvPr/>
          </p:nvCxnSpPr>
          <p:spPr>
            <a:xfrm flipV="1">
              <a:off x="4629512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타원 22"/>
                <p:cNvSpPr/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solidFill>
                  <a:srgbClr val="1F4E7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𝐴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3" name=""/>
                <p:cNvSpPr txBox="1"/>
                <p:nvPr/>
              </p:nvSpPr>
              <p:spPr>
                <a:xfrm>
                  <a:off x="5127673" y="4043950"/>
                  <a:ext cx="254000" cy="26085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4" name="TextBox 23"/>
            <p:cNvSpPr txBox="1"/>
            <p:nvPr/>
          </p:nvSpPr>
          <p:spPr>
            <a:xfrm>
              <a:off x="4387730" y="3829496"/>
              <a:ext cx="23760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19201" y="3835846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  <p:cxnSp>
          <p:nvCxnSpPr>
            <p:cNvPr id="26" name="직선 화살표 연결선 25"/>
            <p:cNvCxnSpPr/>
            <p:nvPr/>
          </p:nvCxnSpPr>
          <p:spPr>
            <a:xfrm flipV="1">
              <a:off x="5374701" y="4178695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타원 26"/>
                <p:cNvSpPr/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7" name=""/>
                <p:cNvSpPr txBox="1"/>
                <p:nvPr/>
              </p:nvSpPr>
              <p:spPr>
                <a:xfrm>
                  <a:off x="5872862" y="4048267"/>
                  <a:ext cx="254000" cy="26085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30" name="TextBox 29"/>
          <p:cNvSpPr txBox="1"/>
          <p:nvPr/>
        </p:nvSpPr>
        <p:spPr>
          <a:xfrm>
            <a:off x="2708589" y="4319781"/>
            <a:ext cx="752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MP &gt;</a:t>
            </a:r>
            <a:endParaRPr lang="ko-KR" altLang="en-US" sz="1100"/>
          </a:p>
        </p:txBody>
      </p:sp>
      <p:sp>
        <p:nvSpPr>
          <p:cNvPr id="31" name="TextBox 30"/>
          <p:cNvSpPr txBox="1"/>
          <p:nvPr/>
        </p:nvSpPr>
        <p:spPr>
          <a:xfrm>
            <a:off x="4926330" y="4307672"/>
            <a:ext cx="752160" cy="26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MDP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180644"/>
            <a:ext cx="8254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+mn-ea"/>
              </a:rPr>
              <a:t>&lt;Value function of MDP&gt;</a:t>
            </a:r>
          </a:p>
          <a:p>
            <a:pPr lvl="0">
              <a:defRPr/>
            </a:pPr>
            <a:r>
              <a:rPr lang="en-US" altLang="ko-KR" sz="1200" dirty="0">
                <a:latin typeface="+mn-ea"/>
              </a:rPr>
              <a:t> - MRP</a:t>
            </a:r>
            <a:r>
              <a:rPr lang="ko-KR" altLang="en-US" sz="1200" dirty="0">
                <a:latin typeface="+mn-ea"/>
              </a:rPr>
              <a:t>에서는 </a:t>
            </a:r>
            <a:r>
              <a:rPr lang="en-US" altLang="ko-KR" sz="1200" dirty="0">
                <a:latin typeface="+mn-ea"/>
              </a:rPr>
              <a:t>state</a:t>
            </a:r>
            <a:r>
              <a:rPr lang="ko-KR" altLang="en-US" sz="1200" dirty="0">
                <a:latin typeface="+mn-ea"/>
              </a:rPr>
              <a:t>들에 대한 </a:t>
            </a:r>
            <a:r>
              <a:rPr lang="en-US" altLang="ko-KR" sz="1200" dirty="0">
                <a:latin typeface="+mn-ea"/>
              </a:rPr>
              <a:t>value</a:t>
            </a:r>
            <a:r>
              <a:rPr lang="ko-KR" altLang="en-US" sz="1200" dirty="0">
                <a:latin typeface="+mn-ea"/>
              </a:rPr>
              <a:t>만 판단했지만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새롭게 추가된 </a:t>
            </a:r>
            <a:r>
              <a:rPr lang="en-US" altLang="ko-KR" sz="1200" dirty="0">
                <a:latin typeface="+mn-ea"/>
              </a:rPr>
              <a:t>agent</a:t>
            </a:r>
            <a:r>
              <a:rPr lang="ko-KR" altLang="en-US" sz="1200" dirty="0">
                <a:latin typeface="+mn-ea"/>
              </a:rPr>
              <a:t>의 </a:t>
            </a:r>
            <a:r>
              <a:rPr lang="en-US" altLang="ko-KR" sz="1200" dirty="0">
                <a:latin typeface="+mn-ea"/>
              </a:rPr>
              <a:t>action</a:t>
            </a:r>
            <a:r>
              <a:rPr lang="ko-KR" altLang="en-US" sz="1200" dirty="0">
                <a:latin typeface="+mn-ea"/>
              </a:rPr>
              <a:t>에 대해서도 </a:t>
            </a:r>
            <a:r>
              <a:rPr lang="en-US" altLang="ko-KR" sz="1200" dirty="0">
                <a:latin typeface="+mn-ea"/>
              </a:rPr>
              <a:t>value </a:t>
            </a:r>
            <a:r>
              <a:rPr lang="ko-KR" altLang="en-US" sz="1200" dirty="0">
                <a:latin typeface="+mn-ea"/>
              </a:rPr>
              <a:t>판단 가능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616" y="2799976"/>
            <a:ext cx="8254767" cy="63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 1) t</a:t>
            </a:r>
            <a:r>
              <a:rPr lang="ko-KR" altLang="en-US" sz="1200">
                <a:latin typeface="+mn-ea"/>
              </a:rPr>
              <a:t>시점에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 놓인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2) 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수행하면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3) </a:t>
            </a:r>
            <a:r>
              <a:rPr lang="ko-KR" altLang="en-US" sz="1200">
                <a:latin typeface="+mn-ea"/>
              </a:rPr>
              <a:t>그리고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전이</a:t>
            </a:r>
            <a:endParaRPr lang="en-US" altLang="ko-KR" sz="12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5084" y="3459969"/>
            <a:ext cx="8254767" cy="82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&lt;State-value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MDP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state-value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선택하는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값이 달라지고 이후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달라지기 떄문에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영향을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수식은 다음과 같음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의 가치는 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들의 총합을 나타냄</a:t>
            </a: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23999" y="5690194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 l="100" b="-1177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4616" y="4795907"/>
            <a:ext cx="8254767" cy="1002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&lt;Action-value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가 하는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를 판단할 수 있으며 수식은 다음과 같음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어떤 state s에서 action a를 취할 경우의 받을 return에 대한 기대값으로서 어떤 행동을 했을 때 얼마나 좋을 것인가에 대한 값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Q function</a:t>
            </a:r>
            <a:r>
              <a:rPr lang="ko-KR" altLang="en-US" sz="1200">
                <a:latin typeface="+mn-ea"/>
              </a:rPr>
              <a:t>이라고도 함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3390391" y="1616580"/>
            <a:ext cx="2541237" cy="1076148"/>
            <a:chOff x="3390391" y="1683255"/>
            <a:chExt cx="2541237" cy="1076148"/>
          </a:xfrm>
        </p:grpSpPr>
        <p:grpSp>
          <p:nvGrpSpPr>
            <p:cNvPr id="32" name="그룹 31"/>
            <p:cNvGrpSpPr/>
            <p:nvPr/>
          </p:nvGrpSpPr>
          <p:grpSpPr>
            <a:xfrm>
              <a:off x="3390391" y="1683255"/>
              <a:ext cx="2541237" cy="846457"/>
              <a:chOff x="4327432" y="3824341"/>
              <a:chExt cx="1932152" cy="7169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타원 33"/>
                  <p:cNvSpPr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4" name=""/>
                  <p:cNvSpPr txBox="1"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</p:sp>
            </mc:Fallback>
          </mc:AlternateContent>
          <p:cxnSp>
            <p:nvCxnSpPr>
              <p:cNvPr id="35" name="직선 화살표 연결선 34"/>
              <p:cNvCxnSpPr/>
              <p:nvPr/>
            </p:nvCxnSpPr>
            <p:spPr>
              <a:xfrm flipV="1">
                <a:off x="4629512" y="4174378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타원 35"/>
                  <p:cNvSpPr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solidFill>
                    <a:srgbClr val="1F4E79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6" name=""/>
                  <p:cNvSpPr txBox="1"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37" name="TextBox 36"/>
              <p:cNvSpPr txBox="1"/>
              <p:nvPr/>
            </p:nvSpPr>
            <p:spPr>
              <a:xfrm>
                <a:off x="4415667" y="3824340"/>
                <a:ext cx="180661" cy="218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</a:t>
                </a:r>
                <a:endParaRPr lang="ko-KR" altLang="en-US" sz="110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872862" y="3835844"/>
                <a:ext cx="386722" cy="215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t+1</a:t>
                </a:r>
                <a:endParaRPr lang="ko-KR" altLang="en-US" sz="1100"/>
              </a:p>
            </p:txBody>
          </p:sp>
          <p:cxnSp>
            <p:nvCxnSpPr>
              <p:cNvPr id="39" name="직선 화살표 연결선 38"/>
              <p:cNvCxnSpPr/>
              <p:nvPr/>
            </p:nvCxnSpPr>
            <p:spPr>
              <a:xfrm flipV="1">
                <a:off x="5374701" y="4178695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타원 39"/>
                  <p:cNvSpPr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0" name=""/>
                  <p:cNvSpPr txBox="1"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1" name="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2" name="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43" name="TextBox 42"/>
              <p:cNvSpPr txBox="1"/>
              <p:nvPr/>
            </p:nvSpPr>
            <p:spPr>
              <a:xfrm>
                <a:off x="4669665" y="3949822"/>
                <a:ext cx="498162" cy="222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0000"/>
                    </a:solidFill>
                  </a:rPr>
                  <a:t>Policy</a:t>
                </a:r>
                <a:endParaRPr lang="ko-KR" altLang="en-US" sz="110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69781" y="3956078"/>
                <a:ext cx="498161" cy="221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C000"/>
                    </a:solidFill>
                  </a:rPr>
                  <a:t>Reward</a:t>
                </a:r>
                <a:endParaRPr lang="ko-KR" altLang="en-US" sz="1100">
                  <a:solidFill>
                    <a:srgbClr val="FFC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5" name="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</p:sp>
            </mc:Fallback>
          </mc:AlternateContent>
        </p:grpSp>
        <p:sp>
          <p:nvSpPr>
            <p:cNvPr id="33" name="TextBox 32"/>
            <p:cNvSpPr txBox="1"/>
            <p:nvPr/>
          </p:nvSpPr>
          <p:spPr>
            <a:xfrm>
              <a:off x="4297680" y="2497793"/>
              <a:ext cx="1193800" cy="26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&lt; MDP &gt;</a:t>
              </a:r>
              <a:endParaRPr lang="ko-KR" altLang="en-US" sz="1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자유형: 도형 45"/>
              <p:cNvSpPr/>
              <p:nvPr/>
            </p:nvSpPr>
            <p:spPr>
              <a:xfrm>
                <a:off x="3362325" y="4348232"/>
                <a:ext cx="2419350" cy="4476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 =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𝐸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[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𝐺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|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𝑆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 xmlns:c="http://schemas.openxmlformats.org/drawingml/2006/chart" xmlns:dgm="http://schemas.openxmlformats.org/drawingml/2006/diagram" xmlns:dsp="http://schemas.microsoft.com/office/drawing/2008/diagram">
          <p:sp>
            <p:nvSpPr>
              <p:cNvPr id="46" name=""/>
              <p:cNvSpPr txBox="1"/>
              <p:nvPr/>
            </p:nvSpPr>
            <p:spPr>
              <a:xfrm>
                <a:off x="3362325" y="4348232"/>
                <a:ext cx="2419350" cy="4476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6640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 dirty="0">
                <a:latin typeface="+mn-ea"/>
              </a:rPr>
              <a:t> - agent</a:t>
            </a:r>
            <a:r>
              <a:rPr lang="ko-KR" altLang="en-US" sz="1200" dirty="0">
                <a:latin typeface="+mn-ea"/>
              </a:rPr>
              <a:t>는 </a:t>
            </a:r>
            <a:r>
              <a:rPr lang="en-US" altLang="ko-KR" sz="1200" dirty="0">
                <a:latin typeface="+mn-ea"/>
              </a:rPr>
              <a:t>value function</a:t>
            </a:r>
            <a:r>
              <a:rPr lang="ko-KR" altLang="en-US" sz="1200" dirty="0">
                <a:latin typeface="+mn-ea"/>
              </a:rPr>
              <a:t>을 가지고 자신의 행동을 선택하게 됨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en-US" altLang="ko-KR" sz="1200" dirty="0">
                <a:latin typeface="+mn-ea"/>
              </a:rPr>
              <a:t> - value function</a:t>
            </a:r>
            <a:r>
              <a:rPr lang="ko-KR" altLang="en-US" sz="1200" dirty="0">
                <a:latin typeface="+mn-ea"/>
              </a:rPr>
              <a:t>은 두가지로 나뉘는데 </a:t>
            </a:r>
            <a:r>
              <a:rPr lang="en-US" altLang="ko-KR" sz="1200" dirty="0">
                <a:latin typeface="+mn-ea"/>
              </a:rPr>
              <a:t>state-value function</a:t>
            </a:r>
            <a:r>
              <a:rPr lang="ko-KR" altLang="en-US" sz="1200" dirty="0">
                <a:latin typeface="+mn-ea"/>
              </a:rPr>
              <a:t>과 </a:t>
            </a:r>
            <a:r>
              <a:rPr lang="en-US" altLang="ko-KR" sz="1200" dirty="0">
                <a:latin typeface="+mn-ea"/>
              </a:rPr>
              <a:t>action-value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function</a:t>
            </a:r>
            <a:r>
              <a:rPr lang="ko-KR" altLang="en-US" sz="1200" dirty="0">
                <a:latin typeface="+mn-ea"/>
              </a:rPr>
              <a:t>으로 나뉨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en-US" altLang="ko-KR" sz="1200" dirty="0">
                <a:latin typeface="+mn-ea"/>
              </a:rPr>
              <a:t> 	</a:t>
            </a:r>
            <a:endParaRPr lang="ko-KR" altLang="en-US" sz="12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31217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/>
                            <a:t>v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a14:m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200" b="0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+3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+…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/>
                            <a:t>E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sz="1200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200" b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altLang="ko-KR" sz="1200" b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31217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8E550A-901A-41B7-81BE-A89F845DDB7A}"/>
                  </a:ext>
                </a:extLst>
              </p:cNvPr>
              <p:cNvSpPr txBox="1"/>
              <p:nvPr/>
            </p:nvSpPr>
            <p:spPr>
              <a:xfrm>
                <a:off x="400050" y="2330643"/>
                <a:ext cx="8807476" cy="1203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 dirty="0">
                    <a:latin typeface="+mn-ea"/>
                  </a:rPr>
                  <a:t>&lt;State-value function&gt;</a:t>
                </a:r>
              </a:p>
              <a:p>
                <a:pPr algn="l"/>
                <a:r>
                  <a:rPr lang="en-US" altLang="ko-KR" sz="1200" dirty="0">
                    <a:latin typeface="+mn-ea"/>
                  </a:rPr>
                  <a:t> - return</a:t>
                </a:r>
                <a:r>
                  <a:rPr lang="ko-KR" altLang="en-US" sz="1200" dirty="0">
                    <a:latin typeface="+mn-ea"/>
                  </a:rPr>
                  <a:t>의 정의를 따라 </a:t>
                </a:r>
                <a:r>
                  <a:rPr lang="ko-KR" altLang="en-US" sz="1200" dirty="0" err="1">
                    <a:latin typeface="+mn-ea"/>
                  </a:rPr>
                  <a:t>풀어줌</a:t>
                </a:r>
                <a:endParaRPr lang="en-US" altLang="ko-KR" sz="1200" dirty="0">
                  <a:latin typeface="+mn-ea"/>
                </a:endParaRPr>
              </a:p>
              <a:p>
                <a:pPr algn="l"/>
                <a:r>
                  <a:rPr lang="en-US" altLang="ko-KR" sz="1200" dirty="0">
                    <a:latin typeface="+mn-ea"/>
                  </a:rPr>
                  <a:t> - </a:t>
                </a:r>
                <a:r>
                  <a:rPr lang="ko-KR" altLang="en-US" sz="1200" dirty="0">
                    <a:latin typeface="+mn-ea"/>
                  </a:rPr>
                  <a:t>특정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return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</a:t>
                </a:r>
                <a:r>
                  <a:rPr lang="ko-KR" altLang="en-US" sz="1200" dirty="0">
                    <a:latin typeface="+mn-ea"/>
                  </a:rPr>
                  <a:t> </a:t>
                </a:r>
                <a:endParaRPr lang="en-US" altLang="ko-KR" sz="1200" dirty="0">
                  <a:latin typeface="+mn-ea"/>
                </a:endParaRPr>
              </a:p>
              <a:p>
                <a:pPr algn="l"/>
                <a:r>
                  <a:rPr lang="en-US" altLang="ko-KR" sz="1200" dirty="0">
                    <a:latin typeface="+mn-ea"/>
                  </a:rPr>
                  <a:t> - </a:t>
                </a:r>
                <a:r>
                  <a:rPr lang="ko-KR" altLang="en-US" sz="1200" dirty="0">
                    <a:latin typeface="+mn-ea"/>
                  </a:rPr>
                  <a:t>현재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value function</a:t>
                </a:r>
                <a:r>
                  <a:rPr lang="ko-KR" altLang="en-US" sz="1200" dirty="0">
                    <a:latin typeface="+mn-ea"/>
                  </a:rPr>
                  <a:t>을 당장 얻을 수 있는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 그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를 받은 후 전이 된 다음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value function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  </a:t>
                </a:r>
                <a:r>
                  <a:rPr lang="ko-KR" altLang="en-US" sz="1200" dirty="0">
                    <a:latin typeface="+mn-ea"/>
                  </a:rPr>
                  <a:t>의 합으로 표현 </a:t>
                </a:r>
                <a:r>
                  <a:rPr lang="en-US" altLang="ko-KR" sz="1200" dirty="0">
                    <a:latin typeface="+mn-ea"/>
                  </a:rPr>
                  <a:t> 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- Bellman Equation</a:t>
                </a:r>
                <a:endParaRPr lang="ko-KR" altLang="en-US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8E550A-901A-41B7-81BE-A89F845DD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2330643"/>
                <a:ext cx="8807476" cy="1203856"/>
              </a:xfrm>
              <a:prstGeom prst="rect">
                <a:avLst/>
              </a:prstGeom>
              <a:blipFill>
                <a:blip r:embed="rId3"/>
                <a:stretch>
                  <a:fillRect l="-69" b="-25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58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89596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Bellman Expectation Equation</a:t>
            </a:r>
            <a:r>
              <a:rPr lang="ko-KR" altLang="en-US" sz="1200">
                <a:latin typeface="+mn-ea"/>
              </a:rPr>
              <a:t>이란 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에 현재 상태에서 행동을 취할 확률인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방정식으로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행동에 대한 확률이 적용된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Bellman equation : </a:t>
            </a:r>
            <a:r>
              <a:rPr lang="ko-KR" altLang="en-US" sz="1200">
                <a:latin typeface="+mn-ea"/>
              </a:rPr>
              <a:t>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관계식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-&gt;</a:t>
            </a:r>
            <a:r>
              <a:rPr lang="ko-KR" altLang="en-US" sz="1200">
                <a:latin typeface="+mn-ea"/>
              </a:rPr>
              <a:t> 벨만 방정식으로 변형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+…]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8E550A-901A-41B7-81BE-A89F845DDB7A}"/>
              </a:ext>
            </a:extLst>
          </p:cNvPr>
          <p:cNvSpPr txBox="1"/>
          <p:nvPr/>
        </p:nvSpPr>
        <p:spPr>
          <a:xfrm>
            <a:off x="495300" y="2994660"/>
            <a:ext cx="5630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&lt;State-value function&gt;</a:t>
            </a:r>
          </a:p>
          <a:p>
            <a:pPr algn="l"/>
            <a:r>
              <a:rPr lang="en-US" altLang="ko-KR" sz="1200">
                <a:latin typeface="+mn-ea"/>
              </a:rPr>
              <a:t>  - </a:t>
            </a:r>
            <a:r>
              <a:rPr lang="ko-KR" altLang="en-US" sz="1200">
                <a:latin typeface="+mn-ea"/>
              </a:rPr>
              <a:t>어떤 상태의 에이전트가 앞으로 받을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에 대한 기댓값을 나타내는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365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7723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들 사이의 관계식</a:t>
            </a:r>
            <a:r>
              <a:rPr lang="en-US" altLang="ko-KR" sz="1200">
                <a:latin typeface="+mn-ea"/>
              </a:rPr>
              <a:t>&gt;</a:t>
            </a:r>
          </a:p>
          <a:p>
            <a:pPr algn="l"/>
            <a:r>
              <a:rPr lang="en-US" altLang="ko-KR" sz="1200">
                <a:latin typeface="+mn-ea"/>
              </a:rPr>
              <a:t> - State value function : </a:t>
            </a:r>
            <a:r>
              <a:rPr lang="ko-KR" altLang="en-US" sz="1200">
                <a:latin typeface="+mn-ea"/>
              </a:rPr>
              <a:t>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에이전트가 취할 수 있는 여러가지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할 수 있다는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할 확률과 그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해서 받는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expected return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곱한 것을 더하면 현재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+mn-ea"/>
              </a:rPr>
              <a:t>n</a:t>
            </a:r>
            <a:r>
              <a:rPr lang="ko-KR" altLang="en-US" sz="1200">
                <a:latin typeface="+mn-ea"/>
              </a:rPr>
              <a:t>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7FD22F0-E003-4C66-B158-3C2F87CFCC71}"/>
              </a:ext>
            </a:extLst>
          </p:cNvPr>
          <p:cNvGrpSpPr/>
          <p:nvPr/>
        </p:nvGrpSpPr>
        <p:grpSpPr>
          <a:xfrm>
            <a:off x="1362246" y="2036754"/>
            <a:ext cx="1947330" cy="813743"/>
            <a:chOff x="733596" y="1916791"/>
            <a:chExt cx="1947330" cy="813743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1A8764-0100-4C22-A1DE-520D62FB7F0A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4F2279F-2521-42CD-9D13-7E5E98356B20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A4A4491-B32D-4F27-996E-1F041B9D9EC6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367A8FC-9E7D-417E-B131-38B4111E29E8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71D046E-D903-4E2E-AE4A-77869F4CCDFC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8282695-347E-4FDB-BFFF-8F512B6D22AB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7045" b="-165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/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했을때 앞으로 받을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할 확률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28B581A-31A0-47B9-AA98-ED35AC274470}"/>
              </a:ext>
            </a:extLst>
          </p:cNvPr>
          <p:cNvSpPr txBox="1"/>
          <p:nvPr/>
        </p:nvSpPr>
        <p:spPr>
          <a:xfrm>
            <a:off x="400050" y="3679879"/>
            <a:ext cx="7930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200">
                <a:latin typeface="+mn-ea"/>
              </a:rPr>
              <a:t>Action value function : </a:t>
            </a:r>
            <a:r>
              <a:rPr lang="ko-KR" altLang="en-US" sz="1200">
                <a:latin typeface="+mn-ea"/>
              </a:rPr>
              <a:t>에이전트가 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어떤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했을 때 여러 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이 될수 있다는 기댓값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위 그림에서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추가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imediate reward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에다가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취해 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로 갈 확률 곱하기 그 위치에서의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더함</a:t>
            </a:r>
            <a:endParaRPr lang="en-US" altLang="ko-KR" sz="1200" b="0" i="0">
              <a:solidFill>
                <a:srgbClr val="333333"/>
              </a:solidFill>
              <a:effectLst/>
              <a:latin typeface="Helvetica Neu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/>
              <p:nvPr/>
            </p:nvSpPr>
            <p:spPr>
              <a:xfrm>
                <a:off x="400050" y="5515199"/>
                <a:ext cx="4214231" cy="863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즉각적인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시간에 대한 보상의 가치를 판단하는 </a:t>
                </a:r>
                <a:r>
                  <a:rPr lang="en-US" altLang="ko-KR" sz="1200">
                    <a:latin typeface="+mn-ea"/>
                  </a:rPr>
                  <a:t>discount factor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가 될 확률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200">
                    <a:latin typeface="+mn-ea"/>
                  </a:rPr>
                  <a:t>(s’) 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에서 앞으로 받을 보상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5515199"/>
                <a:ext cx="4214231" cy="863891"/>
              </a:xfrm>
              <a:prstGeom prst="rect">
                <a:avLst/>
              </a:prstGeom>
              <a:blipFill>
                <a:blip r:embed="rId7"/>
                <a:stretch>
                  <a:fillRect t="-709" b="-35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A2DA693-655E-4750-AB9C-16D10DFC8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064" y="4468190"/>
            <a:ext cx="2546122" cy="11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5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3057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(state value function)&gt;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7181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373" r="-60837" b="-1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4375" t="-92373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57955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D13EEB-922F-40C4-B853-4CD180171101}"/>
              </a:ext>
            </a:extLst>
          </p:cNvPr>
          <p:cNvGrpSpPr/>
          <p:nvPr/>
        </p:nvGrpSpPr>
        <p:grpSpPr>
          <a:xfrm>
            <a:off x="974496" y="2000306"/>
            <a:ext cx="2309724" cy="1318082"/>
            <a:chOff x="997922" y="2036754"/>
            <a:chExt cx="2309724" cy="131808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4F2279F-2521-42CD-9D13-7E5E98356B20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A4A4491-B32D-4F27-996E-1F041B9D9EC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367A8FC-9E7D-417E-B131-38B4111E29E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1D046E-D903-4E2E-AE4A-77869F4CCDFC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8282695-347E-4FDB-BFFF-8F512B6D22AB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AB46DDD-3980-4C33-A1E0-7736BBFF89A6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42C5CE8-CD5A-4B10-B61E-9BC51727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3496ED2-8DBC-4572-8DF0-AB4525BC633F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55E7EA9-34E7-49C1-8EF0-EA6B209448AF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CA73A1C-8B14-4885-847A-558C519CD61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AE023D48-64F2-45DD-B7F0-465F8C16B007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78FA6E7F-CA93-4832-8F52-2E386EC7BC21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B1CEFB8-D2A5-42D2-89A2-A8D69F3932A7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/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19CE9-2637-4AD4-A838-B3D54A7D3A4A}"/>
              </a:ext>
            </a:extLst>
          </p:cNvPr>
          <p:cNvSpPr/>
          <p:nvPr/>
        </p:nvSpPr>
        <p:spPr>
          <a:xfrm>
            <a:off x="5905500" y="2249172"/>
            <a:ext cx="617220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54BE78-834F-44C6-915F-CC1FC7261166}"/>
              </a:ext>
            </a:extLst>
          </p:cNvPr>
          <p:cNvCxnSpPr/>
          <p:nvPr/>
        </p:nvCxnSpPr>
        <p:spPr>
          <a:xfrm flipH="1">
            <a:off x="6603579" y="237168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39C0D30A-D789-46AB-8DF7-1761064DB668}"/>
              </a:ext>
            </a:extLst>
          </p:cNvPr>
          <p:cNvSpPr/>
          <p:nvPr/>
        </p:nvSpPr>
        <p:spPr>
          <a:xfrm>
            <a:off x="6522720" y="2570676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4D5021-EEDE-4510-A0F8-25E342363CCC}"/>
              </a:ext>
            </a:extLst>
          </p:cNvPr>
          <p:cNvSpPr txBox="1"/>
          <p:nvPr/>
        </p:nvSpPr>
        <p:spPr>
          <a:xfrm>
            <a:off x="400050" y="3476973"/>
            <a:ext cx="3108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(action value function)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947F407-7B7A-4E45-B1ED-4F22E29EF064}"/>
              </a:ext>
            </a:extLst>
          </p:cNvPr>
          <p:cNvGrpSpPr/>
          <p:nvPr/>
        </p:nvGrpSpPr>
        <p:grpSpPr>
          <a:xfrm>
            <a:off x="1010269" y="3738583"/>
            <a:ext cx="2400460" cy="1318082"/>
            <a:chOff x="1088518" y="2036754"/>
            <a:chExt cx="2400460" cy="131808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DE7239A-16CD-4BF2-B9FE-62C99FE77DE6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18BE286F-6692-4251-B6B2-9BD8F89B65D3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715F44C-13BC-41CC-903F-F455DB16D922}"/>
                </a:ext>
              </a:extLst>
            </p:cNvPr>
            <p:cNvCxnSpPr>
              <a:cxnSpLocks/>
              <a:stCxn id="96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F12F7853-9F91-49E5-8B29-01F7DF99C0C1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D301F6D0-C2D3-4620-BB9A-EFDC13A5E7BF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B2016979-2D87-4352-A98F-1268058C0893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1A7673D-85D8-410A-A28B-A9AEEF87C368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blipFill>
                  <a:blip r:embed="rId8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/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564BAE42-E103-40A6-AAEF-6C5DD1373BC5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C906DC6-1901-4EA9-B728-060EC094A8C1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EEC525-737E-4ED3-86F1-4DBDC0248E3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ABA02999-8337-4BF2-933E-494D29B9501F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E311EC47-7857-4005-A485-7E086237375F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A9D527DF-58C8-452B-B2BD-FCB7E92AF343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/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altLang="ko-KR" sz="1200" smtClean="0"/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′,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′)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6124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7921" r="-60721" b="-231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l="-164688" t="-107921" b="-231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238636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2D850DD-3E81-4140-B492-E45308451265}"/>
              </a:ext>
            </a:extLst>
          </p:cNvPr>
          <p:cNvSpPr/>
          <p:nvPr/>
        </p:nvSpPr>
        <p:spPr>
          <a:xfrm>
            <a:off x="6202679" y="3721542"/>
            <a:ext cx="552975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BA62C1A-2941-4BBB-A94B-B40D13848BE0}"/>
              </a:ext>
            </a:extLst>
          </p:cNvPr>
          <p:cNvCxnSpPr/>
          <p:nvPr/>
        </p:nvCxnSpPr>
        <p:spPr>
          <a:xfrm flipH="1">
            <a:off x="6836514" y="384405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화살표: 아래쪽 116">
            <a:extLst>
              <a:ext uri="{FF2B5EF4-FFF2-40B4-BE49-F238E27FC236}">
                <a16:creationId xmlns:a16="http://schemas.microsoft.com/office/drawing/2014/main" id="{0845E22C-36BD-4124-9C45-3B6693A20F35}"/>
              </a:ext>
            </a:extLst>
          </p:cNvPr>
          <p:cNvSpPr/>
          <p:nvPr/>
        </p:nvSpPr>
        <p:spPr>
          <a:xfrm>
            <a:off x="6522720" y="4012019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BBFA8-E7B9-4F1A-B593-C31E5067047E}"/>
              </a:ext>
            </a:extLst>
          </p:cNvPr>
          <p:cNvSpPr txBox="1"/>
          <p:nvPr/>
        </p:nvSpPr>
        <p:spPr>
          <a:xfrm>
            <a:off x="543208" y="5260063"/>
            <a:ext cx="64636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실제 강화학습은 무엇을 학습시킬때 </a:t>
            </a:r>
            <a:r>
              <a:rPr lang="en-US" altLang="ko-KR" sz="1100"/>
              <a:t>rewar</a:t>
            </a:r>
            <a:r>
              <a:rPr lang="ko-KR" altLang="en-US" sz="1100"/>
              <a:t>와 </a:t>
            </a:r>
            <a:r>
              <a:rPr lang="en-US" altLang="ko-KR" sz="1100"/>
              <a:t>state transition probabilit</a:t>
            </a:r>
            <a:r>
              <a:rPr lang="ko-KR" altLang="en-US" sz="1100"/>
              <a:t>를 미리 알 수 없다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경험을 통해 알아가는것 이러한 정보를 다 알때 </a:t>
            </a:r>
            <a:r>
              <a:rPr lang="en-US" altLang="ko-KR" sz="1100"/>
              <a:t>MDP</a:t>
            </a:r>
            <a:r>
              <a:rPr lang="ko-KR" altLang="en-US" sz="1100"/>
              <a:t>를 모두 안다고 표현하는것이며 </a:t>
            </a:r>
            <a:r>
              <a:rPr lang="en-US" altLang="ko-KR" sz="1100"/>
              <a:t>MODEL</a:t>
            </a:r>
            <a:r>
              <a:rPr lang="ko-KR" altLang="en-US" sz="1100"/>
              <a:t>이라고한다</a:t>
            </a:r>
            <a:endParaRPr lang="en-US" altLang="ko-KR" sz="1100"/>
          </a:p>
          <a:p>
            <a:pPr algn="l"/>
            <a:r>
              <a:rPr lang="ko-KR" altLang="en-US" sz="1100"/>
              <a:t>강화학습의 큰 특징은 </a:t>
            </a:r>
            <a:r>
              <a:rPr lang="en-US" altLang="ko-KR" sz="1100"/>
              <a:t>MDP</a:t>
            </a:r>
            <a:r>
              <a:rPr lang="ko-KR" altLang="en-US" sz="1100"/>
              <a:t>의 </a:t>
            </a:r>
            <a:r>
              <a:rPr lang="en-US" altLang="ko-KR" sz="1100"/>
              <a:t>MODEL</a:t>
            </a:r>
            <a:r>
              <a:rPr lang="ko-KR" altLang="en-US" sz="1100"/>
              <a:t>을 몰라도 학습할 수 있다는 것</a:t>
            </a:r>
          </a:p>
        </p:txBody>
      </p:sp>
    </p:spTree>
    <p:extLst>
      <p:ext uri="{BB962C8B-B14F-4D97-AF65-F5344CB8AC3E}">
        <p14:creationId xmlns:p14="http://schemas.microsoft.com/office/powerpoint/2010/main" val="278315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022CEE-A0C5-4F3D-B778-E08D193C5D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>
                <a:latin typeface="+mn-ea"/>
              </a:rPr>
              <a:t>Bellman Expectation Equation</a:t>
            </a:r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55CC03-0A00-4382-9990-794820AFA894}"/>
              </a:ext>
            </a:extLst>
          </p:cNvPr>
          <p:cNvGrpSpPr/>
          <p:nvPr/>
        </p:nvGrpSpPr>
        <p:grpSpPr>
          <a:xfrm>
            <a:off x="3137852" y="1171575"/>
            <a:ext cx="3513455" cy="2973705"/>
            <a:chOff x="2445385" y="1171575"/>
            <a:chExt cx="4762500" cy="41338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834D9C2-3B91-493D-BE69-74892E096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385" y="1171575"/>
              <a:ext cx="4762500" cy="41338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5EF64BE-44D6-4693-B167-2CB917663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1624" y="1334525"/>
              <a:ext cx="778808" cy="104418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/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200">
                    <a:latin typeface="+mn-ea"/>
                  </a:rPr>
                  <a:t>풀이</a:t>
                </a:r>
                <a:r>
                  <a:rPr lang="en-US" altLang="ko-KR" sz="1200">
                    <a:latin typeface="+mn-ea"/>
                  </a:rPr>
                  <a:t>(4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Study</a:t>
                </a:r>
                <a:r>
                  <a:rPr lang="ko-KR" altLang="en-US" sz="1200">
                    <a:latin typeface="+mn-ea"/>
                  </a:rPr>
                  <a:t>와 </a:t>
                </a:r>
                <a:r>
                  <a:rPr lang="en-US" altLang="ko-KR" sz="1200">
                    <a:latin typeface="+mn-ea"/>
                  </a:rPr>
                  <a:t>Pub</a:t>
                </a:r>
                <a:r>
                  <a:rPr lang="ko-KR" altLang="en-US" sz="1200">
                    <a:latin typeface="+mn-ea"/>
                  </a:rPr>
                  <a:t> 두가지 행동이 존재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    </a:t>
                </a:r>
                <a:r>
                  <a:rPr lang="en-US" altLang="ko-KR" sz="1200">
                    <a:latin typeface="+mn-ea"/>
                  </a:rPr>
                  <a:t>1) Study</a:t>
                </a:r>
                <a:r>
                  <a:rPr lang="ko-KR" altLang="en-US" sz="1200">
                    <a:latin typeface="+mn-ea"/>
                  </a:rPr>
                  <a:t>의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의 위치가 종점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=&gt;  0.5(10+1*1*0)=5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    2) Pub</a:t>
                </a:r>
                <a:r>
                  <a:rPr lang="ko-KR" altLang="en-US" sz="1200">
                    <a:latin typeface="+mn-ea"/>
                  </a:rPr>
                  <a:t>인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가 </a:t>
                </a:r>
                <a:r>
                  <a:rPr lang="en-US" altLang="ko-KR" sz="1200">
                    <a:latin typeface="+mn-ea"/>
                  </a:rPr>
                  <a:t>(2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,3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존재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s’=2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=0.2,,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−1.3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s’=3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2.7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s’=4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7.4</m:t>
                    </m:r>
                  </m:oMath>
                </a14:m>
                <a:r>
                  <a:rPr lang="en-US" altLang="ko-KR" sz="1200">
                    <a:latin typeface="+mn-ea"/>
                  </a:rPr>
                  <a:t>	</a:t>
                </a:r>
                <a:endParaRPr lang="ko-KR" altLang="en-US" sz="1200">
                  <a:latin typeface="+mn-ea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blipFill>
                <a:blip r:embed="rId4"/>
                <a:stretch>
                  <a:fillRect t="-223" b="-2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/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1800" b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ko-KR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29439FE-DCFE-409C-B511-F74ACEE91BA0}"/>
              </a:ext>
            </a:extLst>
          </p:cNvPr>
          <p:cNvSpPr/>
          <p:nvPr/>
        </p:nvSpPr>
        <p:spPr>
          <a:xfrm>
            <a:off x="4052527" y="6110395"/>
            <a:ext cx="701040" cy="388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/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 b="0">
                    <a:latin typeface="Cambria Math" panose="02040503050406030204" pitchFamily="18" charset="0"/>
                  </a:rPr>
                  <a:t>1. 0.5(10+1*1*0) = 5</a:t>
                </a:r>
              </a:p>
              <a:p>
                <a:pPr algn="l"/>
                <a:r>
                  <a:rPr lang="en-US" altLang="ko-KR" sz="1100" b="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0.5</m:t>
                    </m:r>
                    <m:d>
                      <m:dPr>
                        <m:ctrlPr>
                          <a:rPr lang="en-US" altLang="ko-KR" sz="1100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1+1∗</m:t>
                        </m:r>
                        <m:d>
                          <m:dPr>
                            <m:ctrlPr>
                              <a:rPr lang="en-US" altLang="ko-KR" sz="1100" b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0.2∗−1.3+0.4∗2.7+0.4∗7.4</m:t>
                            </m:r>
                          </m:e>
                        </m:d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=2.39</m:t>
                    </m:r>
                  </m:oMath>
                </a14:m>
                <a:endParaRPr lang="en-US" altLang="ko-KR" sz="1100"/>
              </a:p>
              <a:p>
                <a:pPr algn="l"/>
                <a:r>
                  <a:rPr lang="en-US" altLang="ko-KR" sz="1100"/>
                  <a:t>=&gt; S 5+2.39 =7.4</a:t>
                </a:r>
                <a:endParaRPr lang="ko-KR" altLang="en-US" sz="110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blipFill>
                <a:blip r:embed="rId6"/>
                <a:stretch>
                  <a:fillRect t="-980"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CE02316-CB8D-4AED-B8BC-06AF7AB8EBD8}"/>
              </a:ext>
            </a:extLst>
          </p:cNvPr>
          <p:cNvSpPr txBox="1"/>
          <p:nvPr/>
        </p:nvSpPr>
        <p:spPr>
          <a:xfrm>
            <a:off x="400050" y="1157989"/>
            <a:ext cx="3055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</a:t>
            </a:r>
            <a:r>
              <a:rPr lang="ko-KR" altLang="en-US" sz="1200">
                <a:latin typeface="+mn-ea"/>
              </a:rPr>
              <a:t>의 예제</a:t>
            </a:r>
            <a:r>
              <a:rPr lang="en-US" altLang="ko-KR" sz="1200">
                <a:latin typeface="+mn-ea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2085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Equation&gt;</a:t>
            </a:r>
          </a:p>
          <a:p>
            <a:r>
              <a:rPr lang="en-US" altLang="ko-KR" sz="1200">
                <a:latin typeface="+mn-ea"/>
              </a:rPr>
              <a:t> - optimal polic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equation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63618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84211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63618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3365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 </a:t>
            </a:r>
            <a:r>
              <a:rPr lang="ko-KR" altLang="en-US" sz="1200">
                <a:latin typeface="+mn-ea"/>
              </a:rPr>
              <a:t>예제</a:t>
            </a:r>
            <a:r>
              <a:rPr lang="en-US" altLang="ko-KR" sz="1200">
                <a:latin typeface="+mn-ea"/>
              </a:rPr>
              <a:t>&gt;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2202F8-ACD5-47E9-8483-CC738A9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99" y="1423040"/>
            <a:ext cx="3795555" cy="3394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/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/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/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5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/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/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8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/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/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D983B4D-CAD6-48AC-B9D1-95F9110F8193}"/>
              </a:ext>
            </a:extLst>
          </p:cNvPr>
          <p:cNvSpPr txBox="1"/>
          <p:nvPr/>
        </p:nvSpPr>
        <p:spPr>
          <a:xfrm>
            <a:off x="778598" y="4961299"/>
            <a:ext cx="70150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100"/>
              <a:t>Graph</a:t>
            </a:r>
            <a:r>
              <a:rPr lang="ko-KR" altLang="en-US" sz="1100"/>
              <a:t>를 살펴보면</a:t>
            </a:r>
            <a:r>
              <a:rPr lang="en-US" altLang="ko-KR" sz="1100"/>
              <a:t>, state</a:t>
            </a:r>
            <a:r>
              <a:rPr lang="ko-KR" altLang="en-US" sz="1100"/>
              <a:t>입장에서 </a:t>
            </a:r>
            <a:r>
              <a:rPr lang="en-US" altLang="ko-KR" sz="1100"/>
              <a:t>optimal action-value function </a:t>
            </a:r>
            <a:r>
              <a:rPr lang="ko-KR" altLang="en-US" sz="1100"/>
              <a:t>중에서 가장 큰 값은 </a:t>
            </a:r>
            <a:r>
              <a:rPr lang="en-US" altLang="ko-KR" sz="1100"/>
              <a:t>8</a:t>
            </a:r>
            <a:r>
              <a:rPr lang="ko-KR" altLang="en-US" sz="1100"/>
              <a:t>이며 그것이 </a:t>
            </a:r>
            <a:r>
              <a:rPr lang="en-US" altLang="ko-KR" sz="1100"/>
              <a:t>optimal policy</a:t>
            </a:r>
          </a:p>
          <a:p>
            <a:pPr marL="171450" indent="-171450" algn="l">
              <a:buFontTx/>
              <a:buChar char="-"/>
            </a:pPr>
            <a:r>
              <a:rPr lang="en-US" altLang="ko-KR" sz="1100"/>
              <a:t>Optimal polic</a:t>
            </a:r>
            <a:r>
              <a:rPr lang="ko-KR" altLang="en-US" sz="1100"/>
              <a:t>는 </a:t>
            </a:r>
            <a:r>
              <a:rPr lang="en-US" altLang="ko-KR" sz="1100"/>
              <a:t>study -&gt; study -&gt; study</a:t>
            </a:r>
            <a:r>
              <a:rPr lang="ko-KR" altLang="en-US" sz="1100"/>
              <a:t>임</a:t>
            </a:r>
          </a:p>
        </p:txBody>
      </p:sp>
    </p:spTree>
    <p:extLst>
      <p:ext uri="{BB962C8B-B14F-4D97-AF65-F5344CB8AC3E}">
        <p14:creationId xmlns:p14="http://schemas.microsoft.com/office/powerpoint/2010/main" val="186150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https://dnddnjs.gitbooks.io/rl/content/example.html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https://brunch.co.kr/@mnc/14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https://sumniya.tistory.com/3</a:t>
            </a:r>
            <a:endParaRPr lang="en-US" altLang="ko-KR" sz="1100"/>
          </a:p>
          <a:p>
            <a:pPr algn="l"/>
            <a:r>
              <a:rPr lang="en-US" altLang="ko-KR" sz="1100">
                <a:hlinkClick r:id="rId5"/>
              </a:rPr>
              <a:t>https://skidrow6122.tistory.com/entry/3-Bellman-Equation-and-Optimality</a:t>
            </a:r>
            <a:endParaRPr lang="en-US" altLang="ko-KR" sz="1100"/>
          </a:p>
          <a:p>
            <a:pPr algn="l"/>
            <a:r>
              <a:rPr lang="en-US" altLang="ko-KR" sz="1100">
                <a:hlinkClick r:id="rId6"/>
              </a:rPr>
              <a:t>https://ai-sinq.tistory.com/entry/Bellman-Equation%EB%B2%A8%EB%A7%8C-%EB%B0%A9%EC%A0%95%EC%8B%9D</a:t>
            </a:r>
            <a:endParaRPr lang="en-US" altLang="ko-KR" sz="1100"/>
          </a:p>
          <a:p>
            <a:pPr algn="l"/>
            <a:r>
              <a:rPr lang="en-US" altLang="ko-KR" sz="1100">
                <a:hlinkClick r:id="rId7"/>
              </a:rPr>
              <a:t>https://blog.naver.com/PostView.naver?blogId=kryj9625&amp;logNo=221769935372&amp;categoryNo=15&amp;parentCategoryNo=0&amp;viewDate=&amp;currentPage=1&amp;postListTopCurrentPage=1&amp;from=postView</a:t>
            </a:r>
            <a:endParaRPr lang="en-US" altLang="ko-KR" sz="1100"/>
          </a:p>
          <a:p>
            <a:pPr algn="l"/>
            <a:r>
              <a:rPr lang="en-US" altLang="ko-KR" sz="1100">
                <a:hlinkClick r:id="rId8"/>
              </a:rPr>
              <a:t>https://information.koreainfoguide.com/entry/Lecture-2-Markov-Decision-Process</a:t>
            </a:r>
            <a:endParaRPr lang="en-US" altLang="ko-KR" sz="1100"/>
          </a:p>
          <a:p>
            <a:pPr algn="l"/>
            <a:r>
              <a:rPr lang="en-US" altLang="ko-KR" sz="1100">
                <a:hlinkClick r:id="rId9"/>
              </a:rPr>
              <a:t>https://velog.io/@sjinu/%EA%B0%9C%EB%85%90%EC%A0%95%EB%A6%AC-2.-Markov-Decision-ProcessesMDPs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Bellman Equation</a:t>
            </a:r>
          </a:p>
          <a:p>
            <a:pPr>
              <a:buNone/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44616" y="1333758"/>
            <a:ext cx="8254767" cy="301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&lt;Bellman Equation&gt;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MDP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들 사이에는 어떠한 연관성을 식으로 나타냄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을 다시 구하는 방식을 반복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</a:t>
            </a:r>
            <a:r>
              <a:rPr lang="ko-KR" altLang="en-US" sz="1200">
                <a:latin typeface="+mn-ea"/>
              </a:rPr>
              <a:t> 두 가지 종류가 있음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Optimality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2716</Words>
  <Application>Microsoft Office PowerPoint</Application>
  <PresentationFormat>화면 슬라이드 쇼(4:3)</PresentationFormat>
  <Paragraphs>317</Paragraphs>
  <Slides>20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Helvetica Neue</vt:lpstr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250</cp:revision>
  <dcterms:modified xsi:type="dcterms:W3CDTF">2023-08-04T01:13:15Z</dcterms:modified>
  <cp:version>1000.0000.01</cp:version>
</cp:coreProperties>
</file>