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2DC951-EF6A-4449-801D-D1D4DD6F1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E3AC69-CA67-4CAD-A595-5B13F6B57D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675C63-EA75-45AB-9AD1-876FB8039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8F23-8153-49FF-BBC6-A0A848425A4F}" type="datetimeFigureOut">
              <a:rPr lang="ko-KR" altLang="en-US" smtClean="0"/>
              <a:t>2023-02-02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B87389-F31E-46D3-8A26-DA28D4373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B2F3B7-3D97-4C5A-9340-E57FDBED8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7860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19E647-698F-4A13-97C8-0D9D3A018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376F0F-543C-4CC1-951E-F63BB0FE9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442DBA-02CE-4596-9DCF-B8120EF19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8F23-8153-49FF-BBC6-A0A848425A4F}" type="datetimeFigureOut">
              <a:rPr lang="ko-KR" altLang="en-US" smtClean="0"/>
              <a:t>2023-02-02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A74857-6EC9-472B-AFBF-299EE3E14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900ED2-0031-4492-8840-A51E7DAE3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164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4AFB0-EB5B-4CEF-B5F3-7CD3C87CB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1BB203-9131-4B5A-A30C-ACA4F3B0F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6FED29-E32C-4762-9AF9-E47ED90C6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8F23-8153-49FF-BBC6-A0A848425A4F}" type="datetimeFigureOut">
              <a:rPr lang="ko-KR" altLang="en-US" smtClean="0"/>
              <a:t>2023-02-02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7E3359-5C46-4346-A422-061DF0AD8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CDA32F-7B78-4F66-BBE7-4EEB6E89B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106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E2A08-B54B-4B35-8F1B-F23986D11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4B4017-CCCF-48BF-B476-E580D1B00C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6E0622-AA32-4FF7-80A6-39FB7C0DB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41381B-5084-4950-BDFB-C4298A413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8F23-8153-49FF-BBC6-A0A848425A4F}" type="datetimeFigureOut">
              <a:rPr lang="ko-KR" altLang="en-US" smtClean="0"/>
              <a:t>2023-02-02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2C178B-D6CF-476F-9166-C47B465FA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EB20A5D-BC11-4C8D-86A6-4484E1BD3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901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7A02A-8538-4918-AC51-82E8E9ADA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F20466-E766-4CC9-90D2-33FD87CD1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19C9B27-E7F1-45B6-B8B7-3D2ED82526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93DA7D9-B359-47F5-80EF-4B05163ADC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9F168BB-AA43-410A-9F9E-23141B22BF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18A7513-F7B1-4C3D-A872-935F31AA0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8F23-8153-49FF-BBC6-A0A848425A4F}" type="datetimeFigureOut">
              <a:rPr lang="ko-KR" altLang="en-US" smtClean="0"/>
              <a:t>2023-02-02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ADE7C7A-7D20-4F4F-A20F-04B5024F6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2B75757-DB41-45DD-9F20-0D1660A0E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9068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C1792F-5857-4244-A2EE-9741D567D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9A1BE6-2AD8-4933-816E-8F3B73C41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8F23-8153-49FF-BBC6-A0A848425A4F}" type="datetimeFigureOut">
              <a:rPr lang="ko-KR" altLang="en-US" smtClean="0"/>
              <a:t>2023-02-02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7E1418-299E-4F8C-BF17-114A4BBF2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3D2ADF-BCE8-4937-9776-5C7C6572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576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A03A4AE-2653-4D8B-8738-EBEA1A492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8F23-8153-49FF-BBC6-A0A848425A4F}" type="datetimeFigureOut">
              <a:rPr lang="ko-KR" altLang="en-US" smtClean="0"/>
              <a:t>2023-02-02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20D541-1A4E-42A0-A9BF-92B78AE87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B3B88C-FA1F-4E98-BE90-625F1907C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167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DEF033-1D4F-44AB-9ED6-306D66B58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9559E7-D859-4EE7-955B-119F88C39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F40C42-E2F4-48E7-B2B3-4C0A6DC55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133B82-5F6B-4AE6-B58B-5D924275E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8F23-8153-49FF-BBC6-A0A848425A4F}" type="datetimeFigureOut">
              <a:rPr lang="ko-KR" altLang="en-US" smtClean="0"/>
              <a:t>2023-02-02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A073DB-8F69-4174-A581-1BFED0D99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AB2F9C-2A2A-47AC-A6D5-B0DA183D3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606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2B86C9-68A8-4C29-AFEA-751D235D5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77BA30A-8C90-4F09-8D5F-B265C3B36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82E2E1-6941-4B2A-92D3-882B6CF7F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887F130-6A1D-4D13-BD11-78AFEEE61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8F23-8153-49FF-BBC6-A0A848425A4F}" type="datetimeFigureOut">
              <a:rPr lang="ko-KR" altLang="en-US" smtClean="0"/>
              <a:t>2023-02-02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BACC76-C3B4-4A2D-9CD4-69CD65328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D3098E-E8D1-4347-B918-DEA10452D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6595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4AC06-5772-4904-A496-CB32F2155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9DC53A-5B7A-4A60-8A7A-75509A466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0F5728-3615-4DE0-816B-540755E92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8F23-8153-49FF-BBC6-A0A848425A4F}" type="datetimeFigureOut">
              <a:rPr lang="ko-KR" altLang="en-US" smtClean="0"/>
              <a:t>2023-02-02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8FEC71-2C32-46C7-B171-50048BE0A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0F3B0F-FA4E-4F93-9D62-1ABAB99CA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379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0DB2A28-575F-4D34-9815-BEE08B6BA0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EB9D845-A55E-41E0-9692-5FC3AC26B3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4EDCE4-4771-44FF-85B3-83B5762F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78F23-8153-49FF-BBC6-A0A848425A4F}" type="datetimeFigureOut">
              <a:rPr lang="ko-KR" altLang="en-US" smtClean="0"/>
              <a:t>2023-02-02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EFC423-343B-49AE-9B0D-6C66BF7D7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B92452-4A71-4A24-9AB4-53C826275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277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3CB8D5C-F11B-43F9-AAD7-C0AB54CDD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1D3BE-27E4-479D-A61C-FC652A8771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BA5996-78B8-4416-9E00-851AB1C2E0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78F23-8153-49FF-BBC6-A0A848425A4F}" type="datetimeFigureOut">
              <a:rPr lang="ko-KR" altLang="en-US" smtClean="0"/>
              <a:t>2023-02-02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8B3A47-8C97-48CB-92F5-7E74E05961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018E81-0C75-4839-8BBB-56A3A2408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A4B83-E6C7-4C24-972E-24F50D242C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551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344E24-075B-4B7A-9E08-2AE657F97C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세미나 용어 정리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7CAFB6-896E-4FBC-8779-67BB0903C7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784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3982214-1E4B-4F8F-99CC-E96C1D891B86}"/>
              </a:ext>
            </a:extLst>
          </p:cNvPr>
          <p:cNvSpPr txBox="1"/>
          <p:nvPr/>
        </p:nvSpPr>
        <p:spPr>
          <a:xfrm>
            <a:off x="385894" y="369116"/>
            <a:ext cx="7818539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Bootstrapping</a:t>
            </a:r>
          </a:p>
          <a:p>
            <a:r>
              <a:rPr lang="en-US" altLang="ko-KR" sz="1100"/>
              <a:t> - </a:t>
            </a:r>
            <a:r>
              <a:rPr lang="ko-KR" altLang="en-US" sz="1100"/>
              <a:t>훈련 데이터 셋에서 중복을 허용하여 원래 데이터 셋과 같은 크기의 데이터 셋을 만드는 과정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Bagging</a:t>
            </a:r>
          </a:p>
          <a:p>
            <a:r>
              <a:rPr lang="en-US" altLang="ko-KR" sz="1100"/>
              <a:t> - bagging(Bootstrap aggregating)</a:t>
            </a:r>
            <a:r>
              <a:rPr lang="ko-KR" altLang="en-US" sz="1100"/>
              <a:t>은 </a:t>
            </a:r>
            <a:r>
              <a:rPr lang="en-US" altLang="ko-KR" sz="1100"/>
              <a:t>bootstrap</a:t>
            </a:r>
            <a:r>
              <a:rPr lang="ko-KR" altLang="en-US" sz="1100"/>
              <a:t>을 통해 조금씩 다른 훈련 데이터에 대해 훈련된 기초 분류기</a:t>
            </a:r>
            <a:r>
              <a:rPr lang="en-US" altLang="ko-KR" sz="1100"/>
              <a:t>(base learner)</a:t>
            </a:r>
            <a:r>
              <a:rPr lang="ko-KR" altLang="en-US" sz="1100"/>
              <a:t>들을 결합</a:t>
            </a:r>
            <a:r>
              <a:rPr lang="en-US" altLang="ko-KR" sz="1100"/>
              <a:t>(aggregating)</a:t>
            </a:r>
            <a:r>
              <a:rPr lang="ko-KR" altLang="en-US" sz="1100"/>
              <a:t>시키는 방법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트레이닝 데이터를 선택하는 방법에 따라</a:t>
            </a:r>
            <a:endParaRPr lang="en-US" altLang="ko-KR" sz="1100"/>
          </a:p>
          <a:p>
            <a:r>
              <a:rPr lang="en-US" altLang="ko-KR" sz="1100"/>
              <a:t>    - bagging </a:t>
            </a:r>
          </a:p>
          <a:p>
            <a:r>
              <a:rPr lang="en-US" altLang="ko-KR" sz="1100"/>
              <a:t>      - </a:t>
            </a:r>
            <a:r>
              <a:rPr lang="ko-KR" altLang="en-US" sz="1100"/>
              <a:t>훈련 세트에서 중복을 허용하는 샘플링 방식</a:t>
            </a:r>
            <a:endParaRPr lang="en-US" altLang="ko-KR" sz="1100"/>
          </a:p>
          <a:p>
            <a:r>
              <a:rPr lang="en-US" altLang="ko-KR" sz="1100"/>
              <a:t>      - </a:t>
            </a:r>
            <a:r>
              <a:rPr lang="ko-KR" altLang="en-US" sz="1100"/>
              <a:t>예측 모형의 분산을 줄이고 과적합</a:t>
            </a:r>
            <a:r>
              <a:rPr lang="en-US" altLang="ko-KR" sz="1100"/>
              <a:t>(overfitting)</a:t>
            </a:r>
            <a:r>
              <a:rPr lang="ko-KR" altLang="en-US" sz="1100"/>
              <a:t>을 피하도록 해준다</a:t>
            </a:r>
            <a:endParaRPr lang="en-US" altLang="ko-KR" sz="1100"/>
          </a:p>
          <a:p>
            <a:r>
              <a:rPr lang="en-US" altLang="ko-KR" sz="1100"/>
              <a:t>      - </a:t>
            </a:r>
            <a:r>
              <a:rPr lang="ko-KR" altLang="en-US" sz="1100"/>
              <a:t>보통 </a:t>
            </a:r>
            <a:r>
              <a:rPr lang="en-US" altLang="ko-KR" sz="1100"/>
              <a:t>‘</a:t>
            </a:r>
            <a:r>
              <a:rPr lang="ko-KR" altLang="en-US" sz="1100"/>
              <a:t>결정트리학습법</a:t>
            </a:r>
            <a:r>
              <a:rPr lang="en-US" altLang="ko-KR" sz="1100"/>
              <a:t>＇</a:t>
            </a:r>
            <a:r>
              <a:rPr lang="ko-KR" altLang="en-US" sz="1100"/>
              <a:t>이나 </a:t>
            </a:r>
            <a:r>
              <a:rPr lang="en-US" altLang="ko-KR" sz="1100"/>
              <a:t>‘</a:t>
            </a:r>
            <a:r>
              <a:rPr lang="ko-KR" altLang="en-US" sz="1100"/>
              <a:t>랜덤포레스트</a:t>
            </a:r>
            <a:r>
              <a:rPr lang="en-US" altLang="ko-KR" sz="1100"/>
              <a:t>＇</a:t>
            </a:r>
            <a:r>
              <a:rPr lang="ko-KR" altLang="en-US" sz="1100"/>
              <a:t>에만 적용되는게 일반적이다</a:t>
            </a:r>
            <a:endParaRPr lang="en-US" altLang="ko-KR" sz="1100"/>
          </a:p>
          <a:p>
            <a:r>
              <a:rPr lang="en-US" altLang="ko-KR" sz="1100"/>
              <a:t>  </a:t>
            </a:r>
          </a:p>
          <a:p>
            <a:r>
              <a:rPr lang="en-US" altLang="ko-KR" sz="1100"/>
              <a:t>    - pasting</a:t>
            </a:r>
          </a:p>
          <a:p>
            <a:r>
              <a:rPr lang="en-US" altLang="ko-KR" sz="1100"/>
              <a:t>      - </a:t>
            </a:r>
            <a:r>
              <a:rPr lang="ko-KR" altLang="en-US" sz="1100"/>
              <a:t>중복을 허용하지 않고 샘플링하는 방식</a:t>
            </a:r>
            <a:endParaRPr lang="en-US" altLang="ko-KR" sz="1100"/>
          </a:p>
          <a:p>
            <a:r>
              <a:rPr lang="en-US" altLang="ko-KR" sz="1100"/>
              <a:t>	 </a:t>
            </a:r>
          </a:p>
          <a:p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456008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B5ECA0-2703-49CE-9A28-93CC27515A19}"/>
              </a:ext>
            </a:extLst>
          </p:cNvPr>
          <p:cNvSpPr txBox="1"/>
          <p:nvPr/>
        </p:nvSpPr>
        <p:spPr>
          <a:xfrm>
            <a:off x="251670" y="562062"/>
            <a:ext cx="918594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100"/>
              <a:t>Bootstrap</a:t>
            </a:r>
          </a:p>
          <a:p>
            <a:r>
              <a:rPr lang="en-US" altLang="ko-KR" sz="1100"/>
              <a:t> - </a:t>
            </a:r>
            <a:r>
              <a:rPr lang="ko-KR" altLang="en-US" sz="1100"/>
              <a:t>확률변수의 정확한 분포를 모르는 경우 측정된 통계치의 신뢰도를 가늠할때 </a:t>
            </a:r>
            <a:r>
              <a:rPr lang="en-US" altLang="ko-KR" sz="1100"/>
              <a:t>bootstrap </a:t>
            </a:r>
            <a:r>
              <a:rPr lang="ko-KR" altLang="en-US" sz="1100"/>
              <a:t>사용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측정된 </a:t>
            </a:r>
            <a:r>
              <a:rPr lang="en-US" altLang="ko-KR" sz="1100"/>
              <a:t>n</a:t>
            </a:r>
            <a:r>
              <a:rPr lang="ko-KR" altLang="en-US" sz="1100"/>
              <a:t>개의 데이터중에 </a:t>
            </a:r>
            <a:r>
              <a:rPr lang="en-US" altLang="ko-KR" sz="1100"/>
              <a:t>m</a:t>
            </a:r>
            <a:r>
              <a:rPr lang="ko-KR" altLang="en-US" sz="1100"/>
              <a:t>개를 뽑고 평균을 여러 번 구함 그렇게 되면 평균의 분포를 알수있고 이로부터 </a:t>
            </a:r>
            <a:r>
              <a:rPr lang="en-US" altLang="ko-KR" sz="1100"/>
              <a:t>sample mean</a:t>
            </a:r>
            <a:r>
              <a:rPr lang="ko-KR" altLang="en-US" sz="1100"/>
              <a:t>을 구할수 있음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8FB8BB1-CEE7-4E06-9E10-B531C5F3B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485" y="1202577"/>
            <a:ext cx="4634602" cy="14295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C76917-8A21-418B-83EE-AAB980D0723A}"/>
              </a:ext>
            </a:extLst>
          </p:cNvPr>
          <p:cNvSpPr txBox="1"/>
          <p:nvPr/>
        </p:nvSpPr>
        <p:spPr>
          <a:xfrm>
            <a:off x="4253219" y="274014"/>
            <a:ext cx="27683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통계학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C7DF9A-4CFC-433D-BF2B-1162CDA08C6E}"/>
              </a:ext>
            </a:extLst>
          </p:cNvPr>
          <p:cNvSpPr txBox="1"/>
          <p:nvPr/>
        </p:nvSpPr>
        <p:spPr>
          <a:xfrm>
            <a:off x="4253219" y="2555166"/>
            <a:ext cx="3053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/>
              <a:t>머신러닝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1B05ED-109B-408F-B41B-56DCB75CD3C3}"/>
              </a:ext>
            </a:extLst>
          </p:cNvPr>
          <p:cNvSpPr txBox="1"/>
          <p:nvPr/>
        </p:nvSpPr>
        <p:spPr>
          <a:xfrm>
            <a:off x="562062" y="3045203"/>
            <a:ext cx="8336945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Bootstrap</a:t>
            </a:r>
          </a:p>
          <a:p>
            <a:r>
              <a:rPr lang="en-US" altLang="ko-KR" sz="1100"/>
              <a:t> - </a:t>
            </a:r>
            <a:r>
              <a:rPr lang="ko-KR" altLang="en-US" sz="1100"/>
              <a:t>원래의 데이터 셋으로부터 랜덤 샘플링을 통해 학습데이터를 늘리는 방법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데이터 양을 늘릴 수 있고</a:t>
            </a:r>
            <a:r>
              <a:rPr lang="en-US" altLang="ko-KR" sz="1100"/>
              <a:t>, </a:t>
            </a:r>
            <a:r>
              <a:rPr lang="ko-KR" altLang="en-US" sz="1100"/>
              <a:t>분포를 고르게 만들 수 있는 효과가 있음</a:t>
            </a:r>
            <a:endParaRPr lang="en-US" altLang="ko-KR" sz="1100"/>
          </a:p>
          <a:p>
            <a:r>
              <a:rPr lang="en-US" altLang="ko-KR" sz="1100"/>
              <a:t> - bootstrap</a:t>
            </a:r>
            <a:r>
              <a:rPr lang="ko-KR" altLang="en-US" sz="1100"/>
              <a:t>을 이용하면 </a:t>
            </a:r>
            <a:r>
              <a:rPr lang="en-US" altLang="ko-KR" sz="1100"/>
              <a:t>ensemble</a:t>
            </a:r>
            <a:r>
              <a:rPr lang="ko-KR" altLang="en-US" sz="1100"/>
              <a:t>을 사용할 수 있음</a:t>
            </a:r>
            <a:endParaRPr lang="en-US" altLang="ko-KR" sz="1100"/>
          </a:p>
          <a:p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Ensemble</a:t>
            </a:r>
          </a:p>
          <a:p>
            <a:r>
              <a:rPr lang="ko-KR" altLang="en-US" sz="1100"/>
              <a:t> </a:t>
            </a:r>
            <a:r>
              <a:rPr lang="en-US" altLang="ko-KR" sz="1100"/>
              <a:t>- bagging</a:t>
            </a:r>
            <a:r>
              <a:rPr lang="ko-KR" altLang="en-US" sz="1100"/>
              <a:t>과 </a:t>
            </a:r>
            <a:r>
              <a:rPr lang="en-US" altLang="ko-KR" sz="1100"/>
              <a:t>boosting</a:t>
            </a:r>
            <a:r>
              <a:rPr lang="ko-KR" altLang="en-US" sz="1100"/>
              <a:t>이 존재</a:t>
            </a:r>
            <a:endParaRPr lang="en-US" altLang="ko-KR" sz="1100"/>
          </a:p>
          <a:p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Bagging</a:t>
            </a:r>
          </a:p>
          <a:p>
            <a:r>
              <a:rPr lang="en-US" altLang="ko-KR" sz="1100"/>
              <a:t> - bootstrap</a:t>
            </a:r>
            <a:r>
              <a:rPr lang="ko-KR" altLang="en-US" sz="1100"/>
              <a:t>으로</a:t>
            </a:r>
            <a:r>
              <a:rPr lang="en-US" altLang="ko-KR" sz="1100"/>
              <a:t> </a:t>
            </a:r>
            <a:r>
              <a:rPr lang="ko-KR" altLang="en-US" sz="1100"/>
              <a:t>조금씩 다른 훈련 데이터를 생성</a:t>
            </a:r>
            <a:r>
              <a:rPr lang="en-US" altLang="ko-KR" sz="1100"/>
              <a:t>, </a:t>
            </a:r>
            <a:r>
              <a:rPr lang="ko-KR" altLang="en-US" sz="1100"/>
              <a:t>병렬로 처리하여 결과를 결합하는 방법</a:t>
            </a:r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/>
              <a:t>Boosting</a:t>
            </a:r>
          </a:p>
          <a:p>
            <a:r>
              <a:rPr lang="en-US" altLang="ko-KR" sz="1100"/>
              <a:t> - </a:t>
            </a:r>
            <a:r>
              <a:rPr lang="ko-KR" altLang="en-US" sz="1100"/>
              <a:t>잘못 분류된 객체들에 집중하여 새로운 분류 구칙을 생성하는 단계를 반복하는 순차적 학습 알고리즘</a:t>
            </a:r>
            <a:endParaRPr lang="en-US" altLang="ko-KR" sz="1100"/>
          </a:p>
          <a:p>
            <a:endParaRPr lang="ko-KR" altLang="en-US" sz="110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956E5CB-43F6-4E1C-BCF3-4F66B2AAB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915" y="4489469"/>
            <a:ext cx="2367345" cy="89243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EE67859-4C4D-43EE-A4B9-5ACAC9595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811" y="5574232"/>
            <a:ext cx="1934206" cy="11703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EAD73A-5061-4CA1-9F43-8EAABFE4A98F}"/>
              </a:ext>
            </a:extLst>
          </p:cNvPr>
          <p:cNvSpPr txBox="1"/>
          <p:nvPr/>
        </p:nvSpPr>
        <p:spPr>
          <a:xfrm>
            <a:off x="9353724" y="123639"/>
            <a:ext cx="29508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https://choice-life.tistory.com/62</a:t>
            </a:r>
          </a:p>
        </p:txBody>
      </p:sp>
    </p:spTree>
    <p:extLst>
      <p:ext uri="{BB962C8B-B14F-4D97-AF65-F5344CB8AC3E}">
        <p14:creationId xmlns:p14="http://schemas.microsoft.com/office/powerpoint/2010/main" val="1478826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810FB7-7608-4BF7-BE78-B5154D19A6B5}"/>
              </a:ext>
            </a:extLst>
          </p:cNvPr>
          <p:cNvSpPr txBox="1"/>
          <p:nvPr/>
        </p:nvSpPr>
        <p:spPr>
          <a:xfrm>
            <a:off x="369116" y="343949"/>
            <a:ext cx="10746297" cy="5339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400"/>
              <a:t>앙상블 학습 </a:t>
            </a:r>
            <a:r>
              <a:rPr lang="en-US" altLang="ko-KR" sz="1400"/>
              <a:t>(ensemble learning)</a:t>
            </a:r>
          </a:p>
          <a:p>
            <a:r>
              <a:rPr lang="en-US" altLang="ko-KR" sz="1100"/>
              <a:t> - </a:t>
            </a:r>
            <a:r>
              <a:rPr lang="ko-KR" altLang="en-US" sz="1100"/>
              <a:t>여러 개의 분류기를 생성하고</a:t>
            </a:r>
            <a:r>
              <a:rPr lang="en-US" altLang="ko-KR" sz="1100"/>
              <a:t>, </a:t>
            </a:r>
            <a:r>
              <a:rPr lang="ko-KR" altLang="en-US" sz="1100"/>
              <a:t>그 예측을 결합함으로써 보다 정확한 예측을 도출하는 기법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강력한 하나의 모델을 사용하는 대신 보다 약한 모델 여러 개를 조합하여 더 정확한 예측에 도움을 주는 방식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앙상블 학습 유형</a:t>
            </a:r>
            <a:r>
              <a:rPr lang="en-US" altLang="ko-KR" sz="1100"/>
              <a:t>(</a:t>
            </a:r>
            <a:r>
              <a:rPr lang="ko-KR" altLang="en-US" sz="1100"/>
              <a:t>보팅</a:t>
            </a:r>
            <a:r>
              <a:rPr lang="en-US" altLang="ko-KR" sz="1100"/>
              <a:t>(voting), </a:t>
            </a:r>
            <a:r>
              <a:rPr lang="ko-KR" altLang="en-US" sz="1100"/>
              <a:t>배깅</a:t>
            </a:r>
            <a:r>
              <a:rPr lang="en-US" altLang="ko-KR" sz="1100"/>
              <a:t>(bagging), </a:t>
            </a:r>
            <a:r>
              <a:rPr lang="ko-KR" altLang="en-US" sz="1100"/>
              <a:t>부스팅</a:t>
            </a:r>
            <a:r>
              <a:rPr lang="en-US" altLang="ko-KR" sz="1100"/>
              <a:t>(boosting) </a:t>
            </a:r>
            <a:r>
              <a:rPr lang="ko-KR" altLang="en-US" sz="1100"/>
              <a:t>세 가지의 유형으로 나뉨</a:t>
            </a:r>
            <a:endParaRPr lang="en-US" altLang="ko-KR" sz="1100"/>
          </a:p>
          <a:p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보팅</a:t>
            </a:r>
            <a:r>
              <a:rPr lang="en-US" altLang="ko-KR" sz="1100"/>
              <a:t>(voting)</a:t>
            </a:r>
          </a:p>
          <a:p>
            <a:r>
              <a:rPr lang="en-US" altLang="ko-KR" sz="1100"/>
              <a:t> - </a:t>
            </a:r>
            <a:r>
              <a:rPr lang="ko-KR" altLang="en-US" sz="1100"/>
              <a:t>여러 개의 분류기가 투표를 통해 최종 예측 결과를 결정하는 방식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서로 다른 알고리즘을 여러 개 결합하여 사용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보팅 방식</a:t>
            </a:r>
            <a:endParaRPr lang="en-US" altLang="ko-KR" sz="1100"/>
          </a:p>
          <a:p>
            <a:r>
              <a:rPr lang="en-US" altLang="ko-KR" sz="1100"/>
              <a:t>   - </a:t>
            </a:r>
            <a:r>
              <a:rPr lang="ko-KR" altLang="en-US" sz="1100"/>
              <a:t>하드 보팅</a:t>
            </a:r>
            <a:endParaRPr lang="en-US" altLang="ko-KR" sz="1100"/>
          </a:p>
          <a:p>
            <a:r>
              <a:rPr lang="en-US" altLang="ko-KR" sz="1100"/>
              <a:t>      - </a:t>
            </a:r>
            <a:r>
              <a:rPr lang="ko-KR" altLang="en-US" sz="1100"/>
              <a:t>다수의 분류기가 예측한 결과값을 최종 결과로 선정</a:t>
            </a:r>
            <a:endParaRPr lang="en-US" altLang="ko-KR" sz="1100"/>
          </a:p>
          <a:p>
            <a:r>
              <a:rPr lang="en-US" altLang="ko-KR" sz="1100"/>
              <a:t>   - </a:t>
            </a:r>
            <a:r>
              <a:rPr lang="ko-KR" altLang="en-US" sz="1100"/>
              <a:t>소프트 보팅</a:t>
            </a:r>
            <a:endParaRPr lang="en-US" altLang="ko-KR" sz="1100"/>
          </a:p>
          <a:p>
            <a:r>
              <a:rPr lang="en-US" altLang="ko-KR" sz="1100"/>
              <a:t>      - </a:t>
            </a:r>
            <a:r>
              <a:rPr lang="ko-KR" altLang="en-US" sz="1100"/>
              <a:t>모든 분류기가 예측한 레이블 값의 결정 확률 평균을 구한 뒤 가장 확률이 높은 레이블 값을 최종결과로 선정</a:t>
            </a:r>
            <a:endParaRPr lang="en-US" altLang="ko-KR" sz="1100"/>
          </a:p>
          <a:p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배깅</a:t>
            </a:r>
            <a:r>
              <a:rPr lang="en-US" altLang="ko-KR" sz="1100"/>
              <a:t>(Bootstrap AGGregatING, Bagging)</a:t>
            </a:r>
          </a:p>
          <a:p>
            <a:r>
              <a:rPr lang="en-US" altLang="ko-KR" sz="1100"/>
              <a:t> - </a:t>
            </a:r>
            <a:r>
              <a:rPr lang="ko-KR" altLang="en-US" sz="1100"/>
              <a:t>데이터</a:t>
            </a:r>
            <a:r>
              <a:rPr lang="en-US" altLang="ko-KR" sz="1100"/>
              <a:t> </a:t>
            </a:r>
            <a:r>
              <a:rPr lang="ko-KR" altLang="en-US" sz="1100"/>
              <a:t>샘플링</a:t>
            </a:r>
            <a:r>
              <a:rPr lang="en-US" altLang="ko-KR" sz="1100"/>
              <a:t>(bootstrap)</a:t>
            </a:r>
            <a:r>
              <a:rPr lang="ko-KR" altLang="en-US" sz="1100"/>
              <a:t>을 통해 모델을 학습시키고 결과를 집계</a:t>
            </a:r>
            <a:r>
              <a:rPr lang="en-US" altLang="ko-KR" sz="1100"/>
              <a:t>(Aggregating)</a:t>
            </a:r>
            <a:r>
              <a:rPr lang="ko-KR" altLang="en-US" sz="1100"/>
              <a:t>하는 방법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모두 같은 유형의 알고리즘 기반의 분류기를 사용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데이터 분할 시 중복을 허용</a:t>
            </a:r>
            <a:endParaRPr lang="en-US" altLang="ko-KR" sz="1100"/>
          </a:p>
          <a:p>
            <a:r>
              <a:rPr lang="en-US" altLang="ko-KR" sz="1100"/>
              <a:t> - categorical data : </a:t>
            </a:r>
            <a:r>
              <a:rPr lang="ko-KR" altLang="en-US" sz="1100"/>
              <a:t>다수결 투표 방식으로 결과 집계</a:t>
            </a:r>
            <a:endParaRPr lang="en-US" altLang="ko-KR" sz="1100"/>
          </a:p>
          <a:p>
            <a:r>
              <a:rPr lang="en-US" altLang="ko-KR" sz="1100"/>
              <a:t> - continuous data : </a:t>
            </a:r>
            <a:r>
              <a:rPr lang="ko-KR" altLang="en-US" sz="1100"/>
              <a:t>평균값 집계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과적합</a:t>
            </a:r>
            <a:r>
              <a:rPr lang="en-US" altLang="ko-KR" sz="1100"/>
              <a:t>(overfitting)</a:t>
            </a:r>
            <a:r>
              <a:rPr lang="ko-KR" altLang="en-US" sz="1100"/>
              <a:t>방지에 효과적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대표적인 배깅 방식 </a:t>
            </a:r>
            <a:r>
              <a:rPr lang="en-US" altLang="ko-KR" sz="1100"/>
              <a:t>: </a:t>
            </a:r>
            <a:r>
              <a:rPr lang="ko-KR" altLang="en-US" sz="1100"/>
              <a:t>랜덤 포레스트 알고리즘</a:t>
            </a:r>
            <a:endParaRPr lang="en-US" altLang="ko-KR" sz="1100"/>
          </a:p>
          <a:p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부스팅</a:t>
            </a:r>
            <a:r>
              <a:rPr lang="en-US" altLang="ko-KR" sz="1100"/>
              <a:t>(boosting)</a:t>
            </a:r>
          </a:p>
          <a:p>
            <a:r>
              <a:rPr lang="en-US" altLang="ko-KR" sz="1100"/>
              <a:t> - </a:t>
            </a:r>
            <a:r>
              <a:rPr lang="ko-KR" altLang="en-US" sz="1100"/>
              <a:t>여러 개의 분류기가 순차적으로 학습을 수행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이전 분류기가 예측이 틀린 데이터에 대해서 올바르게 예측할 수 있도록 다음 분류기에 가중치</a:t>
            </a:r>
            <a:r>
              <a:rPr lang="en-US" altLang="ko-KR" sz="1100"/>
              <a:t>(weight)</a:t>
            </a:r>
            <a:r>
              <a:rPr lang="ko-KR" altLang="en-US" sz="1100"/>
              <a:t>를 부여하여</a:t>
            </a:r>
            <a:endParaRPr lang="en-US" altLang="ko-KR" sz="1100"/>
          </a:p>
          <a:p>
            <a:r>
              <a:rPr lang="ko-KR" altLang="en-US" sz="1100"/>
              <a:t>학습과 예측을 진행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계속하여 분류기에게 가중치를 부스팅하여 학습을 진행하기에 부스팅방식이라고 불림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예측 성능이 뛰어나 앙상블 학습을 주도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대표적인 부스팅 모듈 </a:t>
            </a:r>
            <a:r>
              <a:rPr lang="en-US" altLang="ko-KR" sz="1100"/>
              <a:t>: XGBoost, LightGBM</a:t>
            </a:r>
          </a:p>
          <a:p>
            <a:r>
              <a:rPr lang="en-US" altLang="ko-KR" sz="1100"/>
              <a:t> - </a:t>
            </a:r>
            <a:r>
              <a:rPr lang="ko-KR" altLang="en-US" sz="1100"/>
              <a:t>보통 부스팅방식은 배깅에 비해 성능이 좋지만</a:t>
            </a:r>
            <a:r>
              <a:rPr lang="en-US" altLang="ko-KR" sz="1100"/>
              <a:t>, </a:t>
            </a:r>
            <a:r>
              <a:rPr lang="ko-KR" altLang="en-US" sz="1100"/>
              <a:t>속도가 느리고 과적합이 발생할 가능성이 존재함으로 상황에 따라 적절하게 사용해야함</a:t>
            </a:r>
            <a:endParaRPr lang="en-US" altLang="ko-KR" sz="11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CBAD873-3404-45AE-88C3-2304083C0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486" y="2699163"/>
            <a:ext cx="1659234" cy="198876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A2914FD-22A0-4C1C-9E25-E1987D0FF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437" y="527172"/>
            <a:ext cx="1453332" cy="19887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625376-A251-40D9-B639-1B436A3C70BE}"/>
              </a:ext>
            </a:extLst>
          </p:cNvPr>
          <p:cNvSpPr txBox="1"/>
          <p:nvPr/>
        </p:nvSpPr>
        <p:spPr>
          <a:xfrm>
            <a:off x="7183074" y="6488668"/>
            <a:ext cx="609460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http://www.dinnopartners.com/__trashed-4/</a:t>
            </a:r>
          </a:p>
        </p:txBody>
      </p:sp>
    </p:spTree>
    <p:extLst>
      <p:ext uri="{BB962C8B-B14F-4D97-AF65-F5344CB8AC3E}">
        <p14:creationId xmlns:p14="http://schemas.microsoft.com/office/powerpoint/2010/main" val="2670662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56EDA6-820E-4805-811D-41D88623C862}"/>
              </a:ext>
            </a:extLst>
          </p:cNvPr>
          <p:cNvSpPr txBox="1"/>
          <p:nvPr/>
        </p:nvSpPr>
        <p:spPr>
          <a:xfrm>
            <a:off x="448573" y="362310"/>
            <a:ext cx="9005978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랜덤 포레스트</a:t>
            </a:r>
            <a:endParaRPr lang="en-US" altLang="ko-KR" sz="1100"/>
          </a:p>
          <a:p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정의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의사결정나무 모델을 여러 개 훈련시켜서 그 결과를 종합해 예측하는 앙상블 알고리즘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각 의사결정 나무 모델을 훈련시킬 때 배깅 방식을 사용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배깅은 전체 </a:t>
            </a:r>
            <a:r>
              <a:rPr lang="en-US" altLang="ko-KR" sz="1100"/>
              <a:t>train dataset</a:t>
            </a:r>
            <a:r>
              <a:rPr lang="ko-KR" altLang="en-US" sz="1100"/>
              <a:t>에서 중복을 허용해 샘플링한 </a:t>
            </a:r>
            <a:r>
              <a:rPr lang="en-US" altLang="ko-KR" sz="1100"/>
              <a:t>dataset</a:t>
            </a:r>
            <a:r>
              <a:rPr lang="ko-KR" altLang="en-US" sz="1100"/>
              <a:t>으로 개별 의사결정나무 모델을 훈련하는 방식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여러 모델을 통해 예측한 값은 평균을 취하여 최종적인 예측값을 산출</a:t>
            </a:r>
            <a:endParaRPr lang="en-US" altLang="ko-KR" sz="1100"/>
          </a:p>
          <a:p>
            <a:r>
              <a:rPr lang="en-US" altLang="ko-KR" sz="1100"/>
              <a:t> - </a:t>
            </a:r>
            <a:r>
              <a:rPr lang="ko-KR" altLang="en-US" sz="1100"/>
              <a:t>배깅 방식은 예측 모델의 일반화</a:t>
            </a:r>
            <a:r>
              <a:rPr lang="en-US" altLang="ko-KR" sz="1100"/>
              <a:t>(</a:t>
            </a:r>
            <a:r>
              <a:rPr lang="ko-KR" altLang="en-US" sz="1100"/>
              <a:t>안정성</a:t>
            </a:r>
            <a:r>
              <a:rPr lang="en-US" altLang="ko-KR" sz="1100"/>
              <a:t>) </a:t>
            </a:r>
            <a:r>
              <a:rPr lang="ko-KR" altLang="en-US" sz="1100"/>
              <a:t>성능을 향상하는데 도움이 됨</a:t>
            </a:r>
            <a:endParaRPr lang="en-US" altLang="ko-KR" sz="1100"/>
          </a:p>
          <a:p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100"/>
              <a:t>장단점</a:t>
            </a: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100"/>
          </a:p>
          <a:p>
            <a:endParaRPr lang="en-US" altLang="ko-KR" sz="11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1100"/>
          </a:p>
        </p:txBody>
      </p:sp>
      <p:graphicFrame>
        <p:nvGraphicFramePr>
          <p:cNvPr id="3" name="표 3">
            <a:extLst>
              <a:ext uri="{FF2B5EF4-FFF2-40B4-BE49-F238E27FC236}">
                <a16:creationId xmlns:a16="http://schemas.microsoft.com/office/drawing/2014/main" id="{49A4024E-D117-4096-8D5E-B3E2F4A74F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815796"/>
              </p:ext>
            </p:extLst>
          </p:nvPr>
        </p:nvGraphicFramePr>
        <p:xfrm>
          <a:off x="1475116" y="2168846"/>
          <a:ext cx="6633714" cy="12573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992703">
                  <a:extLst>
                    <a:ext uri="{9D8B030D-6E8A-4147-A177-3AD203B41FA5}">
                      <a16:colId xmlns:a16="http://schemas.microsoft.com/office/drawing/2014/main" val="659286707"/>
                    </a:ext>
                  </a:extLst>
                </a:gridCol>
                <a:gridCol w="4641011">
                  <a:extLst>
                    <a:ext uri="{9D8B030D-6E8A-4147-A177-3AD203B41FA5}">
                      <a16:colId xmlns:a16="http://schemas.microsoft.com/office/drawing/2014/main" val="22410637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/>
                        <a:t>장점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/>
                        <a:t>단점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409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/>
                        <a:t>일반화 및 성능 우수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/>
                        <a:t>개별 트리 분석이 어렵고 트리 분리가 복잡해 지는 경향 존재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4033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/>
                        <a:t>파라미터 조정 용이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/>
                        <a:t>차원이 크고 희소한 데이터는 성능 미흡 </a:t>
                      </a:r>
                      <a:r>
                        <a:rPr lang="en-US" altLang="ko-KR" sz="1050"/>
                        <a:t>(text data)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428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/>
                        <a:t>데이터 </a:t>
                      </a:r>
                      <a:r>
                        <a:rPr lang="en-US" altLang="ko-KR" sz="1050"/>
                        <a:t>scale </a:t>
                      </a:r>
                      <a:r>
                        <a:rPr lang="ko-KR" altLang="en-US" sz="1050"/>
                        <a:t>변환 불필요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50"/>
                        <a:t>훈련시 메모리 소모가 크다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5243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/>
                        <a:t>Overfitting</a:t>
                      </a:r>
                      <a:r>
                        <a:rPr lang="ko-KR" altLang="en-US" sz="1050"/>
                        <a:t>이 잘 되지 않는다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50"/>
                        <a:t>Train data</a:t>
                      </a:r>
                      <a:r>
                        <a:rPr lang="ko-KR" altLang="en-US" sz="1050"/>
                        <a:t>를 추가해도 모델 성능 개선이 어렵다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392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5704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03BE09-565F-468C-A165-5771D1638D37}"/>
              </a:ext>
            </a:extLst>
          </p:cNvPr>
          <p:cNvSpPr txBox="1"/>
          <p:nvPr/>
        </p:nvSpPr>
        <p:spPr>
          <a:xfrm>
            <a:off x="317241" y="251927"/>
            <a:ext cx="11196734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/>
              <a:t>시퀀스</a:t>
            </a:r>
            <a:r>
              <a:rPr lang="en-US" altLang="ko-KR" sz="1100"/>
              <a:t>-</a:t>
            </a:r>
            <a:r>
              <a:rPr lang="ko-KR" altLang="en-US" sz="1100"/>
              <a:t>투</a:t>
            </a:r>
            <a:r>
              <a:rPr lang="en-US" altLang="ko-KR" sz="1100"/>
              <a:t>-</a:t>
            </a:r>
            <a:r>
              <a:rPr lang="ko-KR" altLang="en-US" sz="1100"/>
              <a:t>시퀀스</a:t>
            </a:r>
            <a:r>
              <a:rPr lang="en-US" altLang="ko-KR" sz="1100"/>
              <a:t>(seq2seq)</a:t>
            </a:r>
          </a:p>
          <a:p>
            <a:pPr algn="l"/>
            <a:r>
              <a:rPr lang="en-US" altLang="ko-KR" sz="1100"/>
              <a:t> - seq2seq</a:t>
            </a:r>
            <a:r>
              <a:rPr lang="ko-KR" altLang="en-US" sz="1100"/>
              <a:t>는 번역기에서 대표적으로 사용되는 모델</a:t>
            </a:r>
            <a:endParaRPr lang="en-US" altLang="ko-KR" sz="1100"/>
          </a:p>
          <a:p>
            <a:pPr algn="l"/>
            <a:r>
              <a:rPr lang="en-US" altLang="ko-KR" sz="1100"/>
              <a:t> - seq2seq</a:t>
            </a:r>
            <a:r>
              <a:rPr lang="ko-KR" altLang="en-US" sz="1100"/>
              <a:t>는 인코더와 디코더 두개의 모듈로 구성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인코더는 입력문장의 모든 단어들을 순차적으로 입력받은 뒤에</a:t>
            </a:r>
            <a:endParaRPr lang="en-US" altLang="ko-KR" sz="1100"/>
          </a:p>
          <a:p>
            <a:pPr algn="l"/>
            <a:r>
              <a:rPr lang="ko-KR" altLang="en-US" sz="1100"/>
              <a:t>마지막에 이 모든 단어 정보들을 압축해서 하나의 벡터로 만드는데 이것은 </a:t>
            </a:r>
            <a:r>
              <a:rPr lang="en-US" altLang="ko-KR" sz="1100"/>
              <a:t>‘</a:t>
            </a:r>
            <a:r>
              <a:rPr lang="ko-KR" altLang="en-US" sz="1100">
                <a:solidFill>
                  <a:srgbClr val="FF0000"/>
                </a:solidFill>
              </a:rPr>
              <a:t>컨텍스트 벡터</a:t>
            </a:r>
            <a:r>
              <a:rPr lang="en-US" altLang="ko-KR" sz="1100"/>
              <a:t>(context vector)</a:t>
            </a:r>
            <a:r>
              <a:rPr lang="ko-KR" altLang="en-US" sz="1100"/>
              <a:t>라고 함</a:t>
            </a:r>
            <a:endParaRPr lang="en-US" altLang="ko-KR" sz="1100"/>
          </a:p>
          <a:p>
            <a:pPr marL="171450" indent="-171450" algn="l">
              <a:buFontTx/>
              <a:buChar char="-"/>
            </a:pPr>
            <a:r>
              <a:rPr lang="ko-KR" altLang="en-US" sz="1100"/>
              <a:t>입력 문장의 정보가 하나의 컨텍스트 벡터로 모두 압축되면 인코더는 컨텍스트 벡터를 디코더로 전송함</a:t>
            </a:r>
            <a:endParaRPr lang="en-US" altLang="ko-KR" sz="1100"/>
          </a:p>
          <a:p>
            <a:pPr marL="171450" indent="-171450" algn="l">
              <a:buFontTx/>
              <a:buChar char="-"/>
            </a:pPr>
            <a:r>
              <a:rPr lang="ko-KR" altLang="en-US" sz="1100"/>
              <a:t>디코더는 컨텍스트 벡터를 받아서 번역된 단어를 한개씩 순차적으로 출력함</a:t>
            </a:r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인코더와 디코더 아키텍쳐의 내부는 두개의 </a:t>
            </a:r>
            <a:r>
              <a:rPr lang="en-US" altLang="ko-KR" sz="1100"/>
              <a:t>RNN</a:t>
            </a:r>
            <a:r>
              <a:rPr lang="ko-KR" altLang="en-US" sz="1100"/>
              <a:t>아키텍쳐이다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입력문장을 받는 </a:t>
            </a:r>
            <a:r>
              <a:rPr lang="en-US" altLang="ko-KR" sz="1100"/>
              <a:t>RNN </a:t>
            </a:r>
            <a:r>
              <a:rPr lang="ko-KR" altLang="en-US" sz="1100"/>
              <a:t>셀을 인코더</a:t>
            </a:r>
            <a:r>
              <a:rPr lang="en-US" altLang="ko-KR" sz="1100"/>
              <a:t>, </a:t>
            </a:r>
            <a:r>
              <a:rPr lang="ko-KR" altLang="en-US" sz="1100"/>
              <a:t>출력문장을 출력하는 </a:t>
            </a:r>
            <a:r>
              <a:rPr lang="en-US" altLang="ko-KR" sz="1100"/>
              <a:t>RNN</a:t>
            </a:r>
            <a:r>
              <a:rPr lang="ko-KR" altLang="en-US" sz="1100"/>
              <a:t>셀을 디코더라고 한다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성능 문제로 </a:t>
            </a:r>
            <a:r>
              <a:rPr lang="ko-KR" altLang="en-US" sz="1100">
                <a:solidFill>
                  <a:srgbClr val="FF0000"/>
                </a:solidFill>
              </a:rPr>
              <a:t>인해 바닐라 </a:t>
            </a:r>
            <a:r>
              <a:rPr lang="en-US" altLang="ko-KR" sz="1100">
                <a:solidFill>
                  <a:srgbClr val="FF0000"/>
                </a:solidFill>
              </a:rPr>
              <a:t>RNN</a:t>
            </a:r>
            <a:r>
              <a:rPr lang="ko-KR" altLang="en-US" sz="1100">
                <a:solidFill>
                  <a:srgbClr val="FF0000"/>
                </a:solidFill>
              </a:rPr>
              <a:t>이 아니라 </a:t>
            </a:r>
            <a:r>
              <a:rPr lang="en-US" altLang="ko-KR" sz="1100">
                <a:solidFill>
                  <a:srgbClr val="FF0000"/>
                </a:solidFill>
              </a:rPr>
              <a:t>LSTM </a:t>
            </a:r>
            <a:r>
              <a:rPr lang="ko-KR" altLang="en-US" sz="1100">
                <a:solidFill>
                  <a:srgbClr val="FF0000"/>
                </a:solidFill>
              </a:rPr>
              <a:t>셀</a:t>
            </a:r>
            <a:r>
              <a:rPr lang="en-US" altLang="ko-KR" sz="1100">
                <a:solidFill>
                  <a:srgbClr val="FF0000"/>
                </a:solidFill>
              </a:rPr>
              <a:t>, GRU</a:t>
            </a:r>
            <a:r>
              <a:rPr lang="ko-KR" altLang="en-US" sz="1100">
                <a:solidFill>
                  <a:srgbClr val="FF0000"/>
                </a:solidFill>
              </a:rPr>
              <a:t>셀들로 </a:t>
            </a:r>
            <a:r>
              <a:rPr lang="ko-KR" altLang="en-US" sz="1100"/>
              <a:t>구성된다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입력문장은 단어 토큰화</a:t>
            </a:r>
            <a:r>
              <a:rPr lang="en-US" altLang="ko-KR" sz="1100"/>
              <a:t>(</a:t>
            </a:r>
            <a:r>
              <a:rPr lang="ko-KR" altLang="en-US" sz="1100"/>
              <a:t>문장을 분배화</a:t>
            </a:r>
            <a:r>
              <a:rPr lang="en-US" altLang="ko-KR" sz="1100"/>
              <a:t>)</a:t>
            </a:r>
            <a:r>
              <a:rPr lang="ko-KR" altLang="en-US" sz="1100"/>
              <a:t>를 통해서 단어 단위로 쪼개지고 단어 토큰 각각은 </a:t>
            </a:r>
            <a:r>
              <a:rPr lang="en-US" altLang="ko-KR" sz="1100"/>
              <a:t>RNN</a:t>
            </a:r>
            <a:r>
              <a:rPr lang="ko-KR" altLang="en-US" sz="1100"/>
              <a:t>셀의 각 시점의 입력이됨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인코더 </a:t>
            </a:r>
            <a:r>
              <a:rPr lang="en-US" altLang="ko-KR" sz="1100"/>
              <a:t>RNN</a:t>
            </a:r>
            <a:r>
              <a:rPr lang="ko-KR" altLang="en-US" sz="1100"/>
              <a:t>셀은 모든 단어를 입력받은 뒤에 인코더 </a:t>
            </a:r>
            <a:r>
              <a:rPr lang="en-US" altLang="ko-KR" sz="1100"/>
              <a:t>RNN</a:t>
            </a:r>
            <a:r>
              <a:rPr lang="ko-KR" altLang="en-US" sz="1100"/>
              <a:t>셀의 마지막 시점의 은닉 상태를 디코더 </a:t>
            </a:r>
            <a:r>
              <a:rPr lang="en-US" altLang="ko-KR" sz="1100"/>
              <a:t>RNN</a:t>
            </a:r>
            <a:r>
              <a:rPr lang="ko-KR" altLang="en-US" sz="1100"/>
              <a:t>셀</a:t>
            </a:r>
            <a:endParaRPr lang="en-US" altLang="ko-KR" sz="1100"/>
          </a:p>
          <a:p>
            <a:pPr algn="l"/>
            <a:r>
              <a:rPr lang="ko-KR" altLang="en-US" sz="1100"/>
              <a:t>로 넘겨주는데 이를 컨텍스트벡터라고 하며 컨텍스트 벡터는 디코더 </a:t>
            </a:r>
            <a:r>
              <a:rPr lang="en-US" altLang="ko-KR" sz="1100"/>
              <a:t>RNN</a:t>
            </a:r>
            <a:r>
              <a:rPr lang="ko-KR" altLang="en-US" sz="1100"/>
              <a:t>셀의 첫번째 은닉 상태에 사용됨</a:t>
            </a:r>
            <a:endParaRPr lang="en-US" altLang="ko-KR" sz="1100"/>
          </a:p>
          <a:p>
            <a:pPr algn="l"/>
            <a:endParaRPr lang="en-US" altLang="ko-KR" sz="110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49E08CD-2CF0-4AF0-84B8-5C97959CF2BB}"/>
              </a:ext>
            </a:extLst>
          </p:cNvPr>
          <p:cNvGrpSpPr/>
          <p:nvPr/>
        </p:nvGrpSpPr>
        <p:grpSpPr>
          <a:xfrm>
            <a:off x="7442309" y="220699"/>
            <a:ext cx="2177919" cy="1466547"/>
            <a:chOff x="4553338" y="114661"/>
            <a:chExt cx="2177919" cy="146654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AC5DAAC-0A10-4B83-90F9-7487FF432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53338" y="114661"/>
              <a:ext cx="2177919" cy="1136305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A638797-3A04-4FEE-8A9E-179460CBE685}"/>
                </a:ext>
              </a:extLst>
            </p:cNvPr>
            <p:cNvSpPr txBox="1"/>
            <p:nvPr/>
          </p:nvSpPr>
          <p:spPr>
            <a:xfrm>
              <a:off x="4687853" y="1319598"/>
              <a:ext cx="20434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&lt;seq2seq</a:t>
              </a:r>
              <a:r>
                <a:rPr lang="ko-KR" altLang="en-US" sz="1100"/>
                <a:t>예시인 번역기</a:t>
              </a:r>
              <a:r>
                <a:rPr lang="en-US" altLang="ko-KR" sz="1100"/>
                <a:t>&gt;</a:t>
              </a:r>
              <a:endParaRPr lang="ko-KR" altLang="en-US" sz="1100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B8F7E09-5092-4850-83ED-1A7E1C990798}"/>
              </a:ext>
            </a:extLst>
          </p:cNvPr>
          <p:cNvGrpSpPr/>
          <p:nvPr/>
        </p:nvGrpSpPr>
        <p:grpSpPr>
          <a:xfrm>
            <a:off x="9694381" y="0"/>
            <a:ext cx="2340015" cy="1519035"/>
            <a:chOff x="7697072" y="0"/>
            <a:chExt cx="2340015" cy="151903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481ADF22-A4F4-466D-8F2F-2B99E4B9B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97072" y="0"/>
              <a:ext cx="2340015" cy="131959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4F28732-515F-433E-9DB0-1FC982308D71}"/>
                </a:ext>
              </a:extLst>
            </p:cNvPr>
            <p:cNvSpPr txBox="1"/>
            <p:nvPr/>
          </p:nvSpPr>
          <p:spPr>
            <a:xfrm>
              <a:off x="7845377" y="1257425"/>
              <a:ext cx="20434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&lt;seq2seq </a:t>
              </a:r>
              <a:r>
                <a:rPr lang="ko-KR" altLang="en-US" sz="1100"/>
                <a:t>모델 내부모습</a:t>
              </a:r>
              <a:r>
                <a:rPr lang="en-US" altLang="ko-KR" sz="1100"/>
                <a:t>&gt;</a:t>
              </a:r>
              <a:endParaRPr lang="ko-KR" altLang="en-US" sz="110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041E0D3-FD89-4ABB-BE98-36A004CCE495}"/>
              </a:ext>
            </a:extLst>
          </p:cNvPr>
          <p:cNvGrpSpPr/>
          <p:nvPr/>
        </p:nvGrpSpPr>
        <p:grpSpPr>
          <a:xfrm>
            <a:off x="6879522" y="3127487"/>
            <a:ext cx="4995237" cy="1688111"/>
            <a:chOff x="5347758" y="1936386"/>
            <a:chExt cx="4995237" cy="1688111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35EF2691-211D-4409-893F-2745D38FB6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47758" y="1936386"/>
              <a:ext cx="4995237" cy="1357869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62F4D71-EF26-493C-BC1F-CFA8F6CCD733}"/>
                </a:ext>
              </a:extLst>
            </p:cNvPr>
            <p:cNvSpPr txBox="1"/>
            <p:nvPr/>
          </p:nvSpPr>
          <p:spPr>
            <a:xfrm>
              <a:off x="6823674" y="3362887"/>
              <a:ext cx="204340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&lt;</a:t>
              </a:r>
              <a:r>
                <a:rPr lang="ko-KR" altLang="en-US" sz="1100"/>
                <a:t>인코더 </a:t>
              </a:r>
              <a:r>
                <a:rPr lang="en-US" altLang="ko-KR" sz="1100"/>
                <a:t>&amp; </a:t>
              </a:r>
              <a:r>
                <a:rPr lang="ko-KR" altLang="en-US" sz="1100"/>
                <a:t>디코더 아키텍쳐</a:t>
              </a:r>
              <a:r>
                <a:rPr lang="en-US" altLang="ko-KR" sz="1100"/>
                <a:t>&gt;</a:t>
              </a:r>
              <a:endParaRPr lang="ko-KR" alt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1445994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044A6E0D-AD20-4552-A79C-CA82999A2416}"/>
              </a:ext>
            </a:extLst>
          </p:cNvPr>
          <p:cNvGrpSpPr/>
          <p:nvPr/>
        </p:nvGrpSpPr>
        <p:grpSpPr>
          <a:xfrm>
            <a:off x="7092816" y="2167659"/>
            <a:ext cx="4023695" cy="3231654"/>
            <a:chOff x="7092816" y="2167659"/>
            <a:chExt cx="4023695" cy="323165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EBBFBCC-4E47-4704-9F49-D58428AF32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92816" y="2167659"/>
              <a:ext cx="4023695" cy="293120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44EC106-95F9-40A4-9D46-DD8F1E75DD35}"/>
                </a:ext>
              </a:extLst>
            </p:cNvPr>
            <p:cNvSpPr txBox="1"/>
            <p:nvPr/>
          </p:nvSpPr>
          <p:spPr>
            <a:xfrm>
              <a:off x="8294915" y="5137703"/>
              <a:ext cx="24166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ko-KR" sz="1100"/>
                <a:t>&lt;</a:t>
              </a:r>
              <a:r>
                <a:rPr lang="ko-KR" altLang="en-US" sz="1100"/>
                <a:t>닷</a:t>
              </a:r>
              <a:r>
                <a:rPr lang="en-US" altLang="ko-KR" sz="1100"/>
                <a:t>-</a:t>
              </a:r>
              <a:r>
                <a:rPr lang="ko-KR" altLang="en-US" sz="1100"/>
                <a:t>프로덕트 어텐션</a:t>
              </a:r>
              <a:r>
                <a:rPr lang="en-US" altLang="ko-KR" sz="1100"/>
                <a:t>&gt;</a:t>
              </a:r>
              <a:endParaRPr lang="ko-KR" altLang="en-US" sz="110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08517B0-B125-4B20-90DC-AA71C8FE3D57}"/>
              </a:ext>
            </a:extLst>
          </p:cNvPr>
          <p:cNvSpPr txBox="1"/>
          <p:nvPr/>
        </p:nvSpPr>
        <p:spPr>
          <a:xfrm>
            <a:off x="653143" y="382555"/>
            <a:ext cx="10310326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/>
              <a:t>어텐션 메커니즘</a:t>
            </a:r>
            <a:r>
              <a:rPr lang="en-US" altLang="ko-KR" sz="1100"/>
              <a:t>(Attention Mechanisim)</a:t>
            </a:r>
          </a:p>
          <a:p>
            <a:pPr algn="l"/>
            <a:r>
              <a:rPr lang="en-US" altLang="ko-KR" sz="1100"/>
              <a:t> - RNN</a:t>
            </a:r>
            <a:r>
              <a:rPr lang="ko-KR" altLang="en-US" sz="1100"/>
              <a:t>에 기반한 </a:t>
            </a:r>
            <a:r>
              <a:rPr lang="en-US" altLang="ko-KR" sz="1100"/>
              <a:t>seq2seq</a:t>
            </a:r>
            <a:r>
              <a:rPr lang="ko-KR" altLang="en-US" sz="1100"/>
              <a:t>모델에는 크게 두가지 문제가 있다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첫번째</a:t>
            </a:r>
            <a:r>
              <a:rPr lang="en-US" altLang="ko-KR" sz="1100"/>
              <a:t>, </a:t>
            </a:r>
            <a:r>
              <a:rPr lang="ko-KR" altLang="en-US" sz="1100"/>
              <a:t>하나의 고정된 크기의 벡터에 모든 정보를 압축하려고 하니깐 정보 손실발생</a:t>
            </a:r>
            <a:endParaRPr lang="en-US" altLang="ko-KR" sz="1100"/>
          </a:p>
          <a:p>
            <a:pPr algn="l"/>
            <a:r>
              <a:rPr lang="ko-KR" altLang="en-US" sz="1100"/>
              <a:t> </a:t>
            </a:r>
            <a:r>
              <a:rPr lang="en-US" altLang="ko-KR" sz="1100"/>
              <a:t>- </a:t>
            </a:r>
            <a:r>
              <a:rPr lang="ko-KR" altLang="en-US" sz="1100"/>
              <a:t>둘쨰</a:t>
            </a:r>
            <a:r>
              <a:rPr lang="en-US" altLang="ko-KR" sz="1100"/>
              <a:t>, RNN</a:t>
            </a:r>
            <a:r>
              <a:rPr lang="ko-KR" altLang="en-US" sz="1100"/>
              <a:t>의 고질적인 문제인 기울기 소실</a:t>
            </a:r>
            <a:r>
              <a:rPr lang="en-US" altLang="ko-KR" sz="1100"/>
              <a:t>(vanishing gradient)</a:t>
            </a:r>
            <a:r>
              <a:rPr lang="ko-KR" altLang="en-US" sz="1100"/>
              <a:t>문제가 존재</a:t>
            </a:r>
            <a:endParaRPr lang="en-US" altLang="ko-KR" sz="1100"/>
          </a:p>
          <a:p>
            <a:pPr algn="l"/>
            <a:endParaRPr lang="en-US" altLang="ko-KR" sz="110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/>
              <a:t>어텐션 아이디어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어텐션의 기본아이디어는 디코더에서 출력 단어를 예측하는 </a:t>
            </a:r>
            <a:r>
              <a:rPr lang="ko-KR" altLang="en-US" sz="1100">
                <a:solidFill>
                  <a:srgbClr val="FF0000"/>
                </a:solidFill>
              </a:rPr>
              <a:t>매 시점</a:t>
            </a:r>
            <a:r>
              <a:rPr lang="en-US" altLang="ko-KR" sz="1100">
                <a:solidFill>
                  <a:srgbClr val="FF0000"/>
                </a:solidFill>
              </a:rPr>
              <a:t>(time step)</a:t>
            </a:r>
            <a:r>
              <a:rPr lang="ko-KR" altLang="en-US" sz="1100">
                <a:solidFill>
                  <a:srgbClr val="FF0000"/>
                </a:solidFill>
              </a:rPr>
              <a:t>마다</a:t>
            </a:r>
            <a:r>
              <a:rPr lang="en-US" altLang="ko-KR" sz="1100">
                <a:solidFill>
                  <a:srgbClr val="FF0000"/>
                </a:solidFill>
              </a:rPr>
              <a:t>, </a:t>
            </a:r>
            <a:r>
              <a:rPr lang="ko-KR" altLang="en-US" sz="1100">
                <a:solidFill>
                  <a:srgbClr val="FF0000"/>
                </a:solidFill>
              </a:rPr>
              <a:t>인코더에서 전체 입력문장을 다시 한 번 참고하는 점</a:t>
            </a:r>
            <a:endParaRPr lang="en-US" altLang="ko-KR" sz="1100">
              <a:solidFill>
                <a:srgbClr val="FF0000"/>
              </a:solidFill>
            </a:endParaRPr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단</a:t>
            </a:r>
            <a:r>
              <a:rPr lang="en-US" altLang="ko-KR" sz="1100"/>
              <a:t>, </a:t>
            </a:r>
            <a:r>
              <a:rPr lang="ko-KR" altLang="en-US" sz="1100"/>
              <a:t>전체 입력 문장을 전부 다 동일한 비율로 참고하는 것이 아니라</a:t>
            </a:r>
            <a:r>
              <a:rPr lang="en-US" altLang="ko-KR" sz="1100">
                <a:solidFill>
                  <a:srgbClr val="FF0000"/>
                </a:solidFill>
              </a:rPr>
              <a:t>, </a:t>
            </a:r>
            <a:r>
              <a:rPr lang="ko-KR" altLang="en-US" sz="1100">
                <a:solidFill>
                  <a:srgbClr val="FF0000"/>
                </a:solidFill>
              </a:rPr>
              <a:t>해당시점에서 예측해야할 단어와 연관이 있는 입력 단어 부분을 좀 더 집중</a:t>
            </a:r>
            <a:r>
              <a:rPr lang="en-US" altLang="ko-KR" sz="1100">
                <a:solidFill>
                  <a:srgbClr val="FF0000"/>
                </a:solidFill>
              </a:rPr>
              <a:t>(attention)</a:t>
            </a:r>
            <a:r>
              <a:rPr lang="ko-KR" altLang="en-US" sz="1100">
                <a:solidFill>
                  <a:srgbClr val="FF0000"/>
                </a:solidFill>
              </a:rPr>
              <a:t>함</a:t>
            </a:r>
            <a:endParaRPr lang="en-US" altLang="ko-KR" sz="1100">
              <a:solidFill>
                <a:srgbClr val="FF0000"/>
              </a:solidFill>
            </a:endParaRPr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100"/>
              <a:t>닷</a:t>
            </a:r>
            <a:r>
              <a:rPr lang="en-US" altLang="ko-KR" sz="1100"/>
              <a:t>-</a:t>
            </a:r>
            <a:r>
              <a:rPr lang="ko-KR" altLang="en-US" sz="1100"/>
              <a:t>프로덕트 어텐션</a:t>
            </a:r>
            <a:endParaRPr lang="en-US" altLang="ko-KR" sz="1100"/>
          </a:p>
          <a:p>
            <a:pPr algn="l"/>
            <a:r>
              <a:rPr lang="en-US" altLang="ko-KR" sz="1100"/>
              <a:t> -  </a:t>
            </a:r>
            <a:r>
              <a:rPr lang="ko-KR" altLang="en-US" sz="1100"/>
              <a:t>오른쪽 그림에서 디코더의 세번째 </a:t>
            </a:r>
            <a:r>
              <a:rPr lang="en-US" altLang="ko-KR" sz="1100"/>
              <a:t>lstm</a:t>
            </a:r>
            <a:r>
              <a:rPr lang="ko-KR" altLang="en-US" sz="1100"/>
              <a:t>셀</a:t>
            </a:r>
            <a:r>
              <a:rPr lang="en-US" altLang="ko-KR" sz="1100"/>
              <a:t>(</a:t>
            </a:r>
            <a:r>
              <a:rPr lang="ko-KR" altLang="en-US" sz="1100"/>
              <a:t>초록색</a:t>
            </a:r>
            <a:r>
              <a:rPr lang="en-US" altLang="ko-KR" sz="1100"/>
              <a:t>)</a:t>
            </a:r>
            <a:r>
              <a:rPr lang="ko-KR" altLang="en-US" sz="1100"/>
              <a:t>에서 출력단어를 예측할 때</a:t>
            </a:r>
            <a:r>
              <a:rPr lang="en-US" altLang="ko-KR" sz="1100"/>
              <a:t>, </a:t>
            </a:r>
            <a:r>
              <a:rPr lang="ko-KR" altLang="en-US" sz="1100"/>
              <a:t>어텐션 메커니즘을 사용하는 모습이다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디코더의 첫번째</a:t>
            </a:r>
            <a:r>
              <a:rPr lang="en-US" altLang="ko-KR" sz="1100"/>
              <a:t>, </a:t>
            </a:r>
            <a:r>
              <a:rPr lang="ko-KR" altLang="en-US" sz="1100"/>
              <a:t>두번째 </a:t>
            </a:r>
            <a:r>
              <a:rPr lang="en-US" altLang="ko-KR" sz="1100"/>
              <a:t>lstm </a:t>
            </a:r>
            <a:r>
              <a:rPr lang="ko-KR" altLang="en-US" sz="1100"/>
              <a:t>셀은 이미 어텐션 메커니즘을 통해 </a:t>
            </a:r>
            <a:r>
              <a:rPr lang="en-US" altLang="ko-KR" sz="1100"/>
              <a:t>je</a:t>
            </a:r>
            <a:r>
              <a:rPr lang="ko-KR" altLang="en-US" sz="1100"/>
              <a:t>와 </a:t>
            </a:r>
            <a:r>
              <a:rPr lang="en-US" altLang="ko-KR" sz="1100"/>
              <a:t>suis</a:t>
            </a:r>
            <a:r>
              <a:rPr lang="ko-KR" altLang="en-US" sz="1100"/>
              <a:t>를 예측하는 과정을 거쳤다고 가정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디코더의 세번째 </a:t>
            </a:r>
            <a:r>
              <a:rPr lang="en-US" altLang="ko-KR" sz="1100"/>
              <a:t>lstm</a:t>
            </a:r>
            <a:r>
              <a:rPr lang="ko-KR" altLang="en-US" sz="1100"/>
              <a:t>셀은 출력단어를 예측하기 위해 인코더의 모든 입력단어들의 정보를 다시 한번 참고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소프트맥스 함수를 통해 나온 결과값은 </a:t>
            </a:r>
            <a:r>
              <a:rPr lang="en-US" altLang="ko-KR" sz="1100"/>
              <a:t>I,am,a,student </a:t>
            </a:r>
            <a:r>
              <a:rPr lang="ko-KR" altLang="en-US" sz="1100"/>
              <a:t>단어 각각이 출력 단어를 예측할 때 얼마나</a:t>
            </a:r>
            <a:endParaRPr lang="en-US" altLang="ko-KR" sz="1100"/>
          </a:p>
          <a:p>
            <a:pPr algn="l"/>
            <a:r>
              <a:rPr lang="ko-KR" altLang="en-US" sz="1100"/>
              <a:t>도움이 되는지의 정도를 수치화한 값이다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오른쪽 그림에서 빨간 직사각형의 크기로 소프트맥스 함수의 크기값을 표현해 보았다</a:t>
            </a:r>
            <a:endParaRPr lang="en-US" altLang="ko-KR" sz="1100"/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크면 클 수록 도움이 되는 정도를 말하며 각 입력단어가 디코더의 예측에 도움이 되는 정도가</a:t>
            </a:r>
            <a:endParaRPr lang="en-US" altLang="ko-KR" sz="1100"/>
          </a:p>
          <a:p>
            <a:pPr algn="l"/>
            <a:r>
              <a:rPr lang="ko-KR" altLang="en-US" sz="1100"/>
              <a:t>수치화하여 측정되면 이를 하나의 정보로 담아서 디코더로 전송된다</a:t>
            </a:r>
            <a:r>
              <a:rPr lang="en-US" altLang="ko-KR" sz="1100"/>
              <a:t>.</a:t>
            </a:r>
          </a:p>
          <a:p>
            <a:pPr algn="l"/>
            <a:r>
              <a:rPr lang="en-US" altLang="ko-KR" sz="1100"/>
              <a:t> - </a:t>
            </a:r>
            <a:r>
              <a:rPr lang="ko-KR" altLang="en-US" sz="1100"/>
              <a:t>오른쪽 그림에서의 초록색 삼각형이 이에 해당된다 </a:t>
            </a:r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721979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5142D6D-CF6D-4938-936D-B31632C26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777" y="345233"/>
            <a:ext cx="3507651" cy="18879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9E0554D-6CEA-49DC-B2A3-7725543BB834}"/>
                  </a:ext>
                </a:extLst>
              </p:cNvPr>
              <p:cNvSpPr txBox="1"/>
              <p:nvPr/>
            </p:nvSpPr>
            <p:spPr>
              <a:xfrm>
                <a:off x="139959" y="102637"/>
                <a:ext cx="7613780" cy="55118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어텐션 스코어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인코더의 시점을 각각 </a:t>
                </a:r>
                <a:r>
                  <a:rPr lang="en-US" altLang="ko-KR" sz="1100"/>
                  <a:t>1,2,..n</a:t>
                </a:r>
                <a:r>
                  <a:rPr lang="ko-KR" altLang="en-US" sz="1100"/>
                  <a:t>이라고 했을때 인코더의 은닉 상태</a:t>
                </a:r>
                <a:r>
                  <a:rPr lang="en-US" altLang="ko-KR" sz="1100"/>
                  <a:t>(hidden state)</a:t>
                </a:r>
                <a:r>
                  <a:rPr lang="ko-KR" altLang="en-US" sz="1100"/>
                  <a:t>를 각각 </a:t>
                </a:r>
                <a:r>
                  <a:rPr lang="en-US" altLang="ko-KR" sz="1100"/>
                  <a:t>h1,h2,hn</a:t>
                </a:r>
                <a:r>
                  <a:rPr lang="ko-KR" altLang="en-US" sz="1100"/>
                  <a:t>이라고 하자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디코더의 현재 시점 </a:t>
                </a:r>
                <a:r>
                  <a:rPr lang="en-US" altLang="ko-KR" sz="1100"/>
                  <a:t>t</a:t>
                </a:r>
                <a:r>
                  <a:rPr lang="ko-KR" altLang="en-US" sz="1100"/>
                  <a:t>에서의 디코더의 은닉 상태</a:t>
                </a:r>
                <a:r>
                  <a:rPr lang="en-US" altLang="ko-KR" sz="1100"/>
                  <a:t>(hidden state)</a:t>
                </a:r>
                <a:r>
                  <a:rPr lang="ko-KR" altLang="en-US" sz="1100"/>
                  <a:t>를 </a:t>
                </a:r>
                <a:r>
                  <a:rPr lang="en-US" altLang="ko-KR" sz="1100"/>
                  <a:t>st</a:t>
                </a:r>
                <a:r>
                  <a:rPr lang="ko-KR" altLang="en-US" sz="1100"/>
                  <a:t>라고 하며 두개의 인코더와 디코더의 차원은 같다고 가정해야한다 차원은 </a:t>
                </a:r>
                <a:r>
                  <a:rPr lang="en-US" altLang="ko-KR" sz="1100"/>
                  <a:t>4</a:t>
                </a:r>
                <a:r>
                  <a:rPr lang="ko-KR" altLang="en-US" sz="1100"/>
                  <a:t>이다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어텐션 스코어를 배우기전에 다시 상기해야할 내용이 있다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>
                    <a:highlight>
                      <a:srgbClr val="FFFF00"/>
                    </a:highlight>
                  </a:rPr>
                  <a:t>디코더의 현재 시점 </a:t>
                </a:r>
                <a:r>
                  <a:rPr lang="en-US" altLang="ko-KR" sz="1100">
                    <a:highlight>
                      <a:srgbClr val="FFFF00"/>
                    </a:highlight>
                  </a:rPr>
                  <a:t>t</a:t>
                </a:r>
                <a:r>
                  <a:rPr lang="ko-KR" altLang="en-US" sz="1100">
                    <a:highlight>
                      <a:srgbClr val="FFFF00"/>
                    </a:highlight>
                  </a:rPr>
                  <a:t>에서 필요한 입력값을 상기해야한다</a:t>
                </a:r>
                <a:r>
                  <a:rPr lang="en-US" altLang="ko-KR" sz="1100"/>
                  <a:t>. </a:t>
                </a:r>
                <a:r>
                  <a:rPr lang="ko-KR" altLang="en-US" sz="1100"/>
                  <a:t>시점 </a:t>
                </a:r>
                <a:r>
                  <a:rPr lang="en-US" altLang="ko-KR" sz="1100"/>
                  <a:t>t</a:t>
                </a:r>
                <a:r>
                  <a:rPr lang="ko-KR" altLang="en-US" sz="1100"/>
                  <a:t>에서 출력단어를 예측하기 위해 디코더의 셀은 두개의 입력값을 필요로 하는데 바로 이전 </a:t>
                </a:r>
                <a:r>
                  <a:rPr lang="ko-KR" altLang="en-US" sz="1100">
                    <a:highlight>
                      <a:srgbClr val="FFFF00"/>
                    </a:highlight>
                  </a:rPr>
                  <a:t>시점의 </a:t>
                </a:r>
                <a:r>
                  <a:rPr lang="en-US" altLang="ko-KR" sz="1100">
                    <a:highlight>
                      <a:srgbClr val="FFFF00"/>
                    </a:highlight>
                  </a:rPr>
                  <a:t>t-1</a:t>
                </a:r>
                <a:r>
                  <a:rPr lang="ko-KR" altLang="en-US" sz="1100">
                    <a:highlight>
                      <a:srgbClr val="FFFF00"/>
                    </a:highlight>
                  </a:rPr>
                  <a:t>의 은닉상태와 이전 시점 </a:t>
                </a:r>
                <a:r>
                  <a:rPr lang="en-US" altLang="ko-KR" sz="1100">
                    <a:highlight>
                      <a:srgbClr val="FFFF00"/>
                    </a:highlight>
                  </a:rPr>
                  <a:t>t-1</a:t>
                </a:r>
                <a:r>
                  <a:rPr lang="ko-KR" altLang="en-US" sz="1100">
                    <a:highlight>
                      <a:srgbClr val="FFFF00"/>
                    </a:highlight>
                  </a:rPr>
                  <a:t>에 나온 출력 단어이다</a:t>
                </a:r>
                <a:r>
                  <a:rPr lang="en-US" altLang="ko-KR" sz="1100"/>
                  <a:t>.</a:t>
                </a:r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어텐션 메커니즘에서는 출력 단어 예측에 또다른 값을 필요로 하는데 바로 어텐션 값</a:t>
                </a:r>
                <a:r>
                  <a:rPr lang="en-US" altLang="ko-KR" sz="1100"/>
                  <a:t>(attention value)</a:t>
                </a:r>
                <a:r>
                  <a:rPr lang="ko-KR" altLang="en-US" sz="1100"/>
                  <a:t>라는 새로운 값이다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t</a:t>
                </a:r>
                <a:r>
                  <a:rPr lang="ko-KR" altLang="en-US" sz="1100"/>
                  <a:t>번째 단어를 예측하기 위한 어텐션값을 </a:t>
                </a:r>
                <a:r>
                  <a:rPr lang="en-US" altLang="ko-KR" sz="1100"/>
                  <a:t>at</a:t>
                </a:r>
                <a:r>
                  <a:rPr lang="ko-KR" altLang="en-US" sz="1100"/>
                  <a:t>라고 정의하겠다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어텐션값을 구하기위해서 먼저 어텐션 스코어를 구해야한다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어텐션 스코어란 현재 디코더의 시점 </a:t>
                </a:r>
                <a:r>
                  <a:rPr lang="en-US" altLang="ko-KR" sz="1100"/>
                  <a:t>t</a:t>
                </a:r>
                <a:r>
                  <a:rPr lang="ko-KR" altLang="en-US" sz="1100"/>
                  <a:t>에서 단어를 예측하기 위해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인코더의 모든 은닉 상태 각각이 디코더의 현 시점의 은닉 상태 </a:t>
                </a:r>
                <a:r>
                  <a:rPr lang="en-US" altLang="ko-KR" sz="1100"/>
                  <a:t>st</a:t>
                </a:r>
                <a:r>
                  <a:rPr lang="ko-KR" altLang="en-US" sz="1100"/>
                  <a:t>와 얼마나 유사한지를 판단하는 스코어값이다</a:t>
                </a:r>
                <a:endParaRPr lang="en-US" altLang="ko-KR" sz="1100"/>
              </a:p>
              <a:p>
                <a:pPr marL="171450" indent="-171450" algn="l">
                  <a:buFontTx/>
                  <a:buChar char="-"/>
                </a:pPr>
                <a:r>
                  <a:rPr lang="ko-KR" altLang="en-US" sz="1100"/>
                  <a:t>닷</a:t>
                </a:r>
                <a:r>
                  <a:rPr lang="en-US" altLang="ko-KR" sz="1100"/>
                  <a:t>-</a:t>
                </a:r>
                <a:r>
                  <a:rPr lang="ko-KR" altLang="en-US" sz="1100"/>
                  <a:t>프로덕트 어텐션에서는 이 스코어값을 구하기 위해 </a:t>
                </a:r>
                <a:r>
                  <a:rPr lang="en-US" altLang="ko-KR" sz="1100"/>
                  <a:t>st</a:t>
                </a:r>
                <a:r>
                  <a:rPr lang="ko-KR" altLang="en-US" sz="1100"/>
                  <a:t>를 전치하고 각 은닉 상태와 내적을 수행한다</a:t>
                </a:r>
                <a:endParaRPr lang="en-US" altLang="ko-KR" sz="1100"/>
              </a:p>
              <a:p>
                <a:pPr marL="171450" indent="-171450" algn="l">
                  <a:buFontTx/>
                  <a:buChar char="-"/>
                </a:pPr>
                <a:r>
                  <a:rPr lang="ko-KR" altLang="en-US" sz="1100"/>
                  <a:t>즉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모든 어텐션 스코어 값은 스칼라이다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예를들어 </a:t>
                </a:r>
                <a:r>
                  <a:rPr lang="en-US" altLang="ko-KR" sz="1100"/>
                  <a:t>st</a:t>
                </a:r>
                <a:r>
                  <a:rPr lang="ko-KR" altLang="en-US" sz="1100"/>
                  <a:t>와 인코더의 </a:t>
                </a:r>
                <a:r>
                  <a:rPr lang="en-US" altLang="ko-KR" sz="1100"/>
                  <a:t>i</a:t>
                </a:r>
                <a:r>
                  <a:rPr lang="ko-KR" altLang="en-US" sz="1100"/>
                  <a:t>번째 은닉 상태의 어텐션 스코어의 게산 방법은 아래와 같다</a:t>
                </a:r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어텐션 스코어 함수를 정의하면 다음과 같다</a:t>
                </a:r>
                <a:endParaRPr lang="en-US" altLang="ko-KR" sz="110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𝑠𝑐𝑜𝑟𝑒</m:t>
                      </m:r>
                      <m:d>
                        <m:d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altLang="ko-KR" sz="1100" b="0"/>
              </a:p>
              <a:p>
                <a:pPr marL="171450" indent="-171450" algn="l">
                  <a:buFontTx/>
                  <a:buChar char="-"/>
                </a:pPr>
                <a:r>
                  <a:rPr lang="en-US" altLang="ko-KR" sz="1100"/>
                  <a:t>St</a:t>
                </a:r>
                <a:r>
                  <a:rPr lang="ko-KR" altLang="en-US" sz="1100"/>
                  <a:t>와 인코더의 모든 은닉상태의 어텐션 스코어의 모음값을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ko-KR" altLang="en-US" sz="1100" i="1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en-US" altLang="ko-KR" sz="1100"/>
                  <a:t> </a:t>
                </a:r>
                <a:r>
                  <a:rPr lang="ko-KR" altLang="en-US" sz="1100"/>
                  <a:t>정의</a:t>
                </a:r>
                <a:endParaRPr lang="en-US" altLang="ko-KR" sz="1100"/>
              </a:p>
              <a:p>
                <a:pPr marL="171450" indent="-171450">
                  <a:buFontTx/>
                  <a:buChar char="-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=[</m:t>
                    </m:r>
                    <m:sSubSup>
                      <m:sSub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,…</m:t>
                    </m:r>
                    <m:sSubSup>
                      <m:sSubSup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어텐션 분포</a:t>
                </a:r>
                <a:r>
                  <a:rPr lang="en-US" altLang="ko-KR" sz="1100"/>
                  <a:t>(attention distribution)</a:t>
                </a:r>
              </a:p>
              <a:p>
                <a:pPr algn="l"/>
                <a:r>
                  <a:rPr lang="ko-KR" altLang="en-US" sz="1100"/>
                  <a:t> </a:t>
                </a:r>
                <a:r>
                  <a:rPr lang="en-US" altLang="ko-KR" sz="1100"/>
                  <a:t>- </a:t>
                </a:r>
                <a:r>
                  <a:rPr lang="ko-KR" altLang="en-US" sz="1100"/>
                  <a:t>소프트 맥스 함수를 통해 어텐션 분포를 구한다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et</a:t>
                </a:r>
                <a:r>
                  <a:rPr lang="ko-KR" altLang="en-US" sz="1100"/>
                  <a:t>에 소프트 맥스함수를 적용하여 모든값을 합치면 </a:t>
                </a:r>
                <a:r>
                  <a:rPr lang="en-US" altLang="ko-KR" sz="1100"/>
                  <a:t>1</a:t>
                </a:r>
                <a:r>
                  <a:rPr lang="ko-KR" altLang="en-US" sz="1100"/>
                  <a:t>이되는 확률 분포를 얻는다 이것을 어텐션 분포라한다</a:t>
                </a:r>
                <a:endParaRPr lang="en-US" altLang="ko-KR" sz="1100"/>
              </a:p>
              <a:p>
                <a:pPr algn="l"/>
                <a:r>
                  <a:rPr lang="ko-KR" altLang="en-US" sz="1100"/>
                  <a:t>각각의 값은 어텐션 가중치</a:t>
                </a:r>
                <a:r>
                  <a:rPr lang="en-US" altLang="ko-KR" sz="1100"/>
                  <a:t>(attention weight)</a:t>
                </a:r>
                <a:r>
                  <a:rPr lang="ko-KR" altLang="en-US" sz="1100"/>
                  <a:t>라고 한다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예를 들어 </a:t>
                </a:r>
                <a:r>
                  <a:rPr lang="en-US" altLang="ko-KR" sz="1100"/>
                  <a:t>I,am,a,studen</a:t>
                </a:r>
                <a:r>
                  <a:rPr lang="ko-KR" altLang="en-US" sz="1100"/>
                  <a:t>의 가중치를 각각 </a:t>
                </a:r>
                <a:r>
                  <a:rPr lang="en-US" altLang="ko-KR" sz="1100"/>
                  <a:t>0.1,0.4,0.1,0.4</a:t>
                </a:r>
                <a:r>
                  <a:rPr lang="ko-KR" altLang="en-US" sz="1100"/>
                  <a:t>라고 하면 이들의 합은 </a:t>
                </a:r>
                <a:r>
                  <a:rPr lang="en-US" altLang="ko-KR" sz="1100"/>
                  <a:t>1</a:t>
                </a:r>
                <a:r>
                  <a:rPr lang="ko-KR" altLang="en-US" sz="1100"/>
                  <a:t>이다</a:t>
                </a:r>
                <a:endParaRPr lang="en-US" altLang="ko-KR" sz="1100"/>
              </a:p>
              <a:p>
                <a:pPr algn="l"/>
                <a:r>
                  <a:rPr lang="ko-KR" altLang="en-US" sz="1100"/>
                  <a:t> </a:t>
                </a:r>
                <a:r>
                  <a:rPr lang="en-US" altLang="ko-KR" sz="1100"/>
                  <a:t>-</a:t>
                </a:r>
                <a:r>
                  <a:rPr lang="ko-KR" altLang="en-US" sz="1100"/>
                  <a:t> 오른쪽 그림은 각 인코더의 은닉상태에서의 어텐션 가중치의 크기를 직사각형의 크기를 통해 시각화 했다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어텐션의 가중치가 클 수록 직사각형이 크다</a:t>
                </a:r>
                <a:endParaRPr lang="en-US" altLang="ko-KR" sz="1100"/>
              </a:p>
              <a:p>
                <a:pPr algn="l"/>
                <a:r>
                  <a:rPr lang="ko-KR" altLang="en-US" sz="1100"/>
                  <a:t> </a:t>
                </a:r>
                <a:r>
                  <a:rPr lang="en-US" altLang="ko-KR" sz="1100"/>
                  <a:t>- </a:t>
                </a:r>
                <a:r>
                  <a:rPr lang="ko-KR" altLang="en-US" sz="1100"/>
                  <a:t>디코더의 시점 </a:t>
                </a:r>
                <a:r>
                  <a:rPr lang="en-US" altLang="ko-KR" sz="1100"/>
                  <a:t>t</a:t>
                </a:r>
                <a:r>
                  <a:rPr lang="ko-KR" altLang="en-US" sz="1100"/>
                  <a:t>에서의 어텐션 가중치의 모음값인 어텐션 분포를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1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10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𝑠𝑜𝑓𝑡𝑚𝑎𝑥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en-US" altLang="ko-KR" sz="1100" b="0"/>
              </a:p>
              <a:p>
                <a:pPr algn="l"/>
                <a:endParaRPr lang="ko-KR" altLang="en-US" sz="11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9E0554D-6CEA-49DC-B2A3-7725543BB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959" y="102637"/>
                <a:ext cx="7613780" cy="5511830"/>
              </a:xfrm>
              <a:prstGeom prst="rect">
                <a:avLst/>
              </a:prstGeom>
              <a:blipFill>
                <a:blip r:embed="rId3"/>
                <a:stretch>
                  <a:fillRect l="-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F55114E-2B99-4D7B-9747-2AEED0AC4AE6}"/>
              </a:ext>
            </a:extLst>
          </p:cNvPr>
          <p:cNvSpPr txBox="1"/>
          <p:nvPr/>
        </p:nvSpPr>
        <p:spPr>
          <a:xfrm>
            <a:off x="8640146" y="2236334"/>
            <a:ext cx="1651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&lt;</a:t>
            </a:r>
            <a:r>
              <a:rPr lang="ko-KR" altLang="en-US" sz="1100"/>
              <a:t>어텐션 스코어</a:t>
            </a:r>
            <a:r>
              <a:rPr lang="en-US" altLang="ko-KR" sz="1100"/>
              <a:t>&gt;</a:t>
            </a:r>
            <a:endParaRPr lang="ko-KR" altLang="en-US" sz="11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D949E9F-185A-44A3-BE2A-9036D2FF4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8727" y="2891855"/>
            <a:ext cx="1818030" cy="10742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4D933A4-400C-4D3D-885E-FA8784A5AD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6184" y="4164292"/>
            <a:ext cx="3672835" cy="179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757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90BEC99-5D86-4700-814D-E78F4CD76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1925" y="384395"/>
            <a:ext cx="3760075" cy="23841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2F9CB0-F72C-4752-AAAC-DFDCB22F2F09}"/>
                  </a:ext>
                </a:extLst>
              </p:cNvPr>
              <p:cNvSpPr txBox="1"/>
              <p:nvPr/>
            </p:nvSpPr>
            <p:spPr>
              <a:xfrm>
                <a:off x="167951" y="279918"/>
                <a:ext cx="8263974" cy="65213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각 인코더의 어텐션 가중치와 은닉상태를 가중합하여 어텐션 값</a:t>
                </a:r>
                <a:r>
                  <a:rPr lang="en-US" altLang="ko-KR" sz="1100"/>
                  <a:t>(attention value)</a:t>
                </a:r>
                <a:r>
                  <a:rPr lang="ko-KR" altLang="en-US" sz="1100"/>
                  <a:t>를 구한다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이제까지의 정보들을 하나로 합치는 단계이다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어텐션의 최종 결과값을 얻기 위해서 각 인코더의 은닉상태와 어텐션 가중치값들을 곱하고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최종적으로 모두 더한다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가중합</a:t>
                </a:r>
                <a:r>
                  <a:rPr lang="en-US" altLang="ko-KR" sz="1100"/>
                  <a:t>(weight sum)</a:t>
                </a:r>
                <a:r>
                  <a:rPr lang="ko-KR" altLang="en-US" sz="1100"/>
                  <a:t>을 진행한후 아래는 어텐션의 최종결과 즉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어텐션 함수의 출력값인 </a:t>
                </a:r>
                <a:r>
                  <a:rPr lang="ko-KR" altLang="en-US" sz="1100">
                    <a:highlight>
                      <a:srgbClr val="FFFF00"/>
                    </a:highlight>
                  </a:rPr>
                  <a:t>어텐션</a:t>
                </a:r>
                <a:r>
                  <a:rPr lang="en-US" altLang="ko-KR" sz="1100">
                    <a:highlight>
                      <a:srgbClr val="FFFF00"/>
                    </a:highlight>
                  </a:rPr>
                  <a:t>(attention value)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altLang="ko-KR" sz="1100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100"/>
                  <a:t>에 대한 식이다</a:t>
                </a:r>
                <a:endParaRPr lang="en-US" altLang="ko-KR" sz="110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ko-KR" alt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ko-KR" altLang="en-US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ko-KR" altLang="en-US" sz="110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ko-KR" altLang="en-US" sz="11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ko-KR" altLang="en-US" sz="110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ko-KR" altLang="en-US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10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ko-KR" altLang="en-US" sz="11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ko-KR" sz="1100"/>
              </a:p>
              <a:p>
                <a:pPr algn="l"/>
                <a:r>
                  <a:rPr lang="ko-KR" altLang="en-US" sz="1100"/>
                  <a:t> </a:t>
                </a:r>
                <a:r>
                  <a:rPr lang="en-US" altLang="ko-KR" sz="1100"/>
                  <a:t>- </a:t>
                </a:r>
                <a:r>
                  <a:rPr lang="ko-KR" altLang="en-US" sz="1100"/>
                  <a:t>이러한 어텐션 값은 종종 인코더의 문맥을 포함하고 있다고하여 </a:t>
                </a:r>
                <a:r>
                  <a:rPr lang="en-US" altLang="ko-KR" sz="1100"/>
                  <a:t>, </a:t>
                </a:r>
                <a:r>
                  <a:rPr lang="ko-KR" altLang="en-US" sz="1100"/>
                  <a:t>컨텍스트 벡터라고도 불린다</a:t>
                </a:r>
                <a:r>
                  <a:rPr lang="en-US" altLang="ko-KR" sz="1100"/>
                  <a:t>.</a:t>
                </a:r>
              </a:p>
              <a:p>
                <a:pPr algn="l"/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어텐션 값과 디코더의 </a:t>
                </a:r>
                <a:r>
                  <a:rPr lang="en-US" altLang="ko-KR" sz="1100"/>
                  <a:t>t</a:t>
                </a:r>
                <a:r>
                  <a:rPr lang="ko-KR" altLang="en-US" sz="1100"/>
                  <a:t>시점의 은닉 상태를 연결한다 </a:t>
                </a:r>
                <a:r>
                  <a:rPr lang="en-US" altLang="ko-KR" sz="1100"/>
                  <a:t>(concatenate)</a:t>
                </a:r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어텐션값이 구해지면 어텐션 메커니즘은 어텐션값과 </a:t>
                </a:r>
                <a:r>
                  <a:rPr lang="en-US" altLang="ko-KR" sz="1100"/>
                  <a:t>st</a:t>
                </a:r>
                <a:r>
                  <a:rPr lang="ko-KR" altLang="en-US" sz="1100"/>
                  <a:t>와 결합하여 하나의 벡터를 만드는 작업을 수행한다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이를 </a:t>
                </a:r>
                <a:r>
                  <a:rPr lang="en-US" altLang="ko-KR" sz="1100"/>
                  <a:t>vt</a:t>
                </a:r>
                <a:r>
                  <a:rPr lang="ko-KR" altLang="en-US" sz="1100"/>
                  <a:t>라고 정의한다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이 </a:t>
                </a:r>
                <a:r>
                  <a:rPr lang="en-US" altLang="ko-KR" sz="1100"/>
                  <a:t>vt</a:t>
                </a:r>
                <a:r>
                  <a:rPr lang="ko-KR" altLang="en-US" sz="1100"/>
                  <a:t>를 </a:t>
                </a:r>
                <a:r>
                  <a:rPr lang="en-US" altLang="ko-KR" sz="1100"/>
                  <a:t>yhat</a:t>
                </a:r>
                <a:r>
                  <a:rPr lang="ko-KR" altLang="en-US" sz="1100"/>
                  <a:t>예측 연산의 입력으로 사용하므로서 인코더로부터 얻은 정보를 활용하여 </a:t>
                </a:r>
                <a:r>
                  <a:rPr lang="en-US" altLang="ko-KR" sz="1100"/>
                  <a:t>yhat</a:t>
                </a:r>
                <a:r>
                  <a:rPr lang="ko-KR" altLang="en-US" sz="1100"/>
                  <a:t>을 좀 더 잘 예측할 수 있게된다</a:t>
                </a:r>
                <a:endParaRPr lang="en-US" altLang="ko-KR" sz="1100"/>
              </a:p>
              <a:p>
                <a:pPr algn="l"/>
                <a:r>
                  <a:rPr lang="ko-KR" altLang="en-US" sz="1100"/>
                  <a:t>이것이 어텐션 메커니즘의 핵심이다</a:t>
                </a:r>
                <a:endParaRPr lang="en-US" altLang="ko-KR" sz="1100"/>
              </a:p>
              <a:p>
                <a:pPr algn="l"/>
                <a:endParaRPr lang="en-US" altLang="ko-KR" sz="1100"/>
              </a:p>
              <a:p>
                <a:pPr algn="l"/>
                <a:r>
                  <a:rPr lang="en-US" altLang="ko-KR" sz="1100"/>
                  <a:t> </a:t>
                </a:r>
              </a:p>
              <a:p>
                <a:pPr algn="l"/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100"/>
                  <a:t>출력층 연산의 입력이 되는 </a:t>
                </a:r>
                <a:r>
                  <a:rPr lang="en-US" altLang="ko-KR" sz="1100"/>
                  <a:t>st</a:t>
                </a:r>
                <a:r>
                  <a:rPr lang="ko-KR" altLang="en-US" sz="1100"/>
                  <a:t>를 계산한다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논문에서는 </a:t>
                </a:r>
                <a:r>
                  <a:rPr lang="en-US" altLang="ko-KR" sz="1100"/>
                  <a:t>vt</a:t>
                </a:r>
                <a:r>
                  <a:rPr lang="ko-KR" altLang="en-US" sz="1100"/>
                  <a:t>를 바로 출력층으로 보내기 전에 신경망 연산을 한번 더 추가했다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가중치 행렬과 곱한후에 하이퍼볼릭탄젠트 함수를 지나가도록 하여 출력층 연산을 위해 새로운 벡터인 </a:t>
                </a:r>
                <a:r>
                  <a:rPr lang="en-US" altLang="ko-KR" sz="1100"/>
                  <a:t>st</a:t>
                </a:r>
                <a:r>
                  <a:rPr lang="ko-KR" altLang="en-US" sz="1100"/>
                  <a:t>를 얻었다</a:t>
                </a:r>
                <a:endParaRPr lang="en-US" altLang="ko-KR" sz="1100"/>
              </a:p>
              <a:p>
                <a:pPr algn="l"/>
                <a:r>
                  <a:rPr lang="en-US" altLang="ko-KR" sz="1100"/>
                  <a:t> - </a:t>
                </a:r>
                <a:r>
                  <a:rPr lang="ko-KR" altLang="en-US" sz="1100"/>
                  <a:t>어텐션 메커니즘을 사용하지 않은 </a:t>
                </a:r>
                <a:r>
                  <a:rPr lang="en-US" altLang="ko-KR" sz="1100"/>
                  <a:t>seq2seq</a:t>
                </a:r>
                <a:r>
                  <a:rPr lang="ko-KR" altLang="en-US" sz="1100"/>
                  <a:t>에서는 출력층의 입력이 </a:t>
                </a:r>
                <a:r>
                  <a:rPr lang="en-US" altLang="ko-KR" sz="1100"/>
                  <a:t>t</a:t>
                </a:r>
                <a:r>
                  <a:rPr lang="ko-KR" altLang="en-US" sz="1100"/>
                  <a:t>시점의 은닉상태인 </a:t>
                </a:r>
                <a:r>
                  <a:rPr lang="en-US" altLang="ko-KR" sz="1100"/>
                  <a:t>st</a:t>
                </a:r>
                <a:r>
                  <a:rPr lang="ko-KR" altLang="en-US" sz="1100"/>
                  <a:t>였던 반면 어텐션 메커니즘에서의 출력층의 입력이 </a:t>
                </a:r>
                <a:r>
                  <a:rPr lang="en-US" altLang="ko-KR" sz="1100"/>
                  <a:t>st</a:t>
                </a:r>
                <a:r>
                  <a:rPr lang="ko-KR" altLang="en-US" sz="1100"/>
                  <a:t>바가 되는 셈이다</a:t>
                </a:r>
                <a:endParaRPr lang="en-US" altLang="ko-KR" sz="1100"/>
              </a:p>
              <a:p>
                <a:pPr algn="l"/>
                <a:r>
                  <a:rPr lang="ko-KR" altLang="en-US" sz="1100"/>
                  <a:t> </a:t>
                </a:r>
                <a:r>
                  <a:rPr lang="en-US" altLang="ko-KR" sz="1100"/>
                  <a:t>- </a:t>
                </a:r>
                <a:r>
                  <a:rPr lang="ko-KR" altLang="en-US" sz="1100"/>
                  <a:t>식으로 표현하면 다음과 같다</a:t>
                </a:r>
                <a:r>
                  <a:rPr lang="en-US" altLang="ko-KR" sz="110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110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1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학</m:t>
                    </m:r>
                  </m:oMath>
                </a14:m>
                <a:r>
                  <a:rPr lang="ko-KR" altLang="en-US" sz="1100"/>
                  <a:t>습가능한 가중치 행렬</a:t>
                </a:r>
                <a:r>
                  <a:rPr lang="en-US" altLang="ko-KR" sz="110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10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10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100" i="1">
                        <a:latin typeface="Cambria Math" panose="02040503050406030204" pitchFamily="18" charset="0"/>
                      </a:rPr>
                      <m:t>편</m:t>
                    </m:r>
                  </m:oMath>
                </a14:m>
                <a:r>
                  <a:rPr lang="ko-KR" altLang="en-US" sz="1100"/>
                  <a:t>향이다</a:t>
                </a:r>
                <a:r>
                  <a:rPr lang="en-US" altLang="ko-KR" sz="1100"/>
                  <a:t>) </a:t>
                </a:r>
                <a:r>
                  <a:rPr lang="ko-KR" altLang="en-US" sz="1100"/>
                  <a:t>그림에서 편향은 생략</a:t>
                </a:r>
                <a:endParaRPr lang="en-US" altLang="ko-KR" sz="1100"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11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ko-KR" altLang="en-US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110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  <m:sub>
                          <m: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ko-KR" altLang="en-US" sz="110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ko-KR" altLang="en-US" sz="1100" i="1" smtClean="0">
                              <a:latin typeface="Cambria Math" panose="02040503050406030204" pitchFamily="18" charset="0"/>
                            </a:rPr>
                            <m:t>tanh</m:t>
                          </m:r>
                        </m:fName>
                        <m:e>
                          <m:d>
                            <m:dPr>
                              <m:endChr m:val=""/>
                              <m:ctrlPr>
                                <a:rPr lang="ko-KR" altLang="en-US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ko-KR" altLang="en-US" sz="11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10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ko-KR" altLang="en-US" sz="110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d>
                        <m:dPr>
                          <m:begChr m:val="["/>
                          <m:endChr m:val="]"/>
                          <m:ctrlPr>
                            <a:rPr lang="en-US" altLang="ko-KR" sz="11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ko-KR" altLang="en-US" sz="11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sz="11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ko-KR" altLang="en-US" sz="11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1100"/>
              </a:p>
              <a:p>
                <a:pPr marL="171450" indent="-1714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ko-KR" altLang="en-US" sz="11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10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ko-KR" altLang="en-US" sz="1100" i="1"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ko-KR" altLang="en-US" sz="1100"/>
                  <a:t> 출력층의 입력으로 사용</a:t>
                </a:r>
                <a:endParaRPr lang="en-US" altLang="ko-KR" sz="1100"/>
              </a:p>
              <a:p>
                <a:pPr marL="171450" indent="-171450" algn="l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ko-KR" altLang="en-US" sz="11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10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100"/>
                  <a:t>을 출력층의 입력으로 사용하여 예측 벡터를 얻는다</a:t>
                </a:r>
                <a:endParaRPr lang="en-US" altLang="ko-KR" sz="1100"/>
              </a:p>
              <a:p>
                <a:pPr marL="171450" indent="-171450" algn="l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ko-KR" altLang="en-US" sz="11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10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ko-KR" altLang="en-US" sz="11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ko-KR" altLang="en-US" sz="11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sSub>
                      <m:sSubPr>
                        <m:ctrlPr>
                          <a:rPr lang="ko-KR" altLang="en-US" sz="11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ko-KR" altLang="en-US" sz="11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1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ko-KR" altLang="en-US" sz="1100" i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ko-KR" altLang="en-US" sz="11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ko-KR" altLang="en-US" sz="1100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52F9CB0-F72C-4752-AAAC-DFDCB22F2F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51" y="279918"/>
                <a:ext cx="8263974" cy="6521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9430EAFC-F389-4E6F-931E-D0A4F5862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6841" y="3292093"/>
            <a:ext cx="3426390" cy="159472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330F4AE-6955-46B6-8616-0202B75E8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1925" y="5143750"/>
            <a:ext cx="3477208" cy="15555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A5C17AA-1C58-4FB7-98C6-C1480AEBD221}"/>
              </a:ext>
            </a:extLst>
          </p:cNvPr>
          <p:cNvSpPr txBox="1"/>
          <p:nvPr/>
        </p:nvSpPr>
        <p:spPr>
          <a:xfrm>
            <a:off x="10009415" y="1907"/>
            <a:ext cx="60975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/>
              <a:t>https://wikidocs.net/22893</a:t>
            </a:r>
          </a:p>
        </p:txBody>
      </p:sp>
    </p:spTree>
    <p:extLst>
      <p:ext uri="{BB962C8B-B14F-4D97-AF65-F5344CB8AC3E}">
        <p14:creationId xmlns:p14="http://schemas.microsoft.com/office/powerpoint/2010/main" val="3823462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596263-216F-46E8-8C80-A80D00D7D81D}"/>
              </a:ext>
            </a:extLst>
          </p:cNvPr>
          <p:cNvSpPr txBox="1"/>
          <p:nvPr/>
        </p:nvSpPr>
        <p:spPr>
          <a:xfrm>
            <a:off x="897622" y="553673"/>
            <a:ext cx="71222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/>
              <a:t>Bias</a:t>
            </a:r>
            <a:r>
              <a:rPr lang="ko-KR" altLang="en-US" sz="1100"/>
              <a:t>와 가중치 설명</a:t>
            </a:r>
            <a:endParaRPr lang="en-US" altLang="ko-KR" sz="1100"/>
          </a:p>
          <a:p>
            <a:pPr algn="l"/>
            <a:r>
              <a:rPr lang="en-US" altLang="ko-KR" sz="1100"/>
              <a:t>https://jh2021.tistory.com/3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463555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E8003-DC5E-4ECB-BA7C-406AB3A63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4FC9EA-43DA-4F03-BEBF-5BAD8D7C1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775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10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3949</TotalTime>
  <Words>1689</Words>
  <Application>Microsoft Office PowerPoint</Application>
  <PresentationFormat>와이드스크린</PresentationFormat>
  <Paragraphs>205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Cambria Math</vt:lpstr>
      <vt:lpstr>Office 테마</vt:lpstr>
      <vt:lpstr>세미나 용어 정리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세미나 </dc:title>
  <dc:creator>jh</dc:creator>
  <cp:lastModifiedBy>jh</cp:lastModifiedBy>
  <cp:revision>19</cp:revision>
  <dcterms:created xsi:type="dcterms:W3CDTF">2023-01-27T05:09:28Z</dcterms:created>
  <dcterms:modified xsi:type="dcterms:W3CDTF">2023-02-02T06:29:06Z</dcterms:modified>
</cp:coreProperties>
</file>