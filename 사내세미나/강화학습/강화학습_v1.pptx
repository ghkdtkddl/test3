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4"/>
  </p:notesMasterIdLst>
  <p:handoutMasterIdLst>
    <p:handoutMasterId r:id="rId35"/>
  </p:handoutMasterIdLst>
  <p:sldIdLst>
    <p:sldId id="256" r:id="rId2"/>
    <p:sldId id="408" r:id="rId3"/>
    <p:sldId id="442" r:id="rId4"/>
    <p:sldId id="443" r:id="rId5"/>
    <p:sldId id="444" r:id="rId6"/>
    <p:sldId id="445" r:id="rId7"/>
    <p:sldId id="463" r:id="rId8"/>
    <p:sldId id="464" r:id="rId9"/>
    <p:sldId id="447" r:id="rId10"/>
    <p:sldId id="449" r:id="rId11"/>
    <p:sldId id="456" r:id="rId12"/>
    <p:sldId id="457" r:id="rId13"/>
    <p:sldId id="458" r:id="rId14"/>
    <p:sldId id="459" r:id="rId15"/>
    <p:sldId id="460" r:id="rId16"/>
    <p:sldId id="465" r:id="rId17"/>
    <p:sldId id="466" r:id="rId18"/>
    <p:sldId id="452" r:id="rId19"/>
    <p:sldId id="453" r:id="rId20"/>
    <p:sldId id="455" r:id="rId21"/>
    <p:sldId id="461" r:id="rId22"/>
    <p:sldId id="462" r:id="rId23"/>
    <p:sldId id="441" r:id="rId24"/>
    <p:sldId id="306" r:id="rId25"/>
    <p:sldId id="450" r:id="rId26"/>
    <p:sldId id="451" r:id="rId27"/>
    <p:sldId id="433" r:id="rId28"/>
    <p:sldId id="434" r:id="rId29"/>
    <p:sldId id="435" r:id="rId30"/>
    <p:sldId id="436" r:id="rId31"/>
    <p:sldId id="437" r:id="rId32"/>
    <p:sldId id="438" r:id="rId33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92941" autoAdjust="0"/>
  </p:normalViewPr>
  <p:slideViewPr>
    <p:cSldViewPr snapToGrid="0" snapToObjects="1">
      <p:cViewPr varScale="1">
        <p:scale>
          <a:sx n="106" d="100"/>
          <a:sy n="106" d="100"/>
        </p:scale>
        <p:origin x="2112" y="78"/>
      </p:cViewPr>
      <p:guideLst>
        <p:guide orient="horz" pos="215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처벌은 잘 안함 국가에서 허락을 해줘야하기때문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61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latin typeface="+mn-ea"/>
              </a:rPr>
              <a:t>어떤 행동이 좋은 행동이고 좋은 조합인지 </a:t>
            </a:r>
            <a:r>
              <a:rPr lang="en-US" altLang="ko-KR" sz="1200">
                <a:latin typeface="+mn-ea"/>
              </a:rPr>
              <a:t>trial and error</a:t>
            </a:r>
            <a:r>
              <a:rPr lang="ko-KR" altLang="en-US" sz="1200">
                <a:latin typeface="+mn-ea"/>
              </a:rPr>
              <a:t>로서 이것저것 시도해 보며 알아가게 되고 실제로 학습을 시켜보면서 경험을 하여 얻어진다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계속 학습이 이뤄지고 어느 순간 터널이 뚫리게 된다면 점수가 한번에 많은 점수를 얻는 경험을 하는데 이때는 전략을 바꾸게 되며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터널을 뚫으면 많은 점수를 얻는 것을 알 수 있게된다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582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265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85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https://blog.naver.com/PostView.naver?blogId=kryj9625&amp;logNo=221769935372&amp;categoryNo=15&amp;parentCategoryNo=0&amp;viewDate=&amp;currentPage=1&amp;postListTopCurrentPage=1&amp;from=postView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72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70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474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72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0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5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5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hyperlink" Target="https://dnddnjs.gitbooks.io/rl/content/what_is_reinforcement_learning.html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>
                <a:solidFill>
                  <a:schemeClr val="tx1"/>
                </a:solidFill>
              </a:rPr>
              <a:t>강화학습</a:t>
            </a:r>
            <a:endParaRPr lang="en-US" altLang="ko-KR" sz="600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/>
              <a:t>Reinforcement Learning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4" y="29943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MDP(Markov Decision Process)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Bellman Equation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Reinforcement Learning</a:t>
            </a:r>
            <a:endParaRPr lang="ko-KR" altLang="en-US" sz="1600" b="1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82EFD27-7334-4997-B103-4F12FCD0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58" y="1102405"/>
            <a:ext cx="3620031" cy="30736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215273" y="4155925"/>
            <a:ext cx="867472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강화학습은 </a:t>
            </a:r>
            <a:r>
              <a:rPr lang="en-US" altLang="ko-KR" sz="1200">
                <a:latin typeface="+mn-ea"/>
              </a:rPr>
              <a:t>Machine Learning</a:t>
            </a:r>
            <a:r>
              <a:rPr lang="ko-KR" altLang="en-US" sz="1200">
                <a:latin typeface="+mn-ea"/>
              </a:rPr>
              <a:t>의 한 종류로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행동을 수행하는 학습자가 어떤 행동을 해야하는 지 알지 못하는 상태에서 행동에 대한 보상을 극대화하기 위해 어떻게 행동해야 할 지 방향을 찾는 학습 방법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 특징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데이터에 대한 라벨의 여부로 분류되는 </a:t>
            </a:r>
            <a:r>
              <a:rPr lang="en-US" altLang="ko-KR" sz="1200">
                <a:latin typeface="+mn-ea"/>
              </a:rPr>
              <a:t>Supervised Learning/Unsupervised Learning</a:t>
            </a:r>
            <a:r>
              <a:rPr lang="ko-KR" altLang="en-US" sz="1200">
                <a:latin typeface="+mn-ea"/>
              </a:rPr>
              <a:t>과는 다른 특징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Trial and Error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해야 하는 지 전달받지 않고 많은 시도와 실패를 통해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수 있는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발견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FFC000"/>
                </a:solidFill>
                <a:latin typeface="+mn-ea"/>
              </a:rPr>
              <a:t>Delayed Reward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강화학습이 다루는 문제는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시간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이라는 개념 포함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환경이 반응할때까지 많은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 있고 시간도 포함되어 있기 때문에 어떤 행동이 더 나은 행동인지 판단하기 어려움</a:t>
            </a:r>
            <a:r>
              <a:rPr lang="en-US" altLang="ko-KR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현재의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 보상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보상 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( </a:t>
            </a:r>
            <a:r>
              <a:rPr lang="ko-KR" altLang="en-US" sz="1200">
                <a:latin typeface="+mn-ea"/>
              </a:rPr>
              <a:t>대부분의 사람은 현재의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대한 보상을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더 좋은 환경이 구성될수 도 있지만 아닐수도 있어서가 이유</a:t>
            </a:r>
            <a:r>
              <a:rPr lang="en-US" altLang="ko-KR" sz="120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278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Reinforcement Learning</a:t>
            </a:r>
            <a:endParaRPr lang="ko-KR" altLang="en-US" sz="1600" b="1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4100297"/>
            <a:ext cx="82547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스키너 상자 실험</a:t>
            </a:r>
            <a:r>
              <a:rPr lang="en-US" altLang="ko-KR" sz="1200">
                <a:latin typeface="+mn-ea"/>
              </a:rPr>
              <a:t>&gt;</a:t>
            </a:r>
            <a:r>
              <a:rPr lang="ko-KR" altLang="en-US" sz="1200">
                <a:latin typeface="+mn-ea"/>
              </a:rPr>
              <a:t> 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스키너 상자실험은 동물에 가두어 특정한 행동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을 하면 보상</a:t>
            </a:r>
            <a:r>
              <a:rPr lang="en-US" altLang="ko-KR" sz="1200">
                <a:latin typeface="+mn-ea"/>
              </a:rPr>
              <a:t>(reward)/</a:t>
            </a:r>
            <a:r>
              <a:rPr lang="ko-KR" altLang="en-US" sz="1200">
                <a:latin typeface="+mn-ea"/>
              </a:rPr>
              <a:t>처벌</a:t>
            </a:r>
            <a:r>
              <a:rPr lang="en-US" altLang="ko-KR" sz="1200">
                <a:latin typeface="+mn-ea"/>
              </a:rPr>
              <a:t>(punishment)</a:t>
            </a:r>
            <a:r>
              <a:rPr lang="ko-KR" altLang="en-US" sz="1200">
                <a:latin typeface="+mn-ea"/>
              </a:rPr>
              <a:t>을 하는 실험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실험 방법</a:t>
            </a:r>
            <a:r>
              <a:rPr lang="en-US" altLang="ko-KR" sz="1200">
                <a:latin typeface="+mn-ea"/>
              </a:rPr>
              <a:t>&gt; </a:t>
            </a:r>
          </a:p>
          <a:p>
            <a:pPr algn="l"/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스키너 상자에는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누르면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 먹이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나오도록 설정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배고픈 상태의 쥐가 처음에는 여러가지 행동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우연히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누르게 되면 먹이가 자동적으로 주어짐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과정 몇 차례 반복되면 다른 행동을 하지 않고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만 누르는 행동만 하게되어 먹이를 얻음</a:t>
            </a:r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  <a:p>
            <a:pPr algn="l"/>
            <a:r>
              <a:rPr lang="ko-KR" altLang="en-US" sz="1200">
                <a:latin typeface="+mn-ea"/>
              </a:rPr>
              <a:t>이와 같이 자신이 한 행동에 따른 보상으로 인해 더 좋은 보상을 받는 행동을 하도록 학습이 되는것을 볼 수 있는데 이러한 학습방법이 강화학습의 모티브가 됨</a:t>
            </a:r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F84126-EE76-4D2B-97A6-B0E584103518}"/>
              </a:ext>
            </a:extLst>
          </p:cNvPr>
          <p:cNvGrpSpPr/>
          <p:nvPr/>
        </p:nvGrpSpPr>
        <p:grpSpPr>
          <a:xfrm>
            <a:off x="917019" y="1152835"/>
            <a:ext cx="7237080" cy="2700214"/>
            <a:chOff x="917019" y="1152835"/>
            <a:chExt cx="7237080" cy="270021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D5B6C88-EA29-4756-BCCD-A61E70A3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019" y="1176150"/>
              <a:ext cx="3743847" cy="267689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34D157E-9328-45A7-81F4-B0714B79C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08661" y="1152835"/>
              <a:ext cx="3245438" cy="266370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16A1979-24E6-4274-8E99-8EB1E58B4953}"/>
              </a:ext>
            </a:extLst>
          </p:cNvPr>
          <p:cNvSpPr txBox="1"/>
          <p:nvPr/>
        </p:nvSpPr>
        <p:spPr>
          <a:xfrm>
            <a:off x="3196206" y="3816544"/>
            <a:ext cx="2869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</a:t>
            </a:r>
            <a:r>
              <a:rPr lang="ko-KR" altLang="en-US" sz="1100"/>
              <a:t>스키너 상자 </a:t>
            </a:r>
            <a:r>
              <a:rPr lang="en-US" altLang="ko-KR" sz="1100"/>
              <a:t>(</a:t>
            </a:r>
            <a:r>
              <a:rPr lang="ko-KR" altLang="en-US" sz="1100"/>
              <a:t>좌</a:t>
            </a:r>
            <a:r>
              <a:rPr lang="en-US" altLang="ko-KR" sz="1100"/>
              <a:t>: </a:t>
            </a:r>
            <a:r>
              <a:rPr lang="ko-KR" altLang="en-US" sz="1100"/>
              <a:t>쥐 </a:t>
            </a:r>
            <a:r>
              <a:rPr lang="en-US" altLang="ko-KR" sz="1100"/>
              <a:t>/ </a:t>
            </a:r>
            <a:r>
              <a:rPr lang="ko-KR" altLang="en-US" sz="1100"/>
              <a:t>우</a:t>
            </a:r>
            <a:r>
              <a:rPr lang="en-US" altLang="ko-KR" sz="1100"/>
              <a:t>: </a:t>
            </a:r>
            <a:r>
              <a:rPr lang="ko-KR" altLang="en-US" sz="1100"/>
              <a:t>비둘기</a:t>
            </a:r>
            <a:r>
              <a:rPr lang="en-US" altLang="ko-KR" sz="1100"/>
              <a:t>) 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72589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Reinforcement Learning</a:t>
            </a:r>
            <a:endParaRPr lang="ko-KR" altLang="en-US" sz="1600" b="1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4100297"/>
            <a:ext cx="8254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강화학습 예시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벽돌깨기</a:t>
            </a:r>
            <a:r>
              <a:rPr lang="en-US" altLang="ko-KR" sz="1200">
                <a:latin typeface="+mn-ea"/>
              </a:rPr>
              <a:t>)&gt;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강화학습과 딥러닝으로 </a:t>
            </a:r>
            <a:r>
              <a:rPr lang="en-US" altLang="ko-KR" sz="1200">
                <a:latin typeface="+mn-ea"/>
              </a:rPr>
              <a:t>atari</a:t>
            </a:r>
            <a:r>
              <a:rPr lang="ko-KR" altLang="en-US" sz="1200">
                <a:latin typeface="+mn-ea"/>
              </a:rPr>
              <a:t>게임 학습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학습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대상을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라고 하며 예시에서는 사람의 뇌에 해당된다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조작키를 사용하여 랜덤하게 움직임이다가 공을 치게 되었을때 게임 점수가 올라가는것 확인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행동을 학습하여 점수를 올리지만 </a:t>
            </a:r>
            <a:r>
              <a:rPr lang="en-US" altLang="ko-KR" sz="1200">
                <a:latin typeface="+mn-ea"/>
              </a:rPr>
              <a:t>episode</a:t>
            </a:r>
            <a:r>
              <a:rPr lang="ko-KR" altLang="en-US" sz="1200">
                <a:latin typeface="+mn-ea"/>
              </a:rPr>
              <a:t>당 최고의 점수를 얻기위해 다른 시도도 해봄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agentt</a:t>
            </a:r>
            <a:r>
              <a:rPr lang="ko-KR" altLang="en-US" sz="1200">
                <a:latin typeface="+mn-ea"/>
              </a:rPr>
              <a:t>는 일련의 연속된 행동 중 정책</a:t>
            </a:r>
            <a:r>
              <a:rPr lang="en-US" altLang="ko-KR" sz="1200">
                <a:latin typeface="+mn-ea"/>
              </a:rPr>
              <a:t>(policy)</a:t>
            </a:r>
            <a:r>
              <a:rPr lang="ko-KR" altLang="en-US" sz="1200">
                <a:latin typeface="+mn-ea"/>
              </a:rPr>
              <a:t>이 필요하게 됨으로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정책 </a:t>
            </a:r>
            <a:r>
              <a:rPr lang="en-US" altLang="ko-KR" sz="1200">
                <a:latin typeface="+mn-ea"/>
              </a:rPr>
              <a:t>or </a:t>
            </a:r>
            <a:r>
              <a:rPr lang="ko-KR" altLang="en-US" sz="1200">
                <a:latin typeface="+mn-ea"/>
              </a:rPr>
              <a:t>다른행동을 하여 좀 더 높은 점수를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찾음</a:t>
            </a:r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1428E2-B758-48DE-B437-757FEA082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82" y="1168651"/>
            <a:ext cx="4664281" cy="293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3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98412-3A0C-477D-9610-F0C8E600C61A}"/>
              </a:ext>
            </a:extLst>
          </p:cNvPr>
          <p:cNvSpPr txBox="1"/>
          <p:nvPr/>
        </p:nvSpPr>
        <p:spPr>
          <a:xfrm>
            <a:off x="1879133" y="1444404"/>
            <a:ext cx="5891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b="1">
                <a:latin typeface="+mj-ea"/>
                <a:ea typeface="+mj-ea"/>
              </a:rPr>
              <a:t>‘</a:t>
            </a:r>
            <a:r>
              <a:rPr lang="ko-KR" altLang="en-US" sz="1600" b="1">
                <a:latin typeface="+mj-ea"/>
                <a:ea typeface="+mj-ea"/>
              </a:rPr>
              <a:t>강화학습은 </a:t>
            </a:r>
            <a:r>
              <a:rPr lang="en-US" altLang="ko-KR" sz="1600" b="1">
                <a:latin typeface="+mj-ea"/>
                <a:ea typeface="+mj-ea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</a:rPr>
              <a:t>!’</a:t>
            </a:r>
            <a:endParaRPr lang="ko-KR" altLang="en-US" sz="1600" b="1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905506"/>
            <a:ext cx="825476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&lt;Markov Property&gt;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시간에 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도달하든 그 이전에 어떤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거쳐왔든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갈 확률은 항상 같다는 성질</a:t>
            </a:r>
            <a:endParaRPr lang="en-US" altLang="ko-KR" sz="1200">
              <a:latin typeface="+mn-ea"/>
            </a:endParaRPr>
          </a:p>
          <a:p>
            <a:pPr algn="ctr"/>
            <a:endParaRPr lang="en-US" altLang="ko-KR" sz="1200">
              <a:latin typeface="+mn-ea"/>
            </a:endParaRPr>
          </a:p>
          <a:p>
            <a:pPr algn="ctr"/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- 0</a:t>
            </a:r>
            <a:r>
              <a:rPr lang="ko-KR" altLang="en-US" sz="1200">
                <a:latin typeface="+mn-ea"/>
              </a:rPr>
              <a:t>부터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 까지의 여러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거쳐오고 </a:t>
            </a:r>
            <a:r>
              <a:rPr lang="en-US" altLang="ko-KR" sz="1200">
                <a:latin typeface="+mn-ea"/>
              </a:rPr>
              <a:t>t+1</a:t>
            </a:r>
            <a:r>
              <a:rPr lang="ko-KR" altLang="en-US" sz="1200">
                <a:latin typeface="+mn-ea"/>
              </a:rPr>
              <a:t>시간에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라는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도달할 확률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좌변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이 바로 직전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올 확률이 같다는 식</a:t>
            </a:r>
            <a:r>
              <a:rPr lang="en-US" altLang="ko-KR" sz="1200">
                <a:latin typeface="+mn-ea"/>
              </a:rPr>
              <a:t>(0~t-1</a:t>
            </a:r>
            <a:r>
              <a:rPr lang="ko-KR" altLang="en-US" sz="1200">
                <a:latin typeface="+mn-ea"/>
              </a:rPr>
              <a:t>시간까지의 정보는 이미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가지고 있다는 가정 전제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&lt;State Transition Probability Matrix&gt;</a:t>
            </a:r>
          </a:p>
          <a:p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들간의 이동하는 것을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이라고 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이를 확률로 표현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Markov </a:t>
            </a:r>
            <a:r>
              <a:rPr lang="ko-KR" altLang="en-US" sz="1200">
                <a:latin typeface="+mn-ea"/>
              </a:rPr>
              <a:t>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으로 이동할 확률을 뜻하며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행렬의 혈태로 정리한 것을 </a:t>
            </a:r>
            <a:r>
              <a:rPr lang="en-US" altLang="ko-KR" sz="1200">
                <a:latin typeface="+mn-ea"/>
              </a:rPr>
              <a:t>State Transition Probability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Matrix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State Transition Probability Matrix</a:t>
            </a:r>
            <a:r>
              <a:rPr lang="ko-KR" altLang="en-US" sz="1200">
                <a:latin typeface="+mn-ea"/>
              </a:rPr>
              <a:t>는 주어진 환경을 설명하는데 필요한 요소이며 각 행의 합은 </a:t>
            </a:r>
            <a:r>
              <a:rPr lang="en-US" altLang="ko-KR" sz="1200">
                <a:latin typeface="+mn-ea"/>
              </a:rPr>
              <a:t>1</a:t>
            </a:r>
            <a:r>
              <a:rPr lang="ko-KR" altLang="en-US" sz="1200">
                <a:latin typeface="+mn-ea"/>
              </a:rPr>
              <a:t>이 된다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 b="0">
              <a:latin typeface="+mn-ea"/>
            </a:endParaRPr>
          </a:p>
          <a:p>
            <a:endParaRPr lang="en-US" altLang="ko-KR" sz="1200" b="0">
              <a:latin typeface="+mn-ea"/>
            </a:endParaRPr>
          </a:p>
          <a:p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8F13CA16-DDB8-4AA1-AD7F-0BE732290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926570"/>
                  </p:ext>
                </p:extLst>
              </p:nvPr>
            </p:nvGraphicFramePr>
            <p:xfrm>
              <a:off x="1414943" y="2318782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>
                              <a:latin typeface="+mj-ea"/>
                              <a:ea typeface="+mj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P</m:t>
                                  </m:r>
                                </m:fName>
                                <m:e>
                                  <m:d>
                                    <m:dPr>
                                      <m:endChr m:val="|"/>
                                      <m:ctrlP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=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, …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𝑡</m:t>
                                  </m:r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 )=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P</m:t>
                              </m:r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𝑡</m:t>
                                  </m:r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+1 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ko-KR" altLang="en-US" sz="14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8F13CA16-DDB8-4AA1-AD7F-0BE732290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926570"/>
                  </p:ext>
                </p:extLst>
              </p:nvPr>
            </p:nvGraphicFramePr>
            <p:xfrm>
              <a:off x="1414943" y="2318782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3235788"/>
                  </p:ext>
                </p:extLst>
              </p:nvPr>
            </p:nvGraphicFramePr>
            <p:xfrm>
              <a:off x="1414943" y="3607888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3235788"/>
                  </p:ext>
                </p:extLst>
              </p:nvPr>
            </p:nvGraphicFramePr>
            <p:xfrm>
              <a:off x="1414943" y="3607888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713F7677-70C0-4308-802A-16C9ADF29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391" y="4663251"/>
            <a:ext cx="3284529" cy="150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1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905506"/>
            <a:ext cx="82547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>
                <a:latin typeface="+mn-ea"/>
              </a:rPr>
              <a:t>&lt;Markov Process (</a:t>
            </a:r>
            <a:r>
              <a:rPr lang="en-US" altLang="ko-KR" sz="1200">
                <a:latin typeface="+mn-ea"/>
              </a:rPr>
              <a:t>Markov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Chain)&gt;</a:t>
            </a:r>
          </a:p>
          <a:p>
            <a:r>
              <a:rPr lang="en-US" altLang="ko-KR" sz="1200" b="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시간에 상관없이 랜덤하게 다른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전이할 수 있는 </a:t>
            </a:r>
            <a:r>
              <a:rPr lang="en-US" altLang="ko-KR" sz="1200">
                <a:latin typeface="+mn-ea"/>
              </a:rPr>
              <a:t>process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&lt;S,P&gt; </a:t>
            </a:r>
            <a:r>
              <a:rPr lang="ko-KR" altLang="en-US" sz="1200">
                <a:latin typeface="+mn-ea"/>
              </a:rPr>
              <a:t>튜플이며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는 상태들의 집합</a:t>
            </a:r>
            <a:r>
              <a:rPr lang="en-US" altLang="ko-KR" sz="1200">
                <a:latin typeface="+mn-ea"/>
              </a:rPr>
              <a:t>, P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Transition Probability Matrix</a:t>
            </a:r>
          </a:p>
          <a:p>
            <a:r>
              <a:rPr lang="en-US" altLang="ko-KR" sz="1200" b="0">
                <a:latin typeface="+mn-ea"/>
              </a:rPr>
              <a:t> - Markov Chain</a:t>
            </a:r>
            <a:r>
              <a:rPr lang="ko-KR" altLang="en-US" sz="1200" b="0">
                <a:latin typeface="+mn-ea"/>
              </a:rPr>
              <a:t>의 </a:t>
            </a:r>
            <a:r>
              <a:rPr lang="en-US" altLang="ko-KR" sz="1200" b="0">
                <a:latin typeface="+mn-ea"/>
              </a:rPr>
              <a:t>sleep</a:t>
            </a:r>
            <a:r>
              <a:rPr lang="ko-KR" altLang="en-US" sz="1200" b="0">
                <a:latin typeface="+mn-ea"/>
              </a:rPr>
              <a:t>은 종점이며 에피소드가 끝나는 </a:t>
            </a:r>
            <a:r>
              <a:rPr lang="en-US" altLang="ko-KR" sz="1200" b="0">
                <a:latin typeface="+mn-ea"/>
              </a:rPr>
              <a:t>state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에피소드는 샘플링한다는 의미로 이해 하면 쉽고 에피소드는 무한한경우의 수가 될 수 있다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913FE0-A1A7-4C9A-BAB6-4D90CE98C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4" y="3183147"/>
            <a:ext cx="4237201" cy="33656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576F4B-A084-4528-956F-014922FA2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3105835"/>
            <a:ext cx="2440987" cy="12664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3D2298-37D2-4CD7-9191-CFFFB761A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943" y="4777272"/>
            <a:ext cx="4360269" cy="159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1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337538"/>
                  </p:ext>
                </p:extLst>
              </p:nvPr>
            </p:nvGraphicFramePr>
            <p:xfrm>
              <a:off x="1244169" y="4997644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337538"/>
                  </p:ext>
                </p:extLst>
              </p:nvPr>
            </p:nvGraphicFramePr>
            <p:xfrm>
              <a:off x="1244169" y="4997644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846A36ED-94DD-4D45-B46B-62E92A813048}"/>
              </a:ext>
            </a:extLst>
          </p:cNvPr>
          <p:cNvGrpSpPr/>
          <p:nvPr/>
        </p:nvGrpSpPr>
        <p:grpSpPr>
          <a:xfrm>
            <a:off x="335560" y="1209219"/>
            <a:ext cx="8254767" cy="3973845"/>
            <a:chOff x="335560" y="1209219"/>
            <a:chExt cx="8254767" cy="39738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838330-491F-47E9-AB08-1BDF2B1BD254}"/>
                    </a:ext>
                  </a:extLst>
                </p:cNvPr>
                <p:cNvSpPr txBox="1"/>
                <p:nvPr/>
              </p:nvSpPr>
              <p:spPr>
                <a:xfrm>
                  <a:off x="335560" y="1209219"/>
                  <a:ext cx="8254767" cy="39738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>
                      <a:latin typeface="+mn-ea"/>
                    </a:rPr>
                    <a:t>&lt;Markov Reward Process&gt;</a:t>
                  </a:r>
                </a:p>
                <a:p>
                  <a:r>
                    <a:rPr lang="en-US" altLang="ko-KR" sz="1200">
                      <a:latin typeface="+mn-ea"/>
                    </a:rPr>
                    <a:t> - Markov Process</a:t>
                  </a:r>
                  <a:r>
                    <a:rPr lang="ko-KR" altLang="en-US" sz="1200">
                      <a:latin typeface="+mn-ea"/>
                    </a:rPr>
                    <a:t>는</a:t>
                  </a:r>
                  <a:r>
                    <a:rPr lang="en-US" altLang="ko-KR" sz="1200">
                      <a:latin typeface="+mn-ea"/>
                    </a:rPr>
                    <a:t> &lt;S,P,R,</a:t>
                  </a:r>
                  <a:r>
                    <a:rPr lang="el-GR" altLang="ko-KR" sz="1200">
                      <a:latin typeface="+mn-ea"/>
                    </a:rPr>
                    <a:t>γ</a:t>
                  </a:r>
                  <a:r>
                    <a:rPr lang="en-US" altLang="ko-KR" sz="1200">
                      <a:latin typeface="+mn-ea"/>
                    </a:rPr>
                    <a:t>&gt; </a:t>
                  </a:r>
                  <a:r>
                    <a:rPr lang="ko-KR" altLang="en-US" sz="1200">
                      <a:latin typeface="+mn-ea"/>
                    </a:rPr>
                    <a:t>튜플이며 </a:t>
                  </a:r>
                  <a:r>
                    <a:rPr lang="en-US" altLang="ko-KR" sz="1200">
                      <a:latin typeface="+mn-ea"/>
                    </a:rPr>
                    <a:t>R</a:t>
                  </a:r>
                  <a:r>
                    <a:rPr lang="ko-KR" altLang="en-US" sz="1200">
                      <a:latin typeface="+mn-ea"/>
                    </a:rPr>
                    <a:t>은</a:t>
                  </a:r>
                  <a:r>
                    <a:rPr lang="en-US" altLang="ko-KR" sz="1200">
                      <a:latin typeface="+mn-ea"/>
                    </a:rPr>
                    <a:t> state </a:t>
                  </a:r>
                  <a:r>
                    <a:rPr lang="ko-KR" altLang="en-US" sz="1200">
                      <a:latin typeface="+mn-ea"/>
                    </a:rPr>
                    <a:t>별로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를 정해주는 함수</a:t>
                  </a:r>
                  <a:r>
                    <a:rPr lang="en-US" altLang="ko-KR" sz="1200">
                      <a:latin typeface="+mn-ea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ko-KR" altLang="en-US" sz="1200">
                      <a:latin typeface="+mn-ea"/>
                    </a:rPr>
                    <a:t>는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의 </a:t>
                  </a:r>
                  <a:r>
                    <a:rPr lang="en-US" altLang="ko-KR" sz="1200">
                      <a:latin typeface="+mn-ea"/>
                    </a:rPr>
                    <a:t>timestep</a:t>
                  </a:r>
                  <a:r>
                    <a:rPr lang="ko-KR" altLang="en-US" sz="1200">
                      <a:latin typeface="+mn-ea"/>
                    </a:rPr>
                    <a:t>에 따라</a:t>
                  </a:r>
                  <a:br>
                    <a:rPr lang="en-US" altLang="ko-KR" sz="1200">
                      <a:latin typeface="+mn-ea"/>
                    </a:rPr>
                  </a:br>
                  <a:r>
                    <a:rPr lang="en-US" altLang="ko-KR" sz="1200">
                      <a:latin typeface="+mn-ea"/>
                    </a:rPr>
                    <a:t>   </a:t>
                  </a:r>
                  <a:r>
                    <a:rPr lang="ko-KR" altLang="en-US" sz="1200">
                      <a:latin typeface="+mn-ea"/>
                    </a:rPr>
                    <a:t>감쇄율을 정해주는 </a:t>
                  </a:r>
                  <a:r>
                    <a:rPr lang="en-US" altLang="ko-KR" sz="1200">
                      <a:latin typeface="+mn-ea"/>
                    </a:rPr>
                    <a:t>discount factor</a:t>
                  </a:r>
                </a:p>
                <a:p>
                  <a:r>
                    <a:rPr lang="en-US" altLang="ko-KR" sz="1200">
                      <a:latin typeface="+mn-ea"/>
                    </a:rPr>
                    <a:t> - S,P</a:t>
                  </a:r>
                  <a:r>
                    <a:rPr lang="ko-KR" altLang="en-US" sz="1200">
                      <a:latin typeface="+mn-ea"/>
                    </a:rPr>
                    <a:t>가 주어지면 </a:t>
                  </a:r>
                  <a:r>
                    <a:rPr lang="en-US" altLang="ko-KR" sz="1200">
                      <a:latin typeface="+mn-ea"/>
                    </a:rPr>
                    <a:t>Markov Process</a:t>
                  </a:r>
                  <a:r>
                    <a:rPr lang="ko-KR" altLang="en-US" sz="1200">
                      <a:latin typeface="+mn-ea"/>
                    </a:rPr>
                    <a:t>가 정의되고 </a:t>
                  </a:r>
                  <a:r>
                    <a:rPr lang="en-US" altLang="ko-KR" sz="1200">
                      <a:latin typeface="+mn-ea"/>
                    </a:rPr>
                    <a:t>S,P,R,</a:t>
                  </a:r>
                  <a14:m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ko-KR" altLang="en-US" sz="1200" i="1">
                          <a:latin typeface="Cambria Math" panose="02040503050406030204" pitchFamily="18" charset="0"/>
                        </a:rPr>
                        <m:t>가</m:t>
                      </m:r>
                    </m:oMath>
                  </a14:m>
                  <a:r>
                    <a:rPr lang="en-US" altLang="ko-KR" sz="1200">
                      <a:latin typeface="+mn-ea"/>
                    </a:rPr>
                    <a:t> </a:t>
                  </a:r>
                  <a:r>
                    <a:rPr lang="ko-KR" altLang="en-US" sz="1200">
                      <a:latin typeface="+mn-ea"/>
                    </a:rPr>
                    <a:t>주어지면 </a:t>
                  </a:r>
                  <a:r>
                    <a:rPr lang="en-US" altLang="ko-KR" sz="1200">
                      <a:latin typeface="+mn-ea"/>
                    </a:rPr>
                    <a:t>Markov Reward Process</a:t>
                  </a:r>
                  <a:r>
                    <a:rPr lang="ko-KR" altLang="en-US" sz="1200">
                      <a:latin typeface="+mn-ea"/>
                    </a:rPr>
                    <a:t>가 정의</a:t>
                  </a:r>
                  <a:endParaRPr lang="en-US" altLang="ko-KR" sz="1200">
                    <a:latin typeface="+mn-ea"/>
                  </a:endParaRPr>
                </a:p>
                <a:p>
                  <a:r>
                    <a:rPr lang="en-US" altLang="ko-KR" sz="1200">
                      <a:latin typeface="+mn-ea"/>
                    </a:rPr>
                    <a:t> - Markov Process</a:t>
                  </a:r>
                  <a:r>
                    <a:rPr lang="ko-KR" altLang="en-US" sz="1200">
                      <a:latin typeface="+mn-ea"/>
                    </a:rPr>
                    <a:t>에서 다음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로 이동할때 얼마나 가치있는지 정량화하기 위해 도입한 프로세스</a:t>
                  </a:r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r>
                    <a:rPr lang="en-US" altLang="ko-KR" sz="1200">
                      <a:latin typeface="+mn-ea"/>
                    </a:rPr>
                    <a:t>   - </a:t>
                  </a:r>
                  <a:r>
                    <a:rPr lang="ko-KR" altLang="en-US" sz="1200">
                      <a:latin typeface="+mn-ea"/>
                    </a:rPr>
                    <a:t>위의 그림처럼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별로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의 개념이 적용되어 어떤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에서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 값 존재</a:t>
                  </a:r>
                  <a:br>
                    <a:rPr lang="en-US" altLang="ko-KR" sz="1200">
                      <a:latin typeface="+mn-ea"/>
                    </a:rPr>
                  </a:br>
                  <a:r>
                    <a:rPr lang="en-US" altLang="ko-KR" sz="1200">
                      <a:latin typeface="+mn-ea"/>
                    </a:rPr>
                    <a:t>   - state</a:t>
                  </a:r>
                  <a:r>
                    <a:rPr lang="ko-KR" altLang="en-US" sz="1200">
                      <a:latin typeface="+mn-ea"/>
                    </a:rPr>
                    <a:t>를 받아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의 기댓값으로 </a:t>
                  </a:r>
                  <a:r>
                    <a:rPr lang="en-US" altLang="ko-KR" sz="1200">
                      <a:latin typeface="+mn-ea"/>
                    </a:rPr>
                    <a:t>mapping</a:t>
                  </a:r>
                  <a:r>
                    <a:rPr lang="ko-KR" altLang="en-US" sz="1200">
                      <a:latin typeface="+mn-ea"/>
                    </a:rPr>
                    <a:t>하는 함수를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ko-KR" altLang="en-US" sz="1200">
                      <a:latin typeface="+mn-ea"/>
                    </a:rPr>
                    <a:t>라고 할때 수식은 다음과 같다</a:t>
                  </a:r>
                  <a:r>
                    <a:rPr lang="en-US" altLang="ko-KR" sz="1200">
                      <a:latin typeface="+mn-ea"/>
                    </a:rPr>
                    <a:t> </a:t>
                  </a:r>
                </a:p>
                <a:p>
                  <a:endParaRPr lang="en-US" altLang="ko-KR" sz="120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838330-491F-47E9-AB08-1BDF2B1BD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560" y="1209219"/>
                  <a:ext cx="8254767" cy="397384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F23CA3-35C0-4202-9CEC-08CDA7345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6080" y="2383843"/>
              <a:ext cx="3057670" cy="1980804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436CFA-2D88-4D18-AB3C-BF06E43B301D}"/>
              </a:ext>
            </a:extLst>
          </p:cNvPr>
          <p:cNvSpPr txBox="1"/>
          <p:nvPr/>
        </p:nvSpPr>
        <p:spPr>
          <a:xfrm>
            <a:off x="335560" y="5271011"/>
            <a:ext cx="82547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&lt;Discounting factor&gt;</a:t>
            </a:r>
          </a:p>
          <a:p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정확한 가치를 구하기 위해서는 어느 시점에서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얻느냐도 중요한 관점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도달한 후 지금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것인가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나중에 도달해서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얻을 것이냐에 대한 가치판단 필요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현재가치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미래가치인데 이때 필요한게 시간 개념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미래가치를 현재시점으로 보면 현재가치보다 적은것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</a:t>
            </a:r>
            <a:r>
              <a:rPr lang="ko-KR" altLang="en-US" sz="1200">
                <a:latin typeface="+mn-ea"/>
              </a:rPr>
              <a:t>이를 수식적으로 반영한것이 </a:t>
            </a:r>
            <a:r>
              <a:rPr lang="en-US" altLang="ko-KR" sz="1200">
                <a:latin typeface="+mn-ea"/>
              </a:rPr>
              <a:t>discounting factor,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이다</a:t>
            </a:r>
            <a:r>
              <a:rPr lang="en-US" altLang="ko-KR" sz="1200">
                <a:latin typeface="+mn-ea"/>
              </a:rPr>
              <a:t>.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0~1</a:t>
            </a:r>
            <a:r>
              <a:rPr lang="ko-KR" altLang="en-US" sz="1200">
                <a:latin typeface="+mn-ea"/>
              </a:rPr>
              <a:t>사이의 값으로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미래가치를 현재시점에서의 가치로 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변환한다</a:t>
            </a:r>
            <a:r>
              <a:rPr lang="en-US" altLang="ko-KR" sz="1200">
                <a:latin typeface="+mn-ea"/>
              </a:rPr>
              <a:t>.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FDCF56-5F4A-48A6-BB7A-58B7A9DF9807}"/>
              </a:ext>
            </a:extLst>
          </p:cNvPr>
          <p:cNvSpPr/>
          <p:nvPr/>
        </p:nvSpPr>
        <p:spPr>
          <a:xfrm>
            <a:off x="5547361" y="4990025"/>
            <a:ext cx="3215639" cy="308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State</a:t>
            </a:r>
            <a:r>
              <a:rPr lang="ko-KR" altLang="en-US" sz="1100"/>
              <a:t>에서 </a:t>
            </a:r>
            <a:r>
              <a:rPr lang="en-US" altLang="ko-KR" sz="1100"/>
              <a:t>Reward</a:t>
            </a:r>
            <a:r>
              <a:rPr lang="ko-KR" altLang="en-US" sz="1100"/>
              <a:t>를 받을 수 있는 기댓값</a:t>
            </a:r>
          </a:p>
        </p:txBody>
      </p:sp>
    </p:spTree>
    <p:extLst>
      <p:ext uri="{BB962C8B-B14F-4D97-AF65-F5344CB8AC3E}">
        <p14:creationId xmlns:p14="http://schemas.microsoft.com/office/powerpoint/2010/main" val="226814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209219"/>
            <a:ext cx="8254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&lt;Return&gt;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각각의 에피소드를 따라 받는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총합이 </a:t>
            </a:r>
            <a:r>
              <a:rPr lang="en-US" altLang="ko-KR" sz="1200">
                <a:latin typeface="+mn-ea"/>
              </a:rPr>
              <a:t>Return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목적은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을 최대화 하는 문제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정확히는 미래에 받을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총합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을 최대화 하는것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Return</a:t>
            </a:r>
            <a:r>
              <a:rPr lang="ko-KR" altLang="en-US" sz="1200">
                <a:latin typeface="+mn-ea"/>
              </a:rPr>
              <a:t>은 각 시점에서의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들을 현재가치로 환산하여 합한것이며 수식은 다음과 같다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92293"/>
                  </p:ext>
                </p:extLst>
              </p:nvPr>
            </p:nvGraphicFramePr>
            <p:xfrm>
              <a:off x="1414943" y="1975278"/>
              <a:ext cx="6096000" cy="67341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5061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+ …=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92293"/>
                  </p:ext>
                </p:extLst>
              </p:nvPr>
            </p:nvGraphicFramePr>
            <p:xfrm>
              <a:off x="1414943" y="1975278"/>
              <a:ext cx="6096000" cy="67341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67341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D5A87DA-EE51-48CA-880A-B11037CF5B01}"/>
              </a:ext>
            </a:extLst>
          </p:cNvPr>
          <p:cNvSpPr txBox="1"/>
          <p:nvPr/>
        </p:nvSpPr>
        <p:spPr>
          <a:xfrm>
            <a:off x="335560" y="2718033"/>
            <a:ext cx="84713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 -Markov Process(MP)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rewar</a:t>
            </a:r>
            <a:r>
              <a:rPr lang="ko-KR" altLang="en-US" sz="1200">
                <a:latin typeface="+mn-ea"/>
              </a:rPr>
              <a:t>를 추가한것이 </a:t>
            </a:r>
            <a:r>
              <a:rPr lang="en-US" altLang="ko-KR" sz="1200">
                <a:latin typeface="+mn-ea"/>
              </a:rPr>
              <a:t>Markov Reward Process(MRP),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polic</a:t>
            </a:r>
            <a:r>
              <a:rPr lang="ko-KR" altLang="en-US" sz="1200">
                <a:latin typeface="+mn-ea"/>
              </a:rPr>
              <a:t>를 추가한 개념이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Markov Decision Process(MDP)</a:t>
            </a:r>
            <a:r>
              <a:rPr lang="ko-KR" altLang="en-US" sz="1200">
                <a:latin typeface="+mn-ea"/>
              </a:rPr>
              <a:t>이다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&lt;Action&gt;</a:t>
            </a:r>
          </a:p>
          <a:p>
            <a:pPr algn="l"/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변하는것은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임의로 변했다면</a:t>
            </a:r>
            <a:r>
              <a:rPr lang="en-US" altLang="ko-KR" sz="1200">
                <a:latin typeface="+mn-ea"/>
              </a:rPr>
              <a:t>,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MDP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함으로써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변한다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29025-4140-4671-9B13-626D4261AB44}"/>
              </a:ext>
            </a:extLst>
          </p:cNvPr>
          <p:cNvSpPr txBox="1"/>
          <p:nvPr/>
        </p:nvSpPr>
        <p:spPr>
          <a:xfrm>
            <a:off x="335560" y="4503137"/>
            <a:ext cx="7705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&lt;Policy&gt;</a:t>
            </a:r>
          </a:p>
          <a:p>
            <a:pPr algn="l"/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</a:t>
            </a:r>
            <a:r>
              <a:rPr lang="en-US" altLang="ko-KR" sz="1200">
                <a:latin typeface="+mn-ea"/>
              </a:rPr>
              <a:t>mapping</a:t>
            </a:r>
            <a:r>
              <a:rPr lang="ko-KR" altLang="en-US" sz="1200">
                <a:latin typeface="+mn-ea"/>
              </a:rPr>
              <a:t>하는 함수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할 지 정하는 것을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라고함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수식으로는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수행할 확률로 정의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표 7">
                <a:extLst>
                  <a:ext uri="{FF2B5EF4-FFF2-40B4-BE49-F238E27FC236}">
                    <a16:creationId xmlns:a16="http://schemas.microsoft.com/office/drawing/2014/main" id="{9BFD96EC-274B-4631-B420-DB9EA3A31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160469"/>
                  </p:ext>
                </p:extLst>
              </p:nvPr>
            </p:nvGraphicFramePr>
            <p:xfrm>
              <a:off x="1524000" y="5049313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2263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표 7">
                <a:extLst>
                  <a:ext uri="{FF2B5EF4-FFF2-40B4-BE49-F238E27FC236}">
                    <a16:creationId xmlns:a16="http://schemas.microsoft.com/office/drawing/2014/main" id="{9BFD96EC-274B-4631-B420-DB9EA3A31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160469"/>
                  </p:ext>
                </p:extLst>
              </p:nvPr>
            </p:nvGraphicFramePr>
            <p:xfrm>
              <a:off x="1524000" y="5049313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b="-9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5717A19-F38E-471D-AE05-3D1AA80D9E59}"/>
              </a:ext>
            </a:extLst>
          </p:cNvPr>
          <p:cNvSpPr txBox="1"/>
          <p:nvPr/>
        </p:nvSpPr>
        <p:spPr>
          <a:xfrm>
            <a:off x="335560" y="5315143"/>
            <a:ext cx="8746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&lt;Policy vs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probability&gt;</a:t>
            </a:r>
          </a:p>
          <a:p>
            <a:pPr algn="l"/>
            <a:r>
              <a:rPr lang="en-US" altLang="ko-KR" sz="1200">
                <a:latin typeface="+mn-ea"/>
              </a:rPr>
              <a:t>  - Transition Probability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으로 전이할 확률</a:t>
            </a:r>
            <a:r>
              <a:rPr lang="en-US" altLang="ko-KR" sz="1200">
                <a:latin typeface="+mn-ea"/>
              </a:rPr>
              <a:t>, Policy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이라는 개념이 추가되어 수식은 다음과 같음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658D8EB8-0B1C-4557-9CBB-E3BAB20337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487685"/>
                  </p:ext>
                </p:extLst>
              </p:nvPr>
            </p:nvGraphicFramePr>
            <p:xfrm>
              <a:off x="1558913" y="5689209"/>
              <a:ext cx="6096000" cy="3222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22634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 →</m:t>
                                </m:r>
                                <m:sSubSup>
                                  <m:sSub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658D8EB8-0B1C-4557-9CBB-E3BAB20337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487685"/>
                  </p:ext>
                </p:extLst>
              </p:nvPr>
            </p:nvGraphicFramePr>
            <p:xfrm>
              <a:off x="1558913" y="5689209"/>
              <a:ext cx="6096000" cy="3222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2226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D6596A-63B5-4F42-B26E-E7C9772C2657}"/>
              </a:ext>
            </a:extLst>
          </p:cNvPr>
          <p:cNvSpPr txBox="1"/>
          <p:nvPr/>
        </p:nvSpPr>
        <p:spPr>
          <a:xfrm>
            <a:off x="335560" y="5944360"/>
            <a:ext cx="5105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&lt;Reward with action&gt;</a:t>
            </a:r>
          </a:p>
          <a:p>
            <a:pPr algn="l"/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변화가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따라 달라짐으로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에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함수 추가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7">
                <a:extLst>
                  <a:ext uri="{FF2B5EF4-FFF2-40B4-BE49-F238E27FC236}">
                    <a16:creationId xmlns:a16="http://schemas.microsoft.com/office/drawing/2014/main" id="{4C068E0A-7B9E-430E-9CE4-32A7E32CFD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860491"/>
                  </p:ext>
                </p:extLst>
              </p:nvPr>
            </p:nvGraphicFramePr>
            <p:xfrm>
              <a:off x="1633735" y="6309459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7">
                <a:extLst>
                  <a:ext uri="{FF2B5EF4-FFF2-40B4-BE49-F238E27FC236}">
                    <a16:creationId xmlns:a16="http://schemas.microsoft.com/office/drawing/2014/main" id="{4C068E0A-7B9E-430E-9CE4-32A7E32CFD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860491"/>
                  </p:ext>
                </p:extLst>
              </p:nvPr>
            </p:nvGraphicFramePr>
            <p:xfrm>
              <a:off x="1633735" y="6309459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CE1091-7F21-4FD6-84F9-2128B6A1F7EA}"/>
              </a:ext>
            </a:extLst>
          </p:cNvPr>
          <p:cNvGrpSpPr/>
          <p:nvPr/>
        </p:nvGrpSpPr>
        <p:grpSpPr>
          <a:xfrm>
            <a:off x="2460939" y="3829496"/>
            <a:ext cx="1072522" cy="475311"/>
            <a:chOff x="2460939" y="3829496"/>
            <a:chExt cx="1072522" cy="475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2C96FED0-516F-4180-A153-A94469F9AF8B}"/>
                    </a:ext>
                  </a:extLst>
                </p:cNvPr>
                <p:cNvSpPr/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2C96FED0-516F-4180-A153-A94469F9AF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DD291DA-6659-4DA7-9FCC-8561C3BF3214}"/>
                </a:ext>
              </a:extLst>
            </p:cNvPr>
            <p:cNvCxnSpPr>
              <a:cxnSpLocks/>
              <a:stCxn id="3" idx="6"/>
            </p:cNvCxnSpPr>
            <p:nvPr/>
          </p:nvCxnSpPr>
          <p:spPr>
            <a:xfrm flipV="1">
              <a:off x="2714939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4C082E1-BD24-4C1A-9960-CB6A29B571AD}"/>
                    </a:ext>
                  </a:extLst>
                </p:cNvPr>
                <p:cNvSpPr/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4C082E1-BD24-4C1A-9960-CB6A29B571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ADDC23-2559-4876-8C6B-6A293EFDE1CC}"/>
                </a:ext>
              </a:extLst>
            </p:cNvPr>
            <p:cNvSpPr txBox="1"/>
            <p:nvPr/>
          </p:nvSpPr>
          <p:spPr>
            <a:xfrm>
              <a:off x="2474267" y="3829496"/>
              <a:ext cx="18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776F3C-7942-4667-8F78-9367B5A0B83F}"/>
                </a:ext>
              </a:extLst>
            </p:cNvPr>
            <p:cNvSpPr txBox="1"/>
            <p:nvPr/>
          </p:nvSpPr>
          <p:spPr>
            <a:xfrm>
              <a:off x="3146739" y="3842134"/>
              <a:ext cx="386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t+1</a:t>
              </a:r>
              <a:endParaRPr lang="ko-KR" altLang="en-US" sz="110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C5A5811-CB2C-4B44-843B-DD8B7E8A176A}"/>
              </a:ext>
            </a:extLst>
          </p:cNvPr>
          <p:cNvGrpSpPr/>
          <p:nvPr/>
        </p:nvGrpSpPr>
        <p:grpSpPr>
          <a:xfrm>
            <a:off x="4375512" y="3829496"/>
            <a:ext cx="1830411" cy="479628"/>
            <a:chOff x="4375512" y="3829496"/>
            <a:chExt cx="1830411" cy="479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467B25AB-53DC-49F8-88D1-28304E37EE91}"/>
                    </a:ext>
                  </a:extLst>
                </p:cNvPr>
                <p:cNvSpPr/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467B25AB-53DC-49F8-88D1-28304E37EE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0A1473D-845B-4B35-BF73-7D6E2C6B3279}"/>
                </a:ext>
              </a:extLst>
            </p:cNvPr>
            <p:cNvCxnSpPr>
              <a:cxnSpLocks/>
              <a:stCxn id="21" idx="6"/>
            </p:cNvCxnSpPr>
            <p:nvPr/>
          </p:nvCxnSpPr>
          <p:spPr>
            <a:xfrm flipV="1">
              <a:off x="4629512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3A197DD4-3B78-4C96-87E1-541AB758E024}"/>
                    </a:ext>
                  </a:extLst>
                </p:cNvPr>
                <p:cNvSpPr/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solidFill>
                  <a:srgbClr val="1F4E7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3A197DD4-3B78-4C96-87E1-541AB758E0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699BA5-8D67-42EC-83E9-AD2F6A9109F0}"/>
                </a:ext>
              </a:extLst>
            </p:cNvPr>
            <p:cNvSpPr txBox="1"/>
            <p:nvPr/>
          </p:nvSpPr>
          <p:spPr>
            <a:xfrm>
              <a:off x="4388840" y="3829496"/>
              <a:ext cx="18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A93EEE-9FE3-4BC9-8B4F-6A80C0AAC39D}"/>
                </a:ext>
              </a:extLst>
            </p:cNvPr>
            <p:cNvSpPr txBox="1"/>
            <p:nvPr/>
          </p:nvSpPr>
          <p:spPr>
            <a:xfrm>
              <a:off x="5819201" y="3835846"/>
              <a:ext cx="386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t+1</a:t>
              </a:r>
              <a:endParaRPr lang="ko-KR" altLang="en-US" sz="110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27C9204-6F02-4D2B-8E89-1ACD65F09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4701" y="4178695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D56ADF2-B771-401A-BBC3-FCE16E0A3DD2}"/>
                    </a:ext>
                  </a:extLst>
                </p:cNvPr>
                <p:cNvSpPr/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D56ADF2-B771-401A-BBC3-FCE16E0A3D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5E09A23-98BE-4E32-8350-E8D3D0827FB7}"/>
              </a:ext>
            </a:extLst>
          </p:cNvPr>
          <p:cNvSpPr txBox="1"/>
          <p:nvPr/>
        </p:nvSpPr>
        <p:spPr>
          <a:xfrm>
            <a:off x="2708589" y="4319781"/>
            <a:ext cx="752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MP &gt;</a:t>
            </a:r>
            <a:endParaRPr lang="ko-KR" alt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F12818-7767-4CE3-AC3B-5A4E6398F375}"/>
              </a:ext>
            </a:extLst>
          </p:cNvPr>
          <p:cNvSpPr txBox="1"/>
          <p:nvPr/>
        </p:nvSpPr>
        <p:spPr>
          <a:xfrm>
            <a:off x="4926330" y="4307672"/>
            <a:ext cx="752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MDP 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9099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209219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&lt;Value function of MDP&gt;</a:t>
            </a:r>
          </a:p>
          <a:p>
            <a:r>
              <a:rPr lang="en-US" altLang="ko-KR" sz="1200">
                <a:latin typeface="+mn-ea"/>
              </a:rPr>
              <a:t> - MRP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들에 대한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만 판단했지만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새롭게 추가된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대해서도 </a:t>
            </a:r>
            <a:r>
              <a:rPr lang="en-US" altLang="ko-KR" sz="1200">
                <a:latin typeface="+mn-ea"/>
              </a:rPr>
              <a:t>value </a:t>
            </a:r>
            <a:r>
              <a:rPr lang="ko-KR" altLang="en-US" sz="1200">
                <a:latin typeface="+mn-ea"/>
              </a:rPr>
              <a:t>판단 가능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0303356"/>
                  </p:ext>
                </p:extLst>
              </p:nvPr>
            </p:nvGraphicFramePr>
            <p:xfrm>
              <a:off x="1414942" y="4165315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0303356"/>
                  </p:ext>
                </p:extLst>
              </p:nvPr>
            </p:nvGraphicFramePr>
            <p:xfrm>
              <a:off x="1414942" y="4165315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D7A0CA8-9E23-4EEB-BE3B-6E6CC990F795}"/>
              </a:ext>
            </a:extLst>
          </p:cNvPr>
          <p:cNvSpPr txBox="1"/>
          <p:nvPr/>
        </p:nvSpPr>
        <p:spPr>
          <a:xfrm>
            <a:off x="444616" y="2866651"/>
            <a:ext cx="825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1) t</a:t>
            </a:r>
            <a:r>
              <a:rPr lang="ko-KR" altLang="en-US" sz="1200">
                <a:latin typeface="+mn-ea"/>
              </a:rPr>
              <a:t>시점에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 놓인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2) 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수행하면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받음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3) </a:t>
            </a:r>
            <a:r>
              <a:rPr lang="ko-KR" altLang="en-US" sz="1200">
                <a:latin typeface="+mn-ea"/>
              </a:rPr>
              <a:t>그리고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전이</a:t>
            </a:r>
            <a:endParaRPr lang="en-US" altLang="ko-KR" sz="120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4059B-5121-40DB-9AC8-1E6606F7A171}"/>
              </a:ext>
            </a:extLst>
          </p:cNvPr>
          <p:cNvSpPr txBox="1"/>
          <p:nvPr/>
        </p:nvSpPr>
        <p:spPr>
          <a:xfrm>
            <a:off x="335559" y="3583794"/>
            <a:ext cx="825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&lt;State-value function&gt;</a:t>
            </a:r>
          </a:p>
          <a:p>
            <a:r>
              <a:rPr lang="en-US" altLang="ko-KR" sz="1200">
                <a:latin typeface="+mn-ea"/>
              </a:rPr>
              <a:t> - MDP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state-value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선택하는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값이 달라지고 이후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달라지기 떄문에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영향을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수식은 다음과 같음</a:t>
            </a:r>
            <a:endParaRPr lang="en-US" altLang="ko-KR" sz="120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F3299-A9EA-49B9-A604-398A377F596E}"/>
              </a:ext>
            </a:extLst>
          </p:cNvPr>
          <p:cNvSpPr txBox="1"/>
          <p:nvPr/>
        </p:nvSpPr>
        <p:spPr>
          <a:xfrm>
            <a:off x="335558" y="4406158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의 가치는 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들의 총합을 나타냄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82C6D111-01DB-4883-A6CC-713F4EF74C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499675"/>
                  </p:ext>
                </p:extLst>
              </p:nvPr>
            </p:nvGraphicFramePr>
            <p:xfrm>
              <a:off x="1523999" y="5226426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82C6D111-01DB-4883-A6CC-713F4EF74C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499675"/>
                  </p:ext>
                </p:extLst>
              </p:nvPr>
            </p:nvGraphicFramePr>
            <p:xfrm>
              <a:off x="1523999" y="5226426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100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3DE8F3C-2479-4994-85BA-99FFFF2719A8}"/>
              </a:ext>
            </a:extLst>
          </p:cNvPr>
          <p:cNvSpPr txBox="1"/>
          <p:nvPr/>
        </p:nvSpPr>
        <p:spPr>
          <a:xfrm>
            <a:off x="444616" y="4795907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&lt;Action-value function&gt;</a:t>
            </a:r>
          </a:p>
          <a:p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가 하는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를 판단할 수 있으며 수식은 다음과 같음</a:t>
            </a:r>
            <a:endParaRPr lang="en-US" altLang="ko-KR" sz="120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DA08C-D711-4FF6-B66A-3052ED9E2C27}"/>
              </a:ext>
            </a:extLst>
          </p:cNvPr>
          <p:cNvSpPr txBox="1"/>
          <p:nvPr/>
        </p:nvSpPr>
        <p:spPr>
          <a:xfrm>
            <a:off x="444615" y="5467269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- action a</a:t>
            </a:r>
            <a:r>
              <a:rPr lang="ko-KR" altLang="en-US" sz="1200">
                <a:latin typeface="+mn-ea"/>
              </a:rPr>
              <a:t>의 가치는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취했을 때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총합을 나타냄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Q function</a:t>
            </a:r>
            <a:r>
              <a:rPr lang="ko-KR" altLang="en-US" sz="1200">
                <a:latin typeface="+mn-ea"/>
              </a:rPr>
              <a:t>이라고도 부른다</a:t>
            </a:r>
            <a:endParaRPr lang="en-US" altLang="ko-KR" sz="1200">
              <a:latin typeface="+mn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78A682E-DC49-4F4A-8AAF-BE537939D98F}"/>
              </a:ext>
            </a:extLst>
          </p:cNvPr>
          <p:cNvGrpSpPr/>
          <p:nvPr/>
        </p:nvGrpSpPr>
        <p:grpSpPr>
          <a:xfrm>
            <a:off x="3390391" y="1683255"/>
            <a:ext cx="2541237" cy="1076148"/>
            <a:chOff x="3390391" y="1683255"/>
            <a:chExt cx="2541237" cy="1076148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870BC271-2A28-433E-9175-B88DF368A873}"/>
                </a:ext>
              </a:extLst>
            </p:cNvPr>
            <p:cNvGrpSpPr/>
            <p:nvPr/>
          </p:nvGrpSpPr>
          <p:grpSpPr>
            <a:xfrm>
              <a:off x="3390391" y="1683255"/>
              <a:ext cx="2541237" cy="846457"/>
              <a:chOff x="4327432" y="3824341"/>
              <a:chExt cx="1932152" cy="7169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8D9D908-C0DA-4A90-87E6-834582C28FA0}"/>
                      </a:ext>
                    </a:extLst>
                  </p:cNvPr>
                  <p:cNvSpPr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8D9D908-C0DA-4A90-87E6-834582C28FA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A039AAE9-7F81-43A6-AEA6-CABA6FC11B2D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 flipV="1">
                <a:off x="4629512" y="4174378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타원 35">
                    <a:extLst>
                      <a:ext uri="{FF2B5EF4-FFF2-40B4-BE49-F238E27FC236}">
                        <a16:creationId xmlns:a16="http://schemas.microsoft.com/office/drawing/2014/main" id="{1677887C-7396-49DF-A428-F9B7B412BD30}"/>
                      </a:ext>
                    </a:extLst>
                  </p:cNvPr>
                  <p:cNvSpPr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solidFill>
                    <a:srgbClr val="1F4E79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36" name="타원 35">
                    <a:extLst>
                      <a:ext uri="{FF2B5EF4-FFF2-40B4-BE49-F238E27FC236}">
                        <a16:creationId xmlns:a16="http://schemas.microsoft.com/office/drawing/2014/main" id="{1677887C-7396-49DF-A428-F9B7B412BD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D341339-7B2E-4871-8B09-8A3392F1C8C9}"/>
                  </a:ext>
                </a:extLst>
              </p:cNvPr>
              <p:cNvSpPr txBox="1"/>
              <p:nvPr/>
            </p:nvSpPr>
            <p:spPr>
              <a:xfrm>
                <a:off x="4415668" y="3824341"/>
                <a:ext cx="1806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t</a:t>
                </a:r>
                <a:endParaRPr lang="ko-KR" altLang="en-US" sz="110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57EDCF-DDB8-4A36-AECB-505347173F2A}"/>
                  </a:ext>
                </a:extLst>
              </p:cNvPr>
              <p:cNvSpPr txBox="1"/>
              <p:nvPr/>
            </p:nvSpPr>
            <p:spPr>
              <a:xfrm>
                <a:off x="5872862" y="3835846"/>
                <a:ext cx="3867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t+1</a:t>
                </a:r>
                <a:endParaRPr lang="ko-KR" altLang="en-US" sz="1100"/>
              </a:p>
            </p:txBody>
          </p: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8A1AFA91-FC5B-436A-87CA-1D41B7ACAA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74701" y="4178695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F35877EF-CBBC-4F42-A280-3F313889889E}"/>
                      </a:ext>
                    </a:extLst>
                  </p:cNvPr>
                  <p:cNvSpPr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F35877EF-CBBC-4F42-A280-3F31388988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88AC75F-AF14-42DB-AAA1-259344AD56A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88AC75F-AF14-42DB-AAA1-259344AD5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632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A659461-DF63-484B-A470-560AAD0FBD23}"/>
                      </a:ext>
                    </a:extLst>
                  </p:cNvPr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′)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A659461-DF63-484B-A470-560AAD0FBD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0526" b="-465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BDF7036-B722-4165-956D-EAD0EB09FA73}"/>
                  </a:ext>
                </a:extLst>
              </p:cNvPr>
              <p:cNvSpPr txBox="1"/>
              <p:nvPr/>
            </p:nvSpPr>
            <p:spPr>
              <a:xfrm>
                <a:off x="4669668" y="3949825"/>
                <a:ext cx="498161" cy="221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>
                    <a:solidFill>
                      <a:srgbClr val="FF0000"/>
                    </a:solidFill>
                  </a:rPr>
                  <a:t>Policy</a:t>
                </a:r>
                <a:endParaRPr lang="ko-KR" altLang="en-US" sz="110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0A2A05-E5CC-44CD-8385-0B413E99C040}"/>
                  </a:ext>
                </a:extLst>
              </p:cNvPr>
              <p:cNvSpPr txBox="1"/>
              <p:nvPr/>
            </p:nvSpPr>
            <p:spPr>
              <a:xfrm>
                <a:off x="5369782" y="3956079"/>
                <a:ext cx="498161" cy="221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>
                    <a:solidFill>
                      <a:srgbClr val="FFC000"/>
                    </a:solidFill>
                  </a:rPr>
                  <a:t>Reward</a:t>
                </a:r>
                <a:endParaRPr lang="ko-KR" altLang="en-US" sz="1100">
                  <a:solidFill>
                    <a:srgbClr val="FFC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EB68AE9-E82A-4887-896B-2791FBCA6287}"/>
                      </a:ext>
                    </a:extLst>
                  </p:cNvPr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EB68AE9-E82A-4887-896B-2791FBCA6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8000" b="-465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9E691C-2F1F-4229-9386-F5EB77C3BE1D}"/>
                </a:ext>
              </a:extLst>
            </p:cNvPr>
            <p:cNvSpPr txBox="1"/>
            <p:nvPr/>
          </p:nvSpPr>
          <p:spPr>
            <a:xfrm>
              <a:off x="4297680" y="2497793"/>
              <a:ext cx="1193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 MDP &gt;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75506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8B342D-2C6D-4915-898C-D68952AF15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1DB70-C2CC-44F9-9C6B-4D75A832972F}"/>
              </a:ext>
            </a:extLst>
          </p:cNvPr>
          <p:cNvSpPr txBox="1"/>
          <p:nvPr/>
        </p:nvSpPr>
        <p:spPr>
          <a:xfrm>
            <a:off x="444616" y="1333758"/>
            <a:ext cx="82547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Equation&gt;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을 다시 구하는 방식을 반복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&lt;Bellman Expectation Equation&gt;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&lt;Bellman Optimality Equation&gt;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</p:spTree>
    <p:extLst>
      <p:ext uri="{BB962C8B-B14F-4D97-AF65-F5344CB8AC3E}">
        <p14:creationId xmlns:p14="http://schemas.microsoft.com/office/powerpoint/2010/main" val="95773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90687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기존 </a:t>
            </a:r>
            <a:r>
              <a:rPr lang="en-US" altLang="ko-KR" sz="1200">
                <a:latin typeface="+mn-ea"/>
              </a:rPr>
              <a:t>value function : </a:t>
            </a:r>
            <a:r>
              <a:rPr lang="ko-KR" altLang="en-US" sz="1200">
                <a:latin typeface="+mn-ea"/>
              </a:rPr>
              <a:t>모든 시나리오에 대해 각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값을 구한 후 모두 더한 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문제</a:t>
            </a:r>
            <a:r>
              <a:rPr lang="en-US" altLang="ko-KR" sz="1200">
                <a:latin typeface="+mn-ea"/>
              </a:rPr>
              <a:t> :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이라는 개념이 추가된 </a:t>
            </a:r>
            <a:r>
              <a:rPr lang="en-US" altLang="ko-KR" sz="1200">
                <a:latin typeface="+mn-ea"/>
              </a:rPr>
              <a:t>MDP</a:t>
            </a:r>
            <a:r>
              <a:rPr lang="ko-KR" altLang="en-US" sz="1200">
                <a:latin typeface="+mn-ea"/>
              </a:rPr>
              <a:t>에서는 적절하지않음</a:t>
            </a:r>
            <a:endParaRPr lang="en-US" altLang="ko-KR" sz="1200">
              <a:latin typeface="+mn-ea"/>
            </a:endParaRPr>
          </a:p>
          <a:p>
            <a:pPr algn="l"/>
            <a:r>
              <a:rPr lang="ko-KR" altLang="en-US" sz="1200">
                <a:latin typeface="+mn-ea"/>
              </a:rPr>
              <a:t> 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위의 문제로 인해 </a:t>
            </a:r>
            <a:r>
              <a:rPr lang="en-US" altLang="ko-KR" sz="1200">
                <a:latin typeface="+mn-ea"/>
              </a:rPr>
              <a:t>bellman expectation equation</a:t>
            </a:r>
            <a:r>
              <a:rPr lang="ko-KR" altLang="en-US" sz="1200">
                <a:latin typeface="+mn-ea"/>
              </a:rPr>
              <a:t>이라는 개념 나타남</a:t>
            </a:r>
            <a:endParaRPr lang="en-US" altLang="ko-KR" sz="1200">
              <a:latin typeface="+mn-ea"/>
            </a:endParaRPr>
          </a:p>
          <a:p>
            <a:pPr algn="l"/>
            <a:r>
              <a:rPr lang="ko-KR" altLang="en-US" sz="1200">
                <a:latin typeface="+mn-ea"/>
              </a:rPr>
              <a:t> 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Bellman Expectation Equation</a:t>
            </a:r>
            <a:r>
              <a:rPr lang="ko-KR" altLang="en-US" sz="1200">
                <a:latin typeface="+mn-ea"/>
              </a:rPr>
              <a:t>이란 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에 현재 상태에서 행동을 취할 확률인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방정식으로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</a:t>
            </a:r>
            <a:r>
              <a:rPr lang="ko-KR" altLang="en-US" sz="1200">
                <a:latin typeface="+mn-ea"/>
              </a:rPr>
              <a:t>행동에 대한 확률이 적용된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Bellman equation : </a:t>
            </a:r>
            <a:r>
              <a:rPr lang="ko-KR" altLang="en-US" sz="1200">
                <a:latin typeface="+mn-ea"/>
              </a:rPr>
              <a:t>현재 상태와 다음 상태의 관계를 나타내며 반복적으로 기대값 업데이트</a:t>
            </a:r>
            <a:endParaRPr lang="en-US" altLang="ko-KR" sz="1200">
              <a:latin typeface="+mn-ea"/>
            </a:endParaRPr>
          </a:p>
          <a:p>
            <a:pPr algn="l"/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-&gt;</a:t>
            </a:r>
            <a:r>
              <a:rPr lang="ko-KR" altLang="en-US" sz="1200">
                <a:latin typeface="+mn-ea"/>
              </a:rPr>
              <a:t> 벨만 방정식으로 변형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+…]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8E550A-901A-41B7-81BE-A89F845DDB7A}"/>
              </a:ext>
            </a:extLst>
          </p:cNvPr>
          <p:cNvSpPr txBox="1"/>
          <p:nvPr/>
        </p:nvSpPr>
        <p:spPr>
          <a:xfrm>
            <a:off x="495300" y="2994660"/>
            <a:ext cx="5630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&lt;State-value function&gt;</a:t>
            </a: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어떤 상태의 에이전트가 앞으로 받을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에 대한 기댓값을 나타내는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365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751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들 사이의 관계식</a:t>
            </a:r>
            <a:r>
              <a:rPr lang="en-US" altLang="ko-KR" sz="1200">
                <a:latin typeface="+mn-ea"/>
              </a:rPr>
              <a:t>&gt;</a:t>
            </a:r>
          </a:p>
          <a:p>
            <a:pPr algn="l"/>
            <a:r>
              <a:rPr lang="en-US" altLang="ko-KR" sz="1200">
                <a:latin typeface="+mn-ea"/>
              </a:rPr>
              <a:t> - State value function : </a:t>
            </a:r>
            <a:r>
              <a:rPr lang="ko-KR" altLang="en-US" sz="1200">
                <a:latin typeface="+mn-ea"/>
              </a:rPr>
              <a:t>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에이전트가 취할 수 있는 여러가지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할 수 있다는 기댓값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FD22F0-E003-4C66-B158-3C2F87CFCC71}"/>
              </a:ext>
            </a:extLst>
          </p:cNvPr>
          <p:cNvGrpSpPr/>
          <p:nvPr/>
        </p:nvGrpSpPr>
        <p:grpSpPr>
          <a:xfrm>
            <a:off x="1362246" y="2036754"/>
            <a:ext cx="1947330" cy="813743"/>
            <a:chOff x="733596" y="1916791"/>
            <a:chExt cx="1947330" cy="81374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1A8764-0100-4C22-A1DE-520D62FB7F0A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4F2279F-2521-42CD-9D13-7E5E98356B20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A4A4491-B32D-4F27-996E-1F041B9D9EC6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67A8FC-9E7D-417E-B131-38B4111E29E8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71D046E-D903-4E2E-AE4A-77869F4CCDFC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8282695-347E-4FDB-BFFF-8F512B6D22AB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7045" b="-165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/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했을때 앞으로 받을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할 확률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28B581A-31A0-47B9-AA98-ED35AC274470}"/>
              </a:ext>
            </a:extLst>
          </p:cNvPr>
          <p:cNvSpPr txBox="1"/>
          <p:nvPr/>
        </p:nvSpPr>
        <p:spPr>
          <a:xfrm>
            <a:off x="400050" y="3679879"/>
            <a:ext cx="787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- Action value function : </a:t>
            </a:r>
            <a:r>
              <a:rPr lang="ko-KR" altLang="en-US" sz="1200">
                <a:latin typeface="+mn-ea"/>
              </a:rPr>
              <a:t>에이전트가 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어떤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했을 때 여러 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이 될수 있다는 기댓값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03BE1AF-7336-404E-BFCB-7ABE4ABC19D1}"/>
              </a:ext>
            </a:extLst>
          </p:cNvPr>
          <p:cNvGrpSpPr/>
          <p:nvPr/>
        </p:nvGrpSpPr>
        <p:grpSpPr>
          <a:xfrm>
            <a:off x="1362246" y="4259308"/>
            <a:ext cx="1947330" cy="813743"/>
            <a:chOff x="733596" y="1916791"/>
            <a:chExt cx="1947330" cy="813743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708A2388-3B49-4116-BEFB-5F1C0B99BC51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57E7FBE-8D39-47FB-A429-B7B6BB7C1058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35C1435-CC11-4805-A843-72CD8A2565A8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A4E3FBE0-7EE2-4C50-B962-1F1EB6C31915}"/>
                  </a:ext>
                </a:extLst>
              </p:cNvPr>
              <p:cNvCxnSpPr>
                <a:cxnSpLocks/>
                <a:stCxn id="40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C1E24192-3A83-41BC-A257-99B96524232F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6D2E7834-95D4-49BF-A151-5C849412A087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07824A3-1B2C-4417-86A3-CF496A3DE539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07824A3-1B2C-4417-86A3-CF496A3DE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6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1ABC759-0E27-4457-B123-EF1821F2D6E8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1ABC759-0E27-4457-B123-EF1821F2D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544713"/>
                  </p:ext>
                </p:extLst>
              </p:nvPr>
            </p:nvGraphicFramePr>
            <p:xfrm>
              <a:off x="3987832" y="4338279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544713"/>
                  </p:ext>
                </p:extLst>
              </p:nvPr>
            </p:nvGraphicFramePr>
            <p:xfrm>
              <a:off x="3987832" y="4338279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/>
              <p:nvPr/>
            </p:nvSpPr>
            <p:spPr>
              <a:xfrm>
                <a:off x="400050" y="5234544"/>
                <a:ext cx="4214231" cy="863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즉각적인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시간에 대한 보상의 가치를 판단하는 </a:t>
                </a:r>
                <a:r>
                  <a:rPr lang="en-US" altLang="ko-KR" sz="1200">
                    <a:latin typeface="+mn-ea"/>
                  </a:rPr>
                  <a:t>discount factor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가 될 확률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200">
                    <a:latin typeface="+mn-ea"/>
                  </a:rPr>
                  <a:t>(s’) 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에서 앞으로 받을 보상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234544"/>
                <a:ext cx="4214231" cy="863891"/>
              </a:xfrm>
              <a:prstGeom prst="rect">
                <a:avLst/>
              </a:prstGeom>
              <a:blipFill>
                <a:blip r:embed="rId9"/>
                <a:stretch>
                  <a:fillRect t="-709" b="-49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35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3057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(state value function)&gt;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7181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373" r="-60837" b="-1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4375" t="-92373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57955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D13EEB-922F-40C4-B853-4CD180171101}"/>
              </a:ext>
            </a:extLst>
          </p:cNvPr>
          <p:cNvGrpSpPr/>
          <p:nvPr/>
        </p:nvGrpSpPr>
        <p:grpSpPr>
          <a:xfrm>
            <a:off x="974496" y="2000306"/>
            <a:ext cx="2309724" cy="1318082"/>
            <a:chOff x="997922" y="2036754"/>
            <a:chExt cx="2309724" cy="131808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4F2279F-2521-42CD-9D13-7E5E98356B20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A4A4491-B32D-4F27-996E-1F041B9D9EC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367A8FC-9E7D-417E-B131-38B4111E29E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1D046E-D903-4E2E-AE4A-77869F4CCDFC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8282695-347E-4FDB-BFFF-8F512B6D22AB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AB46DDD-3980-4C33-A1E0-7736BBFF89A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42C5CE8-CD5A-4B10-B61E-9BC51727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3496ED2-8DBC-4572-8DF0-AB4525BC633F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55E7EA9-34E7-49C1-8EF0-EA6B209448AF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CA73A1C-8B14-4885-847A-558C519CD61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E023D48-64F2-45DD-B7F0-465F8C16B007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8FA6E7F-CA93-4832-8F52-2E386EC7BC21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B1CEFB8-D2A5-42D2-89A2-A8D69F3932A7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/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19CE9-2637-4AD4-A838-B3D54A7D3A4A}"/>
              </a:ext>
            </a:extLst>
          </p:cNvPr>
          <p:cNvSpPr/>
          <p:nvPr/>
        </p:nvSpPr>
        <p:spPr>
          <a:xfrm>
            <a:off x="5905500" y="2249172"/>
            <a:ext cx="617220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54BE78-834F-44C6-915F-CC1FC7261166}"/>
              </a:ext>
            </a:extLst>
          </p:cNvPr>
          <p:cNvCxnSpPr/>
          <p:nvPr/>
        </p:nvCxnSpPr>
        <p:spPr>
          <a:xfrm flipH="1">
            <a:off x="6603579" y="237168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9C0D30A-D789-46AB-8DF7-1761064DB668}"/>
              </a:ext>
            </a:extLst>
          </p:cNvPr>
          <p:cNvSpPr/>
          <p:nvPr/>
        </p:nvSpPr>
        <p:spPr>
          <a:xfrm>
            <a:off x="6522720" y="2570676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D5021-EEDE-4510-A0F8-25E342363CCC}"/>
              </a:ext>
            </a:extLst>
          </p:cNvPr>
          <p:cNvSpPr txBox="1"/>
          <p:nvPr/>
        </p:nvSpPr>
        <p:spPr>
          <a:xfrm>
            <a:off x="400050" y="3476973"/>
            <a:ext cx="3108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(action value function)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947F407-7B7A-4E45-B1ED-4F22E29EF064}"/>
              </a:ext>
            </a:extLst>
          </p:cNvPr>
          <p:cNvGrpSpPr/>
          <p:nvPr/>
        </p:nvGrpSpPr>
        <p:grpSpPr>
          <a:xfrm>
            <a:off x="1010269" y="3738583"/>
            <a:ext cx="2400460" cy="1318082"/>
            <a:chOff x="1088518" y="2036754"/>
            <a:chExt cx="2400460" cy="131808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DE7239A-16CD-4BF2-B9FE-62C99FE77DE6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8BE286F-6692-4251-B6B2-9BD8F89B65D3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715F44C-13BC-41CC-903F-F455DB16D922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F12F7853-9F91-49E5-8B29-01F7DF99C0C1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301F6D0-C2D3-4620-BB9A-EFDC13A5E7BF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B2016979-2D87-4352-A98F-1268058C0893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1A7673D-85D8-410A-A28B-A9AEEF87C368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blipFill>
                  <a:blip r:embed="rId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/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64BAE42-E103-40A6-AAEF-6C5DD1373BC5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C906DC6-1901-4EA9-B728-060EC094A8C1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EEC525-737E-4ED3-86F1-4DBDC0248E3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BA02999-8337-4BF2-933E-494D29B9501F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E311EC47-7857-4005-A485-7E086237375F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A9D527DF-58C8-452B-B2BD-FCB7E92AF343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/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ko-KR" sz="1200" smtClean="0"/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′,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′)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6124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7921" r="-60721" b="-231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l="-164688" t="-107921" b="-231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238636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D850DD-3E81-4140-B492-E45308451265}"/>
              </a:ext>
            </a:extLst>
          </p:cNvPr>
          <p:cNvSpPr/>
          <p:nvPr/>
        </p:nvSpPr>
        <p:spPr>
          <a:xfrm>
            <a:off x="6202679" y="3721542"/>
            <a:ext cx="552975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BA62C1A-2941-4BBB-A94B-B40D13848BE0}"/>
              </a:ext>
            </a:extLst>
          </p:cNvPr>
          <p:cNvCxnSpPr/>
          <p:nvPr/>
        </p:nvCxnSpPr>
        <p:spPr>
          <a:xfrm flipH="1">
            <a:off x="6836514" y="384405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0845E22C-36BD-4124-9C45-3B6693A20F35}"/>
              </a:ext>
            </a:extLst>
          </p:cNvPr>
          <p:cNvSpPr/>
          <p:nvPr/>
        </p:nvSpPr>
        <p:spPr>
          <a:xfrm>
            <a:off x="6522720" y="4012019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78315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022CEE-A0C5-4F3D-B778-E08D193C5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>
                <a:latin typeface="+mn-ea"/>
              </a:rPr>
              <a:t>Bellman Expectation Equation</a:t>
            </a:r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55CC03-0A00-4382-9990-794820AFA894}"/>
              </a:ext>
            </a:extLst>
          </p:cNvPr>
          <p:cNvGrpSpPr/>
          <p:nvPr/>
        </p:nvGrpSpPr>
        <p:grpSpPr>
          <a:xfrm>
            <a:off x="3137852" y="1171575"/>
            <a:ext cx="3513455" cy="2973705"/>
            <a:chOff x="2445385" y="1171575"/>
            <a:chExt cx="4762500" cy="41338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34D9C2-3B91-493D-BE69-74892E096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385" y="1171575"/>
              <a:ext cx="4762500" cy="41338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5EF64BE-44D6-4693-B167-2CB917663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1624" y="1334525"/>
              <a:ext cx="778808" cy="104418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/>
              <p:nvPr/>
            </p:nvSpPr>
            <p:spPr>
              <a:xfrm>
                <a:off x="618534" y="3863340"/>
                <a:ext cx="7726680" cy="286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>
                    <a:latin typeface="+mn-ea"/>
                  </a:rPr>
                  <a:t>풀이</a:t>
                </a:r>
                <a:r>
                  <a:rPr lang="en-US" altLang="ko-KR" sz="1200">
                    <a:latin typeface="+mn-ea"/>
                  </a:rPr>
                  <a:t>(4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Study</a:t>
                </a:r>
                <a:r>
                  <a:rPr lang="ko-KR" altLang="en-US" sz="1200">
                    <a:latin typeface="+mn-ea"/>
                  </a:rPr>
                  <a:t>와 </a:t>
                </a:r>
                <a:r>
                  <a:rPr lang="en-US" altLang="ko-KR" sz="1200">
                    <a:latin typeface="+mn-ea"/>
                  </a:rPr>
                  <a:t>Pub</a:t>
                </a:r>
                <a:r>
                  <a:rPr lang="ko-KR" altLang="en-US" sz="1200">
                    <a:latin typeface="+mn-ea"/>
                  </a:rPr>
                  <a:t> 두가지 행동이 존재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    </a:t>
                </a:r>
                <a:r>
                  <a:rPr lang="en-US" altLang="ko-KR" sz="1200">
                    <a:latin typeface="+mn-ea"/>
                  </a:rPr>
                  <a:t>1) Study</a:t>
                </a:r>
                <a:r>
                  <a:rPr lang="ko-KR" altLang="en-US" sz="1200">
                    <a:latin typeface="+mn-ea"/>
                  </a:rPr>
                  <a:t>의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의 위치가 종점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=10, 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=&gt;  0.5(10+1*1*0)=5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    2) Pub</a:t>
                </a:r>
                <a:r>
                  <a:rPr lang="ko-KR" altLang="en-US" sz="1200">
                    <a:latin typeface="+mn-ea"/>
                  </a:rPr>
                  <a:t>인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가 </a:t>
                </a:r>
                <a:r>
                  <a:rPr lang="en-US" altLang="ko-KR" sz="1200">
                    <a:latin typeface="+mn-ea"/>
                  </a:rPr>
                  <a:t>(2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,3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존재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s’=2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=0.2,,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−1.3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s’=3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s’=4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7.4</m:t>
                    </m:r>
                  </m:oMath>
                </a14:m>
                <a:r>
                  <a:rPr lang="en-US" altLang="ko-KR" sz="1200">
                    <a:latin typeface="+mn-ea"/>
                  </a:rPr>
                  <a:t>	</a:t>
                </a:r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34" y="3863340"/>
                <a:ext cx="7726680" cy="2869503"/>
              </a:xfrm>
              <a:prstGeom prst="rect">
                <a:avLst/>
              </a:prstGeom>
              <a:blipFill>
                <a:blip r:embed="rId4"/>
                <a:stretch>
                  <a:fillRect t="-2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/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1800" b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29439FE-DCFE-409C-B511-F74ACEE91BA0}"/>
              </a:ext>
            </a:extLst>
          </p:cNvPr>
          <p:cNvSpPr/>
          <p:nvPr/>
        </p:nvSpPr>
        <p:spPr>
          <a:xfrm>
            <a:off x="4052527" y="6110395"/>
            <a:ext cx="701040" cy="388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/>
              <p:nvPr/>
            </p:nvSpPr>
            <p:spPr>
              <a:xfrm>
                <a:off x="5095071" y="6110395"/>
                <a:ext cx="3499356" cy="28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1+1∗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0.2∗−1.3+0.4∗2.7+0.4∗7.4</m:t>
                              </m:r>
                            </m:e>
                          </m:d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=2.39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071" y="6110395"/>
                <a:ext cx="3499356" cy="2834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E02316-CB8D-4AED-B8BC-06AF7AB8EBD8}"/>
              </a:ext>
            </a:extLst>
          </p:cNvPr>
          <p:cNvSpPr txBox="1"/>
          <p:nvPr/>
        </p:nvSpPr>
        <p:spPr>
          <a:xfrm>
            <a:off x="400050" y="1157989"/>
            <a:ext cx="3055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</a:t>
            </a:r>
            <a:r>
              <a:rPr lang="ko-KR" altLang="en-US" sz="1200">
                <a:latin typeface="+mn-ea"/>
              </a:rPr>
              <a:t>의 예제</a:t>
            </a:r>
            <a:r>
              <a:rPr lang="en-US" altLang="ko-KR" sz="1200">
                <a:latin typeface="+mn-ea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2085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Equation&gt;</a:t>
            </a:r>
          </a:p>
          <a:p>
            <a:r>
              <a:rPr lang="en-US" altLang="ko-KR" sz="1200">
                <a:latin typeface="+mn-ea"/>
              </a:rPr>
              <a:t>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equation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72466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1943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51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336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 </a:t>
            </a:r>
            <a:r>
              <a:rPr lang="ko-KR" altLang="en-US" sz="1200">
                <a:latin typeface="+mn-ea"/>
              </a:rPr>
              <a:t>예제</a:t>
            </a:r>
            <a:r>
              <a:rPr lang="en-US" altLang="ko-KR" sz="1200">
                <a:latin typeface="+mn-ea"/>
              </a:rPr>
              <a:t>&gt;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D983B4D-CAD6-48AC-B9D1-95F9110F8193}"/>
              </a:ext>
            </a:extLst>
          </p:cNvPr>
          <p:cNvSpPr txBox="1"/>
          <p:nvPr/>
        </p:nvSpPr>
        <p:spPr>
          <a:xfrm>
            <a:off x="778598" y="4961299"/>
            <a:ext cx="70150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100"/>
              <a:t>Graph</a:t>
            </a:r>
            <a:r>
              <a:rPr lang="ko-KR" altLang="en-US" sz="1100"/>
              <a:t>를 살펴보면</a:t>
            </a:r>
            <a:r>
              <a:rPr lang="en-US" altLang="ko-KR" sz="1100"/>
              <a:t>, state</a:t>
            </a:r>
            <a:r>
              <a:rPr lang="ko-KR" altLang="en-US" sz="1100"/>
              <a:t>입장에서 </a:t>
            </a:r>
            <a:r>
              <a:rPr lang="en-US" altLang="ko-KR" sz="1100"/>
              <a:t>optimal action-value function </a:t>
            </a:r>
            <a:r>
              <a:rPr lang="ko-KR" altLang="en-US" sz="1100"/>
              <a:t>중에서 가장 큰 값은 </a:t>
            </a:r>
            <a:r>
              <a:rPr lang="en-US" altLang="ko-KR" sz="1100"/>
              <a:t>8</a:t>
            </a:r>
            <a:r>
              <a:rPr lang="ko-KR" altLang="en-US" sz="1100"/>
              <a:t>이며 그것이 </a:t>
            </a:r>
            <a:r>
              <a:rPr lang="en-US" altLang="ko-KR" sz="1100"/>
              <a:t>optimal policy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/>
              <a:t>Optimal polic</a:t>
            </a:r>
            <a:r>
              <a:rPr lang="ko-KR" altLang="en-US" sz="1100"/>
              <a:t>는 </a:t>
            </a:r>
            <a:r>
              <a:rPr lang="en-US" altLang="ko-KR" sz="1100"/>
              <a:t>study -&gt; study -&gt; study</a:t>
            </a:r>
            <a:r>
              <a:rPr lang="ko-KR" altLang="en-US" sz="1100"/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186150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671119" y="3800733"/>
            <a:ext cx="82547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</a:t>
            </a:r>
            <a:r>
              <a:rPr lang="ko-KR" altLang="en-US" sz="1200">
                <a:latin typeface="+mn-ea"/>
              </a:rPr>
              <a:t>을 다시 구하는 방식을 반복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Optimality,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0EDB4E-965F-42EF-9252-45C02992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688" y="1128724"/>
            <a:ext cx="5486400" cy="26720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1BD7882-AA71-4BD5-BC8C-38CCA99E037D}"/>
                  </a:ext>
                </a:extLst>
              </p:cNvPr>
              <p:cNvSpPr/>
              <p:nvPr/>
            </p:nvSpPr>
            <p:spPr>
              <a:xfrm>
                <a:off x="7499758" y="1862356"/>
                <a:ext cx="3422708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/>
                  <a:t>실제론 단계가 나눠지지 않음</a:t>
                </a:r>
                <a:endParaRPr lang="en-US" altLang="ko-KR" sz="1100"/>
              </a:p>
              <a:p>
                <a:pPr algn="ctr"/>
                <a:r>
                  <a:rPr lang="ko-KR" altLang="en-US" sz="1100"/>
                  <a:t>이해하기 쉽게 하기 위해 나눔</a:t>
                </a:r>
                <a:endParaRPr lang="en-US" altLang="ko-KR" sz="1100"/>
              </a:p>
              <a:p>
                <a:pPr algn="ctr"/>
                <a:r>
                  <a:rPr lang="en-US" altLang="ko-KR" sz="1100"/>
                  <a:t>0</a:t>
                </a:r>
                <a:r>
                  <a:rPr lang="ko-KR" altLang="en-US" sz="1100"/>
                  <a:t>단계는 기댓값</a:t>
                </a:r>
                <a:r>
                  <a:rPr lang="en-US" altLang="ko-KR" sz="1100"/>
                  <a:t>, 1,2</a:t>
                </a:r>
                <a:r>
                  <a:rPr lang="ko-KR" altLang="en-US" sz="1100"/>
                  <a:t>단계는 </a:t>
                </a:r>
                <a14:m>
                  <m:oMath xmlns:m="http://schemas.openxmlformats.org/officeDocument/2006/math"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보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상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함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100"/>
                  <a:t> 전이 확률변수</a:t>
                </a:r>
                <a:r>
                  <a:rPr lang="en-US" altLang="ko-KR" sz="1100"/>
                  <a:t>(P)</a:t>
                </a:r>
                <a:r>
                  <a:rPr lang="ko-KR" altLang="en-US" sz="1100"/>
                  <a:t>가 포함</a:t>
                </a: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1BD7882-AA71-4BD5-BC8C-38CCA99E0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758" y="1862356"/>
                <a:ext cx="3422708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403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712D6D-FC0C-4840-A626-97F62CC1C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10696-0C19-4244-8DE8-5F34E015902A}"/>
              </a:ext>
            </a:extLst>
          </p:cNvPr>
          <p:cNvSpPr txBox="1"/>
          <p:nvPr/>
        </p:nvSpPr>
        <p:spPr>
          <a:xfrm>
            <a:off x="545285" y="1323243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(0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1371367B-7734-415B-BDFE-B7EF6A1F7D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401847"/>
                  </p:ext>
                </p:extLst>
              </p:nvPr>
            </p:nvGraphicFramePr>
            <p:xfrm>
              <a:off x="1736522" y="1784908"/>
              <a:ext cx="4545718" cy="16459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+…]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9304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6609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1371367B-7734-415B-BDFE-B7EF6A1F7D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401847"/>
                  </p:ext>
                </p:extLst>
              </p:nvPr>
            </p:nvGraphicFramePr>
            <p:xfrm>
              <a:off x="1736522" y="1784908"/>
              <a:ext cx="4545718" cy="165036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53333" b="-5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b="-5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876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97826" b="-4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202222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295652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93042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504444" r="-453333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504444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66092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62FF284A-D9C9-46A8-81A5-FD7A0B6F2CD1}"/>
              </a:ext>
            </a:extLst>
          </p:cNvPr>
          <p:cNvSpPr/>
          <p:nvPr/>
        </p:nvSpPr>
        <p:spPr>
          <a:xfrm>
            <a:off x="5746459" y="2499919"/>
            <a:ext cx="3825380" cy="509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Policy</a:t>
            </a:r>
            <a:r>
              <a:rPr lang="ko-KR" altLang="en-US" sz="1100"/>
              <a:t>의 </a:t>
            </a:r>
            <a:r>
              <a:rPr lang="en-US" altLang="ko-KR" sz="1100"/>
              <a:t>State</a:t>
            </a:r>
            <a:r>
              <a:rPr lang="ko-KR" altLang="en-US" sz="1100"/>
              <a:t>에 대한 </a:t>
            </a:r>
            <a:r>
              <a:rPr lang="en-US" altLang="ko-KR" sz="1100"/>
              <a:t>Value functio</a:t>
            </a:r>
            <a:r>
              <a:rPr lang="ko-KR" altLang="en-US" sz="1100"/>
              <a:t>은 </a:t>
            </a:r>
            <a:r>
              <a:rPr lang="en-US" altLang="ko-KR" sz="1100"/>
              <a:t>return</a:t>
            </a:r>
            <a:r>
              <a:rPr lang="ko-KR" altLang="en-US" sz="1100"/>
              <a:t>값이다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4A3539-C863-4AED-8CEE-897DD4BC71B0}"/>
              </a:ext>
            </a:extLst>
          </p:cNvPr>
          <p:cNvSpPr txBox="1"/>
          <p:nvPr/>
        </p:nvSpPr>
        <p:spPr>
          <a:xfrm>
            <a:off x="545285" y="2829601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3070972-DC66-4505-B533-EC74DAB6B3F0}"/>
                  </a:ext>
                </a:extLst>
              </p:cNvPr>
              <p:cNvSpPr/>
              <p:nvPr/>
            </p:nvSpPr>
            <p:spPr>
              <a:xfrm>
                <a:off x="5746459" y="1432528"/>
                <a:ext cx="382538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/>
                  <a:t>0</a:t>
                </a:r>
                <a:r>
                  <a:rPr lang="ko-KR" altLang="en-US" sz="1100"/>
                  <a:t>단계는 기댓값</a:t>
                </a:r>
                <a:r>
                  <a:rPr lang="en-US" altLang="ko-KR" sz="1100"/>
                  <a:t>, 1,2</a:t>
                </a:r>
                <a:r>
                  <a:rPr lang="ko-KR" altLang="en-US" sz="1100"/>
                  <a:t>단계는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100"/>
                  <a:t> 전이 확률변수가 포함</a:t>
                </a: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3070972-DC66-4505-B533-EC74DAB6B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459" y="1432528"/>
                <a:ext cx="382538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31C5133-774B-4D39-A095-755F6AC7143C}"/>
              </a:ext>
            </a:extLst>
          </p:cNvPr>
          <p:cNvSpPr txBox="1"/>
          <p:nvPr/>
        </p:nvSpPr>
        <p:spPr>
          <a:xfrm>
            <a:off x="545285" y="368962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(2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표 8">
                <a:extLst>
                  <a:ext uri="{FF2B5EF4-FFF2-40B4-BE49-F238E27FC236}">
                    <a16:creationId xmlns:a16="http://schemas.microsoft.com/office/drawing/2014/main" id="{98384949-9614-4ABC-A16F-9F5BDDA9A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954367"/>
                  </p:ext>
                </p:extLst>
              </p:nvPr>
            </p:nvGraphicFramePr>
            <p:xfrm>
              <a:off x="1736522" y="4151293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/>
                            <a:t>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표 8">
                <a:extLst>
                  <a:ext uri="{FF2B5EF4-FFF2-40B4-BE49-F238E27FC236}">
                    <a16:creationId xmlns:a16="http://schemas.microsoft.com/office/drawing/2014/main" id="{98384949-9614-4ABC-A16F-9F5BDDA9A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954367"/>
                  </p:ext>
                </p:extLst>
              </p:nvPr>
            </p:nvGraphicFramePr>
            <p:xfrm>
              <a:off x="1736522" y="4151293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4607" r="-418957" b="-164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295" t="-114607" b="-164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89433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295" t="-397917" b="-2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DA2B5E2-29EC-47FB-91E5-7260397D1636}"/>
              </a:ext>
            </a:extLst>
          </p:cNvPr>
          <p:cNvSpPr txBox="1"/>
          <p:nvPr/>
        </p:nvSpPr>
        <p:spPr>
          <a:xfrm>
            <a:off x="545285" y="4995961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736B393-3227-4BAA-9BB3-40E0814D935E}"/>
              </a:ext>
            </a:extLst>
          </p:cNvPr>
          <p:cNvCxnSpPr/>
          <p:nvPr/>
        </p:nvCxnSpPr>
        <p:spPr>
          <a:xfrm>
            <a:off x="4676775" y="4514366"/>
            <a:ext cx="438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BCDF050-992D-4770-A7B5-B5AE006183FE}"/>
              </a:ext>
            </a:extLst>
          </p:cNvPr>
          <p:cNvCxnSpPr>
            <a:cxnSpLocks/>
          </p:cNvCxnSpPr>
          <p:nvPr/>
        </p:nvCxnSpPr>
        <p:spPr>
          <a:xfrm flipV="1">
            <a:off x="4962525" y="4514366"/>
            <a:ext cx="0" cy="30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8B2A495-98E4-469E-8C40-500BBDE5F485}"/>
              </a:ext>
            </a:extLst>
          </p:cNvPr>
          <p:cNvSpPr txBox="1"/>
          <p:nvPr/>
        </p:nvSpPr>
        <p:spPr>
          <a:xfrm>
            <a:off x="4524375" y="4562522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대입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표 8">
                <a:extLst>
                  <a:ext uri="{FF2B5EF4-FFF2-40B4-BE49-F238E27FC236}">
                    <a16:creationId xmlns:a16="http://schemas.microsoft.com/office/drawing/2014/main" id="{5E33B61B-4BEE-4018-BF17-25F277FA5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400031"/>
                  </p:ext>
                </p:extLst>
              </p:nvPr>
            </p:nvGraphicFramePr>
            <p:xfrm>
              <a:off x="1736521" y="5400878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sz="1200"/>
                            <a:t> </a:t>
                          </a:r>
                          <a:r>
                            <a:rPr lang="en-US" altLang="ko-KR" sz="1200"/>
                            <a:t>=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9"/>
                                        </m:r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ko-KR" altLang="en-US" sz="120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d>
                                        <m:d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′,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′)</m:t>
                                      </m:r>
                                    </m:e>
                                  </m:nary>
                                </m:e>
                              </m:nary>
                            </m:oMath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표 8">
                <a:extLst>
                  <a:ext uri="{FF2B5EF4-FFF2-40B4-BE49-F238E27FC236}">
                    <a16:creationId xmlns:a16="http://schemas.microsoft.com/office/drawing/2014/main" id="{5E33B61B-4BEE-4018-BF17-25F277FA5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400031"/>
                  </p:ext>
                </p:extLst>
              </p:nvPr>
            </p:nvGraphicFramePr>
            <p:xfrm>
              <a:off x="1736521" y="5400878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8943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4583" r="-418957" b="-4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295" t="-114583" b="-4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53530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295" t="-115730" b="-162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3BF11CD0-E9EF-44EE-909D-EEE72A937111}"/>
              </a:ext>
            </a:extLst>
          </p:cNvPr>
          <p:cNvSpPr txBox="1"/>
          <p:nvPr/>
        </p:nvSpPr>
        <p:spPr>
          <a:xfrm>
            <a:off x="4614828" y="5659275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대입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3A9FDAD-A23D-4175-9C7D-6028BE57711B}"/>
              </a:ext>
            </a:extLst>
          </p:cNvPr>
          <p:cNvCxnSpPr/>
          <p:nvPr/>
        </p:nvCxnSpPr>
        <p:spPr>
          <a:xfrm>
            <a:off x="4814853" y="5641738"/>
            <a:ext cx="438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60EFAF9-A353-454F-B361-9A204F5C9662}"/>
              </a:ext>
            </a:extLst>
          </p:cNvPr>
          <p:cNvCxnSpPr>
            <a:cxnSpLocks/>
          </p:cNvCxnSpPr>
          <p:nvPr/>
        </p:nvCxnSpPr>
        <p:spPr>
          <a:xfrm flipH="1" flipV="1">
            <a:off x="5100603" y="5641738"/>
            <a:ext cx="14322" cy="27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51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8C70AFC8-29E3-4615-B2E9-CCB3116F718F}"/>
              </a:ext>
            </a:extLst>
          </p:cNvPr>
          <p:cNvSpPr/>
          <p:nvPr/>
        </p:nvSpPr>
        <p:spPr>
          <a:xfrm>
            <a:off x="1402080" y="3217682"/>
            <a:ext cx="403022" cy="3962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S</a:t>
            </a:r>
            <a:endParaRPr lang="ko-KR" altLang="en-US" sz="11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712D6D-FC0C-4840-A626-97F62CC1C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62168-EA80-40AD-9791-D1FFA47CA0B9}"/>
              </a:ext>
            </a:extLst>
          </p:cNvPr>
          <p:cNvSpPr txBox="1"/>
          <p:nvPr/>
        </p:nvSpPr>
        <p:spPr>
          <a:xfrm>
            <a:off x="545285" y="2998703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D6398E4-B180-436B-A4D9-7038C5FC18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6522" y="3436210"/>
              <a:ext cx="4545718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D6398E4-B180-436B-A4D9-7038C5FC18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6522" y="3436210"/>
              <a:ext cx="4545718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14607" r="-453333" b="-164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114607" b="-164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D240B158-206D-46D4-A3B8-E2FF7E49DE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3851" y="5039672"/>
              <a:ext cx="4545718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D240B158-206D-46D4-A3B8-E2FF7E49DE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3851" y="5039672"/>
              <a:ext cx="4545718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50000" r="-453333" b="-2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283"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E978B3B-D3A8-4DB0-BA98-37E76A73B856}"/>
              </a:ext>
            </a:extLst>
          </p:cNvPr>
          <p:cNvCxnSpPr>
            <a:cxnSpLocks/>
          </p:cNvCxnSpPr>
          <p:nvPr/>
        </p:nvCxnSpPr>
        <p:spPr>
          <a:xfrm>
            <a:off x="4657855" y="3786882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7CF4FCF-C5A5-423A-AAB6-9F2E0602CE5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894580" y="3819094"/>
            <a:ext cx="1868616" cy="19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E16A83C-9D40-443E-BE8D-113B5986E495}"/>
              </a:ext>
            </a:extLst>
          </p:cNvPr>
          <p:cNvCxnSpPr>
            <a:cxnSpLocks/>
          </p:cNvCxnSpPr>
          <p:nvPr/>
        </p:nvCxnSpPr>
        <p:spPr>
          <a:xfrm>
            <a:off x="4153025" y="3789192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FFEC83-5180-43E2-96DF-B9B1B93F2B1E}"/>
              </a:ext>
            </a:extLst>
          </p:cNvPr>
          <p:cNvCxnSpPr>
            <a:cxnSpLocks/>
          </p:cNvCxnSpPr>
          <p:nvPr/>
        </p:nvCxnSpPr>
        <p:spPr>
          <a:xfrm flipH="1">
            <a:off x="4234697" y="3793435"/>
            <a:ext cx="178927" cy="19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E322B9-78DF-43BC-A0D9-A5D57889BFA7}"/>
              </a:ext>
            </a:extLst>
          </p:cNvPr>
          <p:cNvSpPr txBox="1"/>
          <p:nvPr/>
        </p:nvSpPr>
        <p:spPr>
          <a:xfrm>
            <a:off x="5367621" y="4013273"/>
            <a:ext cx="279114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polic</a:t>
            </a:r>
            <a:r>
              <a:rPr lang="ko-KR" altLang="en-US" sz="1000"/>
              <a:t>에 따라 </a:t>
            </a:r>
            <a:r>
              <a:rPr lang="en-US" altLang="ko-KR" sz="1000"/>
              <a:t>actio</a:t>
            </a:r>
            <a:r>
              <a:rPr lang="ko-KR" altLang="en-US" sz="1000"/>
              <a:t>을 취했을때의 </a:t>
            </a:r>
            <a:r>
              <a:rPr lang="en-US" altLang="ko-KR" sz="1000"/>
              <a:t>value</a:t>
            </a:r>
            <a:endParaRPr lang="ko-KR" alt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DA4A3E-9C50-47B8-958D-62F4473A7A1A}"/>
              </a:ext>
            </a:extLst>
          </p:cNvPr>
          <p:cNvSpPr txBox="1"/>
          <p:nvPr/>
        </p:nvSpPr>
        <p:spPr>
          <a:xfrm>
            <a:off x="3209588" y="4006629"/>
            <a:ext cx="17620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action</a:t>
            </a:r>
            <a:r>
              <a:rPr lang="ko-KR" altLang="en-US" sz="1000"/>
              <a:t>을 취할 확률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EF7F2B7-CD0F-4B5C-ACB4-3A84454BD815}"/>
              </a:ext>
            </a:extLst>
          </p:cNvPr>
          <p:cNvCxnSpPr>
            <a:cxnSpLocks/>
          </p:cNvCxnSpPr>
          <p:nvPr/>
        </p:nvCxnSpPr>
        <p:spPr>
          <a:xfrm>
            <a:off x="3767048" y="5366195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4DB33B-6FDE-4CC7-B435-0C3FAA28BA46}"/>
              </a:ext>
            </a:extLst>
          </p:cNvPr>
          <p:cNvCxnSpPr>
            <a:cxnSpLocks/>
          </p:cNvCxnSpPr>
          <p:nvPr/>
        </p:nvCxnSpPr>
        <p:spPr>
          <a:xfrm flipH="1">
            <a:off x="3848720" y="5370438"/>
            <a:ext cx="178927" cy="19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3F093D-AD08-43AD-946A-D6C8FA4140E6}"/>
              </a:ext>
            </a:extLst>
          </p:cNvPr>
          <p:cNvSpPr txBox="1"/>
          <p:nvPr/>
        </p:nvSpPr>
        <p:spPr>
          <a:xfrm>
            <a:off x="2612726" y="5594509"/>
            <a:ext cx="176202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action</a:t>
            </a:r>
            <a:r>
              <a:rPr lang="ko-KR" altLang="en-US" sz="1000"/>
              <a:t>을 취했을 때</a:t>
            </a:r>
            <a:endParaRPr lang="en-US" altLang="ko-KR" sz="1000"/>
          </a:p>
          <a:p>
            <a:pPr algn="l"/>
            <a:r>
              <a:rPr lang="ko-KR" altLang="en-US" sz="1000"/>
              <a:t>받는 </a:t>
            </a:r>
            <a:r>
              <a:rPr lang="en-US" altLang="ko-KR" sz="1000"/>
              <a:t>reward</a:t>
            </a:r>
            <a:r>
              <a:rPr lang="ko-KR" altLang="en-US" sz="1000"/>
              <a:t>값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15DF663-87F3-4485-B357-0C4F789E8427}"/>
              </a:ext>
            </a:extLst>
          </p:cNvPr>
          <p:cNvCxnSpPr>
            <a:cxnSpLocks/>
          </p:cNvCxnSpPr>
          <p:nvPr/>
        </p:nvCxnSpPr>
        <p:spPr>
          <a:xfrm>
            <a:off x="4847822" y="5366195"/>
            <a:ext cx="277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4F98B0B-1F70-4E59-A3EB-CF216FE0B485}"/>
              </a:ext>
            </a:extLst>
          </p:cNvPr>
          <p:cNvCxnSpPr>
            <a:cxnSpLocks/>
          </p:cNvCxnSpPr>
          <p:nvPr/>
        </p:nvCxnSpPr>
        <p:spPr>
          <a:xfrm>
            <a:off x="4990556" y="5373565"/>
            <a:ext cx="85261" cy="23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A22971F-F0CD-4954-A23A-9F8BCEAA6C8E}"/>
              </a:ext>
            </a:extLst>
          </p:cNvPr>
          <p:cNvSpPr txBox="1"/>
          <p:nvPr/>
        </p:nvSpPr>
        <p:spPr>
          <a:xfrm>
            <a:off x="4477933" y="5594509"/>
            <a:ext cx="157607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state’</a:t>
            </a:r>
            <a:r>
              <a:rPr lang="ko-KR" altLang="en-US" sz="1000"/>
              <a:t>로 이동시</a:t>
            </a:r>
            <a:endParaRPr lang="en-US" altLang="ko-KR" sz="1000"/>
          </a:p>
          <a:p>
            <a:pPr algn="l"/>
            <a:r>
              <a:rPr lang="en-US" altLang="ko-KR" sz="1000"/>
              <a:t>Action</a:t>
            </a:r>
            <a:r>
              <a:rPr lang="ko-KR" altLang="en-US" sz="1000"/>
              <a:t>을 취할 확률</a:t>
            </a:r>
            <a:endParaRPr lang="en-US" altLang="ko-KR" sz="100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F5639AA-D6E9-4896-894A-1F238FECAF44}"/>
              </a:ext>
            </a:extLst>
          </p:cNvPr>
          <p:cNvCxnSpPr>
            <a:cxnSpLocks/>
          </p:cNvCxnSpPr>
          <p:nvPr/>
        </p:nvCxnSpPr>
        <p:spPr>
          <a:xfrm>
            <a:off x="5146297" y="5363532"/>
            <a:ext cx="355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85349F9-0360-4391-B85E-4B0C2474363F}"/>
              </a:ext>
            </a:extLst>
          </p:cNvPr>
          <p:cNvCxnSpPr>
            <a:cxnSpLocks/>
          </p:cNvCxnSpPr>
          <p:nvPr/>
        </p:nvCxnSpPr>
        <p:spPr>
          <a:xfrm>
            <a:off x="5313942" y="5373565"/>
            <a:ext cx="1441133" cy="23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126925-A3D5-47DF-A939-9B81E811EE1A}"/>
              </a:ext>
            </a:extLst>
          </p:cNvPr>
          <p:cNvSpPr txBox="1"/>
          <p:nvPr/>
        </p:nvSpPr>
        <p:spPr>
          <a:xfrm>
            <a:off x="6157191" y="5594509"/>
            <a:ext cx="14157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State’ </a:t>
            </a:r>
            <a:r>
              <a:rPr lang="ko-KR" altLang="en-US" sz="1000"/>
              <a:t>의 </a:t>
            </a:r>
            <a:r>
              <a:rPr lang="en-US" altLang="ko-KR" sz="1000"/>
              <a:t>value function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9F12B1F-4258-403E-A041-D50B67A5CABD}"/>
              </a:ext>
            </a:extLst>
          </p:cNvPr>
          <p:cNvGrpSpPr/>
          <p:nvPr/>
        </p:nvGrpSpPr>
        <p:grpSpPr>
          <a:xfrm>
            <a:off x="1085900" y="1346721"/>
            <a:ext cx="2113314" cy="1292661"/>
            <a:chOff x="5075817" y="2856489"/>
            <a:chExt cx="2113314" cy="12926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E5CDF18A-E389-4369-BE36-D7A16B91DF8E}"/>
                    </a:ext>
                  </a:extLst>
                </p:cNvPr>
                <p:cNvSpPr/>
                <p:nvPr/>
              </p:nvSpPr>
              <p:spPr>
                <a:xfrm>
                  <a:off x="5075817" y="3275710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E5CDF18A-E389-4369-BE36-D7A16B91D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5817" y="3275710"/>
                  <a:ext cx="403022" cy="396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8FF8540A-C1E9-43EA-B68F-1A6E101EF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8079" y="3143067"/>
              <a:ext cx="692319" cy="202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BA12BC5-59AF-4218-A08F-36DBDFB43428}"/>
                </a:ext>
              </a:extLst>
            </p:cNvPr>
            <p:cNvCxnSpPr>
              <a:cxnSpLocks/>
            </p:cNvCxnSpPr>
            <p:nvPr/>
          </p:nvCxnSpPr>
          <p:spPr>
            <a:xfrm>
              <a:off x="5448079" y="3625588"/>
              <a:ext cx="699304" cy="1507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AFB507-B6B4-44C7-BFEE-FC5162A6A8CB}"/>
                    </a:ext>
                  </a:extLst>
                </p:cNvPr>
                <p:cNvSpPr txBox="1"/>
                <p:nvPr/>
              </p:nvSpPr>
              <p:spPr>
                <a:xfrm>
                  <a:off x="5336395" y="2856489"/>
                  <a:ext cx="67223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altLang="ko-KR" sz="1100" b="0" i="1">
                    <a:latin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=60%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AFB507-B6B4-44C7-BFEE-FC5162A6A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95" y="2856489"/>
                  <a:ext cx="672235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1103C3D-B9BB-4E8D-B0AC-852E26059CD9}"/>
                    </a:ext>
                  </a:extLst>
                </p:cNvPr>
                <p:cNvSpPr txBox="1"/>
                <p:nvPr/>
              </p:nvSpPr>
              <p:spPr>
                <a:xfrm>
                  <a:off x="5336395" y="3718263"/>
                  <a:ext cx="67550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altLang="ko-KR" sz="1100" b="0" i="1">
                    <a:latin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=40%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1103C3D-B9BB-4E8D-B0AC-852E26059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95" y="3718263"/>
                  <a:ext cx="675506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0A1BB65-2287-432E-9204-F86AF7778C1C}"/>
                    </a:ext>
                  </a:extLst>
                </p:cNvPr>
                <p:cNvSpPr txBox="1"/>
                <p:nvPr/>
              </p:nvSpPr>
              <p:spPr>
                <a:xfrm>
                  <a:off x="6172904" y="3012262"/>
                  <a:ext cx="100585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0A1BB65-2287-432E-9204-F86AF7778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904" y="3012262"/>
                  <a:ext cx="1005853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E6C24C-0415-4D79-9561-4E716047B844}"/>
                    </a:ext>
                  </a:extLst>
                </p:cNvPr>
                <p:cNvSpPr txBox="1"/>
                <p:nvPr/>
              </p:nvSpPr>
              <p:spPr>
                <a:xfrm>
                  <a:off x="6180009" y="3675279"/>
                  <a:ext cx="10091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E6C24C-0415-4D79-9561-4E716047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009" y="3675279"/>
                  <a:ext cx="1009122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ECE6A29-E891-4E29-894E-9A861BD324DC}"/>
              </a:ext>
            </a:extLst>
          </p:cNvPr>
          <p:cNvGrpSpPr/>
          <p:nvPr/>
        </p:nvGrpSpPr>
        <p:grpSpPr>
          <a:xfrm>
            <a:off x="4672668" y="1399142"/>
            <a:ext cx="3494712" cy="1167832"/>
            <a:chOff x="4664058" y="1335437"/>
            <a:chExt cx="3494712" cy="1167832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85A41FBD-4AF9-4AA0-8F9E-D00D29D30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7302" y="1582378"/>
              <a:ext cx="587885" cy="2241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05363AD-99BD-4445-B7AC-DC9DC200827E}"/>
                    </a:ext>
                  </a:extLst>
                </p:cNvPr>
                <p:cNvSpPr txBox="1"/>
                <p:nvPr/>
              </p:nvSpPr>
              <p:spPr>
                <a:xfrm>
                  <a:off x="6029233" y="1478998"/>
                  <a:ext cx="49885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05363AD-99BD-4445-B7AC-DC9DC2008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9233" y="1478998"/>
                  <a:ext cx="498855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81844A-1810-4982-A894-F7F8E9E99EB1}"/>
                    </a:ext>
                  </a:extLst>
                </p:cNvPr>
                <p:cNvSpPr txBox="1"/>
                <p:nvPr/>
              </p:nvSpPr>
              <p:spPr>
                <a:xfrm>
                  <a:off x="7086932" y="1353802"/>
                  <a:ext cx="97206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81844A-1810-4982-A894-F7F8E9E99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932" y="1353802"/>
                  <a:ext cx="972061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312A3D40-5E7D-4B71-88DB-6CBD56F6EE1C}"/>
                    </a:ext>
                  </a:extLst>
                </p:cNvPr>
                <p:cNvSpPr/>
                <p:nvPr/>
              </p:nvSpPr>
              <p:spPr>
                <a:xfrm>
                  <a:off x="4664058" y="1713421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312A3D40-5E7D-4B71-88DB-6CBD56F6EE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4058" y="1713421"/>
                  <a:ext cx="403022" cy="396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5E4F1630-5371-4E3E-8F6C-F28A022750DE}"/>
                </a:ext>
              </a:extLst>
            </p:cNvPr>
            <p:cNvCxnSpPr>
              <a:cxnSpLocks/>
              <a:stCxn id="92" idx="6"/>
              <a:endCxn id="96" idx="2"/>
            </p:cNvCxnSpPr>
            <p:nvPr/>
          </p:nvCxnSpPr>
          <p:spPr>
            <a:xfrm flipV="1">
              <a:off x="5067080" y="1894227"/>
              <a:ext cx="902759" cy="173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36E10FF-227F-47D1-8A25-EB494770309D}"/>
                </a:ext>
              </a:extLst>
            </p:cNvPr>
            <p:cNvSpPr/>
            <p:nvPr/>
          </p:nvSpPr>
          <p:spPr>
            <a:xfrm>
              <a:off x="5969839" y="1837043"/>
              <a:ext cx="117463" cy="1143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A75A01-7BEA-4F8C-831A-875E588FF5A2}"/>
                </a:ext>
              </a:extLst>
            </p:cNvPr>
            <p:cNvSpPr txBox="1"/>
            <p:nvPr/>
          </p:nvSpPr>
          <p:spPr>
            <a:xfrm>
              <a:off x="5162561" y="1689263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100"/>
                <a:t>R=0.5</a:t>
              </a:r>
              <a:endParaRPr lang="ko-KR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5704F59-09C1-41F6-8B3F-2DDB8F4F9B0F}"/>
                    </a:ext>
                  </a:extLst>
                </p:cNvPr>
                <p:cNvSpPr txBox="1"/>
                <p:nvPr/>
              </p:nvSpPr>
              <p:spPr>
                <a:xfrm>
                  <a:off x="5276139" y="1909162"/>
                  <a:ext cx="35714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5704F59-09C1-41F6-8B3F-2DDB8F4F9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139" y="1909162"/>
                  <a:ext cx="357149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7182F3BA-5936-481F-B7AE-15A692E34888}"/>
                    </a:ext>
                  </a:extLst>
                </p:cNvPr>
                <p:cNvSpPr/>
                <p:nvPr/>
              </p:nvSpPr>
              <p:spPr>
                <a:xfrm>
                  <a:off x="6723175" y="1335437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7182F3BA-5936-481F-B7AE-15A692E348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75" y="1335437"/>
                  <a:ext cx="403022" cy="39624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FC61E19C-3311-4B3C-9276-BCB3C7D65710}"/>
                </a:ext>
              </a:extLst>
            </p:cNvPr>
            <p:cNvCxnSpPr>
              <a:cxnSpLocks/>
            </p:cNvCxnSpPr>
            <p:nvPr/>
          </p:nvCxnSpPr>
          <p:spPr>
            <a:xfrm>
              <a:off x="6087302" y="1950873"/>
              <a:ext cx="587885" cy="264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36047ED-50BF-40A7-A5B7-6FA82ACF06D3}"/>
                    </a:ext>
                  </a:extLst>
                </p:cNvPr>
                <p:cNvSpPr txBox="1"/>
                <p:nvPr/>
              </p:nvSpPr>
              <p:spPr>
                <a:xfrm>
                  <a:off x="6065625" y="2208720"/>
                  <a:ext cx="49885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36047ED-50BF-40A7-A5B7-6FA82ACF0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5625" y="2208720"/>
                  <a:ext cx="498855" cy="2616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63F74D7-1253-4DB8-A254-878AEA3A86D0}"/>
                    </a:ext>
                  </a:extLst>
                </p:cNvPr>
                <p:cNvSpPr txBox="1"/>
                <p:nvPr/>
              </p:nvSpPr>
              <p:spPr>
                <a:xfrm>
                  <a:off x="7186709" y="2157933"/>
                  <a:ext cx="97206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63F74D7-1253-4DB8-A254-878AEA3A8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6709" y="2157933"/>
                  <a:ext cx="972061" cy="2616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ABF80BA-A136-4BD7-8CAC-2766CED29D19}"/>
                    </a:ext>
                  </a:extLst>
                </p:cNvPr>
                <p:cNvSpPr/>
                <p:nvPr/>
              </p:nvSpPr>
              <p:spPr>
                <a:xfrm>
                  <a:off x="6753382" y="2107029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ABF80BA-A136-4BD7-8CAC-2766CED29D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382" y="2107029"/>
                  <a:ext cx="403022" cy="39624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209D6A9E-4412-4CE6-A0A0-DB97F5489F23}"/>
              </a:ext>
            </a:extLst>
          </p:cNvPr>
          <p:cNvSpPr txBox="1"/>
          <p:nvPr/>
        </p:nvSpPr>
        <p:spPr>
          <a:xfrm>
            <a:off x="1155845" y="2620240"/>
            <a:ext cx="1837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 state value function </a:t>
            </a:r>
            <a:r>
              <a:rPr lang="ko-KR" altLang="en-US" sz="1100"/>
              <a:t>예시</a:t>
            </a:r>
            <a:r>
              <a:rPr lang="en-US" altLang="ko-KR" sz="1100"/>
              <a:t> &gt;</a:t>
            </a:r>
            <a:endParaRPr lang="ko-KR" altLang="en-US" sz="11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ED44ED6-ED3D-4C02-AF4D-B4DFAC898AEE}"/>
              </a:ext>
            </a:extLst>
          </p:cNvPr>
          <p:cNvSpPr txBox="1"/>
          <p:nvPr/>
        </p:nvSpPr>
        <p:spPr>
          <a:xfrm>
            <a:off x="5284749" y="2636703"/>
            <a:ext cx="21900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 action state value function</a:t>
            </a:r>
            <a:r>
              <a:rPr lang="ko-KR" altLang="en-US" sz="1100"/>
              <a:t>예시</a:t>
            </a:r>
            <a:r>
              <a:rPr lang="en-US" altLang="ko-KR" sz="1100"/>
              <a:t> &gt;</a:t>
            </a:r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846A52-D5B7-4BED-BDD5-42AF4039EA4A}"/>
                  </a:ext>
                </a:extLst>
              </p:cNvPr>
              <p:cNvSpPr txBox="1"/>
              <p:nvPr/>
            </p:nvSpPr>
            <p:spPr>
              <a:xfrm>
                <a:off x="850059" y="4331777"/>
                <a:ext cx="505017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예시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= 0.6*1 + 0.4*2 =1.4  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846A52-D5B7-4BED-BDD5-42AF4039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9" y="4331777"/>
                <a:ext cx="5050173" cy="430887"/>
              </a:xfrm>
              <a:prstGeom prst="rect">
                <a:avLst/>
              </a:prstGeom>
              <a:blipFill>
                <a:blip r:embed="rId16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4BE3AA6-A40C-4058-8D80-ECEEAB813AC0}"/>
                  </a:ext>
                </a:extLst>
              </p:cNvPr>
              <p:cNvSpPr txBox="1"/>
              <p:nvPr/>
            </p:nvSpPr>
            <p:spPr>
              <a:xfrm>
                <a:off x="968649" y="6043319"/>
                <a:ext cx="5050173" cy="47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예시</a:t>
                </a:r>
                <a:endParaRPr lang="en-US" altLang="ko-KR" sz="1100"/>
              </a:p>
              <a:p>
                <a:r>
                  <a:rPr lang="en-US" altLang="ko-KR" sz="11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= 0.5+0.7*1.5+0.3*(-1) = 1.25 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4BE3AA6-A40C-4058-8D80-ECEEAB81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49" y="6043319"/>
                <a:ext cx="5050173" cy="470129"/>
              </a:xfrm>
              <a:prstGeom prst="rect">
                <a:avLst/>
              </a:prstGeom>
              <a:blipFill>
                <a:blip r:embed="rId17"/>
                <a:stretch>
                  <a:fillRect t="-1299" b="-25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24C5DC7-DD51-40D4-A202-F84865C0BA1D}"/>
              </a:ext>
            </a:extLst>
          </p:cNvPr>
          <p:cNvSpPr txBox="1"/>
          <p:nvPr/>
        </p:nvSpPr>
        <p:spPr>
          <a:xfrm>
            <a:off x="444616" y="107028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(1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F750D2C-6C6A-4ED9-A9A2-9202A02D4C28}"/>
              </a:ext>
            </a:extLst>
          </p:cNvPr>
          <p:cNvSpPr txBox="1"/>
          <p:nvPr/>
        </p:nvSpPr>
        <p:spPr>
          <a:xfrm>
            <a:off x="545285" y="4801322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</p:spTree>
    <p:extLst>
      <p:ext uri="{BB962C8B-B14F-4D97-AF65-F5344CB8AC3E}">
        <p14:creationId xmlns:p14="http://schemas.microsoft.com/office/powerpoint/2010/main" val="844677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72466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1943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51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5617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 </a:t>
            </a:r>
            <a:r>
              <a:rPr lang="ko-KR" altLang="en-US" sz="1200">
                <a:latin typeface="+mn-ea"/>
              </a:rPr>
              <a:t>예제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804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209219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Equation</a:t>
            </a: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Optimality,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838805"/>
                  </p:ext>
                </p:extLst>
              </p:nvPr>
            </p:nvGraphicFramePr>
            <p:xfrm>
              <a:off x="1255550" y="2212718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838805"/>
                  </p:ext>
                </p:extLst>
              </p:nvPr>
            </p:nvGraphicFramePr>
            <p:xfrm>
              <a:off x="1255550" y="2212718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D790A9B-5032-4571-A286-437475855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09" y="2618783"/>
            <a:ext cx="498227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05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71BAA1-6B68-456D-A720-E1F86B346A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2F121-B474-479D-B956-690559A34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16" y="1702965"/>
            <a:ext cx="2871779" cy="2966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D5A03-D81A-412C-8499-4912744BC254}"/>
              </a:ext>
            </a:extLst>
          </p:cNvPr>
          <p:cNvSpPr txBox="1"/>
          <p:nvPr/>
        </p:nvSpPr>
        <p:spPr>
          <a:xfrm>
            <a:off x="453006" y="1702965"/>
            <a:ext cx="50417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state value </a:t>
            </a:r>
            <a:r>
              <a:rPr lang="ko-KR" altLang="en-US" sz="1100"/>
              <a:t>와 </a:t>
            </a:r>
            <a:r>
              <a:rPr lang="en-US" altLang="ko-KR" sz="1100"/>
              <a:t>action value</a:t>
            </a:r>
            <a:r>
              <a:rPr lang="ko-KR" altLang="en-US" sz="1100"/>
              <a:t>는 시작점이 다름</a:t>
            </a:r>
            <a:endParaRPr lang="en-US" altLang="ko-KR" sz="1100"/>
          </a:p>
          <a:p>
            <a:pPr algn="l"/>
            <a:r>
              <a:rPr lang="en-US" altLang="ko-KR" sz="1100"/>
              <a:t>Policy </a:t>
            </a:r>
            <a:r>
              <a:rPr lang="ko-KR" altLang="en-US" sz="1100"/>
              <a:t>결정할때 </a:t>
            </a:r>
            <a:r>
              <a:rPr lang="en-US" altLang="ko-KR" sz="1100"/>
              <a:t>state value</a:t>
            </a:r>
            <a:r>
              <a:rPr lang="ko-KR" altLang="en-US" sz="1100"/>
              <a:t>보다 </a:t>
            </a:r>
            <a:r>
              <a:rPr lang="en-US" altLang="ko-KR" sz="1100"/>
              <a:t>actionvalue</a:t>
            </a:r>
            <a:r>
              <a:rPr lang="ko-KR" altLang="en-US" sz="1100"/>
              <a:t>이 더 유용하다</a:t>
            </a:r>
            <a:endParaRPr lang="en-US" altLang="ko-KR" sz="1100"/>
          </a:p>
          <a:p>
            <a:pPr algn="l"/>
            <a:r>
              <a:rPr lang="ko-KR" altLang="en-US" sz="1100"/>
              <a:t>단점은 </a:t>
            </a:r>
            <a:r>
              <a:rPr lang="en-US" altLang="ko-KR" sz="1100"/>
              <a:t>action value </a:t>
            </a:r>
            <a:r>
              <a:rPr lang="ko-KR" altLang="en-US" sz="1100"/>
              <a:t>각각의 </a:t>
            </a:r>
            <a:r>
              <a:rPr lang="en-US" altLang="ko-KR" sz="1100"/>
              <a:t>state pair(s,a)</a:t>
            </a:r>
            <a:r>
              <a:rPr lang="ko-KR" altLang="en-US" sz="1100"/>
              <a:t>에 대해 계산을 하여 계산할 게 더 많아짐</a:t>
            </a:r>
            <a:endParaRPr lang="en-US" altLang="ko-KR" sz="1100"/>
          </a:p>
          <a:p>
            <a:pPr algn="l"/>
            <a:r>
              <a:rPr lang="en-US" altLang="ko-KR" sz="1100"/>
              <a:t>State value</a:t>
            </a:r>
            <a:r>
              <a:rPr lang="ko-KR" altLang="en-US" sz="1100"/>
              <a:t>는 각각을 계산함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5F336-A5BA-48EE-8766-FB6C5C6980B0}"/>
              </a:ext>
            </a:extLst>
          </p:cNvPr>
          <p:cNvSpPr txBox="1"/>
          <p:nvPr/>
        </p:nvSpPr>
        <p:spPr>
          <a:xfrm>
            <a:off x="6576969" y="5041783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백업 다이어그램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513D46-9BFC-4EB2-9757-A90284543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06" y="2670483"/>
            <a:ext cx="4620270" cy="714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9652A1-3D13-4FB3-9C40-34E8A19FD7E9}"/>
              </a:ext>
            </a:extLst>
          </p:cNvPr>
          <p:cNvSpPr txBox="1"/>
          <p:nvPr/>
        </p:nvSpPr>
        <p:spPr>
          <a:xfrm>
            <a:off x="644322" y="3473043"/>
            <a:ext cx="39276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Action value function</a:t>
            </a:r>
            <a:r>
              <a:rPr lang="ko-KR" altLang="en-US" sz="1100"/>
              <a:t>과 그 확률들을 곱해서 </a:t>
            </a:r>
            <a:r>
              <a:rPr lang="en-US" altLang="ko-KR" sz="1100"/>
              <a:t>expectation</a:t>
            </a:r>
            <a:r>
              <a:rPr lang="ko-KR" altLang="en-US" sz="1100"/>
              <a:t>을 계산</a:t>
            </a:r>
            <a:endParaRPr lang="en-US" altLang="ko-KR" sz="1100"/>
          </a:p>
          <a:p>
            <a:pPr algn="l"/>
            <a:r>
              <a:rPr lang="en-US" altLang="ko-KR" sz="1100"/>
              <a:t>State-value</a:t>
            </a:r>
            <a:r>
              <a:rPr lang="ko-KR" altLang="en-US" sz="1100"/>
              <a:t>와 </a:t>
            </a:r>
            <a:r>
              <a:rPr lang="en-US" altLang="ko-KR" sz="1100"/>
              <a:t>action-value</a:t>
            </a:r>
            <a:r>
              <a:rPr lang="ko-KR" altLang="en-US" sz="1100"/>
              <a:t>사이의 관계식</a:t>
            </a:r>
          </a:p>
        </p:txBody>
      </p:sp>
    </p:spTree>
    <p:extLst>
      <p:ext uri="{BB962C8B-B14F-4D97-AF65-F5344CB8AC3E}">
        <p14:creationId xmlns:p14="http://schemas.microsoft.com/office/powerpoint/2010/main" val="13869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https://dnddnjs.gitbooks.io/rl/content/what_is_reinforcement_learning.html</a:t>
            </a:r>
            <a:endParaRPr lang="en-US" altLang="ko-KR" sz="1100"/>
          </a:p>
          <a:p>
            <a:pPr algn="l"/>
            <a:r>
              <a:rPr lang="ko-KR" altLang="en-US" sz="1100"/>
              <a:t>강화학습 초기 실험</a:t>
            </a:r>
            <a:r>
              <a:rPr lang="en-US" altLang="ko-KR" sz="1100"/>
              <a:t>?(</a:t>
            </a:r>
            <a:r>
              <a:rPr lang="ko-KR" altLang="en-US" sz="1100"/>
              <a:t>비둘기</a:t>
            </a:r>
            <a:r>
              <a:rPr lang="en-US" altLang="ko-KR" sz="1100"/>
              <a:t>, </a:t>
            </a:r>
            <a:r>
              <a:rPr lang="ko-KR" altLang="en-US" sz="1100"/>
              <a:t>오락실</a:t>
            </a:r>
            <a:r>
              <a:rPr lang="en-US" altLang="ko-KR" sz="1100"/>
              <a:t>, </a:t>
            </a:r>
            <a:r>
              <a:rPr lang="ko-KR" altLang="en-US" sz="1100"/>
              <a:t>동전먹는게임</a:t>
            </a:r>
            <a:r>
              <a:rPr lang="en-US" altLang="ko-KR" sz="1100"/>
              <a:t>)</a:t>
            </a:r>
          </a:p>
          <a:p>
            <a:pPr algn="l"/>
            <a:r>
              <a:rPr lang="en-US" altLang="ko-KR" sz="1100"/>
              <a:t>Bellman equation -&gt; optimal</a:t>
            </a:r>
            <a:r>
              <a:rPr lang="ko-KR" altLang="en-US" sz="1100"/>
              <a:t> </a:t>
            </a:r>
            <a:r>
              <a:rPr lang="en-US" altLang="ko-KR" sz="1100"/>
              <a:t>control</a:t>
            </a:r>
            <a:r>
              <a:rPr lang="ko-KR" altLang="en-US" sz="1100"/>
              <a:t>문제 </a:t>
            </a:r>
            <a:r>
              <a:rPr lang="en-US" altLang="ko-KR" sz="1100"/>
              <a:t>-&gt; dynamic programming</a:t>
            </a:r>
          </a:p>
          <a:p>
            <a:pPr algn="l"/>
            <a:r>
              <a:rPr lang="en-US" altLang="ko-KR" sz="1100"/>
              <a:t>Bellman</a:t>
            </a:r>
            <a:r>
              <a:rPr lang="ko-KR" altLang="en-US" sz="1100"/>
              <a:t>은 </a:t>
            </a:r>
            <a:r>
              <a:rPr lang="en-US" altLang="ko-KR" sz="1100"/>
              <a:t>MDP</a:t>
            </a:r>
            <a:r>
              <a:rPr lang="ko-KR" altLang="en-US" sz="1100"/>
              <a:t>라는 수학적 모델을 만들어서 강화학습의 기초를 놓게됨</a:t>
            </a:r>
            <a:endParaRPr lang="en-US" altLang="ko-KR" sz="1100"/>
          </a:p>
          <a:p>
            <a:pPr algn="l"/>
            <a:r>
              <a:rPr lang="ko-KR" altLang="en-US" sz="1100"/>
              <a:t>알파고는 </a:t>
            </a:r>
            <a:r>
              <a:rPr lang="en-US" altLang="ko-KR" sz="1100"/>
              <a:t>DeepLearning + </a:t>
            </a:r>
            <a:r>
              <a:rPr lang="ko-KR" altLang="en-US" sz="1100"/>
              <a:t>강화학습</a:t>
            </a:r>
            <a:endParaRPr lang="en-US" altLang="ko-KR" sz="1100"/>
          </a:p>
          <a:p>
            <a:pPr algn="l"/>
            <a:r>
              <a:rPr lang="ko-KR" altLang="en-US" sz="1100"/>
              <a:t>거의 강화학습의 문제는 다른 </a:t>
            </a:r>
            <a:r>
              <a:rPr lang="en-US" altLang="ko-KR" sz="1100"/>
              <a:t>machine learning</a:t>
            </a:r>
            <a:r>
              <a:rPr lang="ko-KR" altLang="en-US" sz="1100"/>
              <a:t>기법을 통해 풀수도 있지만 왜 강화학습을 써야하는가에 대해 알아야한다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강화학습은 </a:t>
            </a:r>
            <a:r>
              <a:rPr lang="en-US" altLang="ko-KR" sz="1100"/>
              <a:t>‘</a:t>
            </a:r>
            <a:r>
              <a:rPr lang="ko-KR" altLang="en-US" sz="1100"/>
              <a:t>시간</a:t>
            </a:r>
            <a:r>
              <a:rPr lang="en-US" altLang="ko-KR" sz="1100"/>
              <a:t>’</a:t>
            </a:r>
            <a:r>
              <a:rPr lang="ko-KR" altLang="en-US" sz="1100"/>
              <a:t>이라는 개념이 있는 문제를 푸는 인공지능 기법이다 </a:t>
            </a:r>
            <a:endParaRPr lang="en-US" altLang="ko-KR" sz="1100"/>
          </a:p>
          <a:p>
            <a:pPr algn="l"/>
            <a:r>
              <a:rPr lang="ko-KR" altLang="en-US" sz="1100"/>
              <a:t>강화학습의 목표가 </a:t>
            </a:r>
            <a:r>
              <a:rPr lang="en-US" altLang="ko-KR" sz="1100"/>
              <a:t>Policy(</a:t>
            </a:r>
            <a:r>
              <a:rPr lang="ko-KR" altLang="en-US" sz="1100"/>
              <a:t>일련의 행동들</a:t>
            </a:r>
            <a:r>
              <a:rPr lang="en-US" altLang="ko-KR" sz="1100"/>
              <a:t>)</a:t>
            </a:r>
            <a:r>
              <a:rPr lang="ko-KR" altLang="en-US" sz="1100"/>
              <a:t>된다는 의미를 포함</a:t>
            </a:r>
            <a:endParaRPr lang="en-US" altLang="ko-KR" sz="1100"/>
          </a:p>
          <a:p>
            <a:pPr algn="l"/>
            <a:r>
              <a:rPr lang="ko-KR" altLang="en-US" sz="1100"/>
              <a:t>강화학습의 개념도</a:t>
            </a:r>
            <a:endParaRPr lang="en-US" altLang="ko-KR" sz="11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95981F-ECB5-4B31-9E4D-C5446CDC8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093" y="3909307"/>
            <a:ext cx="466790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66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396485" y="1342239"/>
            <a:ext cx="817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MDP(Markov Decision Process) -&gt; </a:t>
            </a:r>
            <a:r>
              <a:rPr lang="ko-KR" altLang="en-US" sz="1100"/>
              <a:t>사전에 </a:t>
            </a:r>
            <a:r>
              <a:rPr lang="en-US" altLang="ko-KR" sz="1100"/>
              <a:t>Markov Chain, Markov Reward Process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760321-A969-4849-B65C-87ACE214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2" y="1812022"/>
            <a:ext cx="4744211" cy="2970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6F1E4-6E43-4F4A-BDC6-72C93CF1FA25}"/>
              </a:ext>
            </a:extLst>
          </p:cNvPr>
          <p:cNvSpPr txBox="1"/>
          <p:nvPr/>
        </p:nvSpPr>
        <p:spPr>
          <a:xfrm>
            <a:off x="4953923" y="1812022"/>
            <a:ext cx="3846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State : agent</a:t>
            </a:r>
            <a:r>
              <a:rPr lang="ko-KR" altLang="en-US" sz="1100"/>
              <a:t>가 인식하는 자신의 상태</a:t>
            </a:r>
            <a:r>
              <a:rPr lang="en-US" altLang="ko-KR" sz="1100"/>
              <a:t>, </a:t>
            </a:r>
            <a:r>
              <a:rPr lang="ko-KR" altLang="en-US" sz="1100"/>
              <a:t>사람으로 치면 눈</a:t>
            </a:r>
            <a:endParaRPr lang="en-US" altLang="ko-KR" sz="1100"/>
          </a:p>
          <a:p>
            <a:pPr algn="l"/>
            <a:r>
              <a:rPr lang="ko-KR" altLang="en-US" sz="1100"/>
              <a:t>관측도구를 통해서 인식하는 모든것이 </a:t>
            </a:r>
            <a:r>
              <a:rPr lang="en-US" altLang="ko-KR" sz="1100"/>
              <a:t>state</a:t>
            </a:r>
            <a:r>
              <a:rPr lang="ko-KR" altLang="en-US" sz="1100"/>
              <a:t>가 됨</a:t>
            </a:r>
            <a:endParaRPr lang="en-US" altLang="ko-KR" sz="1100"/>
          </a:p>
          <a:p>
            <a:pPr algn="l"/>
            <a:r>
              <a:rPr lang="en-US" altLang="ko-KR" sz="1100"/>
              <a:t>Ex) </a:t>
            </a:r>
            <a:r>
              <a:rPr lang="ko-KR" altLang="en-US" sz="1100"/>
              <a:t>달리는 차에서는 차는 </a:t>
            </a:r>
            <a:r>
              <a:rPr lang="en-US" altLang="ko-KR" sz="1100"/>
              <a:t>jeep, </a:t>
            </a:r>
            <a:r>
              <a:rPr lang="ko-KR" altLang="en-US" sz="1100"/>
              <a:t>사람은 </a:t>
            </a:r>
            <a:r>
              <a:rPr lang="en-US" altLang="ko-KR" sz="1100"/>
              <a:t>4</a:t>
            </a:r>
            <a:r>
              <a:rPr lang="ko-KR" altLang="en-US" sz="1100"/>
              <a:t>명</a:t>
            </a:r>
            <a:r>
              <a:rPr lang="en-US" altLang="ko-KR" sz="1100"/>
              <a:t>, </a:t>
            </a:r>
            <a:r>
              <a:rPr lang="ko-KR" altLang="en-US" sz="1100"/>
              <a:t>속도는 </a:t>
            </a:r>
            <a:r>
              <a:rPr lang="en-US" altLang="ko-KR" sz="1100"/>
              <a:t>~km</a:t>
            </a:r>
            <a:r>
              <a:rPr lang="ko-KR" altLang="en-US" sz="1100"/>
              <a:t>이다 라는 것인 </a:t>
            </a:r>
            <a:r>
              <a:rPr lang="en-US" altLang="ko-KR" sz="1100"/>
              <a:t>state</a:t>
            </a:r>
            <a:r>
              <a:rPr lang="ko-KR" altLang="en-US" sz="1100"/>
              <a:t>가 될수도 있음 즉</a:t>
            </a:r>
            <a:r>
              <a:rPr lang="en-US" altLang="ko-KR" sz="1100"/>
              <a:t>, state</a:t>
            </a:r>
            <a:r>
              <a:rPr lang="ko-KR" altLang="en-US" sz="1100"/>
              <a:t>는 정의하기 나름이다</a:t>
            </a:r>
            <a:r>
              <a:rPr lang="en-US" altLang="ko-KR" sz="1100"/>
              <a:t>.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Agent : environment</a:t>
            </a:r>
            <a:r>
              <a:rPr lang="ko-KR" altLang="en-US" sz="1100"/>
              <a:t>에서 특정 </a:t>
            </a:r>
            <a:r>
              <a:rPr lang="en-US" altLang="ko-KR" sz="1100"/>
              <a:t>state</a:t>
            </a:r>
            <a:r>
              <a:rPr lang="ko-KR" altLang="en-US" sz="1100"/>
              <a:t>에 갔을때 </a:t>
            </a:r>
            <a:r>
              <a:rPr lang="en-US" altLang="ko-KR" sz="1100"/>
              <a:t>actio</a:t>
            </a:r>
            <a:r>
              <a:rPr lang="ko-KR" altLang="en-US" sz="1100"/>
              <a:t>을 지시</a:t>
            </a:r>
            <a:endParaRPr lang="en-US" altLang="ko-KR" sz="1100"/>
          </a:p>
          <a:p>
            <a:pPr algn="l"/>
            <a:r>
              <a:rPr lang="en-US" altLang="ko-KR" sz="1100"/>
              <a:t>,</a:t>
            </a:r>
            <a:r>
              <a:rPr lang="ko-KR" altLang="en-US" sz="1100"/>
              <a:t>사람으로 치면 뇌로 생각</a:t>
            </a:r>
            <a:endParaRPr lang="en-US" altLang="ko-KR" sz="1100"/>
          </a:p>
          <a:p>
            <a:pPr algn="l"/>
            <a:r>
              <a:rPr lang="en-US" altLang="ko-KR" sz="1100"/>
              <a:t>Agent</a:t>
            </a:r>
            <a:r>
              <a:rPr lang="ko-KR" altLang="en-US" sz="1100"/>
              <a:t>는 </a:t>
            </a:r>
            <a:r>
              <a:rPr lang="en-US" altLang="ko-KR" sz="1100"/>
              <a:t>actio</a:t>
            </a:r>
            <a:r>
              <a:rPr lang="ko-KR" altLang="en-US" sz="1100"/>
              <a:t>을 취함으로써 자신의 </a:t>
            </a:r>
            <a:r>
              <a:rPr lang="en-US" altLang="ko-KR" sz="1100"/>
              <a:t>state</a:t>
            </a:r>
            <a:r>
              <a:rPr lang="ko-KR" altLang="en-US" sz="1100"/>
              <a:t>를 변화시킬 수 있음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State transition probability matrix</a:t>
            </a:r>
          </a:p>
          <a:p>
            <a:pPr algn="l"/>
            <a:r>
              <a:rPr lang="en-US" altLang="ko-KR" sz="1100"/>
              <a:t>Robot</a:t>
            </a:r>
            <a:r>
              <a:rPr lang="ko-KR" altLang="en-US" sz="1100"/>
              <a:t>이 움직인다고 생각하면</a:t>
            </a:r>
            <a:r>
              <a:rPr lang="en-US" altLang="ko-KR" sz="1100"/>
              <a:t>, </a:t>
            </a:r>
            <a:r>
              <a:rPr lang="ko-KR" altLang="en-US" sz="1100"/>
              <a:t>아무런 외부요인이 없을 경우  </a:t>
            </a:r>
            <a:r>
              <a:rPr lang="en-US" altLang="ko-KR" sz="1100"/>
              <a:t>action</a:t>
            </a:r>
            <a:r>
              <a:rPr lang="ko-KR" altLang="en-US" sz="1100"/>
              <a:t>을 취한대로 움직이겠지만 외부요인이 있을 경우 원하지 않는 방향으로 갈 수 도 있음</a:t>
            </a:r>
            <a:r>
              <a:rPr lang="en-US" altLang="ko-KR" sz="1100"/>
              <a:t>, </a:t>
            </a:r>
            <a:r>
              <a:rPr lang="ko-KR" altLang="en-US" sz="1100"/>
              <a:t>그확률을 표현하는것이 </a:t>
            </a:r>
            <a:r>
              <a:rPr lang="en-US" altLang="ko-KR" sz="1100"/>
              <a:t>State transition probability matri</a:t>
            </a:r>
            <a:r>
              <a:rPr lang="ko-KR" altLang="en-US" sz="1100"/>
              <a:t>이다</a:t>
            </a:r>
            <a:endParaRPr lang="en-US" altLang="ko-KR" sz="1100"/>
          </a:p>
          <a:p>
            <a:pPr algn="l"/>
            <a:r>
              <a:rPr lang="ko-KR" altLang="en-US" sz="1100"/>
              <a:t>어떠한 </a:t>
            </a:r>
            <a:r>
              <a:rPr lang="en-US" altLang="ko-KR" sz="1100"/>
              <a:t>actio</a:t>
            </a:r>
            <a:r>
              <a:rPr lang="ko-KR" altLang="en-US" sz="1100"/>
              <a:t>을 취했을 때 </a:t>
            </a:r>
            <a:r>
              <a:rPr lang="en-US" altLang="ko-KR" sz="1100"/>
              <a:t>state</a:t>
            </a:r>
            <a:r>
              <a:rPr lang="ko-KR" altLang="en-US" sz="1100"/>
              <a:t>가 </a:t>
            </a:r>
            <a:r>
              <a:rPr lang="en-US" altLang="ko-KR" sz="1100"/>
              <a:t>deterministic</a:t>
            </a:r>
            <a:r>
              <a:rPr lang="ko-KR" altLang="en-US" sz="1100"/>
              <a:t>하게 딱 정해지는 게 아니고 확률적으로 정해지게 된다</a:t>
            </a:r>
            <a:r>
              <a:rPr lang="en-US" altLang="ko-KR" sz="1100"/>
              <a:t>. Noise</a:t>
            </a:r>
            <a:r>
              <a:rPr lang="ko-KR" altLang="en-US" sz="1100"/>
              <a:t>라고 생각하면 편함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B05FAB-E905-4B2C-8A4F-5A60BD73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46" y="4711913"/>
            <a:ext cx="3471205" cy="44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91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7B7F54-F341-4D1B-9711-03ED3CE1AC20}"/>
                  </a:ext>
                </a:extLst>
              </p:cNvPr>
              <p:cNvSpPr txBox="1"/>
              <p:nvPr/>
            </p:nvSpPr>
            <p:spPr>
              <a:xfrm>
                <a:off x="536895" y="1719743"/>
                <a:ext cx="81792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Markov Chain :Markov </a:t>
                </a:r>
                <a:r>
                  <a:rPr lang="ko-KR" altLang="en-US" sz="1100"/>
                  <a:t>성질을 지닌 이산확률 과정</a:t>
                </a:r>
                <a:r>
                  <a:rPr lang="en-US" altLang="ko-KR" sz="1100"/>
                  <a:t>(Discrete-time Stochastic Process)</a:t>
                </a:r>
                <a:r>
                  <a:rPr lang="ko-KR" altLang="en-US" sz="1100"/>
                  <a:t>를 의미한다</a:t>
                </a:r>
                <a:r>
                  <a:rPr lang="en-US" altLang="ko-KR" sz="1100"/>
                  <a:t>.</a:t>
                </a:r>
              </a:p>
              <a:p>
                <a:pPr algn="l"/>
                <a:r>
                  <a:rPr lang="en-US" altLang="ko-KR" sz="1100"/>
                  <a:t>(</a:t>
                </a:r>
                <a:r>
                  <a:rPr lang="ko-KR" altLang="en-US" sz="1100"/>
                  <a:t>확률과정은 연속형확률과정과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이산형확률과정으로 나뉘는데 연속형은 매 연속적인 시간마다 관측되므로 연속형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이산형은 </a:t>
                </a:r>
                <a:r>
                  <a:rPr lang="en-US" altLang="ko-KR" sz="1100"/>
                  <a:t>{10</a:t>
                </a:r>
                <a:r>
                  <a:rPr lang="ko-KR" altLang="en-US" sz="1100"/>
                  <a:t>분</a:t>
                </a:r>
                <a:r>
                  <a:rPr lang="en-US" altLang="ko-KR" sz="1100"/>
                  <a:t>,20</a:t>
                </a:r>
                <a:r>
                  <a:rPr lang="ko-KR" altLang="en-US" sz="1100"/>
                  <a:t>분</a:t>
                </a:r>
                <a:r>
                  <a:rPr lang="en-US" altLang="ko-KR" sz="1100"/>
                  <a:t>,30</a:t>
                </a:r>
                <a:r>
                  <a:rPr lang="ko-KR" altLang="en-US" sz="1100"/>
                  <a:t>분</a:t>
                </a:r>
                <a:r>
                  <a:rPr lang="en-US" altLang="ko-KR" sz="1100"/>
                  <a:t>}</a:t>
                </a:r>
                <a:r>
                  <a:rPr lang="ko-KR" altLang="en-US" sz="1100"/>
                  <a:t>과 같이 이산적으로 관측되는것을 뜻한다</a:t>
                </a:r>
                <a:r>
                  <a:rPr lang="en-US" altLang="ko-KR" sz="1100"/>
                  <a:t>)</a:t>
                </a:r>
              </a:p>
              <a:p>
                <a:pPr algn="l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=0,1,2,…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1100"/>
                  <a:t>  =&gt; </a:t>
                </a:r>
                <a:r>
                  <a:rPr lang="ko-KR" altLang="en-US" sz="1100"/>
                  <a:t>이산확률 과정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7B7F54-F341-4D1B-9711-03ED3CE1A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95" y="1719743"/>
                <a:ext cx="8179266" cy="769441"/>
              </a:xfrm>
              <a:prstGeom prst="rect">
                <a:avLst/>
              </a:prstGeom>
              <a:blipFill>
                <a:blip r:embed="rId2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43FF7EAC-496C-4F7F-988B-939872C23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5" y="2489184"/>
            <a:ext cx="3976455" cy="879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540807-61A8-472B-89C4-4969E6C92BF5}"/>
              </a:ext>
            </a:extLst>
          </p:cNvPr>
          <p:cNvSpPr txBox="1"/>
          <p:nvPr/>
        </p:nvSpPr>
        <p:spPr>
          <a:xfrm>
            <a:off x="536895" y="3429000"/>
            <a:ext cx="792759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이 관계식은 </a:t>
            </a:r>
            <a:r>
              <a:rPr lang="en-US" altLang="ko-KR" sz="1100"/>
              <a:t>0</a:t>
            </a:r>
            <a:r>
              <a:rPr lang="ko-KR" altLang="en-US" sz="1100"/>
              <a:t>번째 부터 </a:t>
            </a:r>
            <a:r>
              <a:rPr lang="en-US" altLang="ko-KR" sz="1100"/>
              <a:t>t</a:t>
            </a:r>
            <a:r>
              <a:rPr lang="ko-KR" altLang="en-US" sz="1100"/>
              <a:t>번째 까지 모든 </a:t>
            </a:r>
            <a:r>
              <a:rPr lang="en-US" altLang="ko-KR" sz="1100"/>
              <a:t>data</a:t>
            </a:r>
            <a:r>
              <a:rPr lang="ko-KR" altLang="en-US" sz="1100"/>
              <a:t>가 있을 때 </a:t>
            </a:r>
            <a:r>
              <a:rPr lang="en-US" altLang="ko-KR" sz="1100"/>
              <a:t>t+1</a:t>
            </a:r>
            <a:r>
              <a:rPr lang="ko-KR" altLang="en-US" sz="1100"/>
              <a:t>번째 데이터</a:t>
            </a:r>
            <a:r>
              <a:rPr lang="en-US" altLang="ko-KR" sz="1100"/>
              <a:t>(</a:t>
            </a:r>
            <a:r>
              <a:rPr lang="ko-KR" altLang="en-US" sz="1100"/>
              <a:t>미래</a:t>
            </a:r>
            <a:r>
              <a:rPr lang="en-US" altLang="ko-KR" sz="1100"/>
              <a:t>)</a:t>
            </a:r>
            <a:r>
              <a:rPr lang="ko-KR" altLang="en-US" sz="1100"/>
              <a:t>는 </a:t>
            </a:r>
            <a:r>
              <a:rPr lang="en-US" altLang="ko-KR" sz="1100"/>
              <a:t>t</a:t>
            </a:r>
            <a:r>
              <a:rPr lang="ko-KR" altLang="en-US" sz="1100"/>
              <a:t>번째 데이터에만 영향을 받는다 </a:t>
            </a:r>
            <a:r>
              <a:rPr lang="en-US" altLang="ko-KR" sz="1100"/>
              <a:t>0~(t-1)</a:t>
            </a:r>
            <a:r>
              <a:rPr lang="ko-KR" altLang="en-US" sz="1100"/>
              <a:t>번째의 데이터에는 영향을 받지않는다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다시말해</a:t>
            </a:r>
            <a:r>
              <a:rPr lang="en-US" altLang="ko-KR" sz="1100"/>
              <a:t>, </a:t>
            </a:r>
            <a:r>
              <a:rPr lang="ko-KR" altLang="en-US" sz="1100"/>
              <a:t>현 상태에서 다른 상태로의 전이는 그동안의 데이터는 필요없고 바로 직전상태에서만으로 추정할 수 있다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하지만 </a:t>
            </a:r>
            <a:r>
              <a:rPr lang="en-US" altLang="ko-KR" sz="1100"/>
              <a:t>t</a:t>
            </a:r>
            <a:r>
              <a:rPr lang="ko-KR" altLang="en-US" sz="1100"/>
              <a:t>번째 </a:t>
            </a:r>
            <a:r>
              <a:rPr lang="en-US" altLang="ko-KR" sz="1100"/>
              <a:t>data</a:t>
            </a:r>
            <a:r>
              <a:rPr lang="ko-KR" altLang="en-US" sz="1100"/>
              <a:t>가 없으면 </a:t>
            </a:r>
            <a:r>
              <a:rPr lang="en-US" altLang="ko-KR" sz="1100"/>
              <a:t>t-1</a:t>
            </a:r>
            <a:r>
              <a:rPr lang="ko-KR" altLang="en-US" sz="1100"/>
              <a:t>번째의 데이터로 대체한다</a:t>
            </a:r>
            <a:r>
              <a:rPr lang="en-US" altLang="ko-KR" sz="1100"/>
              <a:t>.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Discount Factor :  </a:t>
            </a:r>
            <a:r>
              <a:rPr lang="ko-KR" altLang="en-US" sz="1100"/>
              <a:t>시간에 따라서 </a:t>
            </a:r>
            <a:r>
              <a:rPr lang="en-US" altLang="ko-KR" sz="1100"/>
              <a:t>reward</a:t>
            </a:r>
            <a:r>
              <a:rPr lang="ko-KR" altLang="en-US" sz="1100"/>
              <a:t>의 가치가 달라지는 것을 표현함 </a:t>
            </a:r>
            <a:r>
              <a:rPr lang="en-US" altLang="ko-KR" sz="1100"/>
              <a:t>0~1</a:t>
            </a:r>
            <a:r>
              <a:rPr lang="ko-KR" altLang="en-US" sz="1100"/>
              <a:t>사이의 값이다</a:t>
            </a:r>
            <a:r>
              <a:rPr lang="en-US" altLang="ko-KR" sz="1100"/>
              <a:t>.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Policy: Agent</a:t>
            </a:r>
            <a:r>
              <a:rPr lang="ko-KR" altLang="en-US" sz="1100"/>
              <a:t>는 어떤 </a:t>
            </a:r>
            <a:r>
              <a:rPr lang="en-US" altLang="ko-KR" sz="1100"/>
              <a:t>state</a:t>
            </a:r>
            <a:r>
              <a:rPr lang="ko-KR" altLang="en-US" sz="1100"/>
              <a:t>에 도착하면 </a:t>
            </a:r>
            <a:r>
              <a:rPr lang="en-US" altLang="ko-KR" sz="1100"/>
              <a:t>action</a:t>
            </a:r>
            <a:r>
              <a:rPr lang="ko-KR" altLang="en-US" sz="1100"/>
              <a:t>을 결정하는데 어떤 </a:t>
            </a:r>
            <a:r>
              <a:rPr lang="en-US" altLang="ko-KR" sz="1100"/>
              <a:t>state</a:t>
            </a:r>
            <a:r>
              <a:rPr lang="ko-KR" altLang="en-US" sz="1100"/>
              <a:t>에서 어떤 </a:t>
            </a:r>
            <a:r>
              <a:rPr lang="en-US" altLang="ko-KR" sz="1100"/>
              <a:t>actio</a:t>
            </a:r>
            <a:r>
              <a:rPr lang="ko-KR" altLang="en-US" sz="1100"/>
              <a:t>을 할 지를 </a:t>
            </a:r>
            <a:r>
              <a:rPr lang="en-US" altLang="ko-KR" sz="1100"/>
              <a:t>polic</a:t>
            </a:r>
            <a:r>
              <a:rPr lang="ko-KR" altLang="en-US" sz="1100"/>
              <a:t>라고 한다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강화학습의 목적은 </a:t>
            </a:r>
            <a:r>
              <a:rPr lang="en-US" altLang="ko-KR" sz="1100"/>
              <a:t>optimal policy</a:t>
            </a:r>
            <a:r>
              <a:rPr lang="ko-KR" altLang="en-US" sz="1100"/>
              <a:t>를 찾는것이다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60D4A2-8BD5-4638-82A6-FABD36EF8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73" y="5044827"/>
            <a:ext cx="3976455" cy="95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  <a:r>
              <a:rPr lang="ko-KR" altLang="en-US" sz="1100"/>
              <a:t>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US" altLang="ko-KR" sz="1100"/>
              <a:t>state</a:t>
            </a:r>
            <a:r>
              <a:rPr lang="ko-KR" altLang="en-US" sz="1100"/>
              <a:t> </a:t>
            </a:r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  <a:r>
              <a:rPr lang="ko-KR" altLang="en-US" sz="1100"/>
              <a:t> </a:t>
            </a:r>
            <a:r>
              <a:rPr lang="en-US" altLang="ko-KR" sz="1100"/>
              <a:t>vs</a:t>
            </a:r>
            <a:r>
              <a:rPr lang="ko-KR" altLang="en-US" sz="1100"/>
              <a:t> </a:t>
            </a:r>
            <a:r>
              <a:rPr lang="en-US" altLang="ko-KR" sz="1100"/>
              <a:t>action</a:t>
            </a:r>
            <a:r>
              <a:rPr lang="ko-KR" altLang="en-US" sz="1100"/>
              <a:t> </a:t>
            </a:r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Return </a:t>
            </a:r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State value function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지금부터 기대되는 </a:t>
            </a:r>
            <a:r>
              <a:rPr lang="en-US" altLang="ko-KR" sz="1100"/>
              <a:t>Return(Reward</a:t>
            </a:r>
            <a:r>
              <a:rPr lang="ko-KR" altLang="en-US" sz="1100"/>
              <a:t>의 합</a:t>
            </a:r>
            <a:r>
              <a:rPr lang="en-US" altLang="ko-KR" sz="1100"/>
              <a:t>)</a:t>
            </a: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algn="l"/>
            <a:r>
              <a:rPr lang="en-US" altLang="ko-KR" sz="1100"/>
              <a:t>Action value function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지금</a:t>
            </a:r>
            <a:r>
              <a:rPr lang="en-US" altLang="ko-KR" sz="1100"/>
              <a:t>(state)</a:t>
            </a:r>
            <a:r>
              <a:rPr lang="ko-KR" altLang="en-US" sz="1100"/>
              <a:t> 행동으로부터 기대되는 </a:t>
            </a:r>
            <a:r>
              <a:rPr lang="en-US" altLang="ko-KR" sz="1100"/>
              <a:t>Return</a:t>
            </a: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algn="l"/>
            <a:r>
              <a:rPr lang="en-US" altLang="ko-KR" sz="1100"/>
              <a:t>Optimal</a:t>
            </a:r>
            <a:r>
              <a:rPr lang="ko-KR" altLang="en-US" sz="1100"/>
              <a:t> </a:t>
            </a:r>
            <a:r>
              <a:rPr lang="en-US" altLang="ko-KR" sz="1100"/>
              <a:t>policy : state value functio</a:t>
            </a:r>
            <a:r>
              <a:rPr lang="ko-KR" altLang="en-US" sz="1100"/>
              <a:t>을 최대화 하는것</a:t>
            </a:r>
            <a:r>
              <a:rPr lang="en-US" altLang="ko-KR" sz="1100"/>
              <a:t>, </a:t>
            </a:r>
            <a:r>
              <a:rPr lang="ko-KR" altLang="en-US" sz="1100"/>
              <a:t>과거는 잊고 지금부터의 값들</a:t>
            </a:r>
            <a:endParaRPr lang="en-US" altLang="ko-KR" sz="11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CC219C-FAFA-483F-A31B-5C6E957E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18" y="2029902"/>
            <a:ext cx="3200204" cy="4063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6BFDCC-E1B3-4FBF-A1C8-23CE4DD8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2837"/>
            <a:ext cx="3542811" cy="14049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D2DC6F-BAE9-4EE0-80C4-25A969466065}"/>
              </a:ext>
            </a:extLst>
          </p:cNvPr>
          <p:cNvSpPr txBox="1"/>
          <p:nvPr/>
        </p:nvSpPr>
        <p:spPr>
          <a:xfrm>
            <a:off x="0" y="1320825"/>
            <a:ext cx="4643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https://dhznsdl.tistory.com/14</a:t>
            </a:r>
          </a:p>
        </p:txBody>
      </p:sp>
    </p:spTree>
    <p:extLst>
      <p:ext uri="{BB962C8B-B14F-4D97-AF65-F5344CB8AC3E}">
        <p14:creationId xmlns:p14="http://schemas.microsoft.com/office/powerpoint/2010/main" val="2415957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Agent</a:t>
            </a:r>
            <a:r>
              <a:rPr lang="ko-KR" altLang="en-US" sz="1100"/>
              <a:t>는 </a:t>
            </a:r>
            <a:r>
              <a:rPr lang="en-US" altLang="ko-KR" sz="1100"/>
              <a:t>valuefunction</a:t>
            </a:r>
            <a:r>
              <a:rPr lang="ko-KR" altLang="en-US" sz="1100"/>
              <a:t>을 가지고 자신의 행동을 선택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Bellman Equation</a:t>
            </a:r>
          </a:p>
          <a:p>
            <a:pPr algn="l"/>
            <a:r>
              <a:rPr lang="en-US" altLang="ko-KR" sz="1100"/>
              <a:t>- </a:t>
            </a:r>
            <a:r>
              <a:rPr lang="ko-KR" altLang="en-US" sz="1100"/>
              <a:t>다음 </a:t>
            </a:r>
            <a:r>
              <a:rPr lang="en-US" altLang="ko-KR" sz="1100"/>
              <a:t>state</a:t>
            </a:r>
            <a:r>
              <a:rPr lang="ko-KR" altLang="en-US" sz="1100"/>
              <a:t>와 현재 </a:t>
            </a:r>
            <a:r>
              <a:rPr lang="en-US" altLang="ko-KR" sz="1100"/>
              <a:t>state</a:t>
            </a:r>
            <a:r>
              <a:rPr lang="ko-KR" altLang="en-US" sz="1100"/>
              <a:t>의 </a:t>
            </a:r>
            <a:r>
              <a:rPr lang="en-US" altLang="ko-KR" sz="1100"/>
              <a:t>value function </a:t>
            </a:r>
            <a:r>
              <a:rPr lang="ko-KR" altLang="en-US" sz="1100"/>
              <a:t>사이의 관계를 식으로 나타낸 것을 </a:t>
            </a:r>
            <a:r>
              <a:rPr lang="en-US" altLang="ko-KR" sz="1100"/>
              <a:t>bellman equation.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현재 상태와 미래의 성공확률에 대한 수식적 표현</a:t>
            </a:r>
            <a:r>
              <a:rPr lang="en-US" altLang="ko-KR" sz="1100"/>
              <a:t>. MDP</a:t>
            </a:r>
            <a:r>
              <a:rPr lang="ko-KR" altLang="en-US" sz="1100"/>
              <a:t>로 문제를 정의 할 경우 </a:t>
            </a:r>
            <a:r>
              <a:rPr lang="en-US" altLang="ko-KR" sz="1100"/>
              <a:t>state</a:t>
            </a:r>
            <a:r>
              <a:rPr lang="ko-KR" altLang="en-US" sz="1100"/>
              <a:t>와 </a:t>
            </a:r>
            <a:r>
              <a:rPr lang="en-US" altLang="ko-KR" sz="1100"/>
              <a:t>action</a:t>
            </a:r>
            <a:r>
              <a:rPr lang="ko-KR" altLang="en-US" sz="1100"/>
              <a:t>에 대한 </a:t>
            </a:r>
            <a:r>
              <a:rPr lang="en-US" altLang="ko-KR" sz="1100"/>
              <a:t>value function</a:t>
            </a:r>
            <a:r>
              <a:rPr lang="ko-KR" altLang="en-US" sz="1100"/>
              <a:t>들이 생김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현재의 </a:t>
            </a:r>
            <a:r>
              <a:rPr lang="en-US" altLang="ko-KR" sz="1100"/>
              <a:t>state,actio</a:t>
            </a:r>
            <a:r>
              <a:rPr lang="ko-KR" altLang="en-US" sz="1100"/>
              <a:t>과 미래의 </a:t>
            </a:r>
            <a:r>
              <a:rPr lang="en-US" altLang="ko-KR" sz="1100"/>
              <a:t>state,action</a:t>
            </a:r>
            <a:r>
              <a:rPr lang="ko-KR" altLang="en-US" sz="1100"/>
              <a:t>에 대한 관계식이 </a:t>
            </a:r>
            <a:r>
              <a:rPr lang="en-US" altLang="ko-KR" sz="1100"/>
              <a:t>bellman equation</a:t>
            </a: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Reward</a:t>
            </a:r>
            <a:r>
              <a:rPr lang="ko-KR" altLang="en-US" sz="1100"/>
              <a:t>와 </a:t>
            </a:r>
            <a:r>
              <a:rPr lang="en-US" altLang="ko-KR" sz="1100"/>
              <a:t>Return</a:t>
            </a:r>
            <a:r>
              <a:rPr lang="ko-KR" altLang="en-US" sz="1100"/>
              <a:t>은 다른 뜻</a:t>
            </a:r>
            <a:endParaRPr lang="en-US" altLang="ko-KR" sz="1100"/>
          </a:p>
          <a:p>
            <a:pPr algn="l"/>
            <a:r>
              <a:rPr lang="en-US" altLang="ko-KR" sz="1100"/>
              <a:t>Return : reward</a:t>
            </a:r>
            <a:r>
              <a:rPr lang="ko-KR" altLang="en-US" sz="1100"/>
              <a:t>의 합</a:t>
            </a:r>
            <a:r>
              <a:rPr lang="en-US" altLang="ko-KR" sz="1100"/>
              <a:t>,  </a:t>
            </a:r>
          </a:p>
          <a:p>
            <a:pPr algn="l"/>
            <a:endParaRPr lang="en-US" altLang="ko-KR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96A74-5CA4-4284-8847-C4BC0EE1D786}"/>
              </a:ext>
            </a:extLst>
          </p:cNvPr>
          <p:cNvSpPr txBox="1"/>
          <p:nvPr/>
        </p:nvSpPr>
        <p:spPr>
          <a:xfrm>
            <a:off x="536895" y="1275127"/>
            <a:ext cx="817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https://ropiens.tistory.com/117</a:t>
            </a:r>
          </a:p>
        </p:txBody>
      </p:sp>
    </p:spTree>
    <p:extLst>
      <p:ext uri="{BB962C8B-B14F-4D97-AF65-F5344CB8AC3E}">
        <p14:creationId xmlns:p14="http://schemas.microsoft.com/office/powerpoint/2010/main" val="932826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4D5FF7-2E5F-40E0-9D2E-DFBE6E14A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562" y="3649211"/>
            <a:ext cx="2801377" cy="2588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3FEC9C-AC42-479E-B0E5-1B9771E09583}"/>
              </a:ext>
            </a:extLst>
          </p:cNvPr>
          <p:cNvSpPr txBox="1"/>
          <p:nvPr/>
        </p:nvSpPr>
        <p:spPr>
          <a:xfrm>
            <a:off x="696286" y="1786855"/>
            <a:ext cx="879920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Greedy action(</a:t>
            </a:r>
            <a:r>
              <a:rPr lang="ko-KR" altLang="en-US" sz="1100"/>
              <a:t>탐욕적인 행동</a:t>
            </a:r>
            <a:r>
              <a:rPr lang="en-US" altLang="ko-KR" sz="1100"/>
              <a:t>) – state</a:t>
            </a:r>
            <a:r>
              <a:rPr lang="ko-KR" altLang="en-US" sz="1100"/>
              <a:t> </a:t>
            </a:r>
            <a:r>
              <a:rPr lang="en-US" altLang="ko-KR" sz="1100"/>
              <a:t>4</a:t>
            </a:r>
            <a:r>
              <a:rPr lang="ko-KR" altLang="en-US" sz="1100"/>
              <a:t>등분에서 랜덤으로 골랐을 때 </a:t>
            </a:r>
            <a:r>
              <a:rPr lang="en-US" altLang="ko-KR" sz="1100"/>
              <a:t>0</a:t>
            </a:r>
            <a:r>
              <a:rPr lang="ko-KR" altLang="en-US" sz="1100"/>
              <a:t>이면 </a:t>
            </a:r>
            <a:r>
              <a:rPr lang="en-US" altLang="ko-KR" sz="1100"/>
              <a:t>0</a:t>
            </a:r>
            <a:r>
              <a:rPr lang="ko-KR" altLang="en-US" sz="1100"/>
              <a:t>으로 업데이트</a:t>
            </a:r>
            <a:r>
              <a:rPr lang="en-US" altLang="ko-KR" sz="1100"/>
              <a:t>, </a:t>
            </a:r>
            <a:r>
              <a:rPr lang="ko-KR" altLang="en-US" sz="1100"/>
              <a:t>다른 큰값이 있을때 그 값으로 업데이트하는 방식</a:t>
            </a:r>
            <a:endParaRPr lang="en-US" altLang="ko-KR" sz="1100"/>
          </a:p>
          <a:p>
            <a:pPr algn="l"/>
            <a:r>
              <a:rPr lang="en-US" altLang="ko-KR" sz="1100"/>
              <a:t>Exploration – </a:t>
            </a:r>
            <a:r>
              <a:rPr lang="ko-KR" altLang="en-US" sz="1100"/>
              <a:t>과연 저 길이 최적의 길일까 다른 탐험이 필요하지않을까 하는 생각</a:t>
            </a:r>
            <a:endParaRPr lang="en-US" altLang="ko-KR" sz="1100"/>
          </a:p>
          <a:p>
            <a:pPr algn="l"/>
            <a:r>
              <a:rPr lang="en-US" altLang="ko-KR" sz="1100"/>
              <a:t>E-greedy – </a:t>
            </a:r>
            <a:r>
              <a:rPr lang="ko-KR" altLang="en-US" sz="1100"/>
              <a:t>앱실론 </a:t>
            </a:r>
            <a:r>
              <a:rPr lang="en-US" altLang="ko-KR" sz="1100"/>
              <a:t>greedy </a:t>
            </a:r>
            <a:r>
              <a:rPr lang="ko-KR" altLang="en-US" sz="1100"/>
              <a:t>앱실론</a:t>
            </a:r>
            <a:r>
              <a:rPr lang="en-US" altLang="ko-KR" sz="1100"/>
              <a:t>(0~1)</a:t>
            </a:r>
            <a:r>
              <a:rPr lang="ko-KR" altLang="en-US" sz="1100"/>
              <a:t>의 값을 가지며 </a:t>
            </a:r>
            <a:r>
              <a:rPr lang="en-US" altLang="ko-KR" sz="1100"/>
              <a:t>exploration</a:t>
            </a:r>
            <a:r>
              <a:rPr lang="ko-KR" altLang="en-US" sz="1100"/>
              <a:t>을 바탕으로 나타냄</a:t>
            </a:r>
            <a:r>
              <a:rPr lang="en-US" altLang="ko-KR" sz="1100"/>
              <a:t>, </a:t>
            </a:r>
            <a:r>
              <a:rPr lang="ko-KR" altLang="en-US" sz="1100"/>
              <a:t>예를 들어 </a:t>
            </a:r>
            <a:r>
              <a:rPr lang="en-US" altLang="ko-KR" sz="1100"/>
              <a:t>0.1</a:t>
            </a:r>
            <a:r>
              <a:rPr lang="ko-KR" altLang="en-US" sz="1100"/>
              <a:t>의 앱실론이 있을경우 </a:t>
            </a:r>
            <a:r>
              <a:rPr lang="en-US" altLang="ko-KR" sz="1100"/>
              <a:t>10</a:t>
            </a:r>
            <a:r>
              <a:rPr lang="ko-KR" altLang="en-US" sz="1100"/>
              <a:t>프로의 확률로 다른</a:t>
            </a:r>
            <a:endParaRPr lang="en-US" altLang="ko-KR" sz="1100"/>
          </a:p>
          <a:p>
            <a:pPr algn="l"/>
            <a:r>
              <a:rPr lang="ko-KR" altLang="en-US" sz="1100"/>
              <a:t>길을 선택함</a:t>
            </a:r>
            <a:r>
              <a:rPr lang="en-US" altLang="ko-KR" sz="1100"/>
              <a:t>, </a:t>
            </a:r>
            <a:r>
              <a:rPr lang="ko-KR" altLang="en-US" sz="1100"/>
              <a:t>앱실론의 값에 따라 달라짐으로 </a:t>
            </a:r>
            <a:r>
              <a:rPr lang="en-US" altLang="ko-KR" sz="1100"/>
              <a:t>exploration, exploitatio</a:t>
            </a:r>
            <a:r>
              <a:rPr lang="ko-KR" altLang="en-US" sz="1100"/>
              <a:t>으로 나뉘어짐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Exploration – </a:t>
            </a:r>
            <a:r>
              <a:rPr lang="ko-KR" altLang="en-US" sz="1100"/>
              <a:t>새로운 </a:t>
            </a:r>
            <a:r>
              <a:rPr lang="en-US" altLang="ko-KR" sz="1100"/>
              <a:t>path,  </a:t>
            </a:r>
            <a:r>
              <a:rPr lang="ko-KR" altLang="en-US" sz="1100"/>
              <a:t>새로운 맛집 찾기가능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(Decaying)e-greedy – </a:t>
            </a:r>
            <a:r>
              <a:rPr lang="ko-KR" altLang="en-US" sz="1100"/>
              <a:t>앱실로의 값을 점차 줄이는 법</a:t>
            </a:r>
            <a:r>
              <a:rPr lang="en-US" altLang="ko-KR" sz="1100"/>
              <a:t>(0.9 -&gt; 0.3)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Discount factor – 0~1</a:t>
            </a:r>
            <a:r>
              <a:rPr lang="ko-KR" altLang="en-US" sz="1100"/>
              <a:t>의값 </a:t>
            </a:r>
            <a:r>
              <a:rPr lang="en-US" altLang="ko-KR" sz="1100"/>
              <a:t>1. </a:t>
            </a:r>
            <a:r>
              <a:rPr lang="ko-KR" altLang="en-US" sz="1100"/>
              <a:t>효율적인 </a:t>
            </a:r>
            <a:r>
              <a:rPr lang="en-US" altLang="ko-KR" sz="1100"/>
              <a:t>path, </a:t>
            </a:r>
            <a:r>
              <a:rPr lang="ko-KR" altLang="en-US" sz="1100"/>
              <a:t>현재 </a:t>
            </a:r>
            <a:r>
              <a:rPr lang="en-US" altLang="ko-KR" sz="1100"/>
              <a:t>vs </a:t>
            </a:r>
            <a:r>
              <a:rPr lang="ko-KR" altLang="en-US" sz="1100"/>
              <a:t>미래 </a:t>
            </a:r>
            <a:r>
              <a:rPr lang="en-US" altLang="ko-KR" sz="1100"/>
              <a:t>reward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A48A95-7B57-43EE-BE95-5191AEE6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01" y="3996874"/>
            <a:ext cx="4524597" cy="213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21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9971</TotalTime>
  <Pages>4</Pages>
  <Words>3933</Words>
  <Characters>0</Characters>
  <Application>Microsoft Office PowerPoint</Application>
  <DocSecurity>0</DocSecurity>
  <PresentationFormat>화면 슬라이드 쇼(4:3)</PresentationFormat>
  <Lines>0</Lines>
  <Paragraphs>492</Paragraphs>
  <Slides>32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231</cp:revision>
  <dcterms:modified xsi:type="dcterms:W3CDTF">2023-08-03T10:40:05Z</dcterms:modified>
  <cp:version>9.104.131.47063</cp:version>
</cp:coreProperties>
</file>